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 Id="rId11"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Management Overview CW 42 / 2026 – one card per use case (read top to bottom), sorted by overall status. Next critical milestone = most critical amber/red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Use Cases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42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Quality Card"/>
          <p:cNvSpPr/>
          <p:nvPr/>
        </p:nvSpPr>
        <p:spPr>
          <a:xfrm>
            <a:off x="118872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Quality Name"/>
          <p:cNvSpPr txBox="1"/>
          <p:nvPr/>
        </p:nvSpPr>
        <p:spPr>
          <a:xfrm>
            <a:off x="125730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Quality</a:t>
            </a:r>
          </a:p>
        </p:txBody>
      </p:sp>
      <p:sp>
        <p:nvSpPr>
          <p:cNvPr id="117" name="Col Quality Abbr"/>
          <p:cNvSpPr txBox="1"/>
          <p:nvPr/>
        </p:nvSpPr>
        <p:spPr>
          <a:xfrm>
            <a:off x="1257300"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quality-cx</a:t>
            </a:r>
          </a:p>
        </p:txBody>
      </p:sp>
      <p:sp>
        <p:nvSpPr>
          <p:cNvPr id="118" name="Col Quality Domain Lead"/>
          <p:cNvSpPr txBox="1"/>
          <p:nvPr/>
        </p:nvSpPr>
        <p:spPr>
          <a:xfrm>
            <a:off x="125730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Kutritz (K-GQY)</a:t>
            </a:r>
          </a:p>
        </p:txBody>
      </p:sp>
      <p:sp>
        <p:nvSpPr>
          <p:cNvPr id="119" name="Col Quality Status Bar"/>
          <p:cNvSpPr/>
          <p:nvPr/>
        </p:nvSpPr>
        <p:spPr>
          <a:xfrm>
            <a:off x="1257300"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20" name="Col Battery Passport Card"/>
          <p:cNvSpPr/>
          <p:nvPr/>
        </p:nvSpPr>
        <p:spPr>
          <a:xfrm>
            <a:off x="253460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Battery Passport Name"/>
          <p:cNvSpPr txBox="1"/>
          <p:nvPr/>
        </p:nvSpPr>
        <p:spPr>
          <a:xfrm>
            <a:off x="260318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Battery Passport</a:t>
            </a:r>
          </a:p>
        </p:txBody>
      </p:sp>
      <p:sp>
        <p:nvSpPr>
          <p:cNvPr id="122" name="Col Battery Passport Abbr"/>
          <p:cNvSpPr txBox="1"/>
          <p:nvPr/>
        </p:nvSpPr>
        <p:spPr>
          <a:xfrm>
            <a:off x="2603182"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batt-cx</a:t>
            </a:r>
          </a:p>
        </p:txBody>
      </p:sp>
      <p:sp>
        <p:nvSpPr>
          <p:cNvPr id="123" name="Col Battery Passport Domain Lead"/>
          <p:cNvSpPr txBox="1"/>
          <p:nvPr/>
        </p:nvSpPr>
        <p:spPr>
          <a:xfrm>
            <a:off x="260318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Alp (ZG-R)</a:t>
            </a:r>
          </a:p>
        </p:txBody>
      </p:sp>
      <p:sp>
        <p:nvSpPr>
          <p:cNvPr id="124" name="Col Battery Passport Status Bar"/>
          <p:cNvSpPr/>
          <p:nvPr/>
        </p:nvSpPr>
        <p:spPr>
          <a:xfrm>
            <a:off x="260318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25" name="Col Product Passes Card"/>
          <p:cNvSpPr/>
          <p:nvPr/>
        </p:nvSpPr>
        <p:spPr>
          <a:xfrm>
            <a:off x="388048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Product Passes Name"/>
          <p:cNvSpPr txBox="1"/>
          <p:nvPr/>
        </p:nvSpPr>
        <p:spPr>
          <a:xfrm>
            <a:off x="394906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Passes</a:t>
            </a:r>
          </a:p>
        </p:txBody>
      </p:sp>
      <p:sp>
        <p:nvSpPr>
          <p:cNvPr id="127" name="Col Product Passes Abbr"/>
          <p:cNvSpPr txBox="1"/>
          <p:nvPr/>
        </p:nvSpPr>
        <p:spPr>
          <a:xfrm>
            <a:off x="3949065"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pass-cx</a:t>
            </a:r>
          </a:p>
        </p:txBody>
      </p:sp>
      <p:sp>
        <p:nvSpPr>
          <p:cNvPr id="128" name="Col Product Passes Domain Lead"/>
          <p:cNvSpPr txBox="1"/>
          <p:nvPr/>
        </p:nvSpPr>
        <p:spPr>
          <a:xfrm>
            <a:off x="394906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Drobir (K-GEP-2)</a:t>
            </a:r>
          </a:p>
        </p:txBody>
      </p:sp>
      <p:sp>
        <p:nvSpPr>
          <p:cNvPr id="129" name="Col Product Passes Status Bar"/>
          <p:cNvSpPr/>
          <p:nvPr/>
        </p:nvSpPr>
        <p:spPr>
          <a:xfrm>
            <a:off x="3949065"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0" name="Col PURIS Card"/>
          <p:cNvSpPr/>
          <p:nvPr/>
        </p:nvSpPr>
        <p:spPr>
          <a:xfrm>
            <a:off x="522636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PURIS Name"/>
          <p:cNvSpPr txBox="1"/>
          <p:nvPr/>
        </p:nvSpPr>
        <p:spPr>
          <a:xfrm>
            <a:off x="529494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PURIS</a:t>
            </a:r>
          </a:p>
        </p:txBody>
      </p:sp>
      <p:sp>
        <p:nvSpPr>
          <p:cNvPr id="132" name="Col PURIS Abbr"/>
          <p:cNvSpPr txBox="1"/>
          <p:nvPr/>
        </p:nvSpPr>
        <p:spPr>
          <a:xfrm>
            <a:off x="529494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puris-cx</a:t>
            </a:r>
          </a:p>
        </p:txBody>
      </p:sp>
      <p:sp>
        <p:nvSpPr>
          <p:cNvPr id="133" name="Col PURIS Domain Lead"/>
          <p:cNvSpPr txBox="1"/>
          <p:nvPr/>
        </p:nvSpPr>
        <p:spPr>
          <a:xfrm>
            <a:off x="529494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Timpe (KL-GP), Behrens (BZ-PX)</a:t>
            </a:r>
          </a:p>
        </p:txBody>
      </p:sp>
      <p:sp>
        <p:nvSpPr>
          <p:cNvPr id="134" name="Col PURIS Status Bar"/>
          <p:cNvSpPr/>
          <p:nvPr/>
        </p:nvSpPr>
        <p:spPr>
          <a:xfrm>
            <a:off x="5294947"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35" name="Col Business Partner Data Mgmt Card"/>
          <p:cNvSpPr/>
          <p:nvPr/>
        </p:nvSpPr>
        <p:spPr>
          <a:xfrm>
            <a:off x="6572250"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Business Partner Data Mgmt Name"/>
          <p:cNvSpPr txBox="1"/>
          <p:nvPr/>
        </p:nvSpPr>
        <p:spPr>
          <a:xfrm>
            <a:off x="6640830"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Business Partner Data Mgmt</a:t>
            </a:r>
          </a:p>
        </p:txBody>
      </p:sp>
      <p:sp>
        <p:nvSpPr>
          <p:cNvPr id="137" name="Col Business Partner Data Mgmt Abbr"/>
          <p:cNvSpPr txBox="1"/>
          <p:nvPr/>
        </p:nvSpPr>
        <p:spPr>
          <a:xfrm>
            <a:off x="6640830"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bpdm-cx</a:t>
            </a:r>
          </a:p>
        </p:txBody>
      </p:sp>
      <p:sp>
        <p:nvSpPr>
          <p:cNvPr id="138" name="Col Business Partner Data Mgmt Domain Lead"/>
          <p:cNvSpPr txBox="1"/>
          <p:nvPr/>
        </p:nvSpPr>
        <p:spPr>
          <a:xfrm>
            <a:off x="6640830"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Fehlner (I/BZ)</a:t>
            </a:r>
          </a:p>
        </p:txBody>
      </p:sp>
      <p:sp>
        <p:nvSpPr>
          <p:cNvPr id="139" name="Col Business Partner Data Mgmt Status Bar"/>
          <p:cNvSpPr/>
          <p:nvPr/>
        </p:nvSpPr>
        <p:spPr>
          <a:xfrm>
            <a:off x="6640830"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0" name="Col Certificate Management Card"/>
          <p:cNvSpPr/>
          <p:nvPr/>
        </p:nvSpPr>
        <p:spPr>
          <a:xfrm>
            <a:off x="7918132"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Certificate Management Name"/>
          <p:cNvSpPr txBox="1"/>
          <p:nvPr/>
        </p:nvSpPr>
        <p:spPr>
          <a:xfrm>
            <a:off x="7986712"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Certificate Management</a:t>
            </a:r>
          </a:p>
        </p:txBody>
      </p:sp>
      <p:sp>
        <p:nvSpPr>
          <p:cNvPr id="142" name="Col Certificate Management Abbr"/>
          <p:cNvSpPr txBox="1"/>
          <p:nvPr/>
        </p:nvSpPr>
        <p:spPr>
          <a:xfrm>
            <a:off x="7986712"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cert-cx</a:t>
            </a:r>
          </a:p>
        </p:txBody>
      </p:sp>
      <p:sp>
        <p:nvSpPr>
          <p:cNvPr id="143" name="Col Certificate Management Domain Lead"/>
          <p:cNvSpPr txBox="1"/>
          <p:nvPr/>
        </p:nvSpPr>
        <p:spPr>
          <a:xfrm>
            <a:off x="7986712"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Poetsch (K-DDX/5)</a:t>
            </a:r>
          </a:p>
        </p:txBody>
      </p:sp>
      <p:sp>
        <p:nvSpPr>
          <p:cNvPr id="144" name="Col Certificate Management Status Bar"/>
          <p:cNvSpPr/>
          <p:nvPr/>
        </p:nvSpPr>
        <p:spPr>
          <a:xfrm>
            <a:off x="7986712"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45" name="Col Product Carbon Footprint Card"/>
          <p:cNvSpPr/>
          <p:nvPr/>
        </p:nvSpPr>
        <p:spPr>
          <a:xfrm>
            <a:off x="9264015"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46" name="Col Product Carbon Footprint Name"/>
          <p:cNvSpPr txBox="1"/>
          <p:nvPr/>
        </p:nvSpPr>
        <p:spPr>
          <a:xfrm>
            <a:off x="9332595"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Carbon Footprint</a:t>
            </a:r>
          </a:p>
        </p:txBody>
      </p:sp>
      <p:sp>
        <p:nvSpPr>
          <p:cNvPr id="147" name="Col Product Carbon Footprint Abbr"/>
          <p:cNvSpPr txBox="1"/>
          <p:nvPr/>
        </p:nvSpPr>
        <p:spPr>
          <a:xfrm>
            <a:off x="9332595" y="14274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pcf-cx</a:t>
            </a:r>
          </a:p>
        </p:txBody>
      </p:sp>
      <p:sp>
        <p:nvSpPr>
          <p:cNvPr id="148" name="Col Product Carbon Footprint Domain Lead"/>
          <p:cNvSpPr txBox="1"/>
          <p:nvPr/>
        </p:nvSpPr>
        <p:spPr>
          <a:xfrm>
            <a:off x="9332595"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Dettmer (K-GEN), Voeste (K-GSS)</a:t>
            </a:r>
          </a:p>
        </p:txBody>
      </p:sp>
      <p:sp>
        <p:nvSpPr>
          <p:cNvPr id="149" name="Col Product Carbon Footprint Status Bar"/>
          <p:cNvSpPr/>
          <p:nvPr/>
        </p:nvSpPr>
        <p:spPr>
          <a:xfrm>
            <a:off x="9332595" y="2002790"/>
            <a:ext cx="1167574" cy="36576"/>
          </a:xfrm>
          <a:prstGeom prst="roundRect">
            <a:avLst>
              <a:gd name="adj" fmla="val 50000"/>
            </a:avLst>
          </a:prstGeom>
          <a:solidFill>
            <a:srgbClr val="F0B135"/>
          </a:solidFill>
          <a:ln>
            <a:noFill/>
          </a:ln>
          <a:effectLst/>
        </p:spPr>
        <p:txBody>
          <a:bodyPr rtlCol="0" anchor="ctr"/>
          <a:lstStyle/>
          <a:p>
            <a:endParaRPr lang="de-DE"/>
          </a:p>
        </p:txBody>
      </p:sp>
      <p:sp>
        <p:nvSpPr>
          <p:cNvPr id="150" name="Col N-Tier Card"/>
          <p:cNvSpPr/>
          <p:nvPr/>
        </p:nvSpPr>
        <p:spPr>
          <a:xfrm>
            <a:off x="10609897" y="978408"/>
            <a:ext cx="1304734" cy="5696712"/>
          </a:xfrm>
          <a:prstGeom prst="roundRect">
            <a:avLst>
              <a:gd name="adj" fmla="val 4000"/>
            </a:avLst>
          </a:prstGeom>
          <a:solidFill>
            <a:srgbClr val="FFFFFF"/>
          </a:solidFill>
          <a:ln>
            <a:noFill/>
          </a:ln>
          <a:effectLst/>
        </p:spPr>
        <p:txBody>
          <a:bodyPr rtlCol="0" anchor="ctr"/>
          <a:lstStyle/>
          <a:p>
            <a:endParaRPr lang="de-DE"/>
          </a:p>
        </p:txBody>
      </p:sp>
      <p:sp>
        <p:nvSpPr>
          <p:cNvPr id="151" name="Col N-Tier Name"/>
          <p:cNvSpPr txBox="1"/>
          <p:nvPr/>
        </p:nvSpPr>
        <p:spPr>
          <a:xfrm>
            <a:off x="10678477" y="1078992"/>
            <a:ext cx="1167574"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N-Tier</a:t>
            </a:r>
          </a:p>
        </p:txBody>
      </p:sp>
      <p:sp>
        <p:nvSpPr>
          <p:cNvPr id="152" name="Col N-Tier Abbr"/>
          <p:cNvSpPr txBox="1"/>
          <p:nvPr/>
        </p:nvSpPr>
        <p:spPr>
          <a:xfrm>
            <a:off x="10678477" y="1262380"/>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ntier-cx</a:t>
            </a:r>
          </a:p>
        </p:txBody>
      </p:sp>
      <p:sp>
        <p:nvSpPr>
          <p:cNvPr id="153" name="Col N-Tier Domain Lead"/>
          <p:cNvSpPr txBox="1"/>
          <p:nvPr/>
        </p:nvSpPr>
        <p:spPr>
          <a:xfrm>
            <a:off x="10678477" y="1628394"/>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Fink (BZI2)</a:t>
            </a:r>
          </a:p>
        </p:txBody>
      </p:sp>
      <p:sp>
        <p:nvSpPr>
          <p:cNvPr id="154" name="Col N-Tier Status Bar"/>
          <p:cNvSpPr/>
          <p:nvPr/>
        </p:nvSpPr>
        <p:spPr>
          <a:xfrm>
            <a:off x="10678477" y="2002790"/>
            <a:ext cx="1167574" cy="36576"/>
          </a:xfrm>
          <a:prstGeom prst="roundRect">
            <a:avLst>
              <a:gd name="adj" fmla="val 50000"/>
            </a:avLst>
          </a:prstGeom>
          <a:solidFill>
            <a:srgbClr val="53BE70"/>
          </a:solidFill>
          <a:ln>
            <a:noFill/>
          </a:ln>
          <a:effectLst/>
        </p:spPr>
        <p:txBody>
          <a:bodyPr rtlCol="0" anchor="ctr"/>
          <a:lstStyle/>
          <a:p>
            <a:endParaRPr lang="de-DE"/>
          </a:p>
        </p:txBody>
      </p:sp>
      <p:sp>
        <p:nvSpPr>
          <p:cNvPr id="15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56" name="Head Label Domain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Domain Lead</a:t>
            </a:r>
          </a:p>
        </p:txBody>
      </p:sp>
      <p:sp>
        <p:nvSpPr>
          <p:cNvPr id="157" name="Row Label Overall status"/>
          <p:cNvSpPr txBox="1"/>
          <p:nvPr/>
        </p:nvSpPr>
        <p:spPr>
          <a:xfrm>
            <a:off x="274320" y="2158238"/>
            <a:ext cx="868680" cy="220846"/>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58" name="Quality Status Pill"/>
          <p:cNvSpPr/>
          <p:nvPr/>
        </p:nvSpPr>
        <p:spPr>
          <a:xfrm>
            <a:off x="125730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9" name="Quality Status Text"/>
          <p:cNvSpPr txBox="1"/>
          <p:nvPr/>
        </p:nvSpPr>
        <p:spPr>
          <a:xfrm>
            <a:off x="125730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Battery Passport Status Pill"/>
          <p:cNvSpPr/>
          <p:nvPr/>
        </p:nvSpPr>
        <p:spPr>
          <a:xfrm>
            <a:off x="260318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1" name="Battery Passport Status Text"/>
          <p:cNvSpPr txBox="1"/>
          <p:nvPr/>
        </p:nvSpPr>
        <p:spPr>
          <a:xfrm>
            <a:off x="260318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2" name="Product Passes Status Pill"/>
          <p:cNvSpPr/>
          <p:nvPr/>
        </p:nvSpPr>
        <p:spPr>
          <a:xfrm>
            <a:off x="3949065"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3" name="Product Passes Status Text"/>
          <p:cNvSpPr txBox="1"/>
          <p:nvPr/>
        </p:nvSpPr>
        <p:spPr>
          <a:xfrm>
            <a:off x="3949065"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4" name="PURIS Status Pill"/>
          <p:cNvSpPr/>
          <p:nvPr/>
        </p:nvSpPr>
        <p:spPr>
          <a:xfrm>
            <a:off x="5294947"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5" name="PURIS Status Text"/>
          <p:cNvSpPr txBox="1"/>
          <p:nvPr/>
        </p:nvSpPr>
        <p:spPr>
          <a:xfrm>
            <a:off x="5294947"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6" name="Business Partner Data Mgmt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7" name="Business Partner Data Mgmt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8" name="Certificate Management Status Pill"/>
          <p:cNvSpPr/>
          <p:nvPr/>
        </p:nvSpPr>
        <p:spPr>
          <a:xfrm>
            <a:off x="7986712"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9" name="Certificate Management Status Text"/>
          <p:cNvSpPr txBox="1"/>
          <p:nvPr/>
        </p:nvSpPr>
        <p:spPr>
          <a:xfrm>
            <a:off x="7986712"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0" name="Product Carbon Footprint Status Pill"/>
          <p:cNvSpPr/>
          <p:nvPr/>
        </p:nvSpPr>
        <p:spPr>
          <a:xfrm>
            <a:off x="9332595"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71" name="Product Carbon Footprint Status Text"/>
          <p:cNvSpPr txBox="1"/>
          <p:nvPr/>
        </p:nvSpPr>
        <p:spPr>
          <a:xfrm>
            <a:off x="9332595"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2" name="N-Tier Status Pill"/>
          <p:cNvSpPr/>
          <p:nvPr/>
        </p:nvSpPr>
        <p:spPr>
          <a:xfrm>
            <a:off x="10678477"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3" name="N-Tier Status Text"/>
          <p:cNvSpPr txBox="1"/>
          <p:nvPr/>
        </p:nvSpPr>
        <p:spPr>
          <a:xfrm>
            <a:off x="10678477"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4" name="Row Label Phase"/>
          <p:cNvSpPr txBox="1"/>
          <p:nvPr/>
        </p:nvSpPr>
        <p:spPr>
          <a:xfrm>
            <a:off x="274320" y="2443092"/>
            <a:ext cx="868680" cy="348949"/>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Phase</a:t>
            </a:r>
          </a:p>
        </p:txBody>
      </p:sp>
      <p:sp>
        <p:nvSpPr>
          <p:cNvPr id="175" name="Quality Row Divider Phase"/>
          <p:cNvSpPr/>
          <p:nvPr/>
        </p:nvSpPr>
        <p:spPr>
          <a:xfrm>
            <a:off x="1257300" y="2379084"/>
            <a:ext cx="1167574" cy="6401"/>
          </a:xfrm>
          <a:prstGeom prst="rect">
            <a:avLst/>
          </a:prstGeom>
          <a:solidFill>
            <a:srgbClr val="E2E8EC"/>
          </a:solidFill>
          <a:ln>
            <a:noFill/>
          </a:ln>
          <a:effectLst/>
        </p:spPr>
        <p:txBody>
          <a:bodyPr rtlCol="0" anchor="ctr"/>
          <a:lstStyle/>
          <a:p>
            <a:endParaRPr lang="de-DE"/>
          </a:p>
        </p:txBody>
      </p:sp>
      <p:sp>
        <p:nvSpPr>
          <p:cNvPr id="176" name="Quality Phase"/>
          <p:cNvSpPr txBox="1"/>
          <p:nvPr/>
        </p:nvSpPr>
        <p:spPr>
          <a:xfrm>
            <a:off x="1257300" y="2443092"/>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7" name="Battery Passport Row Divider Phase"/>
          <p:cNvSpPr/>
          <p:nvPr/>
        </p:nvSpPr>
        <p:spPr>
          <a:xfrm>
            <a:off x="2603182" y="2379084"/>
            <a:ext cx="1167574" cy="6401"/>
          </a:xfrm>
          <a:prstGeom prst="rect">
            <a:avLst/>
          </a:prstGeom>
          <a:solidFill>
            <a:srgbClr val="E2E8EC"/>
          </a:solidFill>
          <a:ln>
            <a:noFill/>
          </a:ln>
          <a:effectLst/>
        </p:spPr>
        <p:txBody>
          <a:bodyPr rtlCol="0" anchor="ctr"/>
          <a:lstStyle/>
          <a:p>
            <a:endParaRPr lang="de-DE"/>
          </a:p>
        </p:txBody>
      </p:sp>
      <p:sp>
        <p:nvSpPr>
          <p:cNvPr id="178" name="Battery Passport Phase"/>
          <p:cNvSpPr txBox="1"/>
          <p:nvPr/>
        </p:nvSpPr>
        <p:spPr>
          <a:xfrm>
            <a:off x="2603182" y="2443092"/>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9" name="Product Passes Row Divider Phase"/>
          <p:cNvSpPr/>
          <p:nvPr/>
        </p:nvSpPr>
        <p:spPr>
          <a:xfrm>
            <a:off x="3949065" y="2379084"/>
            <a:ext cx="1167574" cy="6401"/>
          </a:xfrm>
          <a:prstGeom prst="rect">
            <a:avLst/>
          </a:prstGeom>
          <a:solidFill>
            <a:srgbClr val="E2E8EC"/>
          </a:solidFill>
          <a:ln>
            <a:noFill/>
          </a:ln>
          <a:effectLst/>
        </p:spPr>
        <p:txBody>
          <a:bodyPr rtlCol="0" anchor="ctr"/>
          <a:lstStyle/>
          <a:p>
            <a:endParaRPr lang="de-DE"/>
          </a:p>
        </p:txBody>
      </p:sp>
      <p:sp>
        <p:nvSpPr>
          <p:cNvPr id="180" name="Product Passes Phase"/>
          <p:cNvSpPr txBox="1"/>
          <p:nvPr/>
        </p:nvSpPr>
        <p:spPr>
          <a:xfrm>
            <a:off x="3949065" y="2443092"/>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81" name="PURIS Row Divider Phase"/>
          <p:cNvSpPr/>
          <p:nvPr/>
        </p:nvSpPr>
        <p:spPr>
          <a:xfrm>
            <a:off x="5294947" y="2379084"/>
            <a:ext cx="1167574" cy="6401"/>
          </a:xfrm>
          <a:prstGeom prst="rect">
            <a:avLst/>
          </a:prstGeom>
          <a:solidFill>
            <a:srgbClr val="E2E8EC"/>
          </a:solidFill>
          <a:ln>
            <a:noFill/>
          </a:ln>
          <a:effectLst/>
        </p:spPr>
        <p:txBody>
          <a:bodyPr rtlCol="0" anchor="ctr"/>
          <a:lstStyle/>
          <a:p>
            <a:endParaRPr lang="de-DE"/>
          </a:p>
        </p:txBody>
      </p:sp>
      <p:sp>
        <p:nvSpPr>
          <p:cNvPr id="182" name="PURIS Phase"/>
          <p:cNvSpPr txBox="1"/>
          <p:nvPr/>
        </p:nvSpPr>
        <p:spPr>
          <a:xfrm>
            <a:off x="5294947" y="2443092"/>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3" name="Business Partner Data Mgmt Row Divider Phase"/>
          <p:cNvSpPr/>
          <p:nvPr/>
        </p:nvSpPr>
        <p:spPr>
          <a:xfrm>
            <a:off x="6640830" y="2379084"/>
            <a:ext cx="1167574" cy="6401"/>
          </a:xfrm>
          <a:prstGeom prst="rect">
            <a:avLst/>
          </a:prstGeom>
          <a:solidFill>
            <a:srgbClr val="E2E8EC"/>
          </a:solidFill>
          <a:ln>
            <a:noFill/>
          </a:ln>
          <a:effectLst/>
        </p:spPr>
        <p:txBody>
          <a:bodyPr rtlCol="0" anchor="ctr"/>
          <a:lstStyle/>
          <a:p>
            <a:endParaRPr lang="de-DE"/>
          </a:p>
        </p:txBody>
      </p:sp>
      <p:sp>
        <p:nvSpPr>
          <p:cNvPr id="184" name="Business Partner Data Mgmt Phase"/>
          <p:cNvSpPr txBox="1"/>
          <p:nvPr/>
        </p:nvSpPr>
        <p:spPr>
          <a:xfrm>
            <a:off x="6640830" y="2443092"/>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Implementation</a:t>
            </a:r>
          </a:p>
        </p:txBody>
      </p:sp>
      <p:sp>
        <p:nvSpPr>
          <p:cNvPr id="185" name="Certificate Management Row Divider Phase"/>
          <p:cNvSpPr/>
          <p:nvPr/>
        </p:nvSpPr>
        <p:spPr>
          <a:xfrm>
            <a:off x="7986712" y="2379084"/>
            <a:ext cx="1167574" cy="6401"/>
          </a:xfrm>
          <a:prstGeom prst="rect">
            <a:avLst/>
          </a:prstGeom>
          <a:solidFill>
            <a:srgbClr val="E2E8EC"/>
          </a:solidFill>
          <a:ln>
            <a:noFill/>
          </a:ln>
          <a:effectLst/>
        </p:spPr>
        <p:txBody>
          <a:bodyPr rtlCol="0" anchor="ctr"/>
          <a:lstStyle/>
          <a:p>
            <a:endParaRPr lang="de-DE"/>
          </a:p>
        </p:txBody>
      </p:sp>
      <p:sp>
        <p:nvSpPr>
          <p:cNvPr id="186" name="Certificate Management Phase"/>
          <p:cNvSpPr txBox="1"/>
          <p:nvPr/>
        </p:nvSpPr>
        <p:spPr>
          <a:xfrm>
            <a:off x="7986712" y="2443092"/>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Scaling</a:t>
            </a:r>
          </a:p>
        </p:txBody>
      </p:sp>
      <p:sp>
        <p:nvSpPr>
          <p:cNvPr id="187" name="Product Carbon Footprint Row Divider Phase"/>
          <p:cNvSpPr/>
          <p:nvPr/>
        </p:nvSpPr>
        <p:spPr>
          <a:xfrm>
            <a:off x="9332595" y="2379084"/>
            <a:ext cx="1167574" cy="6401"/>
          </a:xfrm>
          <a:prstGeom prst="rect">
            <a:avLst/>
          </a:prstGeom>
          <a:solidFill>
            <a:srgbClr val="E2E8EC"/>
          </a:solidFill>
          <a:ln>
            <a:noFill/>
          </a:ln>
          <a:effectLst/>
        </p:spPr>
        <p:txBody>
          <a:bodyPr rtlCol="0" anchor="ctr"/>
          <a:lstStyle/>
          <a:p>
            <a:endParaRPr lang="de-DE"/>
          </a:p>
        </p:txBody>
      </p:sp>
      <p:sp>
        <p:nvSpPr>
          <p:cNvPr id="188" name="Product Carbon Footprint Phase"/>
          <p:cNvSpPr txBox="1"/>
          <p:nvPr/>
        </p:nvSpPr>
        <p:spPr>
          <a:xfrm>
            <a:off x="9332595" y="2443092"/>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9" name="N-Tier Row Divider Phase"/>
          <p:cNvSpPr/>
          <p:nvPr/>
        </p:nvSpPr>
        <p:spPr>
          <a:xfrm>
            <a:off x="10678477" y="2379084"/>
            <a:ext cx="1167574" cy="6401"/>
          </a:xfrm>
          <a:prstGeom prst="rect">
            <a:avLst/>
          </a:prstGeom>
          <a:solidFill>
            <a:srgbClr val="E2E8EC"/>
          </a:solidFill>
          <a:ln>
            <a:noFill/>
          </a:ln>
          <a:effectLst/>
        </p:spPr>
        <p:txBody>
          <a:bodyPr rtlCol="0" anchor="ctr"/>
          <a:lstStyle/>
          <a:p>
            <a:endParaRPr lang="de-DE"/>
          </a:p>
        </p:txBody>
      </p:sp>
      <p:sp>
        <p:nvSpPr>
          <p:cNvPr id="190" name="N-Tier Phase"/>
          <p:cNvSpPr txBox="1"/>
          <p:nvPr/>
        </p:nvSpPr>
        <p:spPr>
          <a:xfrm>
            <a:off x="10678477" y="2443092"/>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91" name="Row Label E2E go-live target date"/>
          <p:cNvSpPr txBox="1"/>
          <p:nvPr/>
        </p:nvSpPr>
        <p:spPr>
          <a:xfrm>
            <a:off x="274320" y="2856049"/>
            <a:ext cx="868680" cy="350934"/>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E2E go-live target date</a:t>
            </a:r>
          </a:p>
        </p:txBody>
      </p:sp>
      <p:sp>
        <p:nvSpPr>
          <p:cNvPr id="192" name="Quality Row Divider E2E go-live target date"/>
          <p:cNvSpPr/>
          <p:nvPr/>
        </p:nvSpPr>
        <p:spPr>
          <a:xfrm>
            <a:off x="1257300" y="2792041"/>
            <a:ext cx="1167574" cy="6401"/>
          </a:xfrm>
          <a:prstGeom prst="rect">
            <a:avLst/>
          </a:prstGeom>
          <a:solidFill>
            <a:srgbClr val="E2E8EC"/>
          </a:solidFill>
          <a:ln>
            <a:noFill/>
          </a:ln>
          <a:effectLst/>
        </p:spPr>
        <p:txBody>
          <a:bodyPr rtlCol="0" anchor="ctr"/>
          <a:lstStyle/>
          <a:p>
            <a:endParaRPr lang="de-DE"/>
          </a:p>
        </p:txBody>
      </p:sp>
      <p:sp>
        <p:nvSpPr>
          <p:cNvPr id="193" name="Quality Go-live"/>
          <p:cNvSpPr txBox="1"/>
          <p:nvPr/>
        </p:nvSpPr>
        <p:spPr>
          <a:xfrm>
            <a:off x="1257300" y="2856049"/>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MVP Jan 2027</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Scaling until 2030</a:t>
            </a:r>
          </a:p>
        </p:txBody>
      </p:sp>
      <p:sp>
        <p:nvSpPr>
          <p:cNvPr id="194" name="Battery Passport Row Divider E2E go-live target date"/>
          <p:cNvSpPr/>
          <p:nvPr/>
        </p:nvSpPr>
        <p:spPr>
          <a:xfrm>
            <a:off x="2603182" y="2792041"/>
            <a:ext cx="1167574" cy="6401"/>
          </a:xfrm>
          <a:prstGeom prst="rect">
            <a:avLst/>
          </a:prstGeom>
          <a:solidFill>
            <a:srgbClr val="E2E8EC"/>
          </a:solidFill>
          <a:ln>
            <a:noFill/>
          </a:ln>
          <a:effectLst/>
        </p:spPr>
        <p:txBody>
          <a:bodyPr rtlCol="0" anchor="ctr"/>
          <a:lstStyle/>
          <a:p>
            <a:endParaRPr lang="de-DE"/>
          </a:p>
        </p:txBody>
      </p:sp>
      <p:sp>
        <p:nvSpPr>
          <p:cNvPr id="195" name="Battery Passport Go-live"/>
          <p:cNvSpPr txBox="1"/>
          <p:nvPr/>
        </p:nvSpPr>
        <p:spPr>
          <a:xfrm>
            <a:off x="2603182"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196" name="Product Passes Row Divider E2E go-live target date"/>
          <p:cNvSpPr/>
          <p:nvPr/>
        </p:nvSpPr>
        <p:spPr>
          <a:xfrm>
            <a:off x="3949065" y="2792041"/>
            <a:ext cx="1167574" cy="6401"/>
          </a:xfrm>
          <a:prstGeom prst="rect">
            <a:avLst/>
          </a:prstGeom>
          <a:solidFill>
            <a:srgbClr val="E2E8EC"/>
          </a:solidFill>
          <a:ln>
            <a:noFill/>
          </a:ln>
          <a:effectLst/>
        </p:spPr>
        <p:txBody>
          <a:bodyPr rtlCol="0" anchor="ctr"/>
          <a:lstStyle/>
          <a:p>
            <a:endParaRPr lang="de-DE"/>
          </a:p>
        </p:txBody>
      </p:sp>
      <p:sp>
        <p:nvSpPr>
          <p:cNvPr id="197" name="Product Passes Go-live"/>
          <p:cNvSpPr txBox="1"/>
          <p:nvPr/>
        </p:nvSpPr>
        <p:spPr>
          <a:xfrm>
            <a:off x="3949065"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98" name="PURIS Row Divider E2E go-live target date"/>
          <p:cNvSpPr/>
          <p:nvPr/>
        </p:nvSpPr>
        <p:spPr>
          <a:xfrm>
            <a:off x="5294947" y="2792041"/>
            <a:ext cx="1167574" cy="6401"/>
          </a:xfrm>
          <a:prstGeom prst="rect">
            <a:avLst/>
          </a:prstGeom>
          <a:solidFill>
            <a:srgbClr val="E2E8EC"/>
          </a:solidFill>
          <a:ln>
            <a:noFill/>
          </a:ln>
          <a:effectLst/>
        </p:spPr>
        <p:txBody>
          <a:bodyPr rtlCol="0" anchor="ctr"/>
          <a:lstStyle/>
          <a:p>
            <a:endParaRPr lang="de-DE"/>
          </a:p>
        </p:txBody>
      </p:sp>
      <p:sp>
        <p:nvSpPr>
          <p:cNvPr id="199" name="PURIS Go-live"/>
          <p:cNvSpPr txBox="1"/>
          <p:nvPr/>
        </p:nvSpPr>
        <p:spPr>
          <a:xfrm>
            <a:off x="5294947"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0" name="Business Partner Data Mgmt Row Divider E2E go-live target date"/>
          <p:cNvSpPr/>
          <p:nvPr/>
        </p:nvSpPr>
        <p:spPr>
          <a:xfrm>
            <a:off x="6640830" y="2792041"/>
            <a:ext cx="1167574" cy="6401"/>
          </a:xfrm>
          <a:prstGeom prst="rect">
            <a:avLst/>
          </a:prstGeom>
          <a:solidFill>
            <a:srgbClr val="E2E8EC"/>
          </a:solidFill>
          <a:ln>
            <a:noFill/>
          </a:ln>
          <a:effectLst/>
        </p:spPr>
        <p:txBody>
          <a:bodyPr rtlCol="0" anchor="ctr"/>
          <a:lstStyle/>
          <a:p>
            <a:endParaRPr lang="de-DE"/>
          </a:p>
        </p:txBody>
      </p:sp>
      <p:sp>
        <p:nvSpPr>
          <p:cNvPr id="201" name="Business Partner Data Mgmt Go-live"/>
          <p:cNvSpPr txBox="1"/>
          <p:nvPr/>
        </p:nvSpPr>
        <p:spPr>
          <a:xfrm>
            <a:off x="6640830"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202" name="Certificate Management Row Divider E2E go-live target date"/>
          <p:cNvSpPr/>
          <p:nvPr/>
        </p:nvSpPr>
        <p:spPr>
          <a:xfrm>
            <a:off x="7986712" y="2792041"/>
            <a:ext cx="1167574" cy="6401"/>
          </a:xfrm>
          <a:prstGeom prst="rect">
            <a:avLst/>
          </a:prstGeom>
          <a:solidFill>
            <a:srgbClr val="E2E8EC"/>
          </a:solidFill>
          <a:ln>
            <a:noFill/>
          </a:ln>
          <a:effectLst/>
        </p:spPr>
        <p:txBody>
          <a:bodyPr rtlCol="0" anchor="ctr"/>
          <a:lstStyle/>
          <a:p>
            <a:endParaRPr lang="de-DE"/>
          </a:p>
        </p:txBody>
      </p:sp>
      <p:sp>
        <p:nvSpPr>
          <p:cNvPr id="203" name="Certificate Management Go-live"/>
          <p:cNvSpPr txBox="1"/>
          <p:nvPr/>
        </p:nvSpPr>
        <p:spPr>
          <a:xfrm>
            <a:off x="7986712"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May 2028</a:t>
            </a:r>
          </a:p>
        </p:txBody>
      </p:sp>
      <p:sp>
        <p:nvSpPr>
          <p:cNvPr id="204" name="Product Carbon Footprint Row Divider E2E go-live target date"/>
          <p:cNvSpPr/>
          <p:nvPr/>
        </p:nvSpPr>
        <p:spPr>
          <a:xfrm>
            <a:off x="9332595" y="2792041"/>
            <a:ext cx="1167574" cy="6401"/>
          </a:xfrm>
          <a:prstGeom prst="rect">
            <a:avLst/>
          </a:prstGeom>
          <a:solidFill>
            <a:srgbClr val="E2E8EC"/>
          </a:solidFill>
          <a:ln>
            <a:noFill/>
          </a:ln>
          <a:effectLst/>
        </p:spPr>
        <p:txBody>
          <a:bodyPr rtlCol="0" anchor="ctr"/>
          <a:lstStyle/>
          <a:p>
            <a:endParaRPr lang="de-DE"/>
          </a:p>
        </p:txBody>
      </p:sp>
      <p:sp>
        <p:nvSpPr>
          <p:cNvPr id="205" name="Product Carbon Footprint Go-live"/>
          <p:cNvSpPr txBox="1"/>
          <p:nvPr/>
        </p:nvSpPr>
        <p:spPr>
          <a:xfrm>
            <a:off x="9332595"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Jan 2028</a:t>
            </a:r>
          </a:p>
        </p:txBody>
      </p:sp>
      <p:sp>
        <p:nvSpPr>
          <p:cNvPr id="206" name="N-Tier Row Divider E2E go-live target date"/>
          <p:cNvSpPr/>
          <p:nvPr/>
        </p:nvSpPr>
        <p:spPr>
          <a:xfrm>
            <a:off x="10678477" y="2792041"/>
            <a:ext cx="1167574" cy="6401"/>
          </a:xfrm>
          <a:prstGeom prst="rect">
            <a:avLst/>
          </a:prstGeom>
          <a:solidFill>
            <a:srgbClr val="E2E8EC"/>
          </a:solidFill>
          <a:ln>
            <a:noFill/>
          </a:ln>
          <a:effectLst/>
        </p:spPr>
        <p:txBody>
          <a:bodyPr rtlCol="0" anchor="ctr"/>
          <a:lstStyle/>
          <a:p>
            <a:endParaRPr lang="de-DE"/>
          </a:p>
        </p:txBody>
      </p:sp>
      <p:sp>
        <p:nvSpPr>
          <p:cNvPr id="207" name="N-Tier Go-live"/>
          <p:cNvSpPr txBox="1"/>
          <p:nvPr/>
        </p:nvSpPr>
        <p:spPr>
          <a:xfrm>
            <a:off x="10678477" y="2856049"/>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8" name="Row Label Suppliers enabled 2026"/>
          <p:cNvSpPr txBox="1"/>
          <p:nvPr/>
        </p:nvSpPr>
        <p:spPr>
          <a:xfrm>
            <a:off x="274320" y="3270991"/>
            <a:ext cx="868680" cy="350934"/>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Suppliers enabled 2026</a:t>
            </a:r>
          </a:p>
        </p:txBody>
      </p:sp>
      <p:sp>
        <p:nvSpPr>
          <p:cNvPr id="209" name="Quality Row Divider Suppliers enabled 2026"/>
          <p:cNvSpPr/>
          <p:nvPr/>
        </p:nvSpPr>
        <p:spPr>
          <a:xfrm>
            <a:off x="1257300" y="3206983"/>
            <a:ext cx="1167574" cy="6401"/>
          </a:xfrm>
          <a:prstGeom prst="rect">
            <a:avLst/>
          </a:prstGeom>
          <a:solidFill>
            <a:srgbClr val="E2E8EC"/>
          </a:solidFill>
          <a:ln>
            <a:noFill/>
          </a:ln>
          <a:effectLst/>
        </p:spPr>
        <p:txBody>
          <a:bodyPr rtlCol="0" anchor="ctr"/>
          <a:lstStyle/>
          <a:p>
            <a:endParaRPr lang="de-DE"/>
          </a:p>
        </p:txBody>
      </p:sp>
      <p:sp>
        <p:nvSpPr>
          <p:cNvPr id="210" name="Quality Suppliers"/>
          <p:cNvSpPr txBox="1"/>
          <p:nvPr/>
        </p:nvSpPr>
        <p:spPr>
          <a:xfrm>
            <a:off x="1257300" y="3270991"/>
            <a:ext cx="1167574" cy="31038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2</a:t>
            </a:r>
            <a:r>
              <a:rPr lang="de-DE" sz="900" b="0" kern="0" dirty="0">
                <a:solidFill>
                  <a:srgbClr val="63707A"/>
                </a:solidFill>
                <a:latin typeface="Segoe UI" pitchFamily="34" charset="0"/>
                <a:ea typeface="Segoe UI" pitchFamily="34" charset="-122"/>
                <a:cs typeface="Segoe UI" pitchFamily="34" charset="-120"/>
              </a:rPr>
              <a:t>  0%</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rescoped from 15</a:t>
            </a:r>
          </a:p>
        </p:txBody>
      </p:sp>
      <p:sp>
        <p:nvSpPr>
          <p:cNvPr id="211" name="Battery Passport Row Divider Suppliers enabled 2026"/>
          <p:cNvSpPr/>
          <p:nvPr/>
        </p:nvSpPr>
        <p:spPr>
          <a:xfrm>
            <a:off x="2603182" y="3206983"/>
            <a:ext cx="1167574" cy="6401"/>
          </a:xfrm>
          <a:prstGeom prst="rect">
            <a:avLst/>
          </a:prstGeom>
          <a:solidFill>
            <a:srgbClr val="E2E8EC"/>
          </a:solidFill>
          <a:ln>
            <a:noFill/>
          </a:ln>
          <a:effectLst/>
        </p:spPr>
        <p:txBody>
          <a:bodyPr rtlCol="0" anchor="ctr"/>
          <a:lstStyle/>
          <a:p>
            <a:endParaRPr lang="de-DE"/>
          </a:p>
        </p:txBody>
      </p:sp>
      <p:sp>
        <p:nvSpPr>
          <p:cNvPr id="212" name="Battery Passport Suppliers"/>
          <p:cNvSpPr txBox="1"/>
          <p:nvPr/>
        </p:nvSpPr>
        <p:spPr>
          <a:xfrm>
            <a:off x="2603182"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3" name="Product Passes Row Divider Suppliers enabled 2026"/>
          <p:cNvSpPr/>
          <p:nvPr/>
        </p:nvSpPr>
        <p:spPr>
          <a:xfrm>
            <a:off x="3949065" y="3206983"/>
            <a:ext cx="1167574" cy="6401"/>
          </a:xfrm>
          <a:prstGeom prst="rect">
            <a:avLst/>
          </a:prstGeom>
          <a:solidFill>
            <a:srgbClr val="E2E8EC"/>
          </a:solidFill>
          <a:ln>
            <a:noFill/>
          </a:ln>
          <a:effectLst/>
        </p:spPr>
        <p:txBody>
          <a:bodyPr rtlCol="0" anchor="ctr"/>
          <a:lstStyle/>
          <a:p>
            <a:endParaRPr lang="de-DE"/>
          </a:p>
        </p:txBody>
      </p:sp>
      <p:sp>
        <p:nvSpPr>
          <p:cNvPr id="214" name="Product Passes Suppliers"/>
          <p:cNvSpPr txBox="1"/>
          <p:nvPr/>
        </p:nvSpPr>
        <p:spPr>
          <a:xfrm>
            <a:off x="3949065"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5" name="PURIS Row Divider Suppliers enabled 2026"/>
          <p:cNvSpPr/>
          <p:nvPr/>
        </p:nvSpPr>
        <p:spPr>
          <a:xfrm>
            <a:off x="5294947" y="3206983"/>
            <a:ext cx="1167574" cy="6401"/>
          </a:xfrm>
          <a:prstGeom prst="rect">
            <a:avLst/>
          </a:prstGeom>
          <a:solidFill>
            <a:srgbClr val="E2E8EC"/>
          </a:solidFill>
          <a:ln>
            <a:noFill/>
          </a:ln>
          <a:effectLst/>
        </p:spPr>
        <p:txBody>
          <a:bodyPr rtlCol="0" anchor="ctr"/>
          <a:lstStyle/>
          <a:p>
            <a:endParaRPr lang="de-DE"/>
          </a:p>
        </p:txBody>
      </p:sp>
      <p:sp>
        <p:nvSpPr>
          <p:cNvPr id="216" name="PURIS Suppliers"/>
          <p:cNvSpPr txBox="1"/>
          <p:nvPr/>
        </p:nvSpPr>
        <p:spPr>
          <a:xfrm>
            <a:off x="5294947"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1 / 6</a:t>
            </a:r>
            <a:r>
              <a:rPr lang="de-DE" sz="900" b="0" kern="0" dirty="0">
                <a:solidFill>
                  <a:srgbClr val="63707A"/>
                </a:solidFill>
                <a:latin typeface="Segoe UI" pitchFamily="34" charset="0"/>
                <a:ea typeface="Segoe UI" pitchFamily="34" charset="-122"/>
                <a:cs typeface="Segoe UI" pitchFamily="34" charset="-120"/>
              </a:rPr>
              <a:t>  17%</a:t>
            </a:r>
          </a:p>
        </p:txBody>
      </p:sp>
      <p:sp>
        <p:nvSpPr>
          <p:cNvPr id="217" name="Business Partner Data Mgmt Row Divider Suppliers enabled 2026"/>
          <p:cNvSpPr/>
          <p:nvPr/>
        </p:nvSpPr>
        <p:spPr>
          <a:xfrm>
            <a:off x="6640830" y="3206983"/>
            <a:ext cx="1167574" cy="6401"/>
          </a:xfrm>
          <a:prstGeom prst="rect">
            <a:avLst/>
          </a:prstGeom>
          <a:solidFill>
            <a:srgbClr val="E2E8EC"/>
          </a:solidFill>
          <a:ln>
            <a:noFill/>
          </a:ln>
          <a:effectLst/>
        </p:spPr>
        <p:txBody>
          <a:bodyPr rtlCol="0" anchor="ctr"/>
          <a:lstStyle/>
          <a:p>
            <a:endParaRPr lang="de-DE"/>
          </a:p>
        </p:txBody>
      </p:sp>
      <p:sp>
        <p:nvSpPr>
          <p:cNvPr id="218" name="Business Partner Data Mgmt Suppliers"/>
          <p:cNvSpPr txBox="1"/>
          <p:nvPr/>
        </p:nvSpPr>
        <p:spPr>
          <a:xfrm>
            <a:off x="6640830"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9" name="Certificate Management Row Divider Suppliers enabled 2026"/>
          <p:cNvSpPr/>
          <p:nvPr/>
        </p:nvSpPr>
        <p:spPr>
          <a:xfrm>
            <a:off x="7986712" y="3206983"/>
            <a:ext cx="1167574" cy="6401"/>
          </a:xfrm>
          <a:prstGeom prst="rect">
            <a:avLst/>
          </a:prstGeom>
          <a:solidFill>
            <a:srgbClr val="E2E8EC"/>
          </a:solidFill>
          <a:ln>
            <a:noFill/>
          </a:ln>
          <a:effectLst/>
        </p:spPr>
        <p:txBody>
          <a:bodyPr rtlCol="0" anchor="ctr"/>
          <a:lstStyle/>
          <a:p>
            <a:endParaRPr lang="de-DE"/>
          </a:p>
        </p:txBody>
      </p:sp>
      <p:sp>
        <p:nvSpPr>
          <p:cNvPr id="220" name="Certificate Management Suppliers"/>
          <p:cNvSpPr txBox="1"/>
          <p:nvPr/>
        </p:nvSpPr>
        <p:spPr>
          <a:xfrm>
            <a:off x="7986712"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89 / 100</a:t>
            </a:r>
            <a:r>
              <a:rPr lang="de-DE" sz="900" b="0" kern="0" dirty="0">
                <a:solidFill>
                  <a:srgbClr val="63707A"/>
                </a:solidFill>
                <a:latin typeface="Segoe UI" pitchFamily="34" charset="0"/>
                <a:ea typeface="Segoe UI" pitchFamily="34" charset="-122"/>
                <a:cs typeface="Segoe UI" pitchFamily="34" charset="-120"/>
              </a:rPr>
              <a:t>  89%</a:t>
            </a:r>
          </a:p>
        </p:txBody>
      </p:sp>
      <p:sp>
        <p:nvSpPr>
          <p:cNvPr id="221" name="Product Carbon Footprint Row Divider Suppliers enabled 2026"/>
          <p:cNvSpPr/>
          <p:nvPr/>
        </p:nvSpPr>
        <p:spPr>
          <a:xfrm>
            <a:off x="9332595" y="3206983"/>
            <a:ext cx="1167574" cy="6401"/>
          </a:xfrm>
          <a:prstGeom prst="rect">
            <a:avLst/>
          </a:prstGeom>
          <a:solidFill>
            <a:srgbClr val="E2E8EC"/>
          </a:solidFill>
          <a:ln>
            <a:noFill/>
          </a:ln>
          <a:effectLst/>
        </p:spPr>
        <p:txBody>
          <a:bodyPr rtlCol="0" anchor="ctr"/>
          <a:lstStyle/>
          <a:p>
            <a:endParaRPr lang="de-DE"/>
          </a:p>
        </p:txBody>
      </p:sp>
      <p:sp>
        <p:nvSpPr>
          <p:cNvPr id="222" name="Product Carbon Footprint Suppliers"/>
          <p:cNvSpPr txBox="1"/>
          <p:nvPr/>
        </p:nvSpPr>
        <p:spPr>
          <a:xfrm>
            <a:off x="9332595"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23" name="N-Tier Row Divider Suppliers enabled 2026"/>
          <p:cNvSpPr/>
          <p:nvPr/>
        </p:nvSpPr>
        <p:spPr>
          <a:xfrm>
            <a:off x="10678477" y="3206983"/>
            <a:ext cx="1167574" cy="6401"/>
          </a:xfrm>
          <a:prstGeom prst="rect">
            <a:avLst/>
          </a:prstGeom>
          <a:solidFill>
            <a:srgbClr val="E2E8EC"/>
          </a:solidFill>
          <a:ln>
            <a:noFill/>
          </a:ln>
          <a:effectLst/>
        </p:spPr>
        <p:txBody>
          <a:bodyPr rtlCol="0" anchor="ctr"/>
          <a:lstStyle/>
          <a:p>
            <a:endParaRPr lang="de-DE"/>
          </a:p>
        </p:txBody>
      </p:sp>
      <p:sp>
        <p:nvSpPr>
          <p:cNvPr id="224" name="N-Tier Suppliers"/>
          <p:cNvSpPr txBox="1"/>
          <p:nvPr/>
        </p:nvSpPr>
        <p:spPr>
          <a:xfrm>
            <a:off x="10678477" y="3270991"/>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N/A</a:t>
            </a:r>
          </a:p>
        </p:txBody>
      </p:sp>
      <p:sp>
        <p:nvSpPr>
          <p:cNvPr id="225" name="Row Label Next critical milestone"/>
          <p:cNvSpPr txBox="1"/>
          <p:nvPr/>
        </p:nvSpPr>
        <p:spPr>
          <a:xfrm>
            <a:off x="274320" y="3685933"/>
            <a:ext cx="868680" cy="643034"/>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226" name="Quality Row Divider Next critical milestone"/>
          <p:cNvSpPr/>
          <p:nvPr/>
        </p:nvSpPr>
        <p:spPr>
          <a:xfrm>
            <a:off x="1257300" y="3621925"/>
            <a:ext cx="1167574" cy="6401"/>
          </a:xfrm>
          <a:prstGeom prst="rect">
            <a:avLst/>
          </a:prstGeom>
          <a:solidFill>
            <a:srgbClr val="E2E8EC"/>
          </a:solidFill>
          <a:ln>
            <a:noFill/>
          </a:ln>
          <a:effectLst/>
        </p:spPr>
        <p:txBody>
          <a:bodyPr rtlCol="0" anchor="ctr"/>
          <a:lstStyle/>
          <a:p>
            <a:endParaRPr lang="de-DE"/>
          </a:p>
        </p:txBody>
      </p:sp>
      <p:sp>
        <p:nvSpPr>
          <p:cNvPr id="227" name="Quality Milestone Dot"/>
          <p:cNvSpPr/>
          <p:nvPr/>
        </p:nvSpPr>
        <p:spPr>
          <a:xfrm>
            <a:off x="1257300" y="3722509"/>
            <a:ext cx="73152" cy="73152"/>
          </a:xfrm>
          <a:prstGeom prst="ellipse">
            <a:avLst/>
          </a:prstGeom>
          <a:solidFill>
            <a:srgbClr val="F0B135"/>
          </a:solidFill>
          <a:ln>
            <a:noFill/>
          </a:ln>
          <a:effectLst/>
        </p:spPr>
        <p:txBody>
          <a:bodyPr rtlCol="0" anchor="ctr"/>
          <a:lstStyle/>
          <a:p>
            <a:endParaRPr lang="de-DE"/>
          </a:p>
        </p:txBody>
      </p:sp>
      <p:sp>
        <p:nvSpPr>
          <p:cNvPr id="228" name="Quality Milestone"/>
          <p:cNvSpPr txBox="1"/>
          <p:nvPr/>
        </p:nvSpPr>
        <p:spPr>
          <a:xfrm>
            <a:off x="1394460" y="3685933"/>
            <a:ext cx="1030415" cy="6024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Domain expertise &amp; ownership aligned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30 Sep 2026</a:t>
            </a:r>
          </a:p>
        </p:txBody>
      </p:sp>
      <p:sp>
        <p:nvSpPr>
          <p:cNvPr id="229" name="Battery Passport Row Divider Next critical milestone"/>
          <p:cNvSpPr/>
          <p:nvPr/>
        </p:nvSpPr>
        <p:spPr>
          <a:xfrm>
            <a:off x="2603182" y="3621925"/>
            <a:ext cx="1167574" cy="6401"/>
          </a:xfrm>
          <a:prstGeom prst="rect">
            <a:avLst/>
          </a:prstGeom>
          <a:solidFill>
            <a:srgbClr val="E2E8EC"/>
          </a:solidFill>
          <a:ln>
            <a:noFill/>
          </a:ln>
          <a:effectLst/>
        </p:spPr>
        <p:txBody>
          <a:bodyPr rtlCol="0" anchor="ctr"/>
          <a:lstStyle/>
          <a:p>
            <a:endParaRPr lang="de-DE"/>
          </a:p>
        </p:txBody>
      </p:sp>
      <p:sp>
        <p:nvSpPr>
          <p:cNvPr id="230" name="Battery Passport Milestone"/>
          <p:cNvSpPr txBox="1"/>
          <p:nvPr/>
        </p:nvSpPr>
        <p:spPr>
          <a:xfrm>
            <a:off x="2603182" y="368593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1" name="Product Passes Row Divider Next critical milestone"/>
          <p:cNvSpPr/>
          <p:nvPr/>
        </p:nvSpPr>
        <p:spPr>
          <a:xfrm>
            <a:off x="3949065" y="3621925"/>
            <a:ext cx="1167574" cy="6401"/>
          </a:xfrm>
          <a:prstGeom prst="rect">
            <a:avLst/>
          </a:prstGeom>
          <a:solidFill>
            <a:srgbClr val="E2E8EC"/>
          </a:solidFill>
          <a:ln>
            <a:noFill/>
          </a:ln>
          <a:effectLst/>
        </p:spPr>
        <p:txBody>
          <a:bodyPr rtlCol="0" anchor="ctr"/>
          <a:lstStyle/>
          <a:p>
            <a:endParaRPr lang="de-DE"/>
          </a:p>
        </p:txBody>
      </p:sp>
      <p:sp>
        <p:nvSpPr>
          <p:cNvPr id="232" name="Product Passes Milestone Dot"/>
          <p:cNvSpPr/>
          <p:nvPr/>
        </p:nvSpPr>
        <p:spPr>
          <a:xfrm>
            <a:off x="3949065" y="3722509"/>
            <a:ext cx="73152" cy="73152"/>
          </a:xfrm>
          <a:prstGeom prst="ellipse">
            <a:avLst/>
          </a:prstGeom>
          <a:solidFill>
            <a:srgbClr val="F0B135"/>
          </a:solidFill>
          <a:ln>
            <a:noFill/>
          </a:ln>
          <a:effectLst/>
        </p:spPr>
        <p:txBody>
          <a:bodyPr rtlCol="0" anchor="ctr"/>
          <a:lstStyle/>
          <a:p>
            <a:endParaRPr lang="de-DE"/>
          </a:p>
        </p:txBody>
      </p:sp>
      <p:sp>
        <p:nvSpPr>
          <p:cNvPr id="233" name="Product Passes Milestone"/>
          <p:cNvSpPr txBox="1"/>
          <p:nvPr/>
        </p:nvSpPr>
        <p:spPr>
          <a:xfrm>
            <a:off x="4086225" y="3685933"/>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Product passes prioritized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34" name="PURIS Row Divider Next critical milestone"/>
          <p:cNvSpPr/>
          <p:nvPr/>
        </p:nvSpPr>
        <p:spPr>
          <a:xfrm>
            <a:off x="5294947" y="3621925"/>
            <a:ext cx="1167574" cy="6401"/>
          </a:xfrm>
          <a:prstGeom prst="rect">
            <a:avLst/>
          </a:prstGeom>
          <a:solidFill>
            <a:srgbClr val="E2E8EC"/>
          </a:solidFill>
          <a:ln>
            <a:noFill/>
          </a:ln>
          <a:effectLst/>
        </p:spPr>
        <p:txBody>
          <a:bodyPr rtlCol="0" anchor="ctr"/>
          <a:lstStyle/>
          <a:p>
            <a:endParaRPr lang="de-DE"/>
          </a:p>
        </p:txBody>
      </p:sp>
      <p:sp>
        <p:nvSpPr>
          <p:cNvPr id="235" name="PURIS Milestone Dot"/>
          <p:cNvSpPr/>
          <p:nvPr/>
        </p:nvSpPr>
        <p:spPr>
          <a:xfrm>
            <a:off x="5294947" y="3722509"/>
            <a:ext cx="73152" cy="73152"/>
          </a:xfrm>
          <a:prstGeom prst="ellipse">
            <a:avLst/>
          </a:prstGeom>
          <a:solidFill>
            <a:srgbClr val="F0B135"/>
          </a:solidFill>
          <a:ln>
            <a:noFill/>
          </a:ln>
          <a:effectLst/>
        </p:spPr>
        <p:txBody>
          <a:bodyPr rtlCol="0" anchor="ctr"/>
          <a:lstStyle/>
          <a:p>
            <a:endParaRPr lang="de-DE"/>
          </a:p>
        </p:txBody>
      </p:sp>
      <p:sp>
        <p:nvSpPr>
          <p:cNvPr id="236" name="PURIS Milestone"/>
          <p:cNvSpPr txBox="1"/>
          <p:nvPr/>
        </p:nvSpPr>
        <p:spPr>
          <a:xfrm>
            <a:off x="5432108" y="3685933"/>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Plan for existing challenges ready</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09 Oct 2026</a:t>
            </a:r>
          </a:p>
        </p:txBody>
      </p:sp>
      <p:sp>
        <p:nvSpPr>
          <p:cNvPr id="237" name="Business Partner Data Mgmt Row Divider Next critical milestone"/>
          <p:cNvSpPr/>
          <p:nvPr/>
        </p:nvSpPr>
        <p:spPr>
          <a:xfrm>
            <a:off x="6640830" y="3621925"/>
            <a:ext cx="1167574" cy="6401"/>
          </a:xfrm>
          <a:prstGeom prst="rect">
            <a:avLst/>
          </a:prstGeom>
          <a:solidFill>
            <a:srgbClr val="E2E8EC"/>
          </a:solidFill>
          <a:ln>
            <a:noFill/>
          </a:ln>
          <a:effectLst/>
        </p:spPr>
        <p:txBody>
          <a:bodyPr rtlCol="0" anchor="ctr"/>
          <a:lstStyle/>
          <a:p>
            <a:endParaRPr lang="de-DE"/>
          </a:p>
        </p:txBody>
      </p:sp>
      <p:sp>
        <p:nvSpPr>
          <p:cNvPr id="238" name="Business Partner Data Mgmt Milestone"/>
          <p:cNvSpPr txBox="1"/>
          <p:nvPr/>
        </p:nvSpPr>
        <p:spPr>
          <a:xfrm>
            <a:off x="6640830" y="368593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9" name="Certificate Management Row Divider Next critical milestone"/>
          <p:cNvSpPr/>
          <p:nvPr/>
        </p:nvSpPr>
        <p:spPr>
          <a:xfrm>
            <a:off x="7986712" y="3621925"/>
            <a:ext cx="1167574" cy="6401"/>
          </a:xfrm>
          <a:prstGeom prst="rect">
            <a:avLst/>
          </a:prstGeom>
          <a:solidFill>
            <a:srgbClr val="E2E8EC"/>
          </a:solidFill>
          <a:ln>
            <a:noFill/>
          </a:ln>
          <a:effectLst/>
        </p:spPr>
        <p:txBody>
          <a:bodyPr rtlCol="0" anchor="ctr"/>
          <a:lstStyle/>
          <a:p>
            <a:endParaRPr lang="de-DE"/>
          </a:p>
        </p:txBody>
      </p:sp>
      <p:sp>
        <p:nvSpPr>
          <p:cNvPr id="240" name="Certificate Management Milestone Dot"/>
          <p:cNvSpPr/>
          <p:nvPr/>
        </p:nvSpPr>
        <p:spPr>
          <a:xfrm>
            <a:off x="7986712" y="3722509"/>
            <a:ext cx="73152" cy="73152"/>
          </a:xfrm>
          <a:prstGeom prst="ellipse">
            <a:avLst/>
          </a:prstGeom>
          <a:solidFill>
            <a:srgbClr val="F0B135"/>
          </a:solidFill>
          <a:ln>
            <a:noFill/>
          </a:ln>
          <a:effectLst/>
        </p:spPr>
        <p:txBody>
          <a:bodyPr rtlCol="0" anchor="ctr"/>
          <a:lstStyle/>
          <a:p>
            <a:endParaRPr lang="de-DE"/>
          </a:p>
        </p:txBody>
      </p:sp>
      <p:sp>
        <p:nvSpPr>
          <p:cNvPr id="241" name="Certificate Management Milestone"/>
          <p:cNvSpPr txBox="1"/>
          <p:nvPr/>
        </p:nvSpPr>
        <p:spPr>
          <a:xfrm>
            <a:off x="8123872" y="3685933"/>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Official CX CCM release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Sep 2026</a:t>
            </a:r>
          </a:p>
        </p:txBody>
      </p:sp>
      <p:sp>
        <p:nvSpPr>
          <p:cNvPr id="242" name="Product Carbon Footprint Row Divider Next critical milestone"/>
          <p:cNvSpPr/>
          <p:nvPr/>
        </p:nvSpPr>
        <p:spPr>
          <a:xfrm>
            <a:off x="9332595" y="3621925"/>
            <a:ext cx="1167574" cy="6401"/>
          </a:xfrm>
          <a:prstGeom prst="rect">
            <a:avLst/>
          </a:prstGeom>
          <a:solidFill>
            <a:srgbClr val="E2E8EC"/>
          </a:solidFill>
          <a:ln>
            <a:noFill/>
          </a:ln>
          <a:effectLst/>
        </p:spPr>
        <p:txBody>
          <a:bodyPr rtlCol="0" anchor="ctr"/>
          <a:lstStyle/>
          <a:p>
            <a:endParaRPr lang="de-DE"/>
          </a:p>
        </p:txBody>
      </p:sp>
      <p:sp>
        <p:nvSpPr>
          <p:cNvPr id="243" name="Product Carbon Footprint Milestone Dot"/>
          <p:cNvSpPr/>
          <p:nvPr/>
        </p:nvSpPr>
        <p:spPr>
          <a:xfrm>
            <a:off x="9332595" y="3722509"/>
            <a:ext cx="73152" cy="73152"/>
          </a:xfrm>
          <a:prstGeom prst="ellipse">
            <a:avLst/>
          </a:prstGeom>
          <a:solidFill>
            <a:srgbClr val="F0B135"/>
          </a:solidFill>
          <a:ln>
            <a:noFill/>
          </a:ln>
          <a:effectLst/>
        </p:spPr>
        <p:txBody>
          <a:bodyPr rtlCol="0" anchor="ctr"/>
          <a:lstStyle/>
          <a:p>
            <a:endParaRPr lang="de-DE"/>
          </a:p>
        </p:txBody>
      </p:sp>
      <p:sp>
        <p:nvSpPr>
          <p:cNvPr id="244" name="Product Carbon Footprint Milestone"/>
          <p:cNvSpPr txBox="1"/>
          <p:nvPr/>
        </p:nvSpPr>
        <p:spPr>
          <a:xfrm>
            <a:off x="9469755" y="3685933"/>
            <a:ext cx="1030415"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 pilot stage 1</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15 Oct 2026</a:t>
            </a:r>
          </a:p>
        </p:txBody>
      </p:sp>
      <p:sp>
        <p:nvSpPr>
          <p:cNvPr id="245" name="N-Tier Row Divider Next critical milestone"/>
          <p:cNvSpPr/>
          <p:nvPr/>
        </p:nvSpPr>
        <p:spPr>
          <a:xfrm>
            <a:off x="10678477" y="3621925"/>
            <a:ext cx="1167574" cy="6401"/>
          </a:xfrm>
          <a:prstGeom prst="rect">
            <a:avLst/>
          </a:prstGeom>
          <a:solidFill>
            <a:srgbClr val="E2E8EC"/>
          </a:solidFill>
          <a:ln>
            <a:noFill/>
          </a:ln>
          <a:effectLst/>
        </p:spPr>
        <p:txBody>
          <a:bodyPr rtlCol="0" anchor="ctr"/>
          <a:lstStyle/>
          <a:p>
            <a:endParaRPr lang="de-DE"/>
          </a:p>
        </p:txBody>
      </p:sp>
      <p:sp>
        <p:nvSpPr>
          <p:cNvPr id="246" name="N-Tier Milestone"/>
          <p:cNvSpPr txBox="1"/>
          <p:nvPr/>
        </p:nvSpPr>
        <p:spPr>
          <a:xfrm>
            <a:off x="10678477" y="3685933"/>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7" name="Row Label Dimensions"/>
          <p:cNvSpPr txBox="1"/>
          <p:nvPr/>
        </p:nvSpPr>
        <p:spPr>
          <a:xfrm>
            <a:off x="274320" y="4392975"/>
            <a:ext cx="868680" cy="112238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48" name="Quality Row Divider Dimensions"/>
          <p:cNvSpPr/>
          <p:nvPr/>
        </p:nvSpPr>
        <p:spPr>
          <a:xfrm>
            <a:off x="1257300" y="4328967"/>
            <a:ext cx="1167574" cy="6401"/>
          </a:xfrm>
          <a:prstGeom prst="rect">
            <a:avLst/>
          </a:prstGeom>
          <a:solidFill>
            <a:srgbClr val="E2E8EC"/>
          </a:solidFill>
          <a:ln>
            <a:noFill/>
          </a:ln>
          <a:effectLst/>
        </p:spPr>
        <p:txBody>
          <a:bodyPr rtlCol="0" anchor="ctr"/>
          <a:lstStyle/>
          <a:p>
            <a:endParaRPr lang="de-DE"/>
          </a:p>
        </p:txBody>
      </p:sp>
      <p:sp>
        <p:nvSpPr>
          <p:cNvPr id="249" name="Quality Dim Dot External · CX Association"/>
          <p:cNvSpPr/>
          <p:nvPr/>
        </p:nvSpPr>
        <p:spPr>
          <a:xfrm>
            <a:off x="1257300" y="4429551"/>
            <a:ext cx="73152" cy="73152"/>
          </a:xfrm>
          <a:prstGeom prst="ellipse">
            <a:avLst/>
          </a:prstGeom>
          <a:solidFill>
            <a:srgbClr val="53BE70"/>
          </a:solidFill>
          <a:ln>
            <a:noFill/>
          </a:ln>
          <a:effectLst/>
        </p:spPr>
        <p:txBody>
          <a:bodyPr rtlCol="0" anchor="ctr"/>
          <a:lstStyle/>
          <a:p>
            <a:endParaRPr lang="de-DE"/>
          </a:p>
        </p:txBody>
      </p:sp>
      <p:sp>
        <p:nvSpPr>
          <p:cNvPr id="250" name="Quality Dim External · CX Association"/>
          <p:cNvSpPr txBox="1"/>
          <p:nvPr/>
        </p:nvSpPr>
        <p:spPr>
          <a:xfrm>
            <a:off x="1394460"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1" name="Quality Dim Dot Business"/>
          <p:cNvSpPr/>
          <p:nvPr/>
        </p:nvSpPr>
        <p:spPr>
          <a:xfrm>
            <a:off x="1257300" y="4769455"/>
            <a:ext cx="73152" cy="73152"/>
          </a:xfrm>
          <a:prstGeom prst="ellipse">
            <a:avLst/>
          </a:prstGeom>
          <a:solidFill>
            <a:srgbClr val="F0B135"/>
          </a:solidFill>
          <a:ln>
            <a:noFill/>
          </a:ln>
          <a:effectLst/>
        </p:spPr>
        <p:txBody>
          <a:bodyPr rtlCol="0" anchor="ctr"/>
          <a:lstStyle/>
          <a:p>
            <a:endParaRPr lang="de-DE"/>
          </a:p>
        </p:txBody>
      </p:sp>
      <p:sp>
        <p:nvSpPr>
          <p:cNvPr id="252" name="Quality Dim Business"/>
          <p:cNvSpPr txBox="1"/>
          <p:nvPr/>
        </p:nvSpPr>
        <p:spPr>
          <a:xfrm>
            <a:off x="1394460"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3" name="Quality Dim Dot Data Provisioning"/>
          <p:cNvSpPr/>
          <p:nvPr/>
        </p:nvSpPr>
        <p:spPr>
          <a:xfrm>
            <a:off x="1257300" y="4963309"/>
            <a:ext cx="73152" cy="73152"/>
          </a:xfrm>
          <a:prstGeom prst="ellipse">
            <a:avLst/>
          </a:prstGeom>
          <a:solidFill>
            <a:srgbClr val="F0B135"/>
          </a:solidFill>
          <a:ln>
            <a:noFill/>
          </a:ln>
          <a:effectLst/>
        </p:spPr>
        <p:txBody>
          <a:bodyPr rtlCol="0" anchor="ctr"/>
          <a:lstStyle/>
          <a:p>
            <a:endParaRPr lang="de-DE"/>
          </a:p>
        </p:txBody>
      </p:sp>
      <p:sp>
        <p:nvSpPr>
          <p:cNvPr id="254" name="Quality Dim Data Provisioning"/>
          <p:cNvSpPr txBox="1"/>
          <p:nvPr/>
        </p:nvSpPr>
        <p:spPr>
          <a:xfrm>
            <a:off x="1394460"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55" name="Quality Dim Dot Technical"/>
          <p:cNvSpPr/>
          <p:nvPr/>
        </p:nvSpPr>
        <p:spPr>
          <a:xfrm>
            <a:off x="1257300" y="5157164"/>
            <a:ext cx="73152" cy="73152"/>
          </a:xfrm>
          <a:prstGeom prst="ellipse">
            <a:avLst/>
          </a:prstGeom>
          <a:solidFill>
            <a:srgbClr val="F0B135"/>
          </a:solidFill>
          <a:ln>
            <a:noFill/>
          </a:ln>
          <a:effectLst/>
        </p:spPr>
        <p:txBody>
          <a:bodyPr rtlCol="0" anchor="ctr"/>
          <a:lstStyle/>
          <a:p>
            <a:endParaRPr lang="de-DE"/>
          </a:p>
        </p:txBody>
      </p:sp>
      <p:sp>
        <p:nvSpPr>
          <p:cNvPr id="256" name="Quality Dim Technical"/>
          <p:cNvSpPr txBox="1"/>
          <p:nvPr/>
        </p:nvSpPr>
        <p:spPr>
          <a:xfrm>
            <a:off x="1394460"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7" name="Quality Dim Dot Supplier Activation"/>
          <p:cNvSpPr/>
          <p:nvPr/>
        </p:nvSpPr>
        <p:spPr>
          <a:xfrm>
            <a:off x="1257300" y="5351018"/>
            <a:ext cx="73152" cy="73152"/>
          </a:xfrm>
          <a:prstGeom prst="ellipse">
            <a:avLst/>
          </a:prstGeom>
          <a:solidFill>
            <a:srgbClr val="F0B135"/>
          </a:solidFill>
          <a:ln>
            <a:noFill/>
          </a:ln>
          <a:effectLst/>
        </p:spPr>
        <p:txBody>
          <a:bodyPr rtlCol="0" anchor="ctr"/>
          <a:lstStyle/>
          <a:p>
            <a:endParaRPr lang="de-DE"/>
          </a:p>
        </p:txBody>
      </p:sp>
      <p:sp>
        <p:nvSpPr>
          <p:cNvPr id="258" name="Quality Dim Supplier Activation"/>
          <p:cNvSpPr txBox="1"/>
          <p:nvPr/>
        </p:nvSpPr>
        <p:spPr>
          <a:xfrm>
            <a:off x="1394460"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59" name="Battery Passport Row Divider Dimensions"/>
          <p:cNvSpPr/>
          <p:nvPr/>
        </p:nvSpPr>
        <p:spPr>
          <a:xfrm>
            <a:off x="2603182" y="4328967"/>
            <a:ext cx="1167574" cy="6401"/>
          </a:xfrm>
          <a:prstGeom prst="rect">
            <a:avLst/>
          </a:prstGeom>
          <a:solidFill>
            <a:srgbClr val="E2E8EC"/>
          </a:solidFill>
          <a:ln>
            <a:noFill/>
          </a:ln>
          <a:effectLst/>
        </p:spPr>
        <p:txBody>
          <a:bodyPr rtlCol="0" anchor="ctr"/>
          <a:lstStyle/>
          <a:p>
            <a:endParaRPr lang="de-DE"/>
          </a:p>
        </p:txBody>
      </p:sp>
      <p:sp>
        <p:nvSpPr>
          <p:cNvPr id="260" name="Battery Passport Dim Dot External · CX Association"/>
          <p:cNvSpPr/>
          <p:nvPr/>
        </p:nvSpPr>
        <p:spPr>
          <a:xfrm>
            <a:off x="2603182" y="4429551"/>
            <a:ext cx="73152" cy="73152"/>
          </a:xfrm>
          <a:prstGeom prst="ellipse">
            <a:avLst/>
          </a:prstGeom>
          <a:solidFill>
            <a:srgbClr val="F0B135"/>
          </a:solidFill>
          <a:ln>
            <a:noFill/>
          </a:ln>
          <a:effectLst/>
        </p:spPr>
        <p:txBody>
          <a:bodyPr rtlCol="0" anchor="ctr"/>
          <a:lstStyle/>
          <a:p>
            <a:endParaRPr lang="de-DE"/>
          </a:p>
        </p:txBody>
      </p:sp>
      <p:sp>
        <p:nvSpPr>
          <p:cNvPr id="261" name="Battery Passport Dim External · CX Association"/>
          <p:cNvSpPr txBox="1"/>
          <p:nvPr/>
        </p:nvSpPr>
        <p:spPr>
          <a:xfrm>
            <a:off x="2740342"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62" name="Battery Passport Dim Dot Business"/>
          <p:cNvSpPr/>
          <p:nvPr/>
        </p:nvSpPr>
        <p:spPr>
          <a:xfrm>
            <a:off x="2603182" y="4769455"/>
            <a:ext cx="73152" cy="73152"/>
          </a:xfrm>
          <a:prstGeom prst="ellipse">
            <a:avLst/>
          </a:prstGeom>
          <a:solidFill>
            <a:srgbClr val="F0B135"/>
          </a:solidFill>
          <a:ln>
            <a:noFill/>
          </a:ln>
          <a:effectLst/>
        </p:spPr>
        <p:txBody>
          <a:bodyPr rtlCol="0" anchor="ctr"/>
          <a:lstStyle/>
          <a:p>
            <a:endParaRPr lang="de-DE"/>
          </a:p>
        </p:txBody>
      </p:sp>
      <p:sp>
        <p:nvSpPr>
          <p:cNvPr id="263" name="Battery Passport Dim Business"/>
          <p:cNvSpPr txBox="1"/>
          <p:nvPr/>
        </p:nvSpPr>
        <p:spPr>
          <a:xfrm>
            <a:off x="2740342"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64" name="Battery Passport Dim Dot Data Provisioning"/>
          <p:cNvSpPr/>
          <p:nvPr/>
        </p:nvSpPr>
        <p:spPr>
          <a:xfrm>
            <a:off x="2603182" y="4963309"/>
            <a:ext cx="73152" cy="73152"/>
          </a:xfrm>
          <a:prstGeom prst="ellipse">
            <a:avLst/>
          </a:prstGeom>
          <a:solidFill>
            <a:srgbClr val="53BE70"/>
          </a:solidFill>
          <a:ln>
            <a:noFill/>
          </a:ln>
          <a:effectLst/>
        </p:spPr>
        <p:txBody>
          <a:bodyPr rtlCol="0" anchor="ctr"/>
          <a:lstStyle/>
          <a:p>
            <a:endParaRPr lang="de-DE"/>
          </a:p>
        </p:txBody>
      </p:sp>
      <p:sp>
        <p:nvSpPr>
          <p:cNvPr id="265" name="Battery Passport Dim Data Provisioning"/>
          <p:cNvSpPr txBox="1"/>
          <p:nvPr/>
        </p:nvSpPr>
        <p:spPr>
          <a:xfrm>
            <a:off x="2740342"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66" name="Battery Passport Dim Dot Technical"/>
          <p:cNvSpPr/>
          <p:nvPr/>
        </p:nvSpPr>
        <p:spPr>
          <a:xfrm>
            <a:off x="2603182" y="5157164"/>
            <a:ext cx="73152" cy="73152"/>
          </a:xfrm>
          <a:prstGeom prst="ellipse">
            <a:avLst/>
          </a:prstGeom>
          <a:solidFill>
            <a:srgbClr val="53BE70"/>
          </a:solidFill>
          <a:ln>
            <a:noFill/>
          </a:ln>
          <a:effectLst/>
        </p:spPr>
        <p:txBody>
          <a:bodyPr rtlCol="0" anchor="ctr"/>
          <a:lstStyle/>
          <a:p>
            <a:endParaRPr lang="de-DE"/>
          </a:p>
        </p:txBody>
      </p:sp>
      <p:sp>
        <p:nvSpPr>
          <p:cNvPr id="267" name="Battery Passport Dim Technical"/>
          <p:cNvSpPr txBox="1"/>
          <p:nvPr/>
        </p:nvSpPr>
        <p:spPr>
          <a:xfrm>
            <a:off x="2740342"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68" name="Battery Passport Dim Dot Supplier Activation"/>
          <p:cNvSpPr/>
          <p:nvPr/>
        </p:nvSpPr>
        <p:spPr>
          <a:xfrm>
            <a:off x="2603182" y="5351018"/>
            <a:ext cx="73152" cy="73152"/>
          </a:xfrm>
          <a:prstGeom prst="ellipse">
            <a:avLst/>
          </a:prstGeom>
          <a:solidFill>
            <a:srgbClr val="53BE70"/>
          </a:solidFill>
          <a:ln>
            <a:noFill/>
          </a:ln>
          <a:effectLst/>
        </p:spPr>
        <p:txBody>
          <a:bodyPr rtlCol="0" anchor="ctr"/>
          <a:lstStyle/>
          <a:p>
            <a:endParaRPr lang="de-DE"/>
          </a:p>
        </p:txBody>
      </p:sp>
      <p:sp>
        <p:nvSpPr>
          <p:cNvPr id="269" name="Battery Passport Dim Supplier Activation"/>
          <p:cNvSpPr txBox="1"/>
          <p:nvPr/>
        </p:nvSpPr>
        <p:spPr>
          <a:xfrm>
            <a:off x="2740342"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70" name="Product Passes Row Divider Dimensions"/>
          <p:cNvSpPr/>
          <p:nvPr/>
        </p:nvSpPr>
        <p:spPr>
          <a:xfrm>
            <a:off x="3949065" y="4328967"/>
            <a:ext cx="1167574" cy="6401"/>
          </a:xfrm>
          <a:prstGeom prst="rect">
            <a:avLst/>
          </a:prstGeom>
          <a:solidFill>
            <a:srgbClr val="E2E8EC"/>
          </a:solidFill>
          <a:ln>
            <a:noFill/>
          </a:ln>
          <a:effectLst/>
        </p:spPr>
        <p:txBody>
          <a:bodyPr rtlCol="0" anchor="ctr"/>
          <a:lstStyle/>
          <a:p>
            <a:endParaRPr lang="de-DE"/>
          </a:p>
        </p:txBody>
      </p:sp>
      <p:sp>
        <p:nvSpPr>
          <p:cNvPr id="271" name="Product Passes Dim Dot External · CX Association"/>
          <p:cNvSpPr/>
          <p:nvPr/>
        </p:nvSpPr>
        <p:spPr>
          <a:xfrm>
            <a:off x="3949065" y="4429551"/>
            <a:ext cx="73152" cy="73152"/>
          </a:xfrm>
          <a:prstGeom prst="ellipse">
            <a:avLst/>
          </a:prstGeom>
          <a:solidFill>
            <a:srgbClr val="F0B135"/>
          </a:solidFill>
          <a:ln>
            <a:noFill/>
          </a:ln>
          <a:effectLst/>
        </p:spPr>
        <p:txBody>
          <a:bodyPr rtlCol="0" anchor="ctr"/>
          <a:lstStyle/>
          <a:p>
            <a:endParaRPr lang="de-DE"/>
          </a:p>
        </p:txBody>
      </p:sp>
      <p:sp>
        <p:nvSpPr>
          <p:cNvPr id="272" name="Product Passes Dim External · CX Association"/>
          <p:cNvSpPr txBox="1"/>
          <p:nvPr/>
        </p:nvSpPr>
        <p:spPr>
          <a:xfrm>
            <a:off x="4086225"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73" name="Product Passes Dim Dot Business"/>
          <p:cNvSpPr/>
          <p:nvPr/>
        </p:nvSpPr>
        <p:spPr>
          <a:xfrm>
            <a:off x="3949065" y="4769455"/>
            <a:ext cx="73152" cy="73152"/>
          </a:xfrm>
          <a:prstGeom prst="ellipse">
            <a:avLst/>
          </a:prstGeom>
          <a:solidFill>
            <a:srgbClr val="F0B135"/>
          </a:solidFill>
          <a:ln>
            <a:noFill/>
          </a:ln>
          <a:effectLst/>
        </p:spPr>
        <p:txBody>
          <a:bodyPr rtlCol="0" anchor="ctr"/>
          <a:lstStyle/>
          <a:p>
            <a:endParaRPr lang="de-DE"/>
          </a:p>
        </p:txBody>
      </p:sp>
      <p:sp>
        <p:nvSpPr>
          <p:cNvPr id="274" name="Product Passes Dim Business"/>
          <p:cNvSpPr txBox="1"/>
          <p:nvPr/>
        </p:nvSpPr>
        <p:spPr>
          <a:xfrm>
            <a:off x="4086225"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75" name="Product Passes Dim Dot Data Provisioning"/>
          <p:cNvSpPr/>
          <p:nvPr/>
        </p:nvSpPr>
        <p:spPr>
          <a:xfrm>
            <a:off x="3949065" y="4963309"/>
            <a:ext cx="73152" cy="73152"/>
          </a:xfrm>
          <a:prstGeom prst="ellipse">
            <a:avLst/>
          </a:prstGeom>
          <a:solidFill>
            <a:srgbClr val="53BE70"/>
          </a:solidFill>
          <a:ln>
            <a:noFill/>
          </a:ln>
          <a:effectLst/>
        </p:spPr>
        <p:txBody>
          <a:bodyPr rtlCol="0" anchor="ctr"/>
          <a:lstStyle/>
          <a:p>
            <a:endParaRPr lang="de-DE"/>
          </a:p>
        </p:txBody>
      </p:sp>
      <p:sp>
        <p:nvSpPr>
          <p:cNvPr id="276" name="Product Passes Dim Data Provisioning"/>
          <p:cNvSpPr txBox="1"/>
          <p:nvPr/>
        </p:nvSpPr>
        <p:spPr>
          <a:xfrm>
            <a:off x="4086225"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77" name="Product Passes Dim Dot Technical"/>
          <p:cNvSpPr/>
          <p:nvPr/>
        </p:nvSpPr>
        <p:spPr>
          <a:xfrm>
            <a:off x="3949065" y="5157164"/>
            <a:ext cx="73152" cy="73152"/>
          </a:xfrm>
          <a:prstGeom prst="ellipse">
            <a:avLst/>
          </a:prstGeom>
          <a:solidFill>
            <a:srgbClr val="53BE70"/>
          </a:solidFill>
          <a:ln>
            <a:noFill/>
          </a:ln>
          <a:effectLst/>
        </p:spPr>
        <p:txBody>
          <a:bodyPr rtlCol="0" anchor="ctr"/>
          <a:lstStyle/>
          <a:p>
            <a:endParaRPr lang="de-DE"/>
          </a:p>
        </p:txBody>
      </p:sp>
      <p:sp>
        <p:nvSpPr>
          <p:cNvPr id="278" name="Product Passes Dim Technical"/>
          <p:cNvSpPr txBox="1"/>
          <p:nvPr/>
        </p:nvSpPr>
        <p:spPr>
          <a:xfrm>
            <a:off x="4086225"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79" name="Product Passes Dim Dot Supplier Activation"/>
          <p:cNvSpPr/>
          <p:nvPr/>
        </p:nvSpPr>
        <p:spPr>
          <a:xfrm>
            <a:off x="3949065" y="5351018"/>
            <a:ext cx="73152" cy="73152"/>
          </a:xfrm>
          <a:prstGeom prst="ellipse">
            <a:avLst/>
          </a:prstGeom>
          <a:solidFill>
            <a:srgbClr val="53BE70"/>
          </a:solidFill>
          <a:ln>
            <a:noFill/>
          </a:ln>
          <a:effectLst/>
        </p:spPr>
        <p:txBody>
          <a:bodyPr rtlCol="0" anchor="ctr"/>
          <a:lstStyle/>
          <a:p>
            <a:endParaRPr lang="de-DE"/>
          </a:p>
        </p:txBody>
      </p:sp>
      <p:sp>
        <p:nvSpPr>
          <p:cNvPr id="280" name="Product Passes Dim Supplier Activation"/>
          <p:cNvSpPr txBox="1"/>
          <p:nvPr/>
        </p:nvSpPr>
        <p:spPr>
          <a:xfrm>
            <a:off x="4086225"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81" name="PURIS Row Divider Dimensions"/>
          <p:cNvSpPr/>
          <p:nvPr/>
        </p:nvSpPr>
        <p:spPr>
          <a:xfrm>
            <a:off x="5294947" y="4328967"/>
            <a:ext cx="1167574" cy="6401"/>
          </a:xfrm>
          <a:prstGeom prst="rect">
            <a:avLst/>
          </a:prstGeom>
          <a:solidFill>
            <a:srgbClr val="E2E8EC"/>
          </a:solidFill>
          <a:ln>
            <a:noFill/>
          </a:ln>
          <a:effectLst/>
        </p:spPr>
        <p:txBody>
          <a:bodyPr rtlCol="0" anchor="ctr"/>
          <a:lstStyle/>
          <a:p>
            <a:endParaRPr lang="de-DE"/>
          </a:p>
        </p:txBody>
      </p:sp>
      <p:sp>
        <p:nvSpPr>
          <p:cNvPr id="282" name="PURIS Dim Dot External · CX Association"/>
          <p:cNvSpPr/>
          <p:nvPr/>
        </p:nvSpPr>
        <p:spPr>
          <a:xfrm>
            <a:off x="5294947" y="4429551"/>
            <a:ext cx="73152" cy="73152"/>
          </a:xfrm>
          <a:prstGeom prst="ellipse">
            <a:avLst/>
          </a:prstGeom>
          <a:solidFill>
            <a:srgbClr val="53BE70"/>
          </a:solidFill>
          <a:ln>
            <a:noFill/>
          </a:ln>
          <a:effectLst/>
        </p:spPr>
        <p:txBody>
          <a:bodyPr rtlCol="0" anchor="ctr"/>
          <a:lstStyle/>
          <a:p>
            <a:endParaRPr lang="de-DE"/>
          </a:p>
        </p:txBody>
      </p:sp>
      <p:sp>
        <p:nvSpPr>
          <p:cNvPr id="283" name="PURIS Dim External · CX Association"/>
          <p:cNvSpPr txBox="1"/>
          <p:nvPr/>
        </p:nvSpPr>
        <p:spPr>
          <a:xfrm>
            <a:off x="5432108"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84" name="PURIS Dim Dot Business"/>
          <p:cNvSpPr/>
          <p:nvPr/>
        </p:nvSpPr>
        <p:spPr>
          <a:xfrm>
            <a:off x="5294947" y="4769455"/>
            <a:ext cx="73152" cy="73152"/>
          </a:xfrm>
          <a:prstGeom prst="ellipse">
            <a:avLst/>
          </a:prstGeom>
          <a:solidFill>
            <a:srgbClr val="F0B135"/>
          </a:solidFill>
          <a:ln>
            <a:noFill/>
          </a:ln>
          <a:effectLst/>
        </p:spPr>
        <p:txBody>
          <a:bodyPr rtlCol="0" anchor="ctr"/>
          <a:lstStyle/>
          <a:p>
            <a:endParaRPr lang="de-DE"/>
          </a:p>
        </p:txBody>
      </p:sp>
      <p:sp>
        <p:nvSpPr>
          <p:cNvPr id="285" name="PURIS Dim Business"/>
          <p:cNvSpPr txBox="1"/>
          <p:nvPr/>
        </p:nvSpPr>
        <p:spPr>
          <a:xfrm>
            <a:off x="5432108"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86" name="PURIS Dim Dot Data Provisioning"/>
          <p:cNvSpPr/>
          <p:nvPr/>
        </p:nvSpPr>
        <p:spPr>
          <a:xfrm>
            <a:off x="5294947" y="4963309"/>
            <a:ext cx="73152" cy="73152"/>
          </a:xfrm>
          <a:prstGeom prst="ellipse">
            <a:avLst/>
          </a:prstGeom>
          <a:solidFill>
            <a:srgbClr val="F0B135"/>
          </a:solidFill>
          <a:ln>
            <a:noFill/>
          </a:ln>
          <a:effectLst/>
        </p:spPr>
        <p:txBody>
          <a:bodyPr rtlCol="0" anchor="ctr"/>
          <a:lstStyle/>
          <a:p>
            <a:endParaRPr lang="de-DE"/>
          </a:p>
        </p:txBody>
      </p:sp>
      <p:sp>
        <p:nvSpPr>
          <p:cNvPr id="287" name="PURIS Dim Data Provisioning"/>
          <p:cNvSpPr txBox="1"/>
          <p:nvPr/>
        </p:nvSpPr>
        <p:spPr>
          <a:xfrm>
            <a:off x="5432108"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88" name="PURIS Dim Dot Technical"/>
          <p:cNvSpPr/>
          <p:nvPr/>
        </p:nvSpPr>
        <p:spPr>
          <a:xfrm>
            <a:off x="5294947" y="5157164"/>
            <a:ext cx="73152" cy="73152"/>
          </a:xfrm>
          <a:prstGeom prst="ellipse">
            <a:avLst/>
          </a:prstGeom>
          <a:solidFill>
            <a:srgbClr val="F0B135"/>
          </a:solidFill>
          <a:ln>
            <a:noFill/>
          </a:ln>
          <a:effectLst/>
        </p:spPr>
        <p:txBody>
          <a:bodyPr rtlCol="0" anchor="ctr"/>
          <a:lstStyle/>
          <a:p>
            <a:endParaRPr lang="de-DE"/>
          </a:p>
        </p:txBody>
      </p:sp>
      <p:sp>
        <p:nvSpPr>
          <p:cNvPr id="289" name="PURIS Dim Technical"/>
          <p:cNvSpPr txBox="1"/>
          <p:nvPr/>
        </p:nvSpPr>
        <p:spPr>
          <a:xfrm>
            <a:off x="5432108"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90" name="PURIS Dim Dot Supplier Activation"/>
          <p:cNvSpPr/>
          <p:nvPr/>
        </p:nvSpPr>
        <p:spPr>
          <a:xfrm>
            <a:off x="5294947" y="5351018"/>
            <a:ext cx="73152" cy="73152"/>
          </a:xfrm>
          <a:prstGeom prst="ellipse">
            <a:avLst/>
          </a:prstGeom>
          <a:solidFill>
            <a:srgbClr val="F0B135"/>
          </a:solidFill>
          <a:ln>
            <a:noFill/>
          </a:ln>
          <a:effectLst/>
        </p:spPr>
        <p:txBody>
          <a:bodyPr rtlCol="0" anchor="ctr"/>
          <a:lstStyle/>
          <a:p>
            <a:endParaRPr lang="de-DE"/>
          </a:p>
        </p:txBody>
      </p:sp>
      <p:sp>
        <p:nvSpPr>
          <p:cNvPr id="291" name="PURIS Dim Supplier Activation"/>
          <p:cNvSpPr txBox="1"/>
          <p:nvPr/>
        </p:nvSpPr>
        <p:spPr>
          <a:xfrm>
            <a:off x="5432108"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92" name="Business Partner Data Mgmt Row Divider Dimensions"/>
          <p:cNvSpPr/>
          <p:nvPr/>
        </p:nvSpPr>
        <p:spPr>
          <a:xfrm>
            <a:off x="6640830" y="4328967"/>
            <a:ext cx="1167574" cy="6401"/>
          </a:xfrm>
          <a:prstGeom prst="rect">
            <a:avLst/>
          </a:prstGeom>
          <a:solidFill>
            <a:srgbClr val="E2E8EC"/>
          </a:solidFill>
          <a:ln>
            <a:noFill/>
          </a:ln>
          <a:effectLst/>
        </p:spPr>
        <p:txBody>
          <a:bodyPr rtlCol="0" anchor="ctr"/>
          <a:lstStyle/>
          <a:p>
            <a:endParaRPr lang="de-DE"/>
          </a:p>
        </p:txBody>
      </p:sp>
      <p:sp>
        <p:nvSpPr>
          <p:cNvPr id="293" name="Business Partner Data Mgmt Dim Dot External · CX Association"/>
          <p:cNvSpPr/>
          <p:nvPr/>
        </p:nvSpPr>
        <p:spPr>
          <a:xfrm>
            <a:off x="6640830" y="4429551"/>
            <a:ext cx="73152" cy="73152"/>
          </a:xfrm>
          <a:prstGeom prst="ellipse">
            <a:avLst/>
          </a:prstGeom>
          <a:solidFill>
            <a:srgbClr val="53BE70"/>
          </a:solidFill>
          <a:ln>
            <a:noFill/>
          </a:ln>
          <a:effectLst/>
        </p:spPr>
        <p:txBody>
          <a:bodyPr rtlCol="0" anchor="ctr"/>
          <a:lstStyle/>
          <a:p>
            <a:endParaRPr lang="de-DE"/>
          </a:p>
        </p:txBody>
      </p:sp>
      <p:sp>
        <p:nvSpPr>
          <p:cNvPr id="294" name="Business Partner Data Mgmt Dim External · CX Association"/>
          <p:cNvSpPr txBox="1"/>
          <p:nvPr/>
        </p:nvSpPr>
        <p:spPr>
          <a:xfrm>
            <a:off x="6777990"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95" name="Business Partner Data Mgmt Dim Dot Business"/>
          <p:cNvSpPr/>
          <p:nvPr/>
        </p:nvSpPr>
        <p:spPr>
          <a:xfrm>
            <a:off x="6640830" y="4769455"/>
            <a:ext cx="73152" cy="73152"/>
          </a:xfrm>
          <a:prstGeom prst="ellipse">
            <a:avLst/>
          </a:prstGeom>
          <a:solidFill>
            <a:srgbClr val="F0B135"/>
          </a:solidFill>
          <a:ln>
            <a:noFill/>
          </a:ln>
          <a:effectLst/>
        </p:spPr>
        <p:txBody>
          <a:bodyPr rtlCol="0" anchor="ctr"/>
          <a:lstStyle/>
          <a:p>
            <a:endParaRPr lang="de-DE"/>
          </a:p>
        </p:txBody>
      </p:sp>
      <p:sp>
        <p:nvSpPr>
          <p:cNvPr id="296" name="Business Partner Data Mgmt Dim Business"/>
          <p:cNvSpPr txBox="1"/>
          <p:nvPr/>
        </p:nvSpPr>
        <p:spPr>
          <a:xfrm>
            <a:off x="6777990"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97" name="Business Partner Data Mgmt Dim Dot Data Provisioning"/>
          <p:cNvSpPr/>
          <p:nvPr/>
        </p:nvSpPr>
        <p:spPr>
          <a:xfrm>
            <a:off x="6640830" y="4963309"/>
            <a:ext cx="73152" cy="73152"/>
          </a:xfrm>
          <a:prstGeom prst="ellipse">
            <a:avLst/>
          </a:prstGeom>
          <a:solidFill>
            <a:srgbClr val="53BE70"/>
          </a:solidFill>
          <a:ln>
            <a:noFill/>
          </a:ln>
          <a:effectLst/>
        </p:spPr>
        <p:txBody>
          <a:bodyPr rtlCol="0" anchor="ctr"/>
          <a:lstStyle/>
          <a:p>
            <a:endParaRPr lang="de-DE"/>
          </a:p>
        </p:txBody>
      </p:sp>
      <p:sp>
        <p:nvSpPr>
          <p:cNvPr id="298" name="Business Partner Data Mgmt Dim Data Provisioning"/>
          <p:cNvSpPr txBox="1"/>
          <p:nvPr/>
        </p:nvSpPr>
        <p:spPr>
          <a:xfrm>
            <a:off x="6777990"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99" name="Business Partner Data Mgmt Dim Dot Technical"/>
          <p:cNvSpPr/>
          <p:nvPr/>
        </p:nvSpPr>
        <p:spPr>
          <a:xfrm>
            <a:off x="6640830" y="5157164"/>
            <a:ext cx="73152" cy="73152"/>
          </a:xfrm>
          <a:prstGeom prst="ellipse">
            <a:avLst/>
          </a:prstGeom>
          <a:solidFill>
            <a:srgbClr val="F0B135"/>
          </a:solidFill>
          <a:ln>
            <a:noFill/>
          </a:ln>
          <a:effectLst/>
        </p:spPr>
        <p:txBody>
          <a:bodyPr rtlCol="0" anchor="ctr"/>
          <a:lstStyle/>
          <a:p>
            <a:endParaRPr lang="de-DE"/>
          </a:p>
        </p:txBody>
      </p:sp>
      <p:sp>
        <p:nvSpPr>
          <p:cNvPr id="300" name="Business Partner Data Mgmt Dim Technical"/>
          <p:cNvSpPr txBox="1"/>
          <p:nvPr/>
        </p:nvSpPr>
        <p:spPr>
          <a:xfrm>
            <a:off x="6777990"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01" name="Business Partner Data Mgmt Dim Dot Supplier Activation"/>
          <p:cNvSpPr/>
          <p:nvPr/>
        </p:nvSpPr>
        <p:spPr>
          <a:xfrm>
            <a:off x="6640830" y="5351018"/>
            <a:ext cx="73152" cy="73152"/>
          </a:xfrm>
          <a:prstGeom prst="ellipse">
            <a:avLst/>
          </a:prstGeom>
          <a:solidFill>
            <a:srgbClr val="CFD6DB"/>
          </a:solidFill>
          <a:ln>
            <a:noFill/>
          </a:ln>
          <a:effectLst/>
        </p:spPr>
        <p:txBody>
          <a:bodyPr rtlCol="0" anchor="ctr"/>
          <a:lstStyle/>
          <a:p>
            <a:endParaRPr lang="de-DE"/>
          </a:p>
        </p:txBody>
      </p:sp>
      <p:sp>
        <p:nvSpPr>
          <p:cNvPr id="302" name="Business Partner Data Mgmt Dim Supplier Activation"/>
          <p:cNvSpPr txBox="1"/>
          <p:nvPr/>
        </p:nvSpPr>
        <p:spPr>
          <a:xfrm>
            <a:off x="6777990"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03" name="Certificate Management Row Divider Dimensions"/>
          <p:cNvSpPr/>
          <p:nvPr/>
        </p:nvSpPr>
        <p:spPr>
          <a:xfrm>
            <a:off x="7986712" y="4328967"/>
            <a:ext cx="1167574" cy="6401"/>
          </a:xfrm>
          <a:prstGeom prst="rect">
            <a:avLst/>
          </a:prstGeom>
          <a:solidFill>
            <a:srgbClr val="E2E8EC"/>
          </a:solidFill>
          <a:ln>
            <a:noFill/>
          </a:ln>
          <a:effectLst/>
        </p:spPr>
        <p:txBody>
          <a:bodyPr rtlCol="0" anchor="ctr"/>
          <a:lstStyle/>
          <a:p>
            <a:endParaRPr lang="de-DE"/>
          </a:p>
        </p:txBody>
      </p:sp>
      <p:sp>
        <p:nvSpPr>
          <p:cNvPr id="304" name="Certificate Management Dim Dot External · CX Association"/>
          <p:cNvSpPr/>
          <p:nvPr/>
        </p:nvSpPr>
        <p:spPr>
          <a:xfrm>
            <a:off x="7986712" y="4429551"/>
            <a:ext cx="73152" cy="73152"/>
          </a:xfrm>
          <a:prstGeom prst="ellipse">
            <a:avLst/>
          </a:prstGeom>
          <a:solidFill>
            <a:srgbClr val="53BE70"/>
          </a:solidFill>
          <a:ln>
            <a:noFill/>
          </a:ln>
          <a:effectLst/>
        </p:spPr>
        <p:txBody>
          <a:bodyPr rtlCol="0" anchor="ctr"/>
          <a:lstStyle/>
          <a:p>
            <a:endParaRPr lang="de-DE"/>
          </a:p>
        </p:txBody>
      </p:sp>
      <p:sp>
        <p:nvSpPr>
          <p:cNvPr id="305" name="Certificate Management Dim External · CX Association"/>
          <p:cNvSpPr txBox="1"/>
          <p:nvPr/>
        </p:nvSpPr>
        <p:spPr>
          <a:xfrm>
            <a:off x="8123872"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06" name="Certificate Management Dim Dot Business"/>
          <p:cNvSpPr/>
          <p:nvPr/>
        </p:nvSpPr>
        <p:spPr>
          <a:xfrm>
            <a:off x="7986712" y="4769455"/>
            <a:ext cx="73152" cy="73152"/>
          </a:xfrm>
          <a:prstGeom prst="ellipse">
            <a:avLst/>
          </a:prstGeom>
          <a:solidFill>
            <a:srgbClr val="53BE70"/>
          </a:solidFill>
          <a:ln>
            <a:noFill/>
          </a:ln>
          <a:effectLst/>
        </p:spPr>
        <p:txBody>
          <a:bodyPr rtlCol="0" anchor="ctr"/>
          <a:lstStyle/>
          <a:p>
            <a:endParaRPr lang="de-DE"/>
          </a:p>
        </p:txBody>
      </p:sp>
      <p:sp>
        <p:nvSpPr>
          <p:cNvPr id="307" name="Certificate Management Dim Business"/>
          <p:cNvSpPr txBox="1"/>
          <p:nvPr/>
        </p:nvSpPr>
        <p:spPr>
          <a:xfrm>
            <a:off x="8123872"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08" name="Certificate Management Dim Dot Data Provisioning"/>
          <p:cNvSpPr/>
          <p:nvPr/>
        </p:nvSpPr>
        <p:spPr>
          <a:xfrm>
            <a:off x="7986712" y="4963309"/>
            <a:ext cx="73152" cy="73152"/>
          </a:xfrm>
          <a:prstGeom prst="ellipse">
            <a:avLst/>
          </a:prstGeom>
          <a:solidFill>
            <a:srgbClr val="53BE70"/>
          </a:solidFill>
          <a:ln>
            <a:noFill/>
          </a:ln>
          <a:effectLst/>
        </p:spPr>
        <p:txBody>
          <a:bodyPr rtlCol="0" anchor="ctr"/>
          <a:lstStyle/>
          <a:p>
            <a:endParaRPr lang="de-DE"/>
          </a:p>
        </p:txBody>
      </p:sp>
      <p:sp>
        <p:nvSpPr>
          <p:cNvPr id="309" name="Certificate Management Dim Data Provisioning"/>
          <p:cNvSpPr txBox="1"/>
          <p:nvPr/>
        </p:nvSpPr>
        <p:spPr>
          <a:xfrm>
            <a:off x="8123872"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10" name="Certificate Management Dim Dot Technical"/>
          <p:cNvSpPr/>
          <p:nvPr/>
        </p:nvSpPr>
        <p:spPr>
          <a:xfrm>
            <a:off x="7986712" y="5157164"/>
            <a:ext cx="73152" cy="73152"/>
          </a:xfrm>
          <a:prstGeom prst="ellipse">
            <a:avLst/>
          </a:prstGeom>
          <a:solidFill>
            <a:srgbClr val="53BE70"/>
          </a:solidFill>
          <a:ln>
            <a:noFill/>
          </a:ln>
          <a:effectLst/>
        </p:spPr>
        <p:txBody>
          <a:bodyPr rtlCol="0" anchor="ctr"/>
          <a:lstStyle/>
          <a:p>
            <a:endParaRPr lang="de-DE"/>
          </a:p>
        </p:txBody>
      </p:sp>
      <p:sp>
        <p:nvSpPr>
          <p:cNvPr id="311" name="Certificate Management Dim Technical"/>
          <p:cNvSpPr txBox="1"/>
          <p:nvPr/>
        </p:nvSpPr>
        <p:spPr>
          <a:xfrm>
            <a:off x="8123872"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12" name="Certificate Management Dim Dot Supplier Activation"/>
          <p:cNvSpPr/>
          <p:nvPr/>
        </p:nvSpPr>
        <p:spPr>
          <a:xfrm>
            <a:off x="7986712" y="5351018"/>
            <a:ext cx="73152" cy="73152"/>
          </a:xfrm>
          <a:prstGeom prst="ellipse">
            <a:avLst/>
          </a:prstGeom>
          <a:solidFill>
            <a:srgbClr val="53BE70"/>
          </a:solidFill>
          <a:ln>
            <a:noFill/>
          </a:ln>
          <a:effectLst/>
        </p:spPr>
        <p:txBody>
          <a:bodyPr rtlCol="0" anchor="ctr"/>
          <a:lstStyle/>
          <a:p>
            <a:endParaRPr lang="de-DE"/>
          </a:p>
        </p:txBody>
      </p:sp>
      <p:sp>
        <p:nvSpPr>
          <p:cNvPr id="313" name="Certificate Management Dim Supplier Activation"/>
          <p:cNvSpPr txBox="1"/>
          <p:nvPr/>
        </p:nvSpPr>
        <p:spPr>
          <a:xfrm>
            <a:off x="8123872"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14" name="Product Carbon Footprint Row Divider Dimensions"/>
          <p:cNvSpPr/>
          <p:nvPr/>
        </p:nvSpPr>
        <p:spPr>
          <a:xfrm>
            <a:off x="9332595" y="4328967"/>
            <a:ext cx="1167574" cy="6401"/>
          </a:xfrm>
          <a:prstGeom prst="rect">
            <a:avLst/>
          </a:prstGeom>
          <a:solidFill>
            <a:srgbClr val="E2E8EC"/>
          </a:solidFill>
          <a:ln>
            <a:noFill/>
          </a:ln>
          <a:effectLst/>
        </p:spPr>
        <p:txBody>
          <a:bodyPr rtlCol="0" anchor="ctr"/>
          <a:lstStyle/>
          <a:p>
            <a:endParaRPr lang="de-DE"/>
          </a:p>
        </p:txBody>
      </p:sp>
      <p:sp>
        <p:nvSpPr>
          <p:cNvPr id="315" name="Product Carbon Footprint Dim Dot External · CX Association"/>
          <p:cNvSpPr/>
          <p:nvPr/>
        </p:nvSpPr>
        <p:spPr>
          <a:xfrm>
            <a:off x="9332595" y="4429551"/>
            <a:ext cx="73152" cy="73152"/>
          </a:xfrm>
          <a:prstGeom prst="ellipse">
            <a:avLst/>
          </a:prstGeom>
          <a:solidFill>
            <a:srgbClr val="53BE70"/>
          </a:solidFill>
          <a:ln>
            <a:noFill/>
          </a:ln>
          <a:effectLst/>
        </p:spPr>
        <p:txBody>
          <a:bodyPr rtlCol="0" anchor="ctr"/>
          <a:lstStyle/>
          <a:p>
            <a:endParaRPr lang="de-DE"/>
          </a:p>
        </p:txBody>
      </p:sp>
      <p:sp>
        <p:nvSpPr>
          <p:cNvPr id="316" name="Product Carbon Footprint Dim External · CX Association"/>
          <p:cNvSpPr txBox="1"/>
          <p:nvPr/>
        </p:nvSpPr>
        <p:spPr>
          <a:xfrm>
            <a:off x="9469755"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17" name="Product Carbon Footprint Dim Dot Business"/>
          <p:cNvSpPr/>
          <p:nvPr/>
        </p:nvSpPr>
        <p:spPr>
          <a:xfrm>
            <a:off x="9332595" y="4769455"/>
            <a:ext cx="73152" cy="73152"/>
          </a:xfrm>
          <a:prstGeom prst="ellipse">
            <a:avLst/>
          </a:prstGeom>
          <a:solidFill>
            <a:srgbClr val="53BE70"/>
          </a:solidFill>
          <a:ln>
            <a:noFill/>
          </a:ln>
          <a:effectLst/>
        </p:spPr>
        <p:txBody>
          <a:bodyPr rtlCol="0" anchor="ctr"/>
          <a:lstStyle/>
          <a:p>
            <a:endParaRPr lang="de-DE"/>
          </a:p>
        </p:txBody>
      </p:sp>
      <p:sp>
        <p:nvSpPr>
          <p:cNvPr id="318" name="Product Carbon Footprint Dim Business"/>
          <p:cNvSpPr txBox="1"/>
          <p:nvPr/>
        </p:nvSpPr>
        <p:spPr>
          <a:xfrm>
            <a:off x="9469755"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19" name="Product Carbon Footprint Dim Dot Data Provisioning"/>
          <p:cNvSpPr/>
          <p:nvPr/>
        </p:nvSpPr>
        <p:spPr>
          <a:xfrm>
            <a:off x="9332595" y="4963309"/>
            <a:ext cx="73152" cy="73152"/>
          </a:xfrm>
          <a:prstGeom prst="ellipse">
            <a:avLst/>
          </a:prstGeom>
          <a:solidFill>
            <a:srgbClr val="F0B135"/>
          </a:solidFill>
          <a:ln>
            <a:noFill/>
          </a:ln>
          <a:effectLst/>
        </p:spPr>
        <p:txBody>
          <a:bodyPr rtlCol="0" anchor="ctr"/>
          <a:lstStyle/>
          <a:p>
            <a:endParaRPr lang="de-DE"/>
          </a:p>
        </p:txBody>
      </p:sp>
      <p:sp>
        <p:nvSpPr>
          <p:cNvPr id="320" name="Product Carbon Footprint Dim Data Provisioning"/>
          <p:cNvSpPr txBox="1"/>
          <p:nvPr/>
        </p:nvSpPr>
        <p:spPr>
          <a:xfrm>
            <a:off x="9469755"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21" name="Product Carbon Footprint Dim Dot Technical"/>
          <p:cNvSpPr/>
          <p:nvPr/>
        </p:nvSpPr>
        <p:spPr>
          <a:xfrm>
            <a:off x="9332595" y="5157164"/>
            <a:ext cx="73152" cy="73152"/>
          </a:xfrm>
          <a:prstGeom prst="ellipse">
            <a:avLst/>
          </a:prstGeom>
          <a:solidFill>
            <a:srgbClr val="53BE70"/>
          </a:solidFill>
          <a:ln>
            <a:noFill/>
          </a:ln>
          <a:effectLst/>
        </p:spPr>
        <p:txBody>
          <a:bodyPr rtlCol="0" anchor="ctr"/>
          <a:lstStyle/>
          <a:p>
            <a:endParaRPr lang="de-DE"/>
          </a:p>
        </p:txBody>
      </p:sp>
      <p:sp>
        <p:nvSpPr>
          <p:cNvPr id="322" name="Product Carbon Footprint Dim Technical"/>
          <p:cNvSpPr txBox="1"/>
          <p:nvPr/>
        </p:nvSpPr>
        <p:spPr>
          <a:xfrm>
            <a:off x="9469755"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23" name="Product Carbon Footprint Dim Dot Supplier Activation"/>
          <p:cNvSpPr/>
          <p:nvPr/>
        </p:nvSpPr>
        <p:spPr>
          <a:xfrm>
            <a:off x="9332595" y="5351018"/>
            <a:ext cx="73152" cy="73152"/>
          </a:xfrm>
          <a:prstGeom prst="ellipse">
            <a:avLst/>
          </a:prstGeom>
          <a:solidFill>
            <a:srgbClr val="F0B135"/>
          </a:solidFill>
          <a:ln>
            <a:noFill/>
          </a:ln>
          <a:effectLst/>
        </p:spPr>
        <p:txBody>
          <a:bodyPr rtlCol="0" anchor="ctr"/>
          <a:lstStyle/>
          <a:p>
            <a:endParaRPr lang="de-DE"/>
          </a:p>
        </p:txBody>
      </p:sp>
      <p:sp>
        <p:nvSpPr>
          <p:cNvPr id="324" name="Product Carbon Footprint Dim Supplier Activation"/>
          <p:cNvSpPr txBox="1"/>
          <p:nvPr/>
        </p:nvSpPr>
        <p:spPr>
          <a:xfrm>
            <a:off x="9469755"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25" name="N-Tier Row Divider Dimensions"/>
          <p:cNvSpPr/>
          <p:nvPr/>
        </p:nvSpPr>
        <p:spPr>
          <a:xfrm>
            <a:off x="10678477" y="4328967"/>
            <a:ext cx="1167574" cy="6401"/>
          </a:xfrm>
          <a:prstGeom prst="rect">
            <a:avLst/>
          </a:prstGeom>
          <a:solidFill>
            <a:srgbClr val="E2E8EC"/>
          </a:solidFill>
          <a:ln>
            <a:noFill/>
          </a:ln>
          <a:effectLst/>
        </p:spPr>
        <p:txBody>
          <a:bodyPr rtlCol="0" anchor="ctr"/>
          <a:lstStyle/>
          <a:p>
            <a:endParaRPr lang="de-DE"/>
          </a:p>
        </p:txBody>
      </p:sp>
      <p:sp>
        <p:nvSpPr>
          <p:cNvPr id="326" name="N-Tier Dim Dot External · CX Association"/>
          <p:cNvSpPr/>
          <p:nvPr/>
        </p:nvSpPr>
        <p:spPr>
          <a:xfrm>
            <a:off x="10678477" y="4429551"/>
            <a:ext cx="73152" cy="73152"/>
          </a:xfrm>
          <a:prstGeom prst="ellipse">
            <a:avLst/>
          </a:prstGeom>
          <a:solidFill>
            <a:srgbClr val="53BE70"/>
          </a:solidFill>
          <a:ln>
            <a:noFill/>
          </a:ln>
          <a:effectLst/>
        </p:spPr>
        <p:txBody>
          <a:bodyPr rtlCol="0" anchor="ctr"/>
          <a:lstStyle/>
          <a:p>
            <a:endParaRPr lang="de-DE"/>
          </a:p>
        </p:txBody>
      </p:sp>
      <p:sp>
        <p:nvSpPr>
          <p:cNvPr id="327" name="N-Tier Dim External · CX Association"/>
          <p:cNvSpPr txBox="1"/>
          <p:nvPr/>
        </p:nvSpPr>
        <p:spPr>
          <a:xfrm>
            <a:off x="10815637" y="4392975"/>
            <a:ext cx="1030415"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328" name="N-Tier Dim Dot Business"/>
          <p:cNvSpPr/>
          <p:nvPr/>
        </p:nvSpPr>
        <p:spPr>
          <a:xfrm>
            <a:off x="10678477" y="4769455"/>
            <a:ext cx="73152" cy="73152"/>
          </a:xfrm>
          <a:prstGeom prst="ellipse">
            <a:avLst/>
          </a:prstGeom>
          <a:solidFill>
            <a:srgbClr val="CFD6DB"/>
          </a:solidFill>
          <a:ln>
            <a:noFill/>
          </a:ln>
          <a:effectLst/>
        </p:spPr>
        <p:txBody>
          <a:bodyPr rtlCol="0" anchor="ctr"/>
          <a:lstStyle/>
          <a:p>
            <a:endParaRPr lang="de-DE"/>
          </a:p>
        </p:txBody>
      </p:sp>
      <p:sp>
        <p:nvSpPr>
          <p:cNvPr id="329" name="N-Tier Dim Business"/>
          <p:cNvSpPr txBox="1"/>
          <p:nvPr/>
        </p:nvSpPr>
        <p:spPr>
          <a:xfrm>
            <a:off x="10815637" y="4732879"/>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330" name="N-Tier Dim Dot Data Provisioning"/>
          <p:cNvSpPr/>
          <p:nvPr/>
        </p:nvSpPr>
        <p:spPr>
          <a:xfrm>
            <a:off x="10678477" y="4963309"/>
            <a:ext cx="73152" cy="73152"/>
          </a:xfrm>
          <a:prstGeom prst="ellipse">
            <a:avLst/>
          </a:prstGeom>
          <a:solidFill>
            <a:srgbClr val="CFD6DB"/>
          </a:solidFill>
          <a:ln>
            <a:noFill/>
          </a:ln>
          <a:effectLst/>
        </p:spPr>
        <p:txBody>
          <a:bodyPr rtlCol="0" anchor="ctr"/>
          <a:lstStyle/>
          <a:p>
            <a:endParaRPr lang="de-DE"/>
          </a:p>
        </p:txBody>
      </p:sp>
      <p:sp>
        <p:nvSpPr>
          <p:cNvPr id="331" name="N-Tier Dim Data Provisioning"/>
          <p:cNvSpPr txBox="1"/>
          <p:nvPr/>
        </p:nvSpPr>
        <p:spPr>
          <a:xfrm>
            <a:off x="10815637" y="4926733"/>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332" name="N-Tier Dim Dot Technical"/>
          <p:cNvSpPr/>
          <p:nvPr/>
        </p:nvSpPr>
        <p:spPr>
          <a:xfrm>
            <a:off x="10678477" y="5157164"/>
            <a:ext cx="73152" cy="73152"/>
          </a:xfrm>
          <a:prstGeom prst="ellipse">
            <a:avLst/>
          </a:prstGeom>
          <a:solidFill>
            <a:srgbClr val="CFD6DB"/>
          </a:solidFill>
          <a:ln>
            <a:noFill/>
          </a:ln>
          <a:effectLst/>
        </p:spPr>
        <p:txBody>
          <a:bodyPr rtlCol="0" anchor="ctr"/>
          <a:lstStyle/>
          <a:p>
            <a:endParaRPr lang="de-DE"/>
          </a:p>
        </p:txBody>
      </p:sp>
      <p:sp>
        <p:nvSpPr>
          <p:cNvPr id="333" name="N-Tier Dim Technical"/>
          <p:cNvSpPr txBox="1"/>
          <p:nvPr/>
        </p:nvSpPr>
        <p:spPr>
          <a:xfrm>
            <a:off x="10815637" y="5120588"/>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334" name="N-Tier Dim Dot Supplier Activation"/>
          <p:cNvSpPr/>
          <p:nvPr/>
        </p:nvSpPr>
        <p:spPr>
          <a:xfrm>
            <a:off x="10678477" y="5351018"/>
            <a:ext cx="73152" cy="73152"/>
          </a:xfrm>
          <a:prstGeom prst="ellipse">
            <a:avLst/>
          </a:prstGeom>
          <a:solidFill>
            <a:srgbClr val="CFD6DB"/>
          </a:solidFill>
          <a:ln>
            <a:noFill/>
          </a:ln>
          <a:effectLst/>
        </p:spPr>
        <p:txBody>
          <a:bodyPr rtlCol="0" anchor="ctr"/>
          <a:lstStyle/>
          <a:p>
            <a:endParaRPr lang="de-DE"/>
          </a:p>
        </p:txBody>
      </p:sp>
      <p:sp>
        <p:nvSpPr>
          <p:cNvPr id="335" name="N-Tier Dim Supplier Activation"/>
          <p:cNvSpPr txBox="1"/>
          <p:nvPr/>
        </p:nvSpPr>
        <p:spPr>
          <a:xfrm>
            <a:off x="10815637" y="5314442"/>
            <a:ext cx="1030415"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336" name="Row Label Decision required"/>
          <p:cNvSpPr txBox="1"/>
          <p:nvPr/>
        </p:nvSpPr>
        <p:spPr>
          <a:xfrm>
            <a:off x="274320" y="5579364"/>
            <a:ext cx="868680" cy="1040892"/>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337" name="Quality Row Divider Decision required"/>
          <p:cNvSpPr/>
          <p:nvPr/>
        </p:nvSpPr>
        <p:spPr>
          <a:xfrm>
            <a:off x="1257300" y="5515356"/>
            <a:ext cx="1167574" cy="6401"/>
          </a:xfrm>
          <a:prstGeom prst="rect">
            <a:avLst/>
          </a:prstGeom>
          <a:solidFill>
            <a:srgbClr val="E2E8EC"/>
          </a:solidFill>
          <a:ln>
            <a:noFill/>
          </a:ln>
          <a:effectLst/>
        </p:spPr>
        <p:txBody>
          <a:bodyPr rtlCol="0" anchor="ctr"/>
          <a:lstStyle/>
          <a:p>
            <a:endParaRPr lang="de-DE"/>
          </a:p>
        </p:txBody>
      </p:sp>
      <p:sp>
        <p:nvSpPr>
          <p:cNvPr id="338" name="Quality Decision None"/>
          <p:cNvSpPr txBox="1"/>
          <p:nvPr/>
        </p:nvSpPr>
        <p:spPr>
          <a:xfrm>
            <a:off x="1257300"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39" name="Battery Passport Row Divider Decision required"/>
          <p:cNvSpPr/>
          <p:nvPr/>
        </p:nvSpPr>
        <p:spPr>
          <a:xfrm>
            <a:off x="2603182" y="5515356"/>
            <a:ext cx="1167574" cy="6401"/>
          </a:xfrm>
          <a:prstGeom prst="rect">
            <a:avLst/>
          </a:prstGeom>
          <a:solidFill>
            <a:srgbClr val="E2E8EC"/>
          </a:solidFill>
          <a:ln>
            <a:noFill/>
          </a:ln>
          <a:effectLst/>
        </p:spPr>
        <p:txBody>
          <a:bodyPr rtlCol="0" anchor="ctr"/>
          <a:lstStyle/>
          <a:p>
            <a:endParaRPr lang="de-DE"/>
          </a:p>
        </p:txBody>
      </p:sp>
      <p:sp>
        <p:nvSpPr>
          <p:cNvPr id="340" name="Battery Passport Decision None"/>
          <p:cNvSpPr txBox="1"/>
          <p:nvPr/>
        </p:nvSpPr>
        <p:spPr>
          <a:xfrm>
            <a:off x="2603182"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1" name="Product Passes Row Divider Decision required"/>
          <p:cNvSpPr/>
          <p:nvPr/>
        </p:nvSpPr>
        <p:spPr>
          <a:xfrm>
            <a:off x="3949065" y="5515356"/>
            <a:ext cx="1167574" cy="6401"/>
          </a:xfrm>
          <a:prstGeom prst="rect">
            <a:avLst/>
          </a:prstGeom>
          <a:solidFill>
            <a:srgbClr val="E2E8EC"/>
          </a:solidFill>
          <a:ln>
            <a:noFill/>
          </a:ln>
          <a:effectLst/>
        </p:spPr>
        <p:txBody>
          <a:bodyPr rtlCol="0" anchor="ctr"/>
          <a:lstStyle/>
          <a:p>
            <a:endParaRPr lang="de-DE"/>
          </a:p>
        </p:txBody>
      </p:sp>
      <p:sp>
        <p:nvSpPr>
          <p:cNvPr id="342" name="Product Passes Decision None"/>
          <p:cNvSpPr txBox="1"/>
          <p:nvPr/>
        </p:nvSpPr>
        <p:spPr>
          <a:xfrm>
            <a:off x="3949065"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3" name="PURIS Row Divider Decision required"/>
          <p:cNvSpPr/>
          <p:nvPr/>
        </p:nvSpPr>
        <p:spPr>
          <a:xfrm>
            <a:off x="5294947" y="5515356"/>
            <a:ext cx="1167574" cy="6401"/>
          </a:xfrm>
          <a:prstGeom prst="rect">
            <a:avLst/>
          </a:prstGeom>
          <a:solidFill>
            <a:srgbClr val="E2E8EC"/>
          </a:solidFill>
          <a:ln>
            <a:noFill/>
          </a:ln>
          <a:effectLst/>
        </p:spPr>
        <p:txBody>
          <a:bodyPr rtlCol="0" anchor="ctr"/>
          <a:lstStyle/>
          <a:p>
            <a:endParaRPr lang="de-DE"/>
          </a:p>
        </p:txBody>
      </p:sp>
      <p:sp>
        <p:nvSpPr>
          <p:cNvPr id="344" name="PURIS Decision 1 Flag"/>
          <p:cNvSpPr/>
          <p:nvPr/>
        </p:nvSpPr>
        <p:spPr>
          <a:xfrm>
            <a:off x="5294947" y="5579364"/>
            <a:ext cx="146304" cy="146304"/>
          </a:xfrm>
          <a:prstGeom prst="ellipse">
            <a:avLst/>
          </a:prstGeom>
          <a:solidFill>
            <a:srgbClr val="001E50"/>
          </a:solidFill>
          <a:ln>
            <a:noFill/>
          </a:ln>
          <a:effectLst/>
        </p:spPr>
        <p:txBody>
          <a:bodyPr rtlCol="0" anchor="ctr"/>
          <a:lstStyle/>
          <a:p>
            <a:endParaRPr lang="de-DE"/>
          </a:p>
        </p:txBody>
      </p:sp>
      <p:sp>
        <p:nvSpPr>
          <p:cNvPr id="345" name="PURIS Decision 1 No"/>
          <p:cNvSpPr txBox="1"/>
          <p:nvPr/>
        </p:nvSpPr>
        <p:spPr>
          <a:xfrm>
            <a:off x="5294947" y="5579364"/>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346" name="PURIS Decision 1"/>
          <p:cNvSpPr txBox="1"/>
          <p:nvPr/>
        </p:nvSpPr>
        <p:spPr>
          <a:xfrm>
            <a:off x="5294947" y="5579364"/>
            <a:ext cx="1167574" cy="6024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Who decides how and when on the WINGS connectivity rollout roadmap?</a:t>
            </a:r>
          </a:p>
        </p:txBody>
      </p:sp>
      <p:sp>
        <p:nvSpPr>
          <p:cNvPr id="347" name="Business Partner Data Mgmt Row Divider Decision required"/>
          <p:cNvSpPr/>
          <p:nvPr/>
        </p:nvSpPr>
        <p:spPr>
          <a:xfrm>
            <a:off x="6640830" y="5515356"/>
            <a:ext cx="1167574" cy="6401"/>
          </a:xfrm>
          <a:prstGeom prst="rect">
            <a:avLst/>
          </a:prstGeom>
          <a:solidFill>
            <a:srgbClr val="E2E8EC"/>
          </a:solidFill>
          <a:ln>
            <a:noFill/>
          </a:ln>
          <a:effectLst/>
        </p:spPr>
        <p:txBody>
          <a:bodyPr rtlCol="0" anchor="ctr"/>
          <a:lstStyle/>
          <a:p>
            <a:endParaRPr lang="de-DE"/>
          </a:p>
        </p:txBody>
      </p:sp>
      <p:sp>
        <p:nvSpPr>
          <p:cNvPr id="348" name="Business Partner Data Mgmt Decision None"/>
          <p:cNvSpPr txBox="1"/>
          <p:nvPr/>
        </p:nvSpPr>
        <p:spPr>
          <a:xfrm>
            <a:off x="6640830"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9" name="Certificate Management Row Divider Decision required"/>
          <p:cNvSpPr/>
          <p:nvPr/>
        </p:nvSpPr>
        <p:spPr>
          <a:xfrm>
            <a:off x="7986712" y="5515356"/>
            <a:ext cx="1167574" cy="6401"/>
          </a:xfrm>
          <a:prstGeom prst="rect">
            <a:avLst/>
          </a:prstGeom>
          <a:solidFill>
            <a:srgbClr val="E2E8EC"/>
          </a:solidFill>
          <a:ln>
            <a:noFill/>
          </a:ln>
          <a:effectLst/>
        </p:spPr>
        <p:txBody>
          <a:bodyPr rtlCol="0" anchor="ctr"/>
          <a:lstStyle/>
          <a:p>
            <a:endParaRPr lang="de-DE"/>
          </a:p>
        </p:txBody>
      </p:sp>
      <p:sp>
        <p:nvSpPr>
          <p:cNvPr id="350" name="Certificate Management Decision None"/>
          <p:cNvSpPr txBox="1"/>
          <p:nvPr/>
        </p:nvSpPr>
        <p:spPr>
          <a:xfrm>
            <a:off x="7986712"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1" name="Product Carbon Footprint Row Divider Decision required"/>
          <p:cNvSpPr/>
          <p:nvPr/>
        </p:nvSpPr>
        <p:spPr>
          <a:xfrm>
            <a:off x="9332595" y="5515356"/>
            <a:ext cx="1167574" cy="6401"/>
          </a:xfrm>
          <a:prstGeom prst="rect">
            <a:avLst/>
          </a:prstGeom>
          <a:solidFill>
            <a:srgbClr val="E2E8EC"/>
          </a:solidFill>
          <a:ln>
            <a:noFill/>
          </a:ln>
          <a:effectLst/>
        </p:spPr>
        <p:txBody>
          <a:bodyPr rtlCol="0" anchor="ctr"/>
          <a:lstStyle/>
          <a:p>
            <a:endParaRPr lang="de-DE"/>
          </a:p>
        </p:txBody>
      </p:sp>
      <p:sp>
        <p:nvSpPr>
          <p:cNvPr id="352" name="Product Carbon Footprint Decision None"/>
          <p:cNvSpPr txBox="1"/>
          <p:nvPr/>
        </p:nvSpPr>
        <p:spPr>
          <a:xfrm>
            <a:off x="9332595"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3" name="N-Tier Row Divider Decision required"/>
          <p:cNvSpPr/>
          <p:nvPr/>
        </p:nvSpPr>
        <p:spPr>
          <a:xfrm>
            <a:off x="10678477" y="5515356"/>
            <a:ext cx="1167574" cy="6401"/>
          </a:xfrm>
          <a:prstGeom prst="rect">
            <a:avLst/>
          </a:prstGeom>
          <a:solidFill>
            <a:srgbClr val="E2E8EC"/>
          </a:solidFill>
          <a:ln>
            <a:noFill/>
          </a:ln>
          <a:effectLst/>
        </p:spPr>
        <p:txBody>
          <a:bodyPr rtlCol="0" anchor="ctr"/>
          <a:lstStyle/>
          <a:p>
            <a:endParaRPr lang="de-DE"/>
          </a:p>
        </p:txBody>
      </p:sp>
      <p:sp>
        <p:nvSpPr>
          <p:cNvPr id="354" name="N-Tier Decision None"/>
          <p:cNvSpPr txBox="1"/>
          <p:nvPr/>
        </p:nvSpPr>
        <p:spPr>
          <a:xfrm>
            <a:off x="10678477" y="5579364"/>
            <a:ext cx="1167574"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Enabling Streams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42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Portfolio, AI+, C-X NEXT, DigiTrace Card"/>
          <p:cNvSpPr/>
          <p:nvPr/>
        </p:nvSpPr>
        <p:spPr>
          <a:xfrm>
            <a:off x="118872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Portfolio, AI+, C-X NEXT, DigiTrace Name"/>
          <p:cNvSpPr txBox="1"/>
          <p:nvPr/>
        </p:nvSpPr>
        <p:spPr>
          <a:xfrm>
            <a:off x="125730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Portfolio, AI+, C-X NEXT, DigiTrace</a:t>
            </a:r>
          </a:p>
        </p:txBody>
      </p:sp>
      <p:sp>
        <p:nvSpPr>
          <p:cNvPr id="117" name="Col Portfolio, AI+, C-X NEXT, DigiTrace Abbr"/>
          <p:cNvSpPr txBox="1"/>
          <p:nvPr/>
        </p:nvSpPr>
        <p:spPr>
          <a:xfrm>
            <a:off x="1257300" y="14274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port-cx</a:t>
            </a:r>
          </a:p>
        </p:txBody>
      </p:sp>
      <p:sp>
        <p:nvSpPr>
          <p:cNvPr id="118" name="Col Portfolio, AI+, C-X NEXT, DigiTrace Domain Lead"/>
          <p:cNvSpPr txBox="1"/>
          <p:nvPr/>
        </p:nvSpPr>
        <p:spPr>
          <a:xfrm>
            <a:off x="125730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19" name="Col Portfolio, AI+, C-X NEXT, DigiTrace Status Bar"/>
          <p:cNvSpPr/>
          <p:nvPr/>
        </p:nvSpPr>
        <p:spPr>
          <a:xfrm>
            <a:off x="1257300" y="2002790"/>
            <a:ext cx="1616202" cy="36576"/>
          </a:xfrm>
          <a:prstGeom prst="roundRect">
            <a:avLst>
              <a:gd name="adj" fmla="val 50000"/>
            </a:avLst>
          </a:prstGeom>
          <a:solidFill>
            <a:srgbClr val="E64343"/>
          </a:solidFill>
          <a:ln>
            <a:noFill/>
          </a:ln>
          <a:effectLst/>
        </p:spPr>
        <p:txBody>
          <a:bodyPr rtlCol="0" anchor="ctr"/>
          <a:lstStyle/>
          <a:p>
            <a:endParaRPr lang="de-DE"/>
          </a:p>
        </p:txBody>
      </p:sp>
      <p:sp>
        <p:nvSpPr>
          <p:cNvPr id="120" name="Col Supplier Activation Card"/>
          <p:cNvSpPr/>
          <p:nvPr/>
        </p:nvSpPr>
        <p:spPr>
          <a:xfrm>
            <a:off x="298323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Supplier Activation Name"/>
          <p:cNvSpPr txBox="1"/>
          <p:nvPr/>
        </p:nvSpPr>
        <p:spPr>
          <a:xfrm>
            <a:off x="305181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Supplier Activation</a:t>
            </a:r>
          </a:p>
        </p:txBody>
      </p:sp>
      <p:sp>
        <p:nvSpPr>
          <p:cNvPr id="122" name="Col Supplier Activation Abbr"/>
          <p:cNvSpPr txBox="1"/>
          <p:nvPr/>
        </p:nvSpPr>
        <p:spPr>
          <a:xfrm>
            <a:off x="305181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sac-cx</a:t>
            </a:r>
          </a:p>
        </p:txBody>
      </p:sp>
      <p:sp>
        <p:nvSpPr>
          <p:cNvPr id="123" name="Col Supplier Activation Domain Lead"/>
          <p:cNvSpPr txBox="1"/>
          <p:nvPr/>
        </p:nvSpPr>
        <p:spPr>
          <a:xfrm>
            <a:off x="305181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Stuhrmann (BZ-PX)</a:t>
            </a:r>
          </a:p>
        </p:txBody>
      </p:sp>
      <p:sp>
        <p:nvSpPr>
          <p:cNvPr id="124" name="Col Supplier Activation Status Bar"/>
          <p:cNvSpPr/>
          <p:nvPr/>
        </p:nvSpPr>
        <p:spPr>
          <a:xfrm>
            <a:off x="305181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25" name="Col Data Provisioning Card"/>
          <p:cNvSpPr/>
          <p:nvPr/>
        </p:nvSpPr>
        <p:spPr>
          <a:xfrm>
            <a:off x="477774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Data Provisioning Name"/>
          <p:cNvSpPr txBox="1"/>
          <p:nvPr/>
        </p:nvSpPr>
        <p:spPr>
          <a:xfrm>
            <a:off x="484632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Data Provisioning</a:t>
            </a:r>
          </a:p>
        </p:txBody>
      </p:sp>
      <p:sp>
        <p:nvSpPr>
          <p:cNvPr id="127" name="Col Data Provisioning Abbr"/>
          <p:cNvSpPr txBox="1"/>
          <p:nvPr/>
        </p:nvSpPr>
        <p:spPr>
          <a:xfrm>
            <a:off x="484632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dpr-cx</a:t>
            </a:r>
          </a:p>
        </p:txBody>
      </p:sp>
      <p:sp>
        <p:nvSpPr>
          <p:cNvPr id="128" name="Col Data Provisioning Domain Lead"/>
          <p:cNvSpPr txBox="1"/>
          <p:nvPr/>
        </p:nvSpPr>
        <p:spPr>
          <a:xfrm>
            <a:off x="484632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29" name="Col Data Provisioning Status Bar"/>
          <p:cNvSpPr/>
          <p:nvPr/>
        </p:nvSpPr>
        <p:spPr>
          <a:xfrm>
            <a:off x="484632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0" name="Col Hub &amp; Spoke Card"/>
          <p:cNvSpPr/>
          <p:nvPr/>
        </p:nvSpPr>
        <p:spPr>
          <a:xfrm>
            <a:off x="657225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Hub &amp; Spoke Name"/>
          <p:cNvSpPr txBox="1"/>
          <p:nvPr/>
        </p:nvSpPr>
        <p:spPr>
          <a:xfrm>
            <a:off x="664083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Hub &amp; Spoke</a:t>
            </a:r>
          </a:p>
        </p:txBody>
      </p:sp>
      <p:sp>
        <p:nvSpPr>
          <p:cNvPr id="132" name="Col Hub &amp; Spoke Abbr"/>
          <p:cNvSpPr txBox="1"/>
          <p:nvPr/>
        </p:nvSpPr>
        <p:spPr>
          <a:xfrm>
            <a:off x="664083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hub-cx</a:t>
            </a:r>
          </a:p>
        </p:txBody>
      </p:sp>
      <p:sp>
        <p:nvSpPr>
          <p:cNvPr id="133" name="Col Hub &amp; Spoke Domain Lead"/>
          <p:cNvSpPr txBox="1"/>
          <p:nvPr/>
        </p:nvSpPr>
        <p:spPr>
          <a:xfrm>
            <a:off x="664083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34" name="Col Hub &amp; Spoke Status Bar"/>
          <p:cNvSpPr/>
          <p:nvPr/>
        </p:nvSpPr>
        <p:spPr>
          <a:xfrm>
            <a:off x="664083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5" name="Col Legal &amp; Contracts Card"/>
          <p:cNvSpPr/>
          <p:nvPr/>
        </p:nvSpPr>
        <p:spPr>
          <a:xfrm>
            <a:off x="836676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Legal &amp; Contracts Name"/>
          <p:cNvSpPr txBox="1"/>
          <p:nvPr/>
        </p:nvSpPr>
        <p:spPr>
          <a:xfrm>
            <a:off x="843534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Legal &amp; Contracts</a:t>
            </a:r>
          </a:p>
        </p:txBody>
      </p:sp>
      <p:sp>
        <p:nvSpPr>
          <p:cNvPr id="137" name="Col Legal &amp; Contracts Abbr"/>
          <p:cNvSpPr txBox="1"/>
          <p:nvPr/>
        </p:nvSpPr>
        <p:spPr>
          <a:xfrm>
            <a:off x="843534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gis-cx</a:t>
            </a:r>
          </a:p>
        </p:txBody>
      </p:sp>
      <p:sp>
        <p:nvSpPr>
          <p:cNvPr id="138" name="Col Legal &amp; Contracts Domain Lead"/>
          <p:cNvSpPr txBox="1"/>
          <p:nvPr/>
        </p:nvSpPr>
        <p:spPr>
          <a:xfrm>
            <a:off x="843534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Brunke (K-ILX-6), Schiffelbaum (A-IIED-EJ)</a:t>
            </a:r>
          </a:p>
        </p:txBody>
      </p:sp>
      <p:sp>
        <p:nvSpPr>
          <p:cNvPr id="139" name="Col Legal &amp; Contracts Status Bar"/>
          <p:cNvSpPr/>
          <p:nvPr/>
        </p:nvSpPr>
        <p:spPr>
          <a:xfrm>
            <a:off x="843534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0" name="Col Architecture Card"/>
          <p:cNvSpPr/>
          <p:nvPr/>
        </p:nvSpPr>
        <p:spPr>
          <a:xfrm>
            <a:off x="1016127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Architecture Name"/>
          <p:cNvSpPr txBox="1"/>
          <p:nvPr/>
        </p:nvSpPr>
        <p:spPr>
          <a:xfrm>
            <a:off x="1022985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Architecture</a:t>
            </a:r>
          </a:p>
        </p:txBody>
      </p:sp>
      <p:sp>
        <p:nvSpPr>
          <p:cNvPr id="142" name="Col Architecture Abbr"/>
          <p:cNvSpPr txBox="1"/>
          <p:nvPr/>
        </p:nvSpPr>
        <p:spPr>
          <a:xfrm>
            <a:off x="1022985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arch-cx</a:t>
            </a:r>
          </a:p>
        </p:txBody>
      </p:sp>
      <p:sp>
        <p:nvSpPr>
          <p:cNvPr id="143" name="Col Architecture Domain Lead"/>
          <p:cNvSpPr txBox="1"/>
          <p:nvPr/>
        </p:nvSpPr>
        <p:spPr>
          <a:xfrm>
            <a:off x="1022985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Fischer (K-DCC/B)</a:t>
            </a:r>
          </a:p>
        </p:txBody>
      </p:sp>
      <p:sp>
        <p:nvSpPr>
          <p:cNvPr id="144" name="Col Architecture Status Bar"/>
          <p:cNvSpPr/>
          <p:nvPr/>
        </p:nvSpPr>
        <p:spPr>
          <a:xfrm>
            <a:off x="1022985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46" name="Head Label Workstream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Workstream Lead</a:t>
            </a:r>
          </a:p>
        </p:txBody>
      </p:sp>
      <p:sp>
        <p:nvSpPr>
          <p:cNvPr id="147" name="Row Label Overall status"/>
          <p:cNvSpPr txBox="1"/>
          <p:nvPr/>
        </p:nvSpPr>
        <p:spPr>
          <a:xfrm>
            <a:off x="274320" y="2158238"/>
            <a:ext cx="868680" cy="220846"/>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48" name="Portfolio, AI+, C-X NEXT, DigiTrace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49" name="Portfolio, AI+, C-X NEXT, DigiTrace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0" name="Supplier Activation Status Pill"/>
          <p:cNvSpPr/>
          <p:nvPr/>
        </p:nvSpPr>
        <p:spPr>
          <a:xfrm>
            <a:off x="305181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1" name="Supplier Activation Status Text"/>
          <p:cNvSpPr txBox="1"/>
          <p:nvPr/>
        </p:nvSpPr>
        <p:spPr>
          <a:xfrm>
            <a:off x="305181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2" name="Data Provisioning Status Pill"/>
          <p:cNvSpPr/>
          <p:nvPr/>
        </p:nvSpPr>
        <p:spPr>
          <a:xfrm>
            <a:off x="484632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3" name="Data Provisioning Status Text"/>
          <p:cNvSpPr txBox="1"/>
          <p:nvPr/>
        </p:nvSpPr>
        <p:spPr>
          <a:xfrm>
            <a:off x="484632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4" name="Hub &amp; Spoke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5" name="Hub &amp; Spoke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6" name="Legal &amp; Contracts Status Pill"/>
          <p:cNvSpPr/>
          <p:nvPr/>
        </p:nvSpPr>
        <p:spPr>
          <a:xfrm>
            <a:off x="843534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7" name="Legal &amp; Contracts Status Text"/>
          <p:cNvSpPr txBox="1"/>
          <p:nvPr/>
        </p:nvSpPr>
        <p:spPr>
          <a:xfrm>
            <a:off x="843534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8" name="Architecture Status Pill"/>
          <p:cNvSpPr/>
          <p:nvPr/>
        </p:nvSpPr>
        <p:spPr>
          <a:xfrm>
            <a:off x="1022985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9" name="Architecture Status Text"/>
          <p:cNvSpPr txBox="1"/>
          <p:nvPr/>
        </p:nvSpPr>
        <p:spPr>
          <a:xfrm>
            <a:off x="1022985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Row Label Goal"/>
          <p:cNvSpPr txBox="1"/>
          <p:nvPr/>
        </p:nvSpPr>
        <p:spPr>
          <a:xfrm>
            <a:off x="274320" y="2443092"/>
            <a:ext cx="868680" cy="461147"/>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Goal</a:t>
            </a:r>
          </a:p>
        </p:txBody>
      </p:sp>
      <p:sp>
        <p:nvSpPr>
          <p:cNvPr id="161" name="Portfolio, AI+, C-X NEXT, DigiTrace Row Divider Goal"/>
          <p:cNvSpPr/>
          <p:nvPr/>
        </p:nvSpPr>
        <p:spPr>
          <a:xfrm>
            <a:off x="1257300" y="2379084"/>
            <a:ext cx="1616202" cy="6401"/>
          </a:xfrm>
          <a:prstGeom prst="rect">
            <a:avLst/>
          </a:prstGeom>
          <a:solidFill>
            <a:srgbClr val="E2E8EC"/>
          </a:solidFill>
          <a:ln>
            <a:noFill/>
          </a:ln>
          <a:effectLst/>
        </p:spPr>
        <p:txBody>
          <a:bodyPr rtlCol="0" anchor="ctr"/>
          <a:lstStyle/>
          <a:p>
            <a:endParaRPr lang="de-DE"/>
          </a:p>
        </p:txBody>
      </p:sp>
      <p:sp>
        <p:nvSpPr>
          <p:cNvPr id="162" name="Portfolio, AI+, C-X NEXT, DigiTrace Goal"/>
          <p:cNvSpPr txBox="1"/>
          <p:nvPr/>
        </p:nvSpPr>
        <p:spPr>
          <a:xfrm>
            <a:off x="125730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Budget and funding secured in every planning round</a:t>
            </a:r>
          </a:p>
        </p:txBody>
      </p:sp>
      <p:sp>
        <p:nvSpPr>
          <p:cNvPr id="163" name="Supplier Activation Row Divider Goal"/>
          <p:cNvSpPr/>
          <p:nvPr/>
        </p:nvSpPr>
        <p:spPr>
          <a:xfrm>
            <a:off x="3051810" y="2379084"/>
            <a:ext cx="1616202" cy="6401"/>
          </a:xfrm>
          <a:prstGeom prst="rect">
            <a:avLst/>
          </a:prstGeom>
          <a:solidFill>
            <a:srgbClr val="E2E8EC"/>
          </a:solidFill>
          <a:ln>
            <a:noFill/>
          </a:ln>
          <a:effectLst/>
        </p:spPr>
        <p:txBody>
          <a:bodyPr rtlCol="0" anchor="ctr"/>
          <a:lstStyle/>
          <a:p>
            <a:endParaRPr lang="de-DE"/>
          </a:p>
        </p:txBody>
      </p:sp>
      <p:sp>
        <p:nvSpPr>
          <p:cNvPr id="164" name="Supplier Activation Goal"/>
          <p:cNvSpPr txBox="1"/>
          <p:nvPr/>
        </p:nvSpPr>
        <p:spPr>
          <a:xfrm>
            <a:off x="305181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All P-Mat suppliers operationally connected</a:t>
            </a:r>
          </a:p>
        </p:txBody>
      </p:sp>
      <p:sp>
        <p:nvSpPr>
          <p:cNvPr id="165" name="Data Provisioning Row Divider Goal"/>
          <p:cNvSpPr/>
          <p:nvPr/>
        </p:nvSpPr>
        <p:spPr>
          <a:xfrm>
            <a:off x="4846320" y="2379084"/>
            <a:ext cx="1616202" cy="6401"/>
          </a:xfrm>
          <a:prstGeom prst="rect">
            <a:avLst/>
          </a:prstGeom>
          <a:solidFill>
            <a:srgbClr val="E2E8EC"/>
          </a:solidFill>
          <a:ln>
            <a:noFill/>
          </a:ln>
          <a:effectLst/>
        </p:spPr>
        <p:txBody>
          <a:bodyPr rtlCol="0" anchor="ctr"/>
          <a:lstStyle/>
          <a:p>
            <a:endParaRPr lang="de-DE"/>
          </a:p>
        </p:txBody>
      </p:sp>
      <p:sp>
        <p:nvSpPr>
          <p:cNvPr id="166" name="Data Provisioning Goal"/>
          <p:cNvSpPr txBox="1"/>
          <p:nvPr/>
        </p:nvSpPr>
        <p:spPr>
          <a:xfrm>
            <a:off x="484632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data provided as shoppable data products</a:t>
            </a:r>
          </a:p>
        </p:txBody>
      </p:sp>
      <p:sp>
        <p:nvSpPr>
          <p:cNvPr id="167" name="Hub &amp; Spoke Row Divider Goal"/>
          <p:cNvSpPr/>
          <p:nvPr/>
        </p:nvSpPr>
        <p:spPr>
          <a:xfrm>
            <a:off x="6640830" y="2379084"/>
            <a:ext cx="1616202" cy="6401"/>
          </a:xfrm>
          <a:prstGeom prst="rect">
            <a:avLst/>
          </a:prstGeom>
          <a:solidFill>
            <a:srgbClr val="E2E8EC"/>
          </a:solidFill>
          <a:ln>
            <a:noFill/>
          </a:ln>
          <a:effectLst/>
        </p:spPr>
        <p:txBody>
          <a:bodyPr rtlCol="0" anchor="ctr"/>
          <a:lstStyle/>
          <a:p>
            <a:endParaRPr lang="de-DE"/>
          </a:p>
        </p:txBody>
      </p:sp>
      <p:sp>
        <p:nvSpPr>
          <p:cNvPr id="168" name="Hub &amp; Spoke Goal"/>
          <p:cNvSpPr txBox="1"/>
          <p:nvPr/>
        </p:nvSpPr>
        <p:spPr>
          <a:xfrm>
            <a:off x="664083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scaled across all brands via Hub &amp; Spoke</a:t>
            </a:r>
          </a:p>
        </p:txBody>
      </p:sp>
      <p:sp>
        <p:nvSpPr>
          <p:cNvPr id="169" name="Legal &amp; Contracts Row Divider Goal"/>
          <p:cNvSpPr/>
          <p:nvPr/>
        </p:nvSpPr>
        <p:spPr>
          <a:xfrm>
            <a:off x="8435340" y="2379084"/>
            <a:ext cx="1616202" cy="6401"/>
          </a:xfrm>
          <a:prstGeom prst="rect">
            <a:avLst/>
          </a:prstGeom>
          <a:solidFill>
            <a:srgbClr val="E2E8EC"/>
          </a:solidFill>
          <a:ln>
            <a:noFill/>
          </a:ln>
          <a:effectLst/>
        </p:spPr>
        <p:txBody>
          <a:bodyPr rtlCol="0" anchor="ctr"/>
          <a:lstStyle/>
          <a:p>
            <a:endParaRPr lang="de-DE"/>
          </a:p>
        </p:txBody>
      </p:sp>
      <p:sp>
        <p:nvSpPr>
          <p:cNvPr id="170" name="Legal &amp; Contracts Goal"/>
          <p:cNvSpPr txBox="1"/>
          <p:nvPr/>
        </p:nvSpPr>
        <p:spPr>
          <a:xfrm>
            <a:off x="843534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contracts with all brands and data consumers</a:t>
            </a:r>
          </a:p>
        </p:txBody>
      </p:sp>
      <p:sp>
        <p:nvSpPr>
          <p:cNvPr id="171" name="Architecture Row Divider Goal"/>
          <p:cNvSpPr/>
          <p:nvPr/>
        </p:nvSpPr>
        <p:spPr>
          <a:xfrm>
            <a:off x="10229850" y="2379084"/>
            <a:ext cx="1616202" cy="6401"/>
          </a:xfrm>
          <a:prstGeom prst="rect">
            <a:avLst/>
          </a:prstGeom>
          <a:solidFill>
            <a:srgbClr val="E2E8EC"/>
          </a:solidFill>
          <a:ln>
            <a:noFill/>
          </a:ln>
          <a:effectLst/>
        </p:spPr>
        <p:txBody>
          <a:bodyPr rtlCol="0" anchor="ctr"/>
          <a:lstStyle/>
          <a:p>
            <a:endParaRPr lang="de-DE"/>
          </a:p>
        </p:txBody>
      </p:sp>
      <p:sp>
        <p:nvSpPr>
          <p:cNvPr id="172" name="Architecture Goal"/>
          <p:cNvSpPr txBox="1"/>
          <p:nvPr/>
        </p:nvSpPr>
        <p:spPr>
          <a:xfrm>
            <a:off x="1022985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Approved, scalable Catena-X target architecture</a:t>
            </a:r>
          </a:p>
        </p:txBody>
      </p:sp>
      <p:sp>
        <p:nvSpPr>
          <p:cNvPr id="173" name="Row Label Key KPI"/>
          <p:cNvSpPr txBox="1"/>
          <p:nvPr/>
        </p:nvSpPr>
        <p:spPr>
          <a:xfrm>
            <a:off x="274320" y="2968247"/>
            <a:ext cx="868680" cy="57533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Key KPI</a:t>
            </a:r>
          </a:p>
          <a:p>
            <a:pPr marL="0" indent="0" algn="l">
              <a:lnSpc>
                <a:spcPts val="1150"/>
              </a:lnSpc>
              <a:buNone/>
            </a:pPr>
            <a:r>
              <a:rPr lang="de-DE" sz="900" b="0" kern="0" dirty="0">
                <a:solidFill>
                  <a:srgbClr val="99D1CD"/>
                </a:solidFill>
                <a:latin typeface="Segoe UI" pitchFamily="34" charset="0"/>
                <a:ea typeface="Segoe UI" pitchFamily="34" charset="-122"/>
                <a:cs typeface="Segoe UI" pitchFamily="34" charset="-120"/>
              </a:rPr>
              <a:t>actual / target</a:t>
            </a:r>
          </a:p>
        </p:txBody>
      </p:sp>
      <p:sp>
        <p:nvSpPr>
          <p:cNvPr id="174" name="Portfolio, AI+, C-X NEXT, DigiTrace Row Divider Key KPI"/>
          <p:cNvSpPr/>
          <p:nvPr/>
        </p:nvSpPr>
        <p:spPr>
          <a:xfrm>
            <a:off x="1257300" y="2904239"/>
            <a:ext cx="1616202" cy="6401"/>
          </a:xfrm>
          <a:prstGeom prst="rect">
            <a:avLst/>
          </a:prstGeom>
          <a:solidFill>
            <a:srgbClr val="E2E8EC"/>
          </a:solidFill>
          <a:ln>
            <a:noFill/>
          </a:ln>
          <a:effectLst/>
        </p:spPr>
        <p:txBody>
          <a:bodyPr rtlCol="0" anchor="ctr"/>
          <a:lstStyle/>
          <a:p>
            <a:endParaRPr lang="de-DE"/>
          </a:p>
        </p:txBody>
      </p:sp>
      <p:sp>
        <p:nvSpPr>
          <p:cNvPr id="175" name="Portfolio, AI+, C-X NEXT, DigiTrace KPI"/>
          <p:cNvSpPr txBox="1"/>
          <p:nvPr/>
        </p:nvSpPr>
        <p:spPr>
          <a:xfrm>
            <a:off x="125730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Budgets secured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a:t>
            </a:r>
            <a:r>
              <a:rPr lang="de-DE" sz="900" b="0" kern="0" dirty="0">
                <a:solidFill>
                  <a:srgbClr val="292D31"/>
                </a:solidFill>
                <a:latin typeface="Segoe UI" pitchFamily="34" charset="0"/>
                <a:ea typeface="Segoe UI" pitchFamily="34" charset="-122"/>
                <a:cs typeface="Segoe UI" pitchFamily="34" charset="-120"/>
              </a:rPr>
              <a:t> / 2 (PR74, PR75)</a:t>
            </a:r>
          </a:p>
        </p:txBody>
      </p:sp>
      <p:sp>
        <p:nvSpPr>
          <p:cNvPr id="176" name="Supplier Activation Row Divider Key KPI"/>
          <p:cNvSpPr/>
          <p:nvPr/>
        </p:nvSpPr>
        <p:spPr>
          <a:xfrm>
            <a:off x="3051810" y="2904239"/>
            <a:ext cx="1616202" cy="6401"/>
          </a:xfrm>
          <a:prstGeom prst="rect">
            <a:avLst/>
          </a:prstGeom>
          <a:solidFill>
            <a:srgbClr val="E2E8EC"/>
          </a:solidFill>
          <a:ln>
            <a:noFill/>
          </a:ln>
          <a:effectLst/>
        </p:spPr>
        <p:txBody>
          <a:bodyPr rtlCol="0" anchor="ctr"/>
          <a:lstStyle/>
          <a:p>
            <a:endParaRPr lang="de-DE"/>
          </a:p>
        </p:txBody>
      </p:sp>
      <p:sp>
        <p:nvSpPr>
          <p:cNvPr id="177" name="Supplier Activation KPI"/>
          <p:cNvSpPr txBox="1"/>
          <p:nvPr/>
        </p:nvSpPr>
        <p:spPr>
          <a:xfrm>
            <a:off x="305181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Suppliers contracted by Q3</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240</a:t>
            </a:r>
            <a:r>
              <a:rPr lang="de-DE" sz="900" b="0" kern="0" dirty="0">
                <a:solidFill>
                  <a:srgbClr val="292D31"/>
                </a:solidFill>
                <a:latin typeface="Segoe UI" pitchFamily="34" charset="0"/>
                <a:ea typeface="Segoe UI" pitchFamily="34" charset="-122"/>
                <a:cs typeface="Segoe UI" pitchFamily="34" charset="-120"/>
              </a:rPr>
              <a:t> / 280</a:t>
            </a:r>
          </a:p>
        </p:txBody>
      </p:sp>
      <p:sp>
        <p:nvSpPr>
          <p:cNvPr id="178" name="Data Provisioning Row Divider Key KPI"/>
          <p:cNvSpPr/>
          <p:nvPr/>
        </p:nvSpPr>
        <p:spPr>
          <a:xfrm>
            <a:off x="4846320" y="2904239"/>
            <a:ext cx="1616202" cy="6401"/>
          </a:xfrm>
          <a:prstGeom prst="rect">
            <a:avLst/>
          </a:prstGeom>
          <a:solidFill>
            <a:srgbClr val="E2E8EC"/>
          </a:solidFill>
          <a:ln>
            <a:noFill/>
          </a:ln>
          <a:effectLst/>
        </p:spPr>
        <p:txBody>
          <a:bodyPr rtlCol="0" anchor="ctr"/>
          <a:lstStyle/>
          <a:p>
            <a:endParaRPr lang="de-DE"/>
          </a:p>
        </p:txBody>
      </p:sp>
      <p:sp>
        <p:nvSpPr>
          <p:cNvPr id="179" name="Data Provisioning KPI"/>
          <p:cNvSpPr txBox="1"/>
          <p:nvPr/>
        </p:nvSpPr>
        <p:spPr>
          <a:xfrm>
            <a:off x="484632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Use Case Owners approved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6</a:t>
            </a:r>
            <a:r>
              <a:rPr lang="de-DE" sz="900" b="0" kern="0" dirty="0">
                <a:solidFill>
                  <a:srgbClr val="292D31"/>
                </a:solidFill>
                <a:latin typeface="Segoe UI" pitchFamily="34" charset="0"/>
                <a:ea typeface="Segoe UI" pitchFamily="34" charset="-122"/>
                <a:cs typeface="Segoe UI" pitchFamily="34" charset="-120"/>
              </a:rPr>
              <a:t> / 8</a:t>
            </a:r>
          </a:p>
        </p:txBody>
      </p:sp>
      <p:sp>
        <p:nvSpPr>
          <p:cNvPr id="180" name="Hub &amp; Spoke Row Divider Key KPI"/>
          <p:cNvSpPr/>
          <p:nvPr/>
        </p:nvSpPr>
        <p:spPr>
          <a:xfrm>
            <a:off x="6640830" y="2904239"/>
            <a:ext cx="1616202" cy="6401"/>
          </a:xfrm>
          <a:prstGeom prst="rect">
            <a:avLst/>
          </a:prstGeom>
          <a:solidFill>
            <a:srgbClr val="E2E8EC"/>
          </a:solidFill>
          <a:ln>
            <a:noFill/>
          </a:ln>
          <a:effectLst/>
        </p:spPr>
        <p:txBody>
          <a:bodyPr rtlCol="0" anchor="ctr"/>
          <a:lstStyle/>
          <a:p>
            <a:endParaRPr lang="de-DE"/>
          </a:p>
        </p:txBody>
      </p:sp>
      <p:sp>
        <p:nvSpPr>
          <p:cNvPr id="181" name="Hub &amp; Spoke KPI"/>
          <p:cNvSpPr txBox="1"/>
          <p:nvPr/>
        </p:nvSpPr>
        <p:spPr>
          <a:xfrm>
            <a:off x="664083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Brands signed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a:t>
            </a:r>
            <a:r>
              <a:rPr lang="de-DE" sz="900" b="0" kern="0" dirty="0">
                <a:solidFill>
                  <a:srgbClr val="292D31"/>
                </a:solidFill>
                <a:latin typeface="Segoe UI" pitchFamily="34" charset="0"/>
                <a:ea typeface="Segoe UI" pitchFamily="34" charset="-122"/>
                <a:cs typeface="Segoe UI" pitchFamily="34" charset="-120"/>
              </a:rPr>
              <a:t> / 17</a:t>
            </a:r>
          </a:p>
        </p:txBody>
      </p:sp>
      <p:sp>
        <p:nvSpPr>
          <p:cNvPr id="182" name="Legal &amp; Contracts Row Divider Key KPI"/>
          <p:cNvSpPr/>
          <p:nvPr/>
        </p:nvSpPr>
        <p:spPr>
          <a:xfrm>
            <a:off x="8435340" y="2904239"/>
            <a:ext cx="1616202" cy="6401"/>
          </a:xfrm>
          <a:prstGeom prst="rect">
            <a:avLst/>
          </a:prstGeom>
          <a:solidFill>
            <a:srgbClr val="E2E8EC"/>
          </a:solidFill>
          <a:ln>
            <a:noFill/>
          </a:ln>
          <a:effectLst/>
        </p:spPr>
        <p:txBody>
          <a:bodyPr rtlCol="0" anchor="ctr"/>
          <a:lstStyle/>
          <a:p>
            <a:endParaRPr lang="de-DE"/>
          </a:p>
        </p:txBody>
      </p:sp>
      <p:sp>
        <p:nvSpPr>
          <p:cNvPr id="183" name="Legal &amp; Contracts KPI"/>
          <p:cNvSpPr txBox="1"/>
          <p:nvPr/>
        </p:nvSpPr>
        <p:spPr>
          <a:xfrm>
            <a:off x="8435340" y="2968247"/>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Automated contract cycle</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not live</a:t>
            </a:r>
            <a:r>
              <a:rPr lang="de-DE" sz="900" b="0" kern="0" dirty="0">
                <a:solidFill>
                  <a:srgbClr val="292D31"/>
                </a:solidFill>
                <a:latin typeface="Segoe UI" pitchFamily="34" charset="0"/>
                <a:ea typeface="Segoe UI" pitchFamily="34" charset="-122"/>
                <a:cs typeface="Segoe UI" pitchFamily="34" charset="-120"/>
              </a:rPr>
              <a:t> / live by 01 Jan 2028</a:t>
            </a:r>
          </a:p>
        </p:txBody>
      </p:sp>
      <p:sp>
        <p:nvSpPr>
          <p:cNvPr id="184" name="Architecture Row Divider Key KPI"/>
          <p:cNvSpPr/>
          <p:nvPr/>
        </p:nvSpPr>
        <p:spPr>
          <a:xfrm>
            <a:off x="10229850" y="2904239"/>
            <a:ext cx="1616202" cy="6401"/>
          </a:xfrm>
          <a:prstGeom prst="rect">
            <a:avLst/>
          </a:prstGeom>
          <a:solidFill>
            <a:srgbClr val="E2E8EC"/>
          </a:solidFill>
          <a:ln>
            <a:noFill/>
          </a:ln>
          <a:effectLst/>
        </p:spPr>
        <p:txBody>
          <a:bodyPr rtlCol="0" anchor="ctr"/>
          <a:lstStyle/>
          <a:p>
            <a:endParaRPr lang="de-DE"/>
          </a:p>
        </p:txBody>
      </p:sp>
      <p:sp>
        <p:nvSpPr>
          <p:cNvPr id="185" name="Architecture KPI"/>
          <p:cNvSpPr txBox="1"/>
          <p:nvPr/>
        </p:nvSpPr>
        <p:spPr>
          <a:xfrm>
            <a:off x="10229850" y="2968247"/>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86" name="Row Label Next critical milestone"/>
          <p:cNvSpPr txBox="1"/>
          <p:nvPr/>
        </p:nvSpPr>
        <p:spPr>
          <a:xfrm>
            <a:off x="274320" y="3607586"/>
            <a:ext cx="868680" cy="72138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187" name="Portfolio, AI+, C-X NEXT, DigiTrace Row Divider Next critical milestone"/>
          <p:cNvSpPr/>
          <p:nvPr/>
        </p:nvSpPr>
        <p:spPr>
          <a:xfrm>
            <a:off x="1257300" y="3543578"/>
            <a:ext cx="1616202" cy="6401"/>
          </a:xfrm>
          <a:prstGeom prst="rect">
            <a:avLst/>
          </a:prstGeom>
          <a:solidFill>
            <a:srgbClr val="E2E8EC"/>
          </a:solidFill>
          <a:ln>
            <a:noFill/>
          </a:ln>
          <a:effectLst/>
        </p:spPr>
        <p:txBody>
          <a:bodyPr rtlCol="0" anchor="ctr"/>
          <a:lstStyle/>
          <a:p>
            <a:endParaRPr lang="de-DE"/>
          </a:p>
        </p:txBody>
      </p:sp>
      <p:sp>
        <p:nvSpPr>
          <p:cNvPr id="188" name="Portfolio, AI+, C-X NEXT, DigiTrace Milestone Dot"/>
          <p:cNvSpPr/>
          <p:nvPr/>
        </p:nvSpPr>
        <p:spPr>
          <a:xfrm>
            <a:off x="1257300" y="3644162"/>
            <a:ext cx="73152" cy="73152"/>
          </a:xfrm>
          <a:prstGeom prst="ellipse">
            <a:avLst/>
          </a:prstGeom>
          <a:solidFill>
            <a:srgbClr val="E64343"/>
          </a:solidFill>
          <a:ln>
            <a:noFill/>
          </a:ln>
          <a:effectLst/>
        </p:spPr>
        <p:txBody>
          <a:bodyPr rtlCol="0" anchor="ctr"/>
          <a:lstStyle/>
          <a:p>
            <a:endParaRPr lang="de-DE"/>
          </a:p>
        </p:txBody>
      </p:sp>
      <p:sp>
        <p:nvSpPr>
          <p:cNvPr id="189" name="Portfolio, AI+, C-X NEXT, DigiTrace Milestone"/>
          <p:cNvSpPr txBox="1"/>
          <p:nvPr/>
        </p:nvSpPr>
        <p:spPr>
          <a:xfrm>
            <a:off x="1394460" y="3607586"/>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Secure PR75</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190" name="Supplier Activation Row Divider Next critical milestone"/>
          <p:cNvSpPr/>
          <p:nvPr/>
        </p:nvSpPr>
        <p:spPr>
          <a:xfrm>
            <a:off x="3051810" y="3543578"/>
            <a:ext cx="1616202" cy="6401"/>
          </a:xfrm>
          <a:prstGeom prst="rect">
            <a:avLst/>
          </a:prstGeom>
          <a:solidFill>
            <a:srgbClr val="E2E8EC"/>
          </a:solidFill>
          <a:ln>
            <a:noFill/>
          </a:ln>
          <a:effectLst/>
        </p:spPr>
        <p:txBody>
          <a:bodyPr rtlCol="0" anchor="ctr"/>
          <a:lstStyle/>
          <a:p>
            <a:endParaRPr lang="de-DE"/>
          </a:p>
        </p:txBody>
      </p:sp>
      <p:sp>
        <p:nvSpPr>
          <p:cNvPr id="191" name="Supplier Activation Milestone Dot"/>
          <p:cNvSpPr/>
          <p:nvPr/>
        </p:nvSpPr>
        <p:spPr>
          <a:xfrm>
            <a:off x="3051810" y="3644162"/>
            <a:ext cx="73152" cy="73152"/>
          </a:xfrm>
          <a:prstGeom prst="ellipse">
            <a:avLst/>
          </a:prstGeom>
          <a:solidFill>
            <a:srgbClr val="F0B135"/>
          </a:solidFill>
          <a:ln>
            <a:noFill/>
          </a:ln>
          <a:effectLst/>
        </p:spPr>
        <p:txBody>
          <a:bodyPr rtlCol="0" anchor="ctr"/>
          <a:lstStyle/>
          <a:p>
            <a:endParaRPr lang="de-DE"/>
          </a:p>
        </p:txBody>
      </p:sp>
      <p:sp>
        <p:nvSpPr>
          <p:cNvPr id="192" name="Supplier Activation Milestone"/>
          <p:cNvSpPr txBox="1"/>
          <p:nvPr/>
        </p:nvSpPr>
        <p:spPr>
          <a:xfrm>
            <a:off x="3188970" y="3607586"/>
            <a:ext cx="147904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EoY goal: 400 suppliers contracted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Dec 2026</a:t>
            </a:r>
          </a:p>
        </p:txBody>
      </p:sp>
      <p:sp>
        <p:nvSpPr>
          <p:cNvPr id="193" name="Data Provisioning Row Divider Next critical milestone"/>
          <p:cNvSpPr/>
          <p:nvPr/>
        </p:nvSpPr>
        <p:spPr>
          <a:xfrm>
            <a:off x="4846320" y="3543578"/>
            <a:ext cx="1616202" cy="6401"/>
          </a:xfrm>
          <a:prstGeom prst="rect">
            <a:avLst/>
          </a:prstGeom>
          <a:solidFill>
            <a:srgbClr val="E2E8EC"/>
          </a:solidFill>
          <a:ln>
            <a:noFill/>
          </a:ln>
          <a:effectLst/>
        </p:spPr>
        <p:txBody>
          <a:bodyPr rtlCol="0" anchor="ctr"/>
          <a:lstStyle/>
          <a:p>
            <a:endParaRPr lang="de-DE"/>
          </a:p>
        </p:txBody>
      </p:sp>
      <p:sp>
        <p:nvSpPr>
          <p:cNvPr id="194" name="Data Provisioning Milestone"/>
          <p:cNvSpPr txBox="1"/>
          <p:nvPr/>
        </p:nvSpPr>
        <p:spPr>
          <a:xfrm>
            <a:off x="4846320" y="3607586"/>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195" name="Hub &amp; Spoke Row Divider Next critical milestone"/>
          <p:cNvSpPr/>
          <p:nvPr/>
        </p:nvSpPr>
        <p:spPr>
          <a:xfrm>
            <a:off x="6640830" y="3543578"/>
            <a:ext cx="1616202" cy="6401"/>
          </a:xfrm>
          <a:prstGeom prst="rect">
            <a:avLst/>
          </a:prstGeom>
          <a:solidFill>
            <a:srgbClr val="E2E8EC"/>
          </a:solidFill>
          <a:ln>
            <a:noFill/>
          </a:ln>
          <a:effectLst/>
        </p:spPr>
        <p:txBody>
          <a:bodyPr rtlCol="0" anchor="ctr"/>
          <a:lstStyle/>
          <a:p>
            <a:endParaRPr lang="de-DE"/>
          </a:p>
        </p:txBody>
      </p:sp>
      <p:sp>
        <p:nvSpPr>
          <p:cNvPr id="196" name="Hub &amp; Spoke Milestone Dot"/>
          <p:cNvSpPr/>
          <p:nvPr/>
        </p:nvSpPr>
        <p:spPr>
          <a:xfrm>
            <a:off x="6640830" y="3644162"/>
            <a:ext cx="73152" cy="73152"/>
          </a:xfrm>
          <a:prstGeom prst="ellipse">
            <a:avLst/>
          </a:prstGeom>
          <a:solidFill>
            <a:srgbClr val="F0B135"/>
          </a:solidFill>
          <a:ln>
            <a:noFill/>
          </a:ln>
          <a:effectLst/>
        </p:spPr>
        <p:txBody>
          <a:bodyPr rtlCol="0" anchor="ctr"/>
          <a:lstStyle/>
          <a:p>
            <a:endParaRPr lang="de-DE"/>
          </a:p>
        </p:txBody>
      </p:sp>
      <p:sp>
        <p:nvSpPr>
          <p:cNvPr id="197" name="Hub &amp; Spoke Milestone"/>
          <p:cNvSpPr txBox="1"/>
          <p:nvPr/>
        </p:nvSpPr>
        <p:spPr>
          <a:xfrm>
            <a:off x="6777990" y="3607586"/>
            <a:ext cx="147904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agreements signed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Dec 2026</a:t>
            </a:r>
          </a:p>
        </p:txBody>
      </p:sp>
      <p:sp>
        <p:nvSpPr>
          <p:cNvPr id="198" name="Legal &amp; Contracts Row Divider Next critical milestone"/>
          <p:cNvSpPr/>
          <p:nvPr/>
        </p:nvSpPr>
        <p:spPr>
          <a:xfrm>
            <a:off x="8435340" y="3543578"/>
            <a:ext cx="1616202" cy="6401"/>
          </a:xfrm>
          <a:prstGeom prst="rect">
            <a:avLst/>
          </a:prstGeom>
          <a:solidFill>
            <a:srgbClr val="E2E8EC"/>
          </a:solidFill>
          <a:ln>
            <a:noFill/>
          </a:ln>
          <a:effectLst/>
        </p:spPr>
        <p:txBody>
          <a:bodyPr rtlCol="0" anchor="ctr"/>
          <a:lstStyle/>
          <a:p>
            <a:endParaRPr lang="de-DE"/>
          </a:p>
        </p:txBody>
      </p:sp>
      <p:sp>
        <p:nvSpPr>
          <p:cNvPr id="199" name="Legal &amp; Contracts Milestone Dot"/>
          <p:cNvSpPr/>
          <p:nvPr/>
        </p:nvSpPr>
        <p:spPr>
          <a:xfrm>
            <a:off x="8435340" y="3644162"/>
            <a:ext cx="73152" cy="73152"/>
          </a:xfrm>
          <a:prstGeom prst="ellipse">
            <a:avLst/>
          </a:prstGeom>
          <a:solidFill>
            <a:srgbClr val="F0B135"/>
          </a:solidFill>
          <a:ln>
            <a:noFill/>
          </a:ln>
          <a:effectLst/>
        </p:spPr>
        <p:txBody>
          <a:bodyPr rtlCol="0" anchor="ctr"/>
          <a:lstStyle/>
          <a:p>
            <a:endParaRPr lang="de-DE"/>
          </a:p>
        </p:txBody>
      </p:sp>
      <p:sp>
        <p:nvSpPr>
          <p:cNvPr id="200" name="Legal &amp; Contracts Milestone"/>
          <p:cNvSpPr txBox="1"/>
          <p:nvPr/>
        </p:nvSpPr>
        <p:spPr>
          <a:xfrm>
            <a:off x="8572500" y="3607586"/>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Managed by Cofinity-X</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Oct 2026</a:t>
            </a:r>
          </a:p>
        </p:txBody>
      </p:sp>
      <p:sp>
        <p:nvSpPr>
          <p:cNvPr id="201" name="Architecture Row Divider Next critical milestone"/>
          <p:cNvSpPr/>
          <p:nvPr/>
        </p:nvSpPr>
        <p:spPr>
          <a:xfrm>
            <a:off x="10229850" y="3543578"/>
            <a:ext cx="1616202" cy="6401"/>
          </a:xfrm>
          <a:prstGeom prst="rect">
            <a:avLst/>
          </a:prstGeom>
          <a:solidFill>
            <a:srgbClr val="E2E8EC"/>
          </a:solidFill>
          <a:ln>
            <a:noFill/>
          </a:ln>
          <a:effectLst/>
        </p:spPr>
        <p:txBody>
          <a:bodyPr rtlCol="0" anchor="ctr"/>
          <a:lstStyle/>
          <a:p>
            <a:endParaRPr lang="de-DE"/>
          </a:p>
        </p:txBody>
      </p:sp>
      <p:sp>
        <p:nvSpPr>
          <p:cNvPr id="202" name="Architecture Milestone"/>
          <p:cNvSpPr txBox="1"/>
          <p:nvPr/>
        </p:nvSpPr>
        <p:spPr>
          <a:xfrm>
            <a:off x="10229850" y="3607586"/>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03" name="Row Label Dimensions"/>
          <p:cNvSpPr txBox="1"/>
          <p:nvPr/>
        </p:nvSpPr>
        <p:spPr>
          <a:xfrm>
            <a:off x="274320" y="4392975"/>
            <a:ext cx="868680" cy="112238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04" name="Portfolio, AI+, C-X NEXT, DigiTrace Row Divider Dimensions"/>
          <p:cNvSpPr/>
          <p:nvPr/>
        </p:nvSpPr>
        <p:spPr>
          <a:xfrm>
            <a:off x="1257300" y="4328967"/>
            <a:ext cx="1616202" cy="6401"/>
          </a:xfrm>
          <a:prstGeom prst="rect">
            <a:avLst/>
          </a:prstGeom>
          <a:solidFill>
            <a:srgbClr val="E2E8EC"/>
          </a:solidFill>
          <a:ln>
            <a:noFill/>
          </a:ln>
          <a:effectLst/>
        </p:spPr>
        <p:txBody>
          <a:bodyPr rtlCol="0" anchor="ctr"/>
          <a:lstStyle/>
          <a:p>
            <a:endParaRPr lang="de-DE"/>
          </a:p>
        </p:txBody>
      </p:sp>
      <p:sp>
        <p:nvSpPr>
          <p:cNvPr id="205" name="Portfolio, AI+, C-X NEXT, DigiTrace Dim Dot External · CX Association"/>
          <p:cNvSpPr/>
          <p:nvPr/>
        </p:nvSpPr>
        <p:spPr>
          <a:xfrm>
            <a:off x="1257300" y="4429551"/>
            <a:ext cx="73152" cy="73152"/>
          </a:xfrm>
          <a:prstGeom prst="ellipse">
            <a:avLst/>
          </a:prstGeom>
          <a:solidFill>
            <a:srgbClr val="53BE70"/>
          </a:solidFill>
          <a:ln>
            <a:noFill/>
          </a:ln>
          <a:effectLst/>
        </p:spPr>
        <p:txBody>
          <a:bodyPr rtlCol="0" anchor="ctr"/>
          <a:lstStyle/>
          <a:p>
            <a:endParaRPr lang="de-DE"/>
          </a:p>
        </p:txBody>
      </p:sp>
      <p:sp>
        <p:nvSpPr>
          <p:cNvPr id="206" name="Portfolio, AI+, C-X NEXT, DigiTrace Dim External · CX Association"/>
          <p:cNvSpPr txBox="1"/>
          <p:nvPr/>
        </p:nvSpPr>
        <p:spPr>
          <a:xfrm>
            <a:off x="139446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07" name="Portfolio, AI+, C-X NEXT, DigiTrace Dim Dot Business"/>
          <p:cNvSpPr/>
          <p:nvPr/>
        </p:nvSpPr>
        <p:spPr>
          <a:xfrm>
            <a:off x="1257300" y="4834073"/>
            <a:ext cx="73152" cy="73152"/>
          </a:xfrm>
          <a:prstGeom prst="ellipse">
            <a:avLst/>
          </a:prstGeom>
          <a:solidFill>
            <a:srgbClr val="F0B135"/>
          </a:solidFill>
          <a:ln>
            <a:noFill/>
          </a:ln>
          <a:effectLst/>
        </p:spPr>
        <p:txBody>
          <a:bodyPr rtlCol="0" anchor="ctr"/>
          <a:lstStyle/>
          <a:p>
            <a:endParaRPr lang="de-DE"/>
          </a:p>
        </p:txBody>
      </p:sp>
      <p:sp>
        <p:nvSpPr>
          <p:cNvPr id="208" name="Portfolio, AI+, C-X NEXT, DigiTrace Dim Business"/>
          <p:cNvSpPr txBox="1"/>
          <p:nvPr/>
        </p:nvSpPr>
        <p:spPr>
          <a:xfrm>
            <a:off x="139446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09" name="Portfolio, AI+, C-X NEXT, DigiTrace Dim Dot Use Cases"/>
          <p:cNvSpPr/>
          <p:nvPr/>
        </p:nvSpPr>
        <p:spPr>
          <a:xfrm>
            <a:off x="1257300" y="5092546"/>
            <a:ext cx="73152" cy="73152"/>
          </a:xfrm>
          <a:prstGeom prst="ellipse">
            <a:avLst/>
          </a:prstGeom>
          <a:solidFill>
            <a:srgbClr val="F0B135"/>
          </a:solidFill>
          <a:ln>
            <a:noFill/>
          </a:ln>
          <a:effectLst/>
        </p:spPr>
        <p:txBody>
          <a:bodyPr rtlCol="0" anchor="ctr"/>
          <a:lstStyle/>
          <a:p>
            <a:endParaRPr lang="de-DE"/>
          </a:p>
        </p:txBody>
      </p:sp>
      <p:sp>
        <p:nvSpPr>
          <p:cNvPr id="210" name="Portfolio, AI+, C-X NEXT, DigiTrace Dim Use Cases"/>
          <p:cNvSpPr txBox="1"/>
          <p:nvPr/>
        </p:nvSpPr>
        <p:spPr>
          <a:xfrm>
            <a:off x="139446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11" name="Portfolio, AI+, C-X NEXT, DigiTrace Dim Dot Technical"/>
          <p:cNvSpPr/>
          <p:nvPr/>
        </p:nvSpPr>
        <p:spPr>
          <a:xfrm>
            <a:off x="1257300" y="5351018"/>
            <a:ext cx="73152" cy="73152"/>
          </a:xfrm>
          <a:prstGeom prst="ellipse">
            <a:avLst/>
          </a:prstGeom>
          <a:solidFill>
            <a:srgbClr val="53BE70"/>
          </a:solidFill>
          <a:ln>
            <a:noFill/>
          </a:ln>
          <a:effectLst/>
        </p:spPr>
        <p:txBody>
          <a:bodyPr rtlCol="0" anchor="ctr"/>
          <a:lstStyle/>
          <a:p>
            <a:endParaRPr lang="de-DE"/>
          </a:p>
        </p:txBody>
      </p:sp>
      <p:sp>
        <p:nvSpPr>
          <p:cNvPr id="212" name="Portfolio, AI+, C-X NEXT, DigiTrace Dim Technical"/>
          <p:cNvSpPr txBox="1"/>
          <p:nvPr/>
        </p:nvSpPr>
        <p:spPr>
          <a:xfrm>
            <a:off x="139446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13" name="Supplier Activation Row Divider Dimensions"/>
          <p:cNvSpPr/>
          <p:nvPr/>
        </p:nvSpPr>
        <p:spPr>
          <a:xfrm>
            <a:off x="3051810" y="4328967"/>
            <a:ext cx="1616202" cy="6401"/>
          </a:xfrm>
          <a:prstGeom prst="rect">
            <a:avLst/>
          </a:prstGeom>
          <a:solidFill>
            <a:srgbClr val="E2E8EC"/>
          </a:solidFill>
          <a:ln>
            <a:noFill/>
          </a:ln>
          <a:effectLst/>
        </p:spPr>
        <p:txBody>
          <a:bodyPr rtlCol="0" anchor="ctr"/>
          <a:lstStyle/>
          <a:p>
            <a:endParaRPr lang="de-DE"/>
          </a:p>
        </p:txBody>
      </p:sp>
      <p:sp>
        <p:nvSpPr>
          <p:cNvPr id="214" name="Supplier Activation Dim Dot External · CX Association"/>
          <p:cNvSpPr/>
          <p:nvPr/>
        </p:nvSpPr>
        <p:spPr>
          <a:xfrm>
            <a:off x="3051810" y="4429551"/>
            <a:ext cx="73152" cy="73152"/>
          </a:xfrm>
          <a:prstGeom prst="ellipse">
            <a:avLst/>
          </a:prstGeom>
          <a:solidFill>
            <a:srgbClr val="F0B135"/>
          </a:solidFill>
          <a:ln>
            <a:noFill/>
          </a:ln>
          <a:effectLst/>
        </p:spPr>
        <p:txBody>
          <a:bodyPr rtlCol="0" anchor="ctr"/>
          <a:lstStyle/>
          <a:p>
            <a:endParaRPr lang="de-DE"/>
          </a:p>
        </p:txBody>
      </p:sp>
      <p:sp>
        <p:nvSpPr>
          <p:cNvPr id="215" name="Supplier Activation Dim External · CX Association"/>
          <p:cNvSpPr txBox="1"/>
          <p:nvPr/>
        </p:nvSpPr>
        <p:spPr>
          <a:xfrm>
            <a:off x="318897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16" name="Supplier Activation Dim Dot Business"/>
          <p:cNvSpPr/>
          <p:nvPr/>
        </p:nvSpPr>
        <p:spPr>
          <a:xfrm>
            <a:off x="3051810" y="4834073"/>
            <a:ext cx="73152" cy="73152"/>
          </a:xfrm>
          <a:prstGeom prst="ellipse">
            <a:avLst/>
          </a:prstGeom>
          <a:solidFill>
            <a:srgbClr val="F0B135"/>
          </a:solidFill>
          <a:ln>
            <a:noFill/>
          </a:ln>
          <a:effectLst/>
        </p:spPr>
        <p:txBody>
          <a:bodyPr rtlCol="0" anchor="ctr"/>
          <a:lstStyle/>
          <a:p>
            <a:endParaRPr lang="de-DE"/>
          </a:p>
        </p:txBody>
      </p:sp>
      <p:sp>
        <p:nvSpPr>
          <p:cNvPr id="217" name="Supplier Activation Dim Business"/>
          <p:cNvSpPr txBox="1"/>
          <p:nvPr/>
        </p:nvSpPr>
        <p:spPr>
          <a:xfrm>
            <a:off x="318897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18" name="Supplier Activation Dim Dot Use Cases"/>
          <p:cNvSpPr/>
          <p:nvPr/>
        </p:nvSpPr>
        <p:spPr>
          <a:xfrm>
            <a:off x="3051810" y="5092546"/>
            <a:ext cx="73152" cy="73152"/>
          </a:xfrm>
          <a:prstGeom prst="ellipse">
            <a:avLst/>
          </a:prstGeom>
          <a:solidFill>
            <a:srgbClr val="CFD6DB"/>
          </a:solidFill>
          <a:ln>
            <a:noFill/>
          </a:ln>
          <a:effectLst/>
        </p:spPr>
        <p:txBody>
          <a:bodyPr rtlCol="0" anchor="ctr"/>
          <a:lstStyle/>
          <a:p>
            <a:endParaRPr lang="de-DE"/>
          </a:p>
        </p:txBody>
      </p:sp>
      <p:sp>
        <p:nvSpPr>
          <p:cNvPr id="219" name="Supplier Activation Dim Use Cases"/>
          <p:cNvSpPr txBox="1"/>
          <p:nvPr/>
        </p:nvSpPr>
        <p:spPr>
          <a:xfrm>
            <a:off x="318897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0" name="Supplier Activation Dim Dot Technical"/>
          <p:cNvSpPr/>
          <p:nvPr/>
        </p:nvSpPr>
        <p:spPr>
          <a:xfrm>
            <a:off x="3051810" y="5351018"/>
            <a:ext cx="73152" cy="73152"/>
          </a:xfrm>
          <a:prstGeom prst="ellipse">
            <a:avLst/>
          </a:prstGeom>
          <a:solidFill>
            <a:srgbClr val="CFD6DB"/>
          </a:solidFill>
          <a:ln>
            <a:noFill/>
          </a:ln>
          <a:effectLst/>
        </p:spPr>
        <p:txBody>
          <a:bodyPr rtlCol="0" anchor="ctr"/>
          <a:lstStyle/>
          <a:p>
            <a:endParaRPr lang="de-DE"/>
          </a:p>
        </p:txBody>
      </p:sp>
      <p:sp>
        <p:nvSpPr>
          <p:cNvPr id="221" name="Supplier Activation Dim Technical"/>
          <p:cNvSpPr txBox="1"/>
          <p:nvPr/>
        </p:nvSpPr>
        <p:spPr>
          <a:xfrm>
            <a:off x="318897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22" name="Data Provisioning Row Divider Dimensions"/>
          <p:cNvSpPr/>
          <p:nvPr/>
        </p:nvSpPr>
        <p:spPr>
          <a:xfrm>
            <a:off x="4846320" y="4328967"/>
            <a:ext cx="1616202" cy="6401"/>
          </a:xfrm>
          <a:prstGeom prst="rect">
            <a:avLst/>
          </a:prstGeom>
          <a:solidFill>
            <a:srgbClr val="E2E8EC"/>
          </a:solidFill>
          <a:ln>
            <a:noFill/>
          </a:ln>
          <a:effectLst/>
        </p:spPr>
        <p:txBody>
          <a:bodyPr rtlCol="0" anchor="ctr"/>
          <a:lstStyle/>
          <a:p>
            <a:endParaRPr lang="de-DE"/>
          </a:p>
        </p:txBody>
      </p:sp>
      <p:sp>
        <p:nvSpPr>
          <p:cNvPr id="223" name="Data Provisioning Dim Dot External · CX Association"/>
          <p:cNvSpPr/>
          <p:nvPr/>
        </p:nvSpPr>
        <p:spPr>
          <a:xfrm>
            <a:off x="4846320" y="4429551"/>
            <a:ext cx="73152" cy="73152"/>
          </a:xfrm>
          <a:prstGeom prst="ellipse">
            <a:avLst/>
          </a:prstGeom>
          <a:solidFill>
            <a:srgbClr val="53BE70"/>
          </a:solidFill>
          <a:ln>
            <a:noFill/>
          </a:ln>
          <a:effectLst/>
        </p:spPr>
        <p:txBody>
          <a:bodyPr rtlCol="0" anchor="ctr"/>
          <a:lstStyle/>
          <a:p>
            <a:endParaRPr lang="de-DE"/>
          </a:p>
        </p:txBody>
      </p:sp>
      <p:sp>
        <p:nvSpPr>
          <p:cNvPr id="224" name="Data Provisioning Dim External · CX Association"/>
          <p:cNvSpPr txBox="1"/>
          <p:nvPr/>
        </p:nvSpPr>
        <p:spPr>
          <a:xfrm>
            <a:off x="498348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25" name="Data Provisioning Dim Dot Business"/>
          <p:cNvSpPr/>
          <p:nvPr/>
        </p:nvSpPr>
        <p:spPr>
          <a:xfrm>
            <a:off x="4846320" y="4834073"/>
            <a:ext cx="73152" cy="73152"/>
          </a:xfrm>
          <a:prstGeom prst="ellipse">
            <a:avLst/>
          </a:prstGeom>
          <a:solidFill>
            <a:srgbClr val="53BE70"/>
          </a:solidFill>
          <a:ln>
            <a:noFill/>
          </a:ln>
          <a:effectLst/>
        </p:spPr>
        <p:txBody>
          <a:bodyPr rtlCol="0" anchor="ctr"/>
          <a:lstStyle/>
          <a:p>
            <a:endParaRPr lang="de-DE"/>
          </a:p>
        </p:txBody>
      </p:sp>
      <p:sp>
        <p:nvSpPr>
          <p:cNvPr id="226" name="Data Provisioning Dim Business"/>
          <p:cNvSpPr txBox="1"/>
          <p:nvPr/>
        </p:nvSpPr>
        <p:spPr>
          <a:xfrm>
            <a:off x="498348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27" name="Data Provisioning Dim Dot Use Cases"/>
          <p:cNvSpPr/>
          <p:nvPr/>
        </p:nvSpPr>
        <p:spPr>
          <a:xfrm>
            <a:off x="4846320" y="5092546"/>
            <a:ext cx="73152" cy="73152"/>
          </a:xfrm>
          <a:prstGeom prst="ellipse">
            <a:avLst/>
          </a:prstGeom>
          <a:solidFill>
            <a:srgbClr val="F0B135"/>
          </a:solidFill>
          <a:ln>
            <a:noFill/>
          </a:ln>
          <a:effectLst/>
        </p:spPr>
        <p:txBody>
          <a:bodyPr rtlCol="0" anchor="ctr"/>
          <a:lstStyle/>
          <a:p>
            <a:endParaRPr lang="de-DE"/>
          </a:p>
        </p:txBody>
      </p:sp>
      <p:sp>
        <p:nvSpPr>
          <p:cNvPr id="228" name="Data Provisioning Dim Use Cases"/>
          <p:cNvSpPr txBox="1"/>
          <p:nvPr/>
        </p:nvSpPr>
        <p:spPr>
          <a:xfrm>
            <a:off x="498348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9" name="Data Provisioning Dim Dot Technical"/>
          <p:cNvSpPr/>
          <p:nvPr/>
        </p:nvSpPr>
        <p:spPr>
          <a:xfrm>
            <a:off x="4846320" y="5351018"/>
            <a:ext cx="73152" cy="73152"/>
          </a:xfrm>
          <a:prstGeom prst="ellipse">
            <a:avLst/>
          </a:prstGeom>
          <a:solidFill>
            <a:srgbClr val="CFD6DB"/>
          </a:solidFill>
          <a:ln>
            <a:noFill/>
          </a:ln>
          <a:effectLst/>
        </p:spPr>
        <p:txBody>
          <a:bodyPr rtlCol="0" anchor="ctr"/>
          <a:lstStyle/>
          <a:p>
            <a:endParaRPr lang="de-DE"/>
          </a:p>
        </p:txBody>
      </p:sp>
      <p:sp>
        <p:nvSpPr>
          <p:cNvPr id="230" name="Data Provisioning Dim Technical"/>
          <p:cNvSpPr txBox="1"/>
          <p:nvPr/>
        </p:nvSpPr>
        <p:spPr>
          <a:xfrm>
            <a:off x="498348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31" name="Hub &amp; Spoke Row Divider Dimensions"/>
          <p:cNvSpPr/>
          <p:nvPr/>
        </p:nvSpPr>
        <p:spPr>
          <a:xfrm>
            <a:off x="6640830" y="4328967"/>
            <a:ext cx="1616202" cy="6401"/>
          </a:xfrm>
          <a:prstGeom prst="rect">
            <a:avLst/>
          </a:prstGeom>
          <a:solidFill>
            <a:srgbClr val="E2E8EC"/>
          </a:solidFill>
          <a:ln>
            <a:noFill/>
          </a:ln>
          <a:effectLst/>
        </p:spPr>
        <p:txBody>
          <a:bodyPr rtlCol="0" anchor="ctr"/>
          <a:lstStyle/>
          <a:p>
            <a:endParaRPr lang="de-DE"/>
          </a:p>
        </p:txBody>
      </p:sp>
      <p:sp>
        <p:nvSpPr>
          <p:cNvPr id="232" name="Hub &amp; Spoke Dim Dot External · CX Association"/>
          <p:cNvSpPr/>
          <p:nvPr/>
        </p:nvSpPr>
        <p:spPr>
          <a:xfrm>
            <a:off x="6640830" y="4429551"/>
            <a:ext cx="73152" cy="73152"/>
          </a:xfrm>
          <a:prstGeom prst="ellipse">
            <a:avLst/>
          </a:prstGeom>
          <a:solidFill>
            <a:srgbClr val="53BE70"/>
          </a:solidFill>
          <a:ln>
            <a:noFill/>
          </a:ln>
          <a:effectLst/>
        </p:spPr>
        <p:txBody>
          <a:bodyPr rtlCol="0" anchor="ctr"/>
          <a:lstStyle/>
          <a:p>
            <a:endParaRPr lang="de-DE"/>
          </a:p>
        </p:txBody>
      </p:sp>
      <p:sp>
        <p:nvSpPr>
          <p:cNvPr id="233" name="Hub &amp; Spoke Dim External · CX Association"/>
          <p:cNvSpPr txBox="1"/>
          <p:nvPr/>
        </p:nvSpPr>
        <p:spPr>
          <a:xfrm>
            <a:off x="677799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34" name="Hub &amp; Spoke Dim Dot Business"/>
          <p:cNvSpPr/>
          <p:nvPr/>
        </p:nvSpPr>
        <p:spPr>
          <a:xfrm>
            <a:off x="6640830" y="4834073"/>
            <a:ext cx="73152" cy="73152"/>
          </a:xfrm>
          <a:prstGeom prst="ellipse">
            <a:avLst/>
          </a:prstGeom>
          <a:solidFill>
            <a:srgbClr val="F0B135"/>
          </a:solidFill>
          <a:ln>
            <a:noFill/>
          </a:ln>
          <a:effectLst/>
        </p:spPr>
        <p:txBody>
          <a:bodyPr rtlCol="0" anchor="ctr"/>
          <a:lstStyle/>
          <a:p>
            <a:endParaRPr lang="de-DE"/>
          </a:p>
        </p:txBody>
      </p:sp>
      <p:sp>
        <p:nvSpPr>
          <p:cNvPr id="235" name="Hub &amp; Spoke Dim Business"/>
          <p:cNvSpPr txBox="1"/>
          <p:nvPr/>
        </p:nvSpPr>
        <p:spPr>
          <a:xfrm>
            <a:off x="677799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36" name="Hub &amp; Spoke Dim Dot Use Cases"/>
          <p:cNvSpPr/>
          <p:nvPr/>
        </p:nvSpPr>
        <p:spPr>
          <a:xfrm>
            <a:off x="6640830" y="5092546"/>
            <a:ext cx="73152" cy="73152"/>
          </a:xfrm>
          <a:prstGeom prst="ellipse">
            <a:avLst/>
          </a:prstGeom>
          <a:solidFill>
            <a:srgbClr val="CFD6DB"/>
          </a:solidFill>
          <a:ln>
            <a:noFill/>
          </a:ln>
          <a:effectLst/>
        </p:spPr>
        <p:txBody>
          <a:bodyPr rtlCol="0" anchor="ctr"/>
          <a:lstStyle/>
          <a:p>
            <a:endParaRPr lang="de-DE"/>
          </a:p>
        </p:txBody>
      </p:sp>
      <p:sp>
        <p:nvSpPr>
          <p:cNvPr id="237" name="Hub &amp; Spoke Dim Use Cases"/>
          <p:cNvSpPr txBox="1"/>
          <p:nvPr/>
        </p:nvSpPr>
        <p:spPr>
          <a:xfrm>
            <a:off x="677799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38" name="Hub &amp; Spoke Dim Dot Technical"/>
          <p:cNvSpPr/>
          <p:nvPr/>
        </p:nvSpPr>
        <p:spPr>
          <a:xfrm>
            <a:off x="6640830" y="5351018"/>
            <a:ext cx="73152" cy="73152"/>
          </a:xfrm>
          <a:prstGeom prst="ellipse">
            <a:avLst/>
          </a:prstGeom>
          <a:solidFill>
            <a:srgbClr val="CFD6DB"/>
          </a:solidFill>
          <a:ln>
            <a:noFill/>
          </a:ln>
          <a:effectLst/>
        </p:spPr>
        <p:txBody>
          <a:bodyPr rtlCol="0" anchor="ctr"/>
          <a:lstStyle/>
          <a:p>
            <a:endParaRPr lang="de-DE"/>
          </a:p>
        </p:txBody>
      </p:sp>
      <p:sp>
        <p:nvSpPr>
          <p:cNvPr id="239" name="Hub &amp; Spoke Dim Technical"/>
          <p:cNvSpPr txBox="1"/>
          <p:nvPr/>
        </p:nvSpPr>
        <p:spPr>
          <a:xfrm>
            <a:off x="677799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0" name="Legal &amp; Contracts Row Divider Dimensions"/>
          <p:cNvSpPr/>
          <p:nvPr/>
        </p:nvSpPr>
        <p:spPr>
          <a:xfrm>
            <a:off x="8435340" y="4328967"/>
            <a:ext cx="1616202" cy="6401"/>
          </a:xfrm>
          <a:prstGeom prst="rect">
            <a:avLst/>
          </a:prstGeom>
          <a:solidFill>
            <a:srgbClr val="E2E8EC"/>
          </a:solidFill>
          <a:ln>
            <a:noFill/>
          </a:ln>
          <a:effectLst/>
        </p:spPr>
        <p:txBody>
          <a:bodyPr rtlCol="0" anchor="ctr"/>
          <a:lstStyle/>
          <a:p>
            <a:endParaRPr lang="de-DE"/>
          </a:p>
        </p:txBody>
      </p:sp>
      <p:sp>
        <p:nvSpPr>
          <p:cNvPr id="241" name="Legal &amp; Contracts Dim Dot External · CX Association"/>
          <p:cNvSpPr/>
          <p:nvPr/>
        </p:nvSpPr>
        <p:spPr>
          <a:xfrm>
            <a:off x="8435340" y="4429551"/>
            <a:ext cx="73152" cy="73152"/>
          </a:xfrm>
          <a:prstGeom prst="ellipse">
            <a:avLst/>
          </a:prstGeom>
          <a:solidFill>
            <a:srgbClr val="53BE70"/>
          </a:solidFill>
          <a:ln>
            <a:noFill/>
          </a:ln>
          <a:effectLst/>
        </p:spPr>
        <p:txBody>
          <a:bodyPr rtlCol="0" anchor="ctr"/>
          <a:lstStyle/>
          <a:p>
            <a:endParaRPr lang="de-DE"/>
          </a:p>
        </p:txBody>
      </p:sp>
      <p:sp>
        <p:nvSpPr>
          <p:cNvPr id="242" name="Legal &amp; Contracts Dim External · CX Association"/>
          <p:cNvSpPr txBox="1"/>
          <p:nvPr/>
        </p:nvSpPr>
        <p:spPr>
          <a:xfrm>
            <a:off x="857250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43" name="Legal &amp; Contracts Dim Dot Business"/>
          <p:cNvSpPr/>
          <p:nvPr/>
        </p:nvSpPr>
        <p:spPr>
          <a:xfrm>
            <a:off x="8435340" y="4834073"/>
            <a:ext cx="73152" cy="73152"/>
          </a:xfrm>
          <a:prstGeom prst="ellipse">
            <a:avLst/>
          </a:prstGeom>
          <a:solidFill>
            <a:srgbClr val="F0B135"/>
          </a:solidFill>
          <a:ln>
            <a:noFill/>
          </a:ln>
          <a:effectLst/>
        </p:spPr>
        <p:txBody>
          <a:bodyPr rtlCol="0" anchor="ctr"/>
          <a:lstStyle/>
          <a:p>
            <a:endParaRPr lang="de-DE"/>
          </a:p>
        </p:txBody>
      </p:sp>
      <p:sp>
        <p:nvSpPr>
          <p:cNvPr id="244" name="Legal &amp; Contracts Dim Business"/>
          <p:cNvSpPr txBox="1"/>
          <p:nvPr/>
        </p:nvSpPr>
        <p:spPr>
          <a:xfrm>
            <a:off x="857250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45" name="Legal &amp; Contracts Dim Dot Use Cases"/>
          <p:cNvSpPr/>
          <p:nvPr/>
        </p:nvSpPr>
        <p:spPr>
          <a:xfrm>
            <a:off x="8435340" y="5092546"/>
            <a:ext cx="73152" cy="73152"/>
          </a:xfrm>
          <a:prstGeom prst="ellipse">
            <a:avLst/>
          </a:prstGeom>
          <a:solidFill>
            <a:srgbClr val="53BE70"/>
          </a:solidFill>
          <a:ln>
            <a:noFill/>
          </a:ln>
          <a:effectLst/>
        </p:spPr>
        <p:txBody>
          <a:bodyPr rtlCol="0" anchor="ctr"/>
          <a:lstStyle/>
          <a:p>
            <a:endParaRPr lang="de-DE"/>
          </a:p>
        </p:txBody>
      </p:sp>
      <p:sp>
        <p:nvSpPr>
          <p:cNvPr id="246" name="Legal &amp; Contracts Dim Use Cases"/>
          <p:cNvSpPr txBox="1"/>
          <p:nvPr/>
        </p:nvSpPr>
        <p:spPr>
          <a:xfrm>
            <a:off x="857250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47" name="Legal &amp; Contracts Dim Dot Technical"/>
          <p:cNvSpPr/>
          <p:nvPr/>
        </p:nvSpPr>
        <p:spPr>
          <a:xfrm>
            <a:off x="8435340" y="5351018"/>
            <a:ext cx="73152" cy="73152"/>
          </a:xfrm>
          <a:prstGeom prst="ellipse">
            <a:avLst/>
          </a:prstGeom>
          <a:solidFill>
            <a:srgbClr val="F0B135"/>
          </a:solidFill>
          <a:ln>
            <a:noFill/>
          </a:ln>
          <a:effectLst/>
        </p:spPr>
        <p:txBody>
          <a:bodyPr rtlCol="0" anchor="ctr"/>
          <a:lstStyle/>
          <a:p>
            <a:endParaRPr lang="de-DE"/>
          </a:p>
        </p:txBody>
      </p:sp>
      <p:sp>
        <p:nvSpPr>
          <p:cNvPr id="248" name="Legal &amp; Contracts Dim Technical"/>
          <p:cNvSpPr txBox="1"/>
          <p:nvPr/>
        </p:nvSpPr>
        <p:spPr>
          <a:xfrm>
            <a:off x="857250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9" name="Architecture Row Divider Dimensions"/>
          <p:cNvSpPr/>
          <p:nvPr/>
        </p:nvSpPr>
        <p:spPr>
          <a:xfrm>
            <a:off x="10229850" y="4328967"/>
            <a:ext cx="1616202" cy="6401"/>
          </a:xfrm>
          <a:prstGeom prst="rect">
            <a:avLst/>
          </a:prstGeom>
          <a:solidFill>
            <a:srgbClr val="E2E8EC"/>
          </a:solidFill>
          <a:ln>
            <a:noFill/>
          </a:ln>
          <a:effectLst/>
        </p:spPr>
        <p:txBody>
          <a:bodyPr rtlCol="0" anchor="ctr"/>
          <a:lstStyle/>
          <a:p>
            <a:endParaRPr lang="de-DE"/>
          </a:p>
        </p:txBody>
      </p:sp>
      <p:sp>
        <p:nvSpPr>
          <p:cNvPr id="250" name="Architecture Dim Dot External · CX Association"/>
          <p:cNvSpPr/>
          <p:nvPr/>
        </p:nvSpPr>
        <p:spPr>
          <a:xfrm>
            <a:off x="10229850" y="4429551"/>
            <a:ext cx="73152" cy="73152"/>
          </a:xfrm>
          <a:prstGeom prst="ellipse">
            <a:avLst/>
          </a:prstGeom>
          <a:solidFill>
            <a:srgbClr val="53BE70"/>
          </a:solidFill>
          <a:ln>
            <a:noFill/>
          </a:ln>
          <a:effectLst/>
        </p:spPr>
        <p:txBody>
          <a:bodyPr rtlCol="0" anchor="ctr"/>
          <a:lstStyle/>
          <a:p>
            <a:endParaRPr lang="de-DE"/>
          </a:p>
        </p:txBody>
      </p:sp>
      <p:sp>
        <p:nvSpPr>
          <p:cNvPr id="251" name="Architecture Dim External · CX Association"/>
          <p:cNvSpPr txBox="1"/>
          <p:nvPr/>
        </p:nvSpPr>
        <p:spPr>
          <a:xfrm>
            <a:off x="10367010" y="4392975"/>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2" name="Architecture Dim Dot Business"/>
          <p:cNvSpPr/>
          <p:nvPr/>
        </p:nvSpPr>
        <p:spPr>
          <a:xfrm>
            <a:off x="10229850" y="4834073"/>
            <a:ext cx="73152" cy="73152"/>
          </a:xfrm>
          <a:prstGeom prst="ellipse">
            <a:avLst/>
          </a:prstGeom>
          <a:solidFill>
            <a:srgbClr val="53BE70"/>
          </a:solidFill>
          <a:ln>
            <a:noFill/>
          </a:ln>
          <a:effectLst/>
        </p:spPr>
        <p:txBody>
          <a:bodyPr rtlCol="0" anchor="ctr"/>
          <a:lstStyle/>
          <a:p>
            <a:endParaRPr lang="de-DE"/>
          </a:p>
        </p:txBody>
      </p:sp>
      <p:sp>
        <p:nvSpPr>
          <p:cNvPr id="253" name="Architecture Dim Business"/>
          <p:cNvSpPr txBox="1"/>
          <p:nvPr/>
        </p:nvSpPr>
        <p:spPr>
          <a:xfrm>
            <a:off x="10367010" y="479749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4" name="Architecture Dim Dot Use Cases"/>
          <p:cNvSpPr/>
          <p:nvPr/>
        </p:nvSpPr>
        <p:spPr>
          <a:xfrm>
            <a:off x="10229850" y="5092546"/>
            <a:ext cx="73152" cy="73152"/>
          </a:xfrm>
          <a:prstGeom prst="ellipse">
            <a:avLst/>
          </a:prstGeom>
          <a:solidFill>
            <a:srgbClr val="53BE70"/>
          </a:solidFill>
          <a:ln>
            <a:noFill/>
          </a:ln>
          <a:effectLst/>
        </p:spPr>
        <p:txBody>
          <a:bodyPr rtlCol="0" anchor="ctr"/>
          <a:lstStyle/>
          <a:p>
            <a:endParaRPr lang="de-DE"/>
          </a:p>
        </p:txBody>
      </p:sp>
      <p:sp>
        <p:nvSpPr>
          <p:cNvPr id="255" name="Architecture Dim Use Cases"/>
          <p:cNvSpPr txBox="1"/>
          <p:nvPr/>
        </p:nvSpPr>
        <p:spPr>
          <a:xfrm>
            <a:off x="10367010" y="5055970"/>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56" name="Architecture Dim Dot Technical"/>
          <p:cNvSpPr/>
          <p:nvPr/>
        </p:nvSpPr>
        <p:spPr>
          <a:xfrm>
            <a:off x="10229850" y="5351018"/>
            <a:ext cx="73152" cy="73152"/>
          </a:xfrm>
          <a:prstGeom prst="ellipse">
            <a:avLst/>
          </a:prstGeom>
          <a:solidFill>
            <a:srgbClr val="F0B135"/>
          </a:solidFill>
          <a:ln>
            <a:noFill/>
          </a:ln>
          <a:effectLst/>
        </p:spPr>
        <p:txBody>
          <a:bodyPr rtlCol="0" anchor="ctr"/>
          <a:lstStyle/>
          <a:p>
            <a:endParaRPr lang="de-DE"/>
          </a:p>
        </p:txBody>
      </p:sp>
      <p:sp>
        <p:nvSpPr>
          <p:cNvPr id="257" name="Architecture Dim Technical"/>
          <p:cNvSpPr txBox="1"/>
          <p:nvPr/>
        </p:nvSpPr>
        <p:spPr>
          <a:xfrm>
            <a:off x="10367010" y="5314442"/>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8" name="Row Label Decision required"/>
          <p:cNvSpPr txBox="1"/>
          <p:nvPr/>
        </p:nvSpPr>
        <p:spPr>
          <a:xfrm>
            <a:off x="274320" y="5579364"/>
            <a:ext cx="868680" cy="1040892"/>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259" name="Portfolio, AI+, C-X NEXT, DigiTrace Row Divider Decision required"/>
          <p:cNvSpPr/>
          <p:nvPr/>
        </p:nvSpPr>
        <p:spPr>
          <a:xfrm>
            <a:off x="1257300" y="5515356"/>
            <a:ext cx="1616202" cy="6401"/>
          </a:xfrm>
          <a:prstGeom prst="rect">
            <a:avLst/>
          </a:prstGeom>
          <a:solidFill>
            <a:srgbClr val="E2E8EC"/>
          </a:solidFill>
          <a:ln>
            <a:noFill/>
          </a:ln>
          <a:effectLst/>
        </p:spPr>
        <p:txBody>
          <a:bodyPr rtlCol="0" anchor="ctr"/>
          <a:lstStyle/>
          <a:p>
            <a:endParaRPr lang="de-DE"/>
          </a:p>
        </p:txBody>
      </p:sp>
      <p:sp>
        <p:nvSpPr>
          <p:cNvPr id="260" name="Portfolio, AI+, C-X NEXT, DigiTrace Decision 1 Flag"/>
          <p:cNvSpPr/>
          <p:nvPr/>
        </p:nvSpPr>
        <p:spPr>
          <a:xfrm>
            <a:off x="1257300" y="5579364"/>
            <a:ext cx="146304" cy="146304"/>
          </a:xfrm>
          <a:prstGeom prst="ellipse">
            <a:avLst/>
          </a:prstGeom>
          <a:solidFill>
            <a:srgbClr val="001E50"/>
          </a:solidFill>
          <a:ln>
            <a:noFill/>
          </a:ln>
          <a:effectLst/>
        </p:spPr>
        <p:txBody>
          <a:bodyPr rtlCol="0" anchor="ctr"/>
          <a:lstStyle/>
          <a:p>
            <a:endParaRPr lang="de-DE"/>
          </a:p>
        </p:txBody>
      </p:sp>
      <p:sp>
        <p:nvSpPr>
          <p:cNvPr id="261" name="Portfolio, AI+, C-X NEXT, DigiTrace Decision 1 No"/>
          <p:cNvSpPr txBox="1"/>
          <p:nvPr/>
        </p:nvSpPr>
        <p:spPr>
          <a:xfrm>
            <a:off x="1257300" y="5579364"/>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262" name="Portfolio, AI+, C-X NEXT, DigiTrace Decision 1"/>
          <p:cNvSpPr txBox="1"/>
          <p:nvPr/>
        </p:nvSpPr>
        <p:spPr>
          <a:xfrm>
            <a:off x="1257300" y="5579364"/>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PR75: which costs are planned per use case?</a:t>
            </a:r>
          </a:p>
        </p:txBody>
      </p:sp>
      <p:sp>
        <p:nvSpPr>
          <p:cNvPr id="263" name="Portfolio, AI+, C-X NEXT, DigiTrace Decision 2 Flag"/>
          <p:cNvSpPr/>
          <p:nvPr/>
        </p:nvSpPr>
        <p:spPr>
          <a:xfrm>
            <a:off x="1257300" y="5926328"/>
            <a:ext cx="146304" cy="146304"/>
          </a:xfrm>
          <a:prstGeom prst="ellipse">
            <a:avLst/>
          </a:prstGeom>
          <a:solidFill>
            <a:srgbClr val="001E50"/>
          </a:solidFill>
          <a:ln>
            <a:noFill/>
          </a:ln>
          <a:effectLst/>
        </p:spPr>
        <p:txBody>
          <a:bodyPr rtlCol="0" anchor="ctr"/>
          <a:lstStyle/>
          <a:p>
            <a:endParaRPr lang="de-DE"/>
          </a:p>
        </p:txBody>
      </p:sp>
      <p:sp>
        <p:nvSpPr>
          <p:cNvPr id="264" name="Portfolio, AI+, C-X NEXT, DigiTrace Decision 2 No"/>
          <p:cNvSpPr txBox="1"/>
          <p:nvPr/>
        </p:nvSpPr>
        <p:spPr>
          <a:xfrm>
            <a:off x="1257300" y="592632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265" name="Portfolio, AI+, C-X NEXT, DigiTrace Decision 2"/>
          <p:cNvSpPr txBox="1"/>
          <p:nvPr/>
        </p:nvSpPr>
        <p:spPr>
          <a:xfrm>
            <a:off x="1257300" y="5926328"/>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New PR75 process: capacity crunch &amp; high risks?</a:t>
            </a:r>
          </a:p>
        </p:txBody>
      </p:sp>
      <p:sp>
        <p:nvSpPr>
          <p:cNvPr id="266" name="Portfolio, AI+, C-X NEXT, DigiTrace Decision 3 Flag"/>
          <p:cNvSpPr/>
          <p:nvPr/>
        </p:nvSpPr>
        <p:spPr>
          <a:xfrm>
            <a:off x="1257300" y="6273292"/>
            <a:ext cx="146304" cy="146304"/>
          </a:xfrm>
          <a:prstGeom prst="ellipse">
            <a:avLst/>
          </a:prstGeom>
          <a:solidFill>
            <a:srgbClr val="001E50"/>
          </a:solidFill>
          <a:ln>
            <a:noFill/>
          </a:ln>
          <a:effectLst/>
        </p:spPr>
        <p:txBody>
          <a:bodyPr rtlCol="0" anchor="ctr"/>
          <a:lstStyle/>
          <a:p>
            <a:endParaRPr lang="de-DE"/>
          </a:p>
        </p:txBody>
      </p:sp>
      <p:sp>
        <p:nvSpPr>
          <p:cNvPr id="267" name="Portfolio, AI+, C-X NEXT, DigiTrace Decision 3 No"/>
          <p:cNvSpPr txBox="1"/>
          <p:nvPr/>
        </p:nvSpPr>
        <p:spPr>
          <a:xfrm>
            <a:off x="1257300" y="6273292"/>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3</a:t>
            </a:r>
          </a:p>
        </p:txBody>
      </p:sp>
      <p:sp>
        <p:nvSpPr>
          <p:cNvPr id="268" name="Portfolio, AI+, C-X NEXT, DigiTrace Decision 3"/>
          <p:cNvSpPr txBox="1"/>
          <p:nvPr/>
        </p:nvSpPr>
        <p:spPr>
          <a:xfrm>
            <a:off x="1257300" y="6273292"/>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DigiTrace: stop, or fund for 2027?</a:t>
            </a:r>
          </a:p>
        </p:txBody>
      </p:sp>
      <p:sp>
        <p:nvSpPr>
          <p:cNvPr id="269" name="Supplier Activation Row Divider Decision required"/>
          <p:cNvSpPr/>
          <p:nvPr/>
        </p:nvSpPr>
        <p:spPr>
          <a:xfrm>
            <a:off x="3051810" y="5515356"/>
            <a:ext cx="1616202" cy="6401"/>
          </a:xfrm>
          <a:prstGeom prst="rect">
            <a:avLst/>
          </a:prstGeom>
          <a:solidFill>
            <a:srgbClr val="E2E8EC"/>
          </a:solidFill>
          <a:ln>
            <a:noFill/>
          </a:ln>
          <a:effectLst/>
        </p:spPr>
        <p:txBody>
          <a:bodyPr rtlCol="0" anchor="ctr"/>
          <a:lstStyle/>
          <a:p>
            <a:endParaRPr lang="de-DE"/>
          </a:p>
        </p:txBody>
      </p:sp>
      <p:sp>
        <p:nvSpPr>
          <p:cNvPr id="270" name="Supplier Activation Decision None"/>
          <p:cNvSpPr txBox="1"/>
          <p:nvPr/>
        </p:nvSpPr>
        <p:spPr>
          <a:xfrm>
            <a:off x="305181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1" name="Data Provisioning Row Divider Decision required"/>
          <p:cNvSpPr/>
          <p:nvPr/>
        </p:nvSpPr>
        <p:spPr>
          <a:xfrm>
            <a:off x="4846320" y="5515356"/>
            <a:ext cx="1616202" cy="6401"/>
          </a:xfrm>
          <a:prstGeom prst="rect">
            <a:avLst/>
          </a:prstGeom>
          <a:solidFill>
            <a:srgbClr val="E2E8EC"/>
          </a:solidFill>
          <a:ln>
            <a:noFill/>
          </a:ln>
          <a:effectLst/>
        </p:spPr>
        <p:txBody>
          <a:bodyPr rtlCol="0" anchor="ctr"/>
          <a:lstStyle/>
          <a:p>
            <a:endParaRPr lang="de-DE"/>
          </a:p>
        </p:txBody>
      </p:sp>
      <p:sp>
        <p:nvSpPr>
          <p:cNvPr id="272" name="Data Provisioning Decision None"/>
          <p:cNvSpPr txBox="1"/>
          <p:nvPr/>
        </p:nvSpPr>
        <p:spPr>
          <a:xfrm>
            <a:off x="484632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3" name="Hub &amp; Spoke Row Divider Decision required"/>
          <p:cNvSpPr/>
          <p:nvPr/>
        </p:nvSpPr>
        <p:spPr>
          <a:xfrm>
            <a:off x="6640830" y="5515356"/>
            <a:ext cx="1616202" cy="6401"/>
          </a:xfrm>
          <a:prstGeom prst="rect">
            <a:avLst/>
          </a:prstGeom>
          <a:solidFill>
            <a:srgbClr val="E2E8EC"/>
          </a:solidFill>
          <a:ln>
            <a:noFill/>
          </a:ln>
          <a:effectLst/>
        </p:spPr>
        <p:txBody>
          <a:bodyPr rtlCol="0" anchor="ctr"/>
          <a:lstStyle/>
          <a:p>
            <a:endParaRPr lang="de-DE"/>
          </a:p>
        </p:txBody>
      </p:sp>
      <p:sp>
        <p:nvSpPr>
          <p:cNvPr id="274" name="Hub &amp; Spoke Decision None"/>
          <p:cNvSpPr txBox="1"/>
          <p:nvPr/>
        </p:nvSpPr>
        <p:spPr>
          <a:xfrm>
            <a:off x="664083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5" name="Legal &amp; Contracts Row Divider Decision required"/>
          <p:cNvSpPr/>
          <p:nvPr/>
        </p:nvSpPr>
        <p:spPr>
          <a:xfrm>
            <a:off x="8435340" y="5515356"/>
            <a:ext cx="1616202" cy="6401"/>
          </a:xfrm>
          <a:prstGeom prst="rect">
            <a:avLst/>
          </a:prstGeom>
          <a:solidFill>
            <a:srgbClr val="E2E8EC"/>
          </a:solidFill>
          <a:ln>
            <a:noFill/>
          </a:ln>
          <a:effectLst/>
        </p:spPr>
        <p:txBody>
          <a:bodyPr rtlCol="0" anchor="ctr"/>
          <a:lstStyle/>
          <a:p>
            <a:endParaRPr lang="de-DE"/>
          </a:p>
        </p:txBody>
      </p:sp>
      <p:sp>
        <p:nvSpPr>
          <p:cNvPr id="276" name="Legal &amp; Contracts Decision None"/>
          <p:cNvSpPr txBox="1"/>
          <p:nvPr/>
        </p:nvSpPr>
        <p:spPr>
          <a:xfrm>
            <a:off x="843534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7" name="Architecture Row Divider Decision required"/>
          <p:cNvSpPr/>
          <p:nvPr/>
        </p:nvSpPr>
        <p:spPr>
          <a:xfrm>
            <a:off x="10229850" y="5515356"/>
            <a:ext cx="1616202" cy="6401"/>
          </a:xfrm>
          <a:prstGeom prst="rect">
            <a:avLst/>
          </a:prstGeom>
          <a:solidFill>
            <a:srgbClr val="E2E8EC"/>
          </a:solidFill>
          <a:ln>
            <a:noFill/>
          </a:ln>
          <a:effectLst/>
        </p:spPr>
        <p:txBody>
          <a:bodyPr rtlCol="0" anchor="ctr"/>
          <a:lstStyle/>
          <a:p>
            <a:endParaRPr lang="de-DE"/>
          </a:p>
        </p:txBody>
      </p:sp>
      <p:sp>
        <p:nvSpPr>
          <p:cNvPr id="278" name="Architecture Decision None"/>
          <p:cNvSpPr txBox="1"/>
          <p:nvPr/>
        </p:nvSpPr>
        <p:spPr>
          <a:xfrm>
            <a:off x="1022985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2</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