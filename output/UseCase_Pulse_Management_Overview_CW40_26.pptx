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40 / 2026 – one column per use case (read top to bottom), one KPI per row, sorted by overall status.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Management 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Management report on the status of all Catena-X use cases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Matrix Card"/>
          <p:cNvSpPr/>
          <p:nvPr/>
        </p:nvSpPr>
        <p:spPr>
          <a:xfrm>
            <a:off x="320040" y="978408"/>
            <a:ext cx="11558016" cy="5641848"/>
          </a:xfrm>
          <a:prstGeom prst="roundRect">
            <a:avLst>
              <a:gd name="adj" fmla="val 2000"/>
            </a:avLst>
          </a:prstGeom>
          <a:solidFill>
            <a:srgbClr val="FFFFFF"/>
          </a:solidFill>
          <a:ln w="6350">
            <a:solidFill>
              <a:srgbClr val="E2E8EC"/>
            </a:solidFill>
          </a:ln>
          <a:effectLst/>
        </p:spPr>
        <p:txBody>
          <a:bodyPr rtlCol="0" anchor="ctr"/>
          <a:lstStyle/>
          <a:p>
            <a:endParaRPr lang="de-DE"/>
          </a:p>
        </p:txBody>
      </p:sp>
      <p:sp>
        <p:nvSpPr>
          <p:cNvPr id="120" name="Row Label Panel"/>
          <p:cNvSpPr/>
          <p:nvPr/>
        </p:nvSpPr>
        <p:spPr>
          <a:xfrm>
            <a:off x="411480" y="1911096"/>
            <a:ext cx="1325880" cy="4617720"/>
          </a:xfrm>
          <a:prstGeom prst="roundRect">
            <a:avLst>
              <a:gd name="adj" fmla="val 3000"/>
            </a:avLst>
          </a:prstGeom>
          <a:solidFill>
            <a:srgbClr val="F6F8FA"/>
          </a:solidFill>
          <a:ln>
            <a:noFill/>
          </a:ln>
          <a:effectLst/>
        </p:spPr>
        <p:txBody>
          <a:bodyPr rtlCol="0" anchor="ctr"/>
          <a:lstStyle/>
          <a:p>
            <a:endParaRPr lang="de-DE"/>
          </a:p>
        </p:txBody>
      </p:sp>
      <p:sp>
        <p:nvSpPr>
          <p:cNvPr id="121" name="Col Quality Name"/>
          <p:cNvSpPr txBox="1"/>
          <p:nvPr/>
        </p:nvSpPr>
        <p:spPr>
          <a:xfrm>
            <a:off x="1883664" y="1069848"/>
            <a:ext cx="1307592"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292D31"/>
                </a:solidFill>
                <a:latin typeface="Segoe UI" pitchFamily="34" charset="0"/>
                <a:ea typeface="Segoe UI" pitchFamily="34" charset="-122"/>
                <a:cs typeface="Segoe UI" pitchFamily="34" charset="-120"/>
              </a:rPr>
              <a:t>Quality</a:t>
            </a:r>
          </a:p>
        </p:txBody>
      </p:sp>
      <p:sp>
        <p:nvSpPr>
          <p:cNvPr id="122" name="Col Quality Abbr"/>
          <p:cNvSpPr txBox="1"/>
          <p:nvPr/>
        </p:nvSpPr>
        <p:spPr>
          <a:xfrm>
            <a:off x="1883664" y="1627632"/>
            <a:ext cx="1307592"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quality-cx</a:t>
            </a:r>
          </a:p>
        </p:txBody>
      </p:sp>
      <p:sp>
        <p:nvSpPr>
          <p:cNvPr id="123" name="Col Quality Status Bar"/>
          <p:cNvSpPr/>
          <p:nvPr/>
        </p:nvSpPr>
        <p:spPr>
          <a:xfrm>
            <a:off x="1883664" y="1837944"/>
            <a:ext cx="1307592" cy="41148"/>
          </a:xfrm>
          <a:prstGeom prst="roundRect">
            <a:avLst>
              <a:gd name="adj" fmla="val 50000"/>
            </a:avLst>
          </a:prstGeom>
          <a:solidFill>
            <a:srgbClr val="E64343"/>
          </a:solidFill>
          <a:ln>
            <a:noFill/>
          </a:ln>
          <a:effectLst/>
        </p:spPr>
        <p:txBody>
          <a:bodyPr rtlCol="0" anchor="ctr"/>
          <a:lstStyle/>
          <a:p>
            <a:endParaRPr lang="de-DE"/>
          </a:p>
        </p:txBody>
      </p:sp>
      <p:sp>
        <p:nvSpPr>
          <p:cNvPr id="124" name="Col Battery Passport Name"/>
          <p:cNvSpPr txBox="1"/>
          <p:nvPr/>
        </p:nvSpPr>
        <p:spPr>
          <a:xfrm>
            <a:off x="3300984" y="1069848"/>
            <a:ext cx="1307592"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292D31"/>
                </a:solidFill>
                <a:latin typeface="Segoe UI" pitchFamily="34" charset="0"/>
                <a:ea typeface="Segoe UI" pitchFamily="34" charset="-122"/>
                <a:cs typeface="Segoe UI" pitchFamily="34" charset="-120"/>
              </a:rPr>
              <a:t>Battery Passport</a:t>
            </a:r>
          </a:p>
        </p:txBody>
      </p:sp>
      <p:sp>
        <p:nvSpPr>
          <p:cNvPr id="125" name="Col Battery Passport Abbr"/>
          <p:cNvSpPr txBox="1"/>
          <p:nvPr/>
        </p:nvSpPr>
        <p:spPr>
          <a:xfrm>
            <a:off x="3300984" y="1627632"/>
            <a:ext cx="1307592"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battpass-cx</a:t>
            </a:r>
          </a:p>
        </p:txBody>
      </p:sp>
      <p:sp>
        <p:nvSpPr>
          <p:cNvPr id="126" name="Col Battery Passport Status Bar"/>
          <p:cNvSpPr/>
          <p:nvPr/>
        </p:nvSpPr>
        <p:spPr>
          <a:xfrm>
            <a:off x="3300984" y="1837944"/>
            <a:ext cx="1307592" cy="41148"/>
          </a:xfrm>
          <a:prstGeom prst="roundRect">
            <a:avLst>
              <a:gd name="adj" fmla="val 50000"/>
            </a:avLst>
          </a:prstGeom>
          <a:solidFill>
            <a:srgbClr val="F0B135"/>
          </a:solidFill>
          <a:ln>
            <a:noFill/>
          </a:ln>
          <a:effectLst/>
        </p:spPr>
        <p:txBody>
          <a:bodyPr rtlCol="0" anchor="ctr"/>
          <a:lstStyle/>
          <a:p>
            <a:endParaRPr lang="de-DE"/>
          </a:p>
        </p:txBody>
      </p:sp>
      <p:sp>
        <p:nvSpPr>
          <p:cNvPr id="127" name="Col Product Passes Name"/>
          <p:cNvSpPr txBox="1"/>
          <p:nvPr/>
        </p:nvSpPr>
        <p:spPr>
          <a:xfrm>
            <a:off x="4718304" y="1069848"/>
            <a:ext cx="1307592"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292D31"/>
                </a:solidFill>
                <a:latin typeface="Segoe UI" pitchFamily="34" charset="0"/>
                <a:ea typeface="Segoe UI" pitchFamily="34" charset="-122"/>
                <a:cs typeface="Segoe UI" pitchFamily="34" charset="-120"/>
              </a:rPr>
              <a:t>Product Passes</a:t>
            </a:r>
          </a:p>
        </p:txBody>
      </p:sp>
      <p:sp>
        <p:nvSpPr>
          <p:cNvPr id="128" name="Col Product Passes Abbr"/>
          <p:cNvSpPr txBox="1"/>
          <p:nvPr/>
        </p:nvSpPr>
        <p:spPr>
          <a:xfrm>
            <a:off x="4718304" y="1627632"/>
            <a:ext cx="1307592"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pass-cx</a:t>
            </a:r>
          </a:p>
        </p:txBody>
      </p:sp>
      <p:sp>
        <p:nvSpPr>
          <p:cNvPr id="129" name="Col Product Passes Status Bar"/>
          <p:cNvSpPr/>
          <p:nvPr/>
        </p:nvSpPr>
        <p:spPr>
          <a:xfrm>
            <a:off x="4718304" y="1837944"/>
            <a:ext cx="1307592" cy="41148"/>
          </a:xfrm>
          <a:prstGeom prst="roundRect">
            <a:avLst>
              <a:gd name="adj" fmla="val 50000"/>
            </a:avLst>
          </a:prstGeom>
          <a:solidFill>
            <a:srgbClr val="F0B135"/>
          </a:solidFill>
          <a:ln>
            <a:noFill/>
          </a:ln>
          <a:effectLst/>
        </p:spPr>
        <p:txBody>
          <a:bodyPr rtlCol="0" anchor="ctr"/>
          <a:lstStyle/>
          <a:p>
            <a:endParaRPr lang="de-DE"/>
          </a:p>
        </p:txBody>
      </p:sp>
      <p:sp>
        <p:nvSpPr>
          <p:cNvPr id="130" name="Col PURIS Name"/>
          <p:cNvSpPr txBox="1"/>
          <p:nvPr/>
        </p:nvSpPr>
        <p:spPr>
          <a:xfrm>
            <a:off x="6135624" y="1069848"/>
            <a:ext cx="1307592"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292D31"/>
                </a:solidFill>
                <a:latin typeface="Segoe UI" pitchFamily="34" charset="0"/>
                <a:ea typeface="Segoe UI" pitchFamily="34" charset="-122"/>
                <a:cs typeface="Segoe UI" pitchFamily="34" charset="-120"/>
              </a:rPr>
              <a:t>PURIS</a:t>
            </a:r>
          </a:p>
        </p:txBody>
      </p:sp>
      <p:sp>
        <p:nvSpPr>
          <p:cNvPr id="131" name="Col PURIS Abbr"/>
          <p:cNvSpPr txBox="1"/>
          <p:nvPr/>
        </p:nvSpPr>
        <p:spPr>
          <a:xfrm>
            <a:off x="6135624" y="1627632"/>
            <a:ext cx="1307592"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puris-cx</a:t>
            </a:r>
          </a:p>
        </p:txBody>
      </p:sp>
      <p:sp>
        <p:nvSpPr>
          <p:cNvPr id="132" name="Col PURIS Status Bar"/>
          <p:cNvSpPr/>
          <p:nvPr/>
        </p:nvSpPr>
        <p:spPr>
          <a:xfrm>
            <a:off x="6135624" y="1837944"/>
            <a:ext cx="1307592" cy="41148"/>
          </a:xfrm>
          <a:prstGeom prst="roundRect">
            <a:avLst>
              <a:gd name="adj" fmla="val 50000"/>
            </a:avLst>
          </a:prstGeom>
          <a:solidFill>
            <a:srgbClr val="F0B135"/>
          </a:solidFill>
          <a:ln>
            <a:noFill/>
          </a:ln>
          <a:effectLst/>
        </p:spPr>
        <p:txBody>
          <a:bodyPr rtlCol="0" anchor="ctr"/>
          <a:lstStyle/>
          <a:p>
            <a:endParaRPr lang="de-DE"/>
          </a:p>
        </p:txBody>
      </p:sp>
      <p:sp>
        <p:nvSpPr>
          <p:cNvPr id="133" name="Col Business Partner Data Mgmt Name"/>
          <p:cNvSpPr txBox="1"/>
          <p:nvPr/>
        </p:nvSpPr>
        <p:spPr>
          <a:xfrm>
            <a:off x="7552944" y="1069848"/>
            <a:ext cx="1307592"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292D31"/>
                </a:solidFill>
                <a:latin typeface="Segoe UI" pitchFamily="34" charset="0"/>
                <a:ea typeface="Segoe UI" pitchFamily="34" charset="-122"/>
                <a:cs typeface="Segoe UI" pitchFamily="34" charset="-120"/>
              </a:rPr>
              <a:t>Business Partner Data Mgmt</a:t>
            </a:r>
          </a:p>
        </p:txBody>
      </p:sp>
      <p:sp>
        <p:nvSpPr>
          <p:cNvPr id="134" name="Col Business Partner Data Mgmt Abbr"/>
          <p:cNvSpPr txBox="1"/>
          <p:nvPr/>
        </p:nvSpPr>
        <p:spPr>
          <a:xfrm>
            <a:off x="7552944" y="1627632"/>
            <a:ext cx="1307592"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bpdm-cx</a:t>
            </a:r>
          </a:p>
        </p:txBody>
      </p:sp>
      <p:sp>
        <p:nvSpPr>
          <p:cNvPr id="135" name="Col Business Partner Data Mgmt Status Bar"/>
          <p:cNvSpPr/>
          <p:nvPr/>
        </p:nvSpPr>
        <p:spPr>
          <a:xfrm>
            <a:off x="7552944" y="1837944"/>
            <a:ext cx="1307592" cy="41148"/>
          </a:xfrm>
          <a:prstGeom prst="roundRect">
            <a:avLst>
              <a:gd name="adj" fmla="val 50000"/>
            </a:avLst>
          </a:prstGeom>
          <a:solidFill>
            <a:srgbClr val="F0B135"/>
          </a:solidFill>
          <a:ln>
            <a:noFill/>
          </a:ln>
          <a:effectLst/>
        </p:spPr>
        <p:txBody>
          <a:bodyPr rtlCol="0" anchor="ctr"/>
          <a:lstStyle/>
          <a:p>
            <a:endParaRPr lang="de-DE"/>
          </a:p>
        </p:txBody>
      </p:sp>
      <p:sp>
        <p:nvSpPr>
          <p:cNvPr id="136" name="Col Certificate Management Name"/>
          <p:cNvSpPr txBox="1"/>
          <p:nvPr/>
        </p:nvSpPr>
        <p:spPr>
          <a:xfrm>
            <a:off x="8970264" y="1069848"/>
            <a:ext cx="1307592"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292D31"/>
                </a:solidFill>
                <a:latin typeface="Segoe UI" pitchFamily="34" charset="0"/>
                <a:ea typeface="Segoe UI" pitchFamily="34" charset="-122"/>
                <a:cs typeface="Segoe UI" pitchFamily="34" charset="-120"/>
              </a:rPr>
              <a:t>Certificate Management</a:t>
            </a:r>
          </a:p>
        </p:txBody>
      </p:sp>
      <p:sp>
        <p:nvSpPr>
          <p:cNvPr id="137" name="Col Certificate Management Abbr"/>
          <p:cNvSpPr txBox="1"/>
          <p:nvPr/>
        </p:nvSpPr>
        <p:spPr>
          <a:xfrm>
            <a:off x="8970264" y="1627632"/>
            <a:ext cx="1307592"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cert-mgmt</a:t>
            </a:r>
          </a:p>
        </p:txBody>
      </p:sp>
      <p:sp>
        <p:nvSpPr>
          <p:cNvPr id="138" name="Col Certificate Management Status Bar"/>
          <p:cNvSpPr/>
          <p:nvPr/>
        </p:nvSpPr>
        <p:spPr>
          <a:xfrm>
            <a:off x="8970264" y="1837944"/>
            <a:ext cx="1307592" cy="41148"/>
          </a:xfrm>
          <a:prstGeom prst="roundRect">
            <a:avLst>
              <a:gd name="adj" fmla="val 50000"/>
            </a:avLst>
          </a:prstGeom>
          <a:solidFill>
            <a:srgbClr val="F0B135"/>
          </a:solidFill>
          <a:ln>
            <a:noFill/>
          </a:ln>
          <a:effectLst/>
        </p:spPr>
        <p:txBody>
          <a:bodyPr rtlCol="0" anchor="ctr"/>
          <a:lstStyle/>
          <a:p>
            <a:endParaRPr lang="de-DE"/>
          </a:p>
        </p:txBody>
      </p:sp>
      <p:sp>
        <p:nvSpPr>
          <p:cNvPr id="139" name="Col Product Carbon Footprint Name"/>
          <p:cNvSpPr txBox="1"/>
          <p:nvPr/>
        </p:nvSpPr>
        <p:spPr>
          <a:xfrm>
            <a:off x="10387584" y="1069848"/>
            <a:ext cx="1307592"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292D31"/>
                </a:solidFill>
                <a:latin typeface="Segoe UI" pitchFamily="34" charset="0"/>
                <a:ea typeface="Segoe UI" pitchFamily="34" charset="-122"/>
                <a:cs typeface="Segoe UI" pitchFamily="34" charset="-120"/>
              </a:rPr>
              <a:t>Product Carbon Footprint</a:t>
            </a:r>
          </a:p>
        </p:txBody>
      </p:sp>
      <p:sp>
        <p:nvSpPr>
          <p:cNvPr id="140" name="Col Product Carbon Footprint Abbr"/>
          <p:cNvSpPr txBox="1"/>
          <p:nvPr/>
        </p:nvSpPr>
        <p:spPr>
          <a:xfrm>
            <a:off x="10387584" y="1627632"/>
            <a:ext cx="1307592"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pcf-cx</a:t>
            </a:r>
          </a:p>
        </p:txBody>
      </p:sp>
      <p:sp>
        <p:nvSpPr>
          <p:cNvPr id="141" name="Col Product Carbon Footprint Status Bar"/>
          <p:cNvSpPr/>
          <p:nvPr/>
        </p:nvSpPr>
        <p:spPr>
          <a:xfrm>
            <a:off x="10387584" y="1837944"/>
            <a:ext cx="1307592" cy="41148"/>
          </a:xfrm>
          <a:prstGeom prst="roundRect">
            <a:avLst>
              <a:gd name="adj" fmla="val 50000"/>
            </a:avLst>
          </a:prstGeom>
          <a:solidFill>
            <a:srgbClr val="53BE70"/>
          </a:solidFill>
          <a:ln>
            <a:noFill/>
          </a:ln>
          <a:effectLst/>
        </p:spPr>
        <p:txBody>
          <a:bodyPr rtlCol="0" anchor="ctr"/>
          <a:lstStyle/>
          <a:p>
            <a:endParaRPr lang="de-DE"/>
          </a:p>
        </p:txBody>
      </p:sp>
      <p:sp>
        <p:nvSpPr>
          <p:cNvPr id="142" name="Col Divider 1"/>
          <p:cNvSpPr/>
          <p:nvPr/>
        </p:nvSpPr>
        <p:spPr>
          <a:xfrm>
            <a:off x="3242920" y="1069848"/>
            <a:ext cx="6401" cy="5458968"/>
          </a:xfrm>
          <a:prstGeom prst="rect">
            <a:avLst/>
          </a:prstGeom>
          <a:solidFill>
            <a:srgbClr val="CFD6DB"/>
          </a:solidFill>
          <a:ln>
            <a:noFill/>
          </a:ln>
          <a:effectLst/>
        </p:spPr>
        <p:txBody>
          <a:bodyPr rtlCol="0" anchor="ctr"/>
          <a:lstStyle/>
          <a:p>
            <a:endParaRPr lang="de-DE"/>
          </a:p>
        </p:txBody>
      </p:sp>
      <p:sp>
        <p:nvSpPr>
          <p:cNvPr id="143" name="Col Divider 2"/>
          <p:cNvSpPr/>
          <p:nvPr/>
        </p:nvSpPr>
        <p:spPr>
          <a:xfrm>
            <a:off x="4660240" y="1069848"/>
            <a:ext cx="6401" cy="5458968"/>
          </a:xfrm>
          <a:prstGeom prst="rect">
            <a:avLst/>
          </a:prstGeom>
          <a:solidFill>
            <a:srgbClr val="CFD6DB"/>
          </a:solidFill>
          <a:ln>
            <a:noFill/>
          </a:ln>
          <a:effectLst/>
        </p:spPr>
        <p:txBody>
          <a:bodyPr rtlCol="0" anchor="ctr"/>
          <a:lstStyle/>
          <a:p>
            <a:endParaRPr lang="de-DE"/>
          </a:p>
        </p:txBody>
      </p:sp>
      <p:sp>
        <p:nvSpPr>
          <p:cNvPr id="144" name="Col Divider 3"/>
          <p:cNvSpPr/>
          <p:nvPr/>
        </p:nvSpPr>
        <p:spPr>
          <a:xfrm>
            <a:off x="6077560" y="1069848"/>
            <a:ext cx="6401" cy="5458968"/>
          </a:xfrm>
          <a:prstGeom prst="rect">
            <a:avLst/>
          </a:prstGeom>
          <a:solidFill>
            <a:srgbClr val="CFD6DB"/>
          </a:solidFill>
          <a:ln>
            <a:noFill/>
          </a:ln>
          <a:effectLst/>
        </p:spPr>
        <p:txBody>
          <a:bodyPr rtlCol="0" anchor="ctr"/>
          <a:lstStyle/>
          <a:p>
            <a:endParaRPr lang="de-DE"/>
          </a:p>
        </p:txBody>
      </p:sp>
      <p:sp>
        <p:nvSpPr>
          <p:cNvPr id="145" name="Col Divider 4"/>
          <p:cNvSpPr/>
          <p:nvPr/>
        </p:nvSpPr>
        <p:spPr>
          <a:xfrm>
            <a:off x="7494880" y="1069848"/>
            <a:ext cx="6401" cy="5458968"/>
          </a:xfrm>
          <a:prstGeom prst="rect">
            <a:avLst/>
          </a:prstGeom>
          <a:solidFill>
            <a:srgbClr val="CFD6DB"/>
          </a:solidFill>
          <a:ln>
            <a:noFill/>
          </a:ln>
          <a:effectLst/>
        </p:spPr>
        <p:txBody>
          <a:bodyPr rtlCol="0" anchor="ctr"/>
          <a:lstStyle/>
          <a:p>
            <a:endParaRPr lang="de-DE"/>
          </a:p>
        </p:txBody>
      </p:sp>
      <p:sp>
        <p:nvSpPr>
          <p:cNvPr id="146" name="Col Divider 5"/>
          <p:cNvSpPr/>
          <p:nvPr/>
        </p:nvSpPr>
        <p:spPr>
          <a:xfrm>
            <a:off x="8912200" y="1069848"/>
            <a:ext cx="6401" cy="5458968"/>
          </a:xfrm>
          <a:prstGeom prst="rect">
            <a:avLst/>
          </a:prstGeom>
          <a:solidFill>
            <a:srgbClr val="CFD6DB"/>
          </a:solidFill>
          <a:ln>
            <a:noFill/>
          </a:ln>
          <a:effectLst/>
        </p:spPr>
        <p:txBody>
          <a:bodyPr rtlCol="0" anchor="ctr"/>
          <a:lstStyle/>
          <a:p>
            <a:endParaRPr lang="de-DE"/>
          </a:p>
        </p:txBody>
      </p:sp>
      <p:sp>
        <p:nvSpPr>
          <p:cNvPr id="147" name="Col Divider 6"/>
          <p:cNvSpPr/>
          <p:nvPr/>
        </p:nvSpPr>
        <p:spPr>
          <a:xfrm>
            <a:off x="10329520" y="1069848"/>
            <a:ext cx="6401" cy="5458968"/>
          </a:xfrm>
          <a:prstGeom prst="rect">
            <a:avLst/>
          </a:prstGeom>
          <a:solidFill>
            <a:srgbClr val="CFD6DB"/>
          </a:solidFill>
          <a:ln>
            <a:noFill/>
          </a:ln>
          <a:effectLst/>
        </p:spPr>
        <p:txBody>
          <a:bodyPr rtlCol="0" anchor="ctr"/>
          <a:lstStyle/>
          <a:p>
            <a:endParaRPr lang="de-DE"/>
          </a:p>
        </p:txBody>
      </p:sp>
      <p:sp>
        <p:nvSpPr>
          <p:cNvPr id="148" name="Row Divider Overall status"/>
          <p:cNvSpPr/>
          <p:nvPr/>
        </p:nvSpPr>
        <p:spPr>
          <a:xfrm>
            <a:off x="1828800" y="1911096"/>
            <a:ext cx="9921240" cy="6401"/>
          </a:xfrm>
          <a:prstGeom prst="rect">
            <a:avLst/>
          </a:prstGeom>
          <a:solidFill>
            <a:srgbClr val="E2E8EC"/>
          </a:solidFill>
          <a:ln>
            <a:noFill/>
          </a:ln>
          <a:effectLst/>
        </p:spPr>
        <p:txBody>
          <a:bodyPr rtlCol="0" anchor="ctr"/>
          <a:lstStyle/>
          <a:p>
            <a:endParaRPr lang="de-DE"/>
          </a:p>
        </p:txBody>
      </p:sp>
      <p:sp>
        <p:nvSpPr>
          <p:cNvPr id="149" name="Row Label Overall status"/>
          <p:cNvSpPr txBox="1"/>
          <p:nvPr/>
        </p:nvSpPr>
        <p:spPr>
          <a:xfrm>
            <a:off x="502920" y="2011680"/>
            <a:ext cx="1170432" cy="2155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OVERALL STATUS</a:t>
            </a:r>
          </a:p>
        </p:txBody>
      </p:sp>
      <p:sp>
        <p:nvSpPr>
          <p:cNvPr id="150" name="Quality Status Pill"/>
          <p:cNvSpPr/>
          <p:nvPr/>
        </p:nvSpPr>
        <p:spPr>
          <a:xfrm>
            <a:off x="1883664" y="1993392"/>
            <a:ext cx="1303934" cy="201168"/>
          </a:xfrm>
          <a:prstGeom prst="roundRect">
            <a:avLst>
              <a:gd name="adj" fmla="val 50000"/>
            </a:avLst>
          </a:prstGeom>
          <a:solidFill>
            <a:srgbClr val="E64343"/>
          </a:solidFill>
          <a:ln>
            <a:noFill/>
          </a:ln>
          <a:effectLst/>
        </p:spPr>
        <p:txBody>
          <a:bodyPr rtlCol="0" anchor="ctr"/>
          <a:lstStyle/>
          <a:p>
            <a:endParaRPr lang="de-DE"/>
          </a:p>
        </p:txBody>
      </p:sp>
      <p:sp>
        <p:nvSpPr>
          <p:cNvPr id="151" name="Quality Status Dot"/>
          <p:cNvSpPr/>
          <p:nvPr/>
        </p:nvSpPr>
        <p:spPr>
          <a:xfrm>
            <a:off x="1965960" y="2073859"/>
            <a:ext cx="41148" cy="41148"/>
          </a:xfrm>
          <a:prstGeom prst="ellipse">
            <a:avLst/>
          </a:prstGeom>
          <a:solidFill>
            <a:srgbClr val="FFFFFF"/>
          </a:solidFill>
          <a:ln>
            <a:noFill/>
          </a:ln>
          <a:effectLst/>
        </p:spPr>
        <p:txBody>
          <a:bodyPr rtlCol="0" anchor="ctr"/>
          <a:lstStyle/>
          <a:p>
            <a:endParaRPr lang="de-DE"/>
          </a:p>
        </p:txBody>
      </p:sp>
      <p:sp>
        <p:nvSpPr>
          <p:cNvPr id="152" name="Quality Status Text"/>
          <p:cNvSpPr txBox="1"/>
          <p:nvPr/>
        </p:nvSpPr>
        <p:spPr>
          <a:xfrm>
            <a:off x="2057400" y="1993392"/>
            <a:ext cx="1093622"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3" name="Battery Passport Status Pill"/>
          <p:cNvSpPr/>
          <p:nvPr/>
        </p:nvSpPr>
        <p:spPr>
          <a:xfrm>
            <a:off x="3300984" y="1993392"/>
            <a:ext cx="1179576" cy="201168"/>
          </a:xfrm>
          <a:prstGeom prst="roundRect">
            <a:avLst>
              <a:gd name="adj" fmla="val 50000"/>
            </a:avLst>
          </a:prstGeom>
          <a:solidFill>
            <a:srgbClr val="F0B135"/>
          </a:solidFill>
          <a:ln>
            <a:noFill/>
          </a:ln>
          <a:effectLst/>
        </p:spPr>
        <p:txBody>
          <a:bodyPr rtlCol="0" anchor="ctr"/>
          <a:lstStyle/>
          <a:p>
            <a:endParaRPr lang="de-DE"/>
          </a:p>
        </p:txBody>
      </p:sp>
      <p:sp>
        <p:nvSpPr>
          <p:cNvPr id="154" name="Battery Passport Status Dot"/>
          <p:cNvSpPr/>
          <p:nvPr/>
        </p:nvSpPr>
        <p:spPr>
          <a:xfrm>
            <a:off x="3383280" y="2073859"/>
            <a:ext cx="41148" cy="41148"/>
          </a:xfrm>
          <a:prstGeom prst="ellipse">
            <a:avLst/>
          </a:prstGeom>
          <a:solidFill>
            <a:srgbClr val="FFFFFF"/>
          </a:solidFill>
          <a:ln>
            <a:noFill/>
          </a:ln>
          <a:effectLst/>
        </p:spPr>
        <p:txBody>
          <a:bodyPr rtlCol="0" anchor="ctr"/>
          <a:lstStyle/>
          <a:p>
            <a:endParaRPr lang="de-DE"/>
          </a:p>
        </p:txBody>
      </p:sp>
      <p:sp>
        <p:nvSpPr>
          <p:cNvPr id="155" name="Battery Passport Status Text"/>
          <p:cNvSpPr txBox="1"/>
          <p:nvPr/>
        </p:nvSpPr>
        <p:spPr>
          <a:xfrm>
            <a:off x="3474720" y="1993392"/>
            <a:ext cx="969264"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Product Passes Status Pill"/>
          <p:cNvSpPr/>
          <p:nvPr/>
        </p:nvSpPr>
        <p:spPr>
          <a:xfrm>
            <a:off x="4718304" y="1993392"/>
            <a:ext cx="1179576" cy="201168"/>
          </a:xfrm>
          <a:prstGeom prst="roundRect">
            <a:avLst>
              <a:gd name="adj" fmla="val 50000"/>
            </a:avLst>
          </a:prstGeom>
          <a:solidFill>
            <a:srgbClr val="F0B135"/>
          </a:solidFill>
          <a:ln>
            <a:noFill/>
          </a:ln>
          <a:effectLst/>
        </p:spPr>
        <p:txBody>
          <a:bodyPr rtlCol="0" anchor="ctr"/>
          <a:lstStyle/>
          <a:p>
            <a:endParaRPr lang="de-DE"/>
          </a:p>
        </p:txBody>
      </p:sp>
      <p:sp>
        <p:nvSpPr>
          <p:cNvPr id="157" name="Product Passes Status Dot"/>
          <p:cNvSpPr/>
          <p:nvPr/>
        </p:nvSpPr>
        <p:spPr>
          <a:xfrm>
            <a:off x="4800600" y="2073859"/>
            <a:ext cx="41148" cy="41148"/>
          </a:xfrm>
          <a:prstGeom prst="ellipse">
            <a:avLst/>
          </a:prstGeom>
          <a:solidFill>
            <a:srgbClr val="FFFFFF"/>
          </a:solidFill>
          <a:ln>
            <a:noFill/>
          </a:ln>
          <a:effectLst/>
        </p:spPr>
        <p:txBody>
          <a:bodyPr rtlCol="0" anchor="ctr"/>
          <a:lstStyle/>
          <a:p>
            <a:endParaRPr lang="de-DE"/>
          </a:p>
        </p:txBody>
      </p:sp>
      <p:sp>
        <p:nvSpPr>
          <p:cNvPr id="158" name="Product Passes Status Text"/>
          <p:cNvSpPr txBox="1"/>
          <p:nvPr/>
        </p:nvSpPr>
        <p:spPr>
          <a:xfrm>
            <a:off x="4892040" y="1993392"/>
            <a:ext cx="969264"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9" name="PURIS Status Pill"/>
          <p:cNvSpPr/>
          <p:nvPr/>
        </p:nvSpPr>
        <p:spPr>
          <a:xfrm>
            <a:off x="6135624" y="1993392"/>
            <a:ext cx="1179576" cy="201168"/>
          </a:xfrm>
          <a:prstGeom prst="roundRect">
            <a:avLst>
              <a:gd name="adj" fmla="val 50000"/>
            </a:avLst>
          </a:prstGeom>
          <a:solidFill>
            <a:srgbClr val="F0B135"/>
          </a:solidFill>
          <a:ln>
            <a:noFill/>
          </a:ln>
          <a:effectLst/>
        </p:spPr>
        <p:txBody>
          <a:bodyPr rtlCol="0" anchor="ctr"/>
          <a:lstStyle/>
          <a:p>
            <a:endParaRPr lang="de-DE"/>
          </a:p>
        </p:txBody>
      </p:sp>
      <p:sp>
        <p:nvSpPr>
          <p:cNvPr id="160" name="PURIS Status Dot"/>
          <p:cNvSpPr/>
          <p:nvPr/>
        </p:nvSpPr>
        <p:spPr>
          <a:xfrm>
            <a:off x="6217920" y="2073859"/>
            <a:ext cx="41148" cy="41148"/>
          </a:xfrm>
          <a:prstGeom prst="ellipse">
            <a:avLst/>
          </a:prstGeom>
          <a:solidFill>
            <a:srgbClr val="FFFFFF"/>
          </a:solidFill>
          <a:ln>
            <a:noFill/>
          </a:ln>
          <a:effectLst/>
        </p:spPr>
        <p:txBody>
          <a:bodyPr rtlCol="0" anchor="ctr"/>
          <a:lstStyle/>
          <a:p>
            <a:endParaRPr lang="de-DE"/>
          </a:p>
        </p:txBody>
      </p:sp>
      <p:sp>
        <p:nvSpPr>
          <p:cNvPr id="161" name="PURIS Status Text"/>
          <p:cNvSpPr txBox="1"/>
          <p:nvPr/>
        </p:nvSpPr>
        <p:spPr>
          <a:xfrm>
            <a:off x="6309360" y="1993392"/>
            <a:ext cx="969264"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Business Partner Data Mgmt Status Pill"/>
          <p:cNvSpPr/>
          <p:nvPr/>
        </p:nvSpPr>
        <p:spPr>
          <a:xfrm>
            <a:off x="7552944" y="1993392"/>
            <a:ext cx="1179576" cy="201168"/>
          </a:xfrm>
          <a:prstGeom prst="roundRect">
            <a:avLst>
              <a:gd name="adj" fmla="val 50000"/>
            </a:avLst>
          </a:prstGeom>
          <a:solidFill>
            <a:srgbClr val="F0B135"/>
          </a:solidFill>
          <a:ln>
            <a:noFill/>
          </a:ln>
          <a:effectLst/>
        </p:spPr>
        <p:txBody>
          <a:bodyPr rtlCol="0" anchor="ctr"/>
          <a:lstStyle/>
          <a:p>
            <a:endParaRPr lang="de-DE"/>
          </a:p>
        </p:txBody>
      </p:sp>
      <p:sp>
        <p:nvSpPr>
          <p:cNvPr id="163" name="Business Partner Data Mgmt Status Dot"/>
          <p:cNvSpPr/>
          <p:nvPr/>
        </p:nvSpPr>
        <p:spPr>
          <a:xfrm>
            <a:off x="7635240" y="2073859"/>
            <a:ext cx="41148" cy="41148"/>
          </a:xfrm>
          <a:prstGeom prst="ellipse">
            <a:avLst/>
          </a:prstGeom>
          <a:solidFill>
            <a:srgbClr val="FFFFFF"/>
          </a:solidFill>
          <a:ln>
            <a:noFill/>
          </a:ln>
          <a:effectLst/>
        </p:spPr>
        <p:txBody>
          <a:bodyPr rtlCol="0" anchor="ctr"/>
          <a:lstStyle/>
          <a:p>
            <a:endParaRPr lang="de-DE"/>
          </a:p>
        </p:txBody>
      </p:sp>
      <p:sp>
        <p:nvSpPr>
          <p:cNvPr id="164" name="Business Partner Data Mgmt Status Text"/>
          <p:cNvSpPr txBox="1"/>
          <p:nvPr/>
        </p:nvSpPr>
        <p:spPr>
          <a:xfrm>
            <a:off x="7726680" y="1993392"/>
            <a:ext cx="969264"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5" name="Certificate Management Status Pill"/>
          <p:cNvSpPr/>
          <p:nvPr/>
        </p:nvSpPr>
        <p:spPr>
          <a:xfrm>
            <a:off x="8970264" y="1993392"/>
            <a:ext cx="1179576" cy="201168"/>
          </a:xfrm>
          <a:prstGeom prst="roundRect">
            <a:avLst>
              <a:gd name="adj" fmla="val 50000"/>
            </a:avLst>
          </a:prstGeom>
          <a:solidFill>
            <a:srgbClr val="F0B135"/>
          </a:solidFill>
          <a:ln>
            <a:noFill/>
          </a:ln>
          <a:effectLst/>
        </p:spPr>
        <p:txBody>
          <a:bodyPr rtlCol="0" anchor="ctr"/>
          <a:lstStyle/>
          <a:p>
            <a:endParaRPr lang="de-DE"/>
          </a:p>
        </p:txBody>
      </p:sp>
      <p:sp>
        <p:nvSpPr>
          <p:cNvPr id="166" name="Certificate Management Status Dot"/>
          <p:cNvSpPr/>
          <p:nvPr/>
        </p:nvSpPr>
        <p:spPr>
          <a:xfrm>
            <a:off x="9052560" y="2073859"/>
            <a:ext cx="41148" cy="41148"/>
          </a:xfrm>
          <a:prstGeom prst="ellipse">
            <a:avLst/>
          </a:prstGeom>
          <a:solidFill>
            <a:srgbClr val="FFFFFF"/>
          </a:solidFill>
          <a:ln>
            <a:noFill/>
          </a:ln>
          <a:effectLst/>
        </p:spPr>
        <p:txBody>
          <a:bodyPr rtlCol="0" anchor="ctr"/>
          <a:lstStyle/>
          <a:p>
            <a:endParaRPr lang="de-DE"/>
          </a:p>
        </p:txBody>
      </p:sp>
      <p:sp>
        <p:nvSpPr>
          <p:cNvPr id="167" name="Certificate Management Status Text"/>
          <p:cNvSpPr txBox="1"/>
          <p:nvPr/>
        </p:nvSpPr>
        <p:spPr>
          <a:xfrm>
            <a:off x="9144000" y="1993392"/>
            <a:ext cx="969264"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Product Carbon Footprint Status Pill"/>
          <p:cNvSpPr/>
          <p:nvPr/>
        </p:nvSpPr>
        <p:spPr>
          <a:xfrm>
            <a:off x="10387584" y="1993392"/>
            <a:ext cx="744322" cy="201168"/>
          </a:xfrm>
          <a:prstGeom prst="roundRect">
            <a:avLst>
              <a:gd name="adj" fmla="val 50000"/>
            </a:avLst>
          </a:prstGeom>
          <a:solidFill>
            <a:srgbClr val="53BE70"/>
          </a:solidFill>
          <a:ln>
            <a:noFill/>
          </a:ln>
          <a:effectLst/>
        </p:spPr>
        <p:txBody>
          <a:bodyPr rtlCol="0" anchor="ctr"/>
          <a:lstStyle/>
          <a:p>
            <a:endParaRPr lang="de-DE"/>
          </a:p>
        </p:txBody>
      </p:sp>
      <p:sp>
        <p:nvSpPr>
          <p:cNvPr id="169" name="Product Carbon Footprint Status Dot"/>
          <p:cNvSpPr/>
          <p:nvPr/>
        </p:nvSpPr>
        <p:spPr>
          <a:xfrm>
            <a:off x="10469880" y="2073859"/>
            <a:ext cx="41148" cy="41148"/>
          </a:xfrm>
          <a:prstGeom prst="ellipse">
            <a:avLst/>
          </a:prstGeom>
          <a:solidFill>
            <a:srgbClr val="FFFFFF"/>
          </a:solidFill>
          <a:ln>
            <a:noFill/>
          </a:ln>
          <a:effectLst/>
        </p:spPr>
        <p:txBody>
          <a:bodyPr rtlCol="0" anchor="ctr"/>
          <a:lstStyle/>
          <a:p>
            <a:endParaRPr lang="de-DE"/>
          </a:p>
        </p:txBody>
      </p:sp>
      <p:sp>
        <p:nvSpPr>
          <p:cNvPr id="170" name="Product Carbon Footprint Status Text"/>
          <p:cNvSpPr txBox="1"/>
          <p:nvPr/>
        </p:nvSpPr>
        <p:spPr>
          <a:xfrm>
            <a:off x="10561320" y="1993392"/>
            <a:ext cx="534010"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1" name="Row Divider Phase"/>
          <p:cNvSpPr/>
          <p:nvPr/>
        </p:nvSpPr>
        <p:spPr>
          <a:xfrm>
            <a:off x="1828800" y="2272937"/>
            <a:ext cx="9921240" cy="6401"/>
          </a:xfrm>
          <a:prstGeom prst="rect">
            <a:avLst/>
          </a:prstGeom>
          <a:solidFill>
            <a:srgbClr val="E2E8EC"/>
          </a:solidFill>
          <a:ln>
            <a:noFill/>
          </a:ln>
          <a:effectLst/>
        </p:spPr>
        <p:txBody>
          <a:bodyPr rtlCol="0" anchor="ctr"/>
          <a:lstStyle/>
          <a:p>
            <a:endParaRPr lang="de-DE"/>
          </a:p>
        </p:txBody>
      </p:sp>
      <p:sp>
        <p:nvSpPr>
          <p:cNvPr id="172" name="Row Label Phase"/>
          <p:cNvSpPr txBox="1"/>
          <p:nvPr/>
        </p:nvSpPr>
        <p:spPr>
          <a:xfrm>
            <a:off x="502920" y="2373521"/>
            <a:ext cx="1170432" cy="17896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PHASE</a:t>
            </a:r>
          </a:p>
        </p:txBody>
      </p:sp>
      <p:sp>
        <p:nvSpPr>
          <p:cNvPr id="173" name="Quality Phase"/>
          <p:cNvSpPr txBox="1"/>
          <p:nvPr/>
        </p:nvSpPr>
        <p:spPr>
          <a:xfrm>
            <a:off x="1883664" y="2373521"/>
            <a:ext cx="1307592" cy="150876"/>
          </a:xfrm>
          <a:prstGeom prst="rect">
            <a:avLst/>
          </a:prstGeom>
          <a:noFill/>
          <a:ln>
            <a:noFill/>
          </a:ln>
        </p:spPr>
        <p:txBody>
          <a:bodyPr wrap="square" lIns="0" tIns="0" rIns="0" bIns="0" rtlCol="0" anchor="t">
            <a:noAutofit/>
          </a:bodyPr>
          <a:lstStyle/>
          <a:p>
            <a:pPr marL="0" indent="0" algn="l">
              <a:buNone/>
            </a:pPr>
            <a:r>
              <a:rPr lang="de-DE" sz="900" b="1" kern="0" dirty="0">
                <a:solidFill>
                  <a:srgbClr val="151B21"/>
                </a:solidFill>
                <a:latin typeface="Segoe UI" pitchFamily="34" charset="0"/>
                <a:ea typeface="Segoe UI" pitchFamily="34" charset="-122"/>
                <a:cs typeface="Segoe UI" pitchFamily="34" charset="-120"/>
              </a:rPr>
              <a:t>Piloting</a:t>
            </a:r>
          </a:p>
        </p:txBody>
      </p:sp>
      <p:sp>
        <p:nvSpPr>
          <p:cNvPr id="174" name="Battery Passport Phase"/>
          <p:cNvSpPr txBox="1"/>
          <p:nvPr/>
        </p:nvSpPr>
        <p:spPr>
          <a:xfrm>
            <a:off x="3300984" y="2373521"/>
            <a:ext cx="1307592" cy="150876"/>
          </a:xfrm>
          <a:prstGeom prst="rect">
            <a:avLst/>
          </a:prstGeom>
          <a:noFill/>
          <a:ln>
            <a:noFill/>
          </a:ln>
        </p:spPr>
        <p:txBody>
          <a:bodyPr wrap="square" lIns="0" tIns="0" rIns="0" bIns="0" rtlCol="0" anchor="t">
            <a:noAutofit/>
          </a:bodyPr>
          <a:lstStyle/>
          <a:p>
            <a:pPr marL="0" indent="0" algn="l">
              <a:buNone/>
            </a:pPr>
            <a:r>
              <a:rPr lang="de-DE" sz="900" b="1" kern="0" dirty="0">
                <a:solidFill>
                  <a:srgbClr val="151B21"/>
                </a:solidFill>
                <a:latin typeface="Segoe UI" pitchFamily="34" charset="0"/>
                <a:ea typeface="Segoe UI" pitchFamily="34" charset="-122"/>
                <a:cs typeface="Segoe UI" pitchFamily="34" charset="-120"/>
              </a:rPr>
              <a:t>Pilot</a:t>
            </a:r>
          </a:p>
        </p:txBody>
      </p:sp>
      <p:sp>
        <p:nvSpPr>
          <p:cNvPr id="175" name="Product Passes Phase"/>
          <p:cNvSpPr txBox="1"/>
          <p:nvPr/>
        </p:nvSpPr>
        <p:spPr>
          <a:xfrm>
            <a:off x="4718304" y="2373521"/>
            <a:ext cx="1307592" cy="150876"/>
          </a:xfrm>
          <a:prstGeom prst="rect">
            <a:avLst/>
          </a:prstGeom>
          <a:noFill/>
          <a:ln>
            <a:noFill/>
          </a:ln>
        </p:spPr>
        <p:txBody>
          <a:bodyPr wrap="square" lIns="0" tIns="0" rIns="0" bIns="0" rtlCol="0" anchor="t">
            <a:noAutofit/>
          </a:bodyPr>
          <a:lstStyle/>
          <a:p>
            <a:pPr marL="0" indent="0" algn="l">
              <a:buNone/>
            </a:pPr>
            <a:r>
              <a:rPr lang="de-DE" sz="900" b="1" kern="0" dirty="0">
                <a:solidFill>
                  <a:srgbClr val="151B21"/>
                </a:solidFill>
                <a:latin typeface="Segoe UI" pitchFamily="34" charset="0"/>
                <a:ea typeface="Segoe UI" pitchFamily="34" charset="-122"/>
                <a:cs typeface="Segoe UI" pitchFamily="34" charset="-120"/>
              </a:rPr>
              <a:t>Definition</a:t>
            </a:r>
          </a:p>
        </p:txBody>
      </p:sp>
      <p:sp>
        <p:nvSpPr>
          <p:cNvPr id="176" name="PURIS Phase"/>
          <p:cNvSpPr txBox="1"/>
          <p:nvPr/>
        </p:nvSpPr>
        <p:spPr>
          <a:xfrm>
            <a:off x="6135624" y="2373521"/>
            <a:ext cx="1307592" cy="150876"/>
          </a:xfrm>
          <a:prstGeom prst="rect">
            <a:avLst/>
          </a:prstGeom>
          <a:noFill/>
          <a:ln>
            <a:noFill/>
          </a:ln>
        </p:spPr>
        <p:txBody>
          <a:bodyPr wrap="square" lIns="0" tIns="0" rIns="0" bIns="0" rtlCol="0" anchor="t">
            <a:noAutofit/>
          </a:bodyPr>
          <a:lstStyle/>
          <a:p>
            <a:pPr marL="0" indent="0" algn="l">
              <a:buNone/>
            </a:pPr>
            <a:r>
              <a:rPr lang="de-DE" sz="900" b="1" kern="0" dirty="0">
                <a:solidFill>
                  <a:srgbClr val="151B21"/>
                </a:solidFill>
                <a:latin typeface="Segoe UI" pitchFamily="34" charset="0"/>
                <a:ea typeface="Segoe UI" pitchFamily="34" charset="-122"/>
                <a:cs typeface="Segoe UI" pitchFamily="34" charset="-120"/>
              </a:rPr>
              <a:t>Piloting</a:t>
            </a:r>
          </a:p>
        </p:txBody>
      </p:sp>
      <p:sp>
        <p:nvSpPr>
          <p:cNvPr id="177" name="Business Partner Data Mgmt Phase"/>
          <p:cNvSpPr txBox="1"/>
          <p:nvPr/>
        </p:nvSpPr>
        <p:spPr>
          <a:xfrm>
            <a:off x="7552944" y="2373521"/>
            <a:ext cx="1307592" cy="150876"/>
          </a:xfrm>
          <a:prstGeom prst="rect">
            <a:avLst/>
          </a:prstGeom>
          <a:noFill/>
          <a:ln>
            <a:noFill/>
          </a:ln>
        </p:spPr>
        <p:txBody>
          <a:bodyPr wrap="square" lIns="0" tIns="0" rIns="0" bIns="0" rtlCol="0" anchor="t">
            <a:noAutofit/>
          </a:bodyPr>
          <a:lstStyle/>
          <a:p>
            <a:pPr marL="0" indent="0" algn="l">
              <a:buNone/>
            </a:pPr>
            <a:r>
              <a:rPr lang="de-DE" sz="900" b="1" kern="0" dirty="0">
                <a:solidFill>
                  <a:srgbClr val="151B21"/>
                </a:solidFill>
                <a:latin typeface="Segoe UI" pitchFamily="34" charset="0"/>
                <a:ea typeface="Segoe UI" pitchFamily="34" charset="-122"/>
                <a:cs typeface="Segoe UI" pitchFamily="34" charset="-120"/>
              </a:rPr>
              <a:t>Implementation</a:t>
            </a:r>
          </a:p>
        </p:txBody>
      </p:sp>
      <p:sp>
        <p:nvSpPr>
          <p:cNvPr id="178" name="Certificate Management Phase"/>
          <p:cNvSpPr txBox="1"/>
          <p:nvPr/>
        </p:nvSpPr>
        <p:spPr>
          <a:xfrm>
            <a:off x="8970264" y="2373521"/>
            <a:ext cx="1307592" cy="150876"/>
          </a:xfrm>
          <a:prstGeom prst="rect">
            <a:avLst/>
          </a:prstGeom>
          <a:noFill/>
          <a:ln>
            <a:noFill/>
          </a:ln>
        </p:spPr>
        <p:txBody>
          <a:bodyPr wrap="square" lIns="0" tIns="0" rIns="0" bIns="0" rtlCol="0" anchor="t">
            <a:noAutofit/>
          </a:bodyPr>
          <a:lstStyle/>
          <a:p>
            <a:pPr marL="0" indent="0" algn="l">
              <a:buNone/>
            </a:pPr>
            <a:r>
              <a:rPr lang="de-DE" sz="900" b="1" kern="0" dirty="0">
                <a:solidFill>
                  <a:srgbClr val="151B21"/>
                </a:solidFill>
                <a:latin typeface="Segoe UI" pitchFamily="34" charset="0"/>
                <a:ea typeface="Segoe UI" pitchFamily="34" charset="-122"/>
                <a:cs typeface="Segoe UI" pitchFamily="34" charset="-120"/>
              </a:rPr>
              <a:t>Scaling</a:t>
            </a:r>
          </a:p>
        </p:txBody>
      </p:sp>
      <p:sp>
        <p:nvSpPr>
          <p:cNvPr id="179" name="Product Carbon Footprint Phase"/>
          <p:cNvSpPr txBox="1"/>
          <p:nvPr/>
        </p:nvSpPr>
        <p:spPr>
          <a:xfrm>
            <a:off x="10387584" y="2373521"/>
            <a:ext cx="1307592" cy="150876"/>
          </a:xfrm>
          <a:prstGeom prst="rect">
            <a:avLst/>
          </a:prstGeom>
          <a:noFill/>
          <a:ln>
            <a:noFill/>
          </a:ln>
        </p:spPr>
        <p:txBody>
          <a:bodyPr wrap="square" lIns="0" tIns="0" rIns="0" bIns="0" rtlCol="0" anchor="t">
            <a:noAutofit/>
          </a:bodyPr>
          <a:lstStyle/>
          <a:p>
            <a:pPr marL="0" indent="0" algn="l">
              <a:buNone/>
            </a:pPr>
            <a:r>
              <a:rPr lang="de-DE" sz="900" b="1" kern="0" dirty="0">
                <a:solidFill>
                  <a:srgbClr val="151B21"/>
                </a:solidFill>
                <a:latin typeface="Segoe UI" pitchFamily="34" charset="0"/>
                <a:ea typeface="Segoe UI" pitchFamily="34" charset="-122"/>
                <a:cs typeface="Segoe UI" pitchFamily="34" charset="-120"/>
              </a:rPr>
              <a:t>Piloting</a:t>
            </a:r>
          </a:p>
        </p:txBody>
      </p:sp>
      <p:sp>
        <p:nvSpPr>
          <p:cNvPr id="180" name="Row Divider Next milestone"/>
          <p:cNvSpPr/>
          <p:nvPr/>
        </p:nvSpPr>
        <p:spPr>
          <a:xfrm>
            <a:off x="1828800" y="2598202"/>
            <a:ext cx="9921240" cy="6401"/>
          </a:xfrm>
          <a:prstGeom prst="rect">
            <a:avLst/>
          </a:prstGeom>
          <a:solidFill>
            <a:srgbClr val="E2E8EC"/>
          </a:solidFill>
          <a:ln>
            <a:noFill/>
          </a:ln>
          <a:effectLst/>
        </p:spPr>
        <p:txBody>
          <a:bodyPr rtlCol="0" anchor="ctr"/>
          <a:lstStyle/>
          <a:p>
            <a:endParaRPr lang="de-DE"/>
          </a:p>
        </p:txBody>
      </p:sp>
      <p:sp>
        <p:nvSpPr>
          <p:cNvPr id="181" name="Row Label Next milestone"/>
          <p:cNvSpPr txBox="1"/>
          <p:nvPr/>
        </p:nvSpPr>
        <p:spPr>
          <a:xfrm>
            <a:off x="502920" y="2698786"/>
            <a:ext cx="1170432" cy="61787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NEXT MILESTONE</a:t>
            </a:r>
          </a:p>
        </p:txBody>
      </p:sp>
      <p:sp>
        <p:nvSpPr>
          <p:cNvPr id="182" name="Quality Milestone Dot"/>
          <p:cNvSpPr/>
          <p:nvPr/>
        </p:nvSpPr>
        <p:spPr>
          <a:xfrm>
            <a:off x="1883664" y="2717074"/>
            <a:ext cx="109728" cy="109728"/>
          </a:xfrm>
          <a:prstGeom prst="ellipse">
            <a:avLst/>
          </a:prstGeom>
          <a:solidFill>
            <a:srgbClr val="F0B135"/>
          </a:solidFill>
          <a:ln w="19050">
            <a:solidFill>
              <a:srgbClr val="FFFFFF"/>
            </a:solidFill>
          </a:ln>
          <a:effectLst/>
        </p:spPr>
        <p:txBody>
          <a:bodyPr rtlCol="0" anchor="ctr"/>
          <a:lstStyle/>
          <a:p>
            <a:endParaRPr lang="de-DE"/>
          </a:p>
        </p:txBody>
      </p:sp>
      <p:sp>
        <p:nvSpPr>
          <p:cNvPr id="183" name="Quality Milestone"/>
          <p:cNvSpPr txBox="1"/>
          <p:nvPr/>
        </p:nvSpPr>
        <p:spPr>
          <a:xfrm>
            <a:off x="2048256" y="2698786"/>
            <a:ext cx="1143000" cy="63616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Domain expertise aligned</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30 Sep 2026</a:t>
            </a:r>
          </a:p>
        </p:txBody>
      </p:sp>
      <p:sp>
        <p:nvSpPr>
          <p:cNvPr id="184" name="Battery Passport Milestone Dot"/>
          <p:cNvSpPr/>
          <p:nvPr/>
        </p:nvSpPr>
        <p:spPr>
          <a:xfrm>
            <a:off x="3300984" y="2717074"/>
            <a:ext cx="109728" cy="109728"/>
          </a:xfrm>
          <a:prstGeom prst="ellipse">
            <a:avLst/>
          </a:prstGeom>
          <a:solidFill>
            <a:srgbClr val="53BE70"/>
          </a:solidFill>
          <a:ln w="19050">
            <a:solidFill>
              <a:srgbClr val="FFFFFF"/>
            </a:solidFill>
          </a:ln>
          <a:effectLst/>
        </p:spPr>
        <p:txBody>
          <a:bodyPr rtlCol="0" anchor="ctr"/>
          <a:lstStyle/>
          <a:p>
            <a:endParaRPr lang="de-DE"/>
          </a:p>
        </p:txBody>
      </p:sp>
      <p:sp>
        <p:nvSpPr>
          <p:cNvPr id="185" name="Battery Passport Milestone"/>
          <p:cNvSpPr txBox="1"/>
          <p:nvPr/>
        </p:nvSpPr>
        <p:spPr>
          <a:xfrm>
            <a:off x="3465576" y="2698786"/>
            <a:ext cx="1143000" cy="63616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Tech requirements done</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31 Oct 2026</a:t>
            </a:r>
          </a:p>
        </p:txBody>
      </p:sp>
      <p:sp>
        <p:nvSpPr>
          <p:cNvPr id="186" name="Product Passes Milestone Dot"/>
          <p:cNvSpPr/>
          <p:nvPr/>
        </p:nvSpPr>
        <p:spPr>
          <a:xfrm>
            <a:off x="4718304" y="2717074"/>
            <a:ext cx="109728" cy="109728"/>
          </a:xfrm>
          <a:prstGeom prst="ellipse">
            <a:avLst/>
          </a:prstGeom>
          <a:solidFill>
            <a:srgbClr val="F0B135"/>
          </a:solidFill>
          <a:ln w="19050">
            <a:solidFill>
              <a:srgbClr val="FFFFFF"/>
            </a:solidFill>
          </a:ln>
          <a:effectLst/>
        </p:spPr>
        <p:txBody>
          <a:bodyPr rtlCol="0" anchor="ctr"/>
          <a:lstStyle/>
          <a:p>
            <a:endParaRPr lang="de-DE"/>
          </a:p>
        </p:txBody>
      </p:sp>
      <p:sp>
        <p:nvSpPr>
          <p:cNvPr id="187" name="Product Passes Milestone"/>
          <p:cNvSpPr txBox="1"/>
          <p:nvPr/>
        </p:nvSpPr>
        <p:spPr>
          <a:xfrm>
            <a:off x="4882896" y="2698786"/>
            <a:ext cx="1143000" cy="63616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Klärung &amp; Prio Produktpässe</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31 Oct 2026</a:t>
            </a:r>
          </a:p>
        </p:txBody>
      </p:sp>
      <p:sp>
        <p:nvSpPr>
          <p:cNvPr id="188" name="PURIS Milestone Dot"/>
          <p:cNvSpPr/>
          <p:nvPr/>
        </p:nvSpPr>
        <p:spPr>
          <a:xfrm>
            <a:off x="6135624" y="2717074"/>
            <a:ext cx="109728" cy="109728"/>
          </a:xfrm>
          <a:prstGeom prst="ellipse">
            <a:avLst/>
          </a:prstGeom>
          <a:solidFill>
            <a:srgbClr val="F0B135"/>
          </a:solidFill>
          <a:ln w="19050">
            <a:solidFill>
              <a:srgbClr val="FFFFFF"/>
            </a:solidFill>
          </a:ln>
          <a:effectLst/>
        </p:spPr>
        <p:txBody>
          <a:bodyPr rtlCol="0" anchor="ctr"/>
          <a:lstStyle/>
          <a:p>
            <a:endParaRPr lang="de-DE"/>
          </a:p>
        </p:txBody>
      </p:sp>
      <p:sp>
        <p:nvSpPr>
          <p:cNvPr id="189" name="PURIS Milestone"/>
          <p:cNvSpPr txBox="1"/>
          <p:nvPr/>
        </p:nvSpPr>
        <p:spPr>
          <a:xfrm>
            <a:off x="6300216" y="2698786"/>
            <a:ext cx="1143000" cy="63616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Plan for existing challenges</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9 Oct 2026</a:t>
            </a:r>
          </a:p>
        </p:txBody>
      </p:sp>
      <p:sp>
        <p:nvSpPr>
          <p:cNvPr id="190" name="Business Partner Data Mgmt Milestone Dot"/>
          <p:cNvSpPr/>
          <p:nvPr/>
        </p:nvSpPr>
        <p:spPr>
          <a:xfrm>
            <a:off x="7552944" y="2717074"/>
            <a:ext cx="109728" cy="109728"/>
          </a:xfrm>
          <a:prstGeom prst="ellipse">
            <a:avLst/>
          </a:prstGeom>
          <a:solidFill>
            <a:srgbClr val="53BE70"/>
          </a:solidFill>
          <a:ln w="19050">
            <a:solidFill>
              <a:srgbClr val="FFFFFF"/>
            </a:solidFill>
          </a:ln>
          <a:effectLst/>
        </p:spPr>
        <p:txBody>
          <a:bodyPr rtlCol="0" anchor="ctr"/>
          <a:lstStyle/>
          <a:p>
            <a:endParaRPr lang="de-DE"/>
          </a:p>
        </p:txBody>
      </p:sp>
      <p:sp>
        <p:nvSpPr>
          <p:cNvPr id="191" name="Business Partner Data Mgmt Milestone"/>
          <p:cNvSpPr txBox="1"/>
          <p:nvPr/>
        </p:nvSpPr>
        <p:spPr>
          <a:xfrm>
            <a:off x="7717536" y="2698786"/>
            <a:ext cx="1143000" cy="63616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Define BPDM target picture</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31 Oct 2026</a:t>
            </a:r>
          </a:p>
        </p:txBody>
      </p:sp>
      <p:sp>
        <p:nvSpPr>
          <p:cNvPr id="192" name="Certificate Management Milestone Dot"/>
          <p:cNvSpPr/>
          <p:nvPr/>
        </p:nvSpPr>
        <p:spPr>
          <a:xfrm>
            <a:off x="8970264" y="2717074"/>
            <a:ext cx="109728" cy="109728"/>
          </a:xfrm>
          <a:prstGeom prst="ellipse">
            <a:avLst/>
          </a:prstGeom>
          <a:solidFill>
            <a:srgbClr val="53BE70"/>
          </a:solidFill>
          <a:ln w="19050">
            <a:solidFill>
              <a:srgbClr val="FFFFFF"/>
            </a:solidFill>
          </a:ln>
          <a:effectLst/>
        </p:spPr>
        <p:txBody>
          <a:bodyPr rtlCol="0" anchor="ctr"/>
          <a:lstStyle/>
          <a:p>
            <a:endParaRPr lang="de-DE"/>
          </a:p>
        </p:txBody>
      </p:sp>
      <p:sp>
        <p:nvSpPr>
          <p:cNvPr id="193" name="Certificate Management Milestone"/>
          <p:cNvSpPr txBox="1"/>
          <p:nvPr/>
        </p:nvSpPr>
        <p:spPr>
          <a:xfrm>
            <a:off x="9134856" y="2698786"/>
            <a:ext cx="1143000" cy="63616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Sep 2026</a:t>
            </a:r>
          </a:p>
        </p:txBody>
      </p:sp>
      <p:sp>
        <p:nvSpPr>
          <p:cNvPr id="194" name="Product Carbon Footprint Milestone Dot"/>
          <p:cNvSpPr/>
          <p:nvPr/>
        </p:nvSpPr>
        <p:spPr>
          <a:xfrm>
            <a:off x="10387584" y="2717074"/>
            <a:ext cx="109728" cy="109728"/>
          </a:xfrm>
          <a:prstGeom prst="ellipse">
            <a:avLst/>
          </a:prstGeom>
          <a:solidFill>
            <a:srgbClr val="53BE70"/>
          </a:solidFill>
          <a:ln w="19050">
            <a:solidFill>
              <a:srgbClr val="FFFFFF"/>
            </a:solidFill>
          </a:ln>
          <a:effectLst/>
        </p:spPr>
        <p:txBody>
          <a:bodyPr rtlCol="0" anchor="ctr"/>
          <a:lstStyle/>
          <a:p>
            <a:endParaRPr lang="de-DE"/>
          </a:p>
        </p:txBody>
      </p:sp>
      <p:sp>
        <p:nvSpPr>
          <p:cNvPr id="195" name="Product Carbon Footprint Milestone"/>
          <p:cNvSpPr txBox="1"/>
          <p:nvPr/>
        </p:nvSpPr>
        <p:spPr>
          <a:xfrm>
            <a:off x="10552176" y="2698786"/>
            <a:ext cx="1143000" cy="63616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Supplier activation pilot 1</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15 Oct 2026</a:t>
            </a:r>
          </a:p>
        </p:txBody>
      </p:sp>
      <p:sp>
        <p:nvSpPr>
          <p:cNvPr id="196" name="Row Divider Dimensions"/>
          <p:cNvSpPr/>
          <p:nvPr/>
        </p:nvSpPr>
        <p:spPr>
          <a:xfrm>
            <a:off x="1828800" y="3362379"/>
            <a:ext cx="9921240" cy="6401"/>
          </a:xfrm>
          <a:prstGeom prst="rect">
            <a:avLst/>
          </a:prstGeom>
          <a:solidFill>
            <a:srgbClr val="E2E8EC"/>
          </a:solidFill>
          <a:ln>
            <a:noFill/>
          </a:ln>
          <a:effectLst/>
        </p:spPr>
        <p:txBody>
          <a:bodyPr rtlCol="0" anchor="ctr"/>
          <a:lstStyle/>
          <a:p>
            <a:endParaRPr lang="de-DE"/>
          </a:p>
        </p:txBody>
      </p:sp>
      <p:sp>
        <p:nvSpPr>
          <p:cNvPr id="197" name="Row Label Dimensions"/>
          <p:cNvSpPr txBox="1"/>
          <p:nvPr/>
        </p:nvSpPr>
        <p:spPr>
          <a:xfrm>
            <a:off x="502920" y="3462963"/>
            <a:ext cx="1170432" cy="98363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DIMENSIONS</a:t>
            </a:r>
          </a:p>
        </p:txBody>
      </p:sp>
      <p:sp>
        <p:nvSpPr>
          <p:cNvPr id="198" name="Quality Dim Dot External · CX Association"/>
          <p:cNvSpPr/>
          <p:nvPr/>
        </p:nvSpPr>
        <p:spPr>
          <a:xfrm>
            <a:off x="1883664" y="3499539"/>
            <a:ext cx="82296" cy="82296"/>
          </a:xfrm>
          <a:prstGeom prst="ellipse">
            <a:avLst/>
          </a:prstGeom>
          <a:solidFill>
            <a:srgbClr val="53BE70"/>
          </a:solidFill>
          <a:ln>
            <a:noFill/>
          </a:ln>
          <a:effectLst/>
        </p:spPr>
        <p:txBody>
          <a:bodyPr rtlCol="0" anchor="ctr"/>
          <a:lstStyle/>
          <a:p>
            <a:endParaRPr lang="de-DE"/>
          </a:p>
        </p:txBody>
      </p:sp>
      <p:sp>
        <p:nvSpPr>
          <p:cNvPr id="199" name="Quality Dim External · CX Association"/>
          <p:cNvSpPr txBox="1"/>
          <p:nvPr/>
        </p:nvSpPr>
        <p:spPr>
          <a:xfrm>
            <a:off x="2020824" y="3462963"/>
            <a:ext cx="1170432"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00" name="Quality Dim Dot Business"/>
          <p:cNvSpPr/>
          <p:nvPr/>
        </p:nvSpPr>
        <p:spPr>
          <a:xfrm>
            <a:off x="1883664" y="3819579"/>
            <a:ext cx="82296" cy="82296"/>
          </a:xfrm>
          <a:prstGeom prst="ellipse">
            <a:avLst/>
          </a:prstGeom>
          <a:solidFill>
            <a:srgbClr val="F0B135"/>
          </a:solidFill>
          <a:ln>
            <a:noFill/>
          </a:ln>
          <a:effectLst/>
        </p:spPr>
        <p:txBody>
          <a:bodyPr rtlCol="0" anchor="ctr"/>
          <a:lstStyle/>
          <a:p>
            <a:endParaRPr lang="de-DE"/>
          </a:p>
        </p:txBody>
      </p:sp>
      <p:sp>
        <p:nvSpPr>
          <p:cNvPr id="201" name="Quality Dim Business"/>
          <p:cNvSpPr txBox="1"/>
          <p:nvPr/>
        </p:nvSpPr>
        <p:spPr>
          <a:xfrm>
            <a:off x="2020824" y="3783003"/>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02" name="Quality Dim Dot Data Provisioning"/>
          <p:cNvSpPr/>
          <p:nvPr/>
        </p:nvSpPr>
        <p:spPr>
          <a:xfrm>
            <a:off x="1883664" y="3988743"/>
            <a:ext cx="82296" cy="82296"/>
          </a:xfrm>
          <a:prstGeom prst="ellipse">
            <a:avLst/>
          </a:prstGeom>
          <a:solidFill>
            <a:srgbClr val="F0B135"/>
          </a:solidFill>
          <a:ln>
            <a:noFill/>
          </a:ln>
          <a:effectLst/>
        </p:spPr>
        <p:txBody>
          <a:bodyPr rtlCol="0" anchor="ctr"/>
          <a:lstStyle/>
          <a:p>
            <a:endParaRPr lang="de-DE"/>
          </a:p>
        </p:txBody>
      </p:sp>
      <p:sp>
        <p:nvSpPr>
          <p:cNvPr id="203" name="Quality Dim Data Provisioning"/>
          <p:cNvSpPr txBox="1"/>
          <p:nvPr/>
        </p:nvSpPr>
        <p:spPr>
          <a:xfrm>
            <a:off x="2020824" y="3952167"/>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04" name="Quality Dim Dot Technical"/>
          <p:cNvSpPr/>
          <p:nvPr/>
        </p:nvSpPr>
        <p:spPr>
          <a:xfrm>
            <a:off x="1883664" y="4157907"/>
            <a:ext cx="82296" cy="82296"/>
          </a:xfrm>
          <a:prstGeom prst="ellipse">
            <a:avLst/>
          </a:prstGeom>
          <a:solidFill>
            <a:srgbClr val="F0B135"/>
          </a:solidFill>
          <a:ln>
            <a:noFill/>
          </a:ln>
          <a:effectLst/>
        </p:spPr>
        <p:txBody>
          <a:bodyPr rtlCol="0" anchor="ctr"/>
          <a:lstStyle/>
          <a:p>
            <a:endParaRPr lang="de-DE"/>
          </a:p>
        </p:txBody>
      </p:sp>
      <p:sp>
        <p:nvSpPr>
          <p:cNvPr id="205" name="Quality Dim Technical"/>
          <p:cNvSpPr txBox="1"/>
          <p:nvPr/>
        </p:nvSpPr>
        <p:spPr>
          <a:xfrm>
            <a:off x="2020824" y="4121331"/>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06" name="Quality Dim Dot Supplier Activation"/>
          <p:cNvSpPr/>
          <p:nvPr/>
        </p:nvSpPr>
        <p:spPr>
          <a:xfrm>
            <a:off x="1883664" y="4327071"/>
            <a:ext cx="82296" cy="82296"/>
          </a:xfrm>
          <a:prstGeom prst="ellipse">
            <a:avLst/>
          </a:prstGeom>
          <a:solidFill>
            <a:srgbClr val="F0B135"/>
          </a:solidFill>
          <a:ln>
            <a:noFill/>
          </a:ln>
          <a:effectLst/>
        </p:spPr>
        <p:txBody>
          <a:bodyPr rtlCol="0" anchor="ctr"/>
          <a:lstStyle/>
          <a:p>
            <a:endParaRPr lang="de-DE"/>
          </a:p>
        </p:txBody>
      </p:sp>
      <p:sp>
        <p:nvSpPr>
          <p:cNvPr id="207" name="Quality Dim Supplier Activation"/>
          <p:cNvSpPr txBox="1"/>
          <p:nvPr/>
        </p:nvSpPr>
        <p:spPr>
          <a:xfrm>
            <a:off x="2020824" y="4290495"/>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08" name="Battery Passport Dim Dot External · CX Association"/>
          <p:cNvSpPr/>
          <p:nvPr/>
        </p:nvSpPr>
        <p:spPr>
          <a:xfrm>
            <a:off x="3300984" y="3499539"/>
            <a:ext cx="82296" cy="82296"/>
          </a:xfrm>
          <a:prstGeom prst="ellipse">
            <a:avLst/>
          </a:prstGeom>
          <a:solidFill>
            <a:srgbClr val="F0B135"/>
          </a:solidFill>
          <a:ln>
            <a:noFill/>
          </a:ln>
          <a:effectLst/>
        </p:spPr>
        <p:txBody>
          <a:bodyPr rtlCol="0" anchor="ctr"/>
          <a:lstStyle/>
          <a:p>
            <a:endParaRPr lang="de-DE"/>
          </a:p>
        </p:txBody>
      </p:sp>
      <p:sp>
        <p:nvSpPr>
          <p:cNvPr id="209" name="Battery Passport Dim External · CX Association"/>
          <p:cNvSpPr txBox="1"/>
          <p:nvPr/>
        </p:nvSpPr>
        <p:spPr>
          <a:xfrm>
            <a:off x="3438144" y="3462963"/>
            <a:ext cx="1170432"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10" name="Battery Passport Dim Dot Business"/>
          <p:cNvSpPr/>
          <p:nvPr/>
        </p:nvSpPr>
        <p:spPr>
          <a:xfrm>
            <a:off x="3300984" y="3819579"/>
            <a:ext cx="82296" cy="82296"/>
          </a:xfrm>
          <a:prstGeom prst="ellipse">
            <a:avLst/>
          </a:prstGeom>
          <a:solidFill>
            <a:srgbClr val="F0B135"/>
          </a:solidFill>
          <a:ln>
            <a:noFill/>
          </a:ln>
          <a:effectLst/>
        </p:spPr>
        <p:txBody>
          <a:bodyPr rtlCol="0" anchor="ctr"/>
          <a:lstStyle/>
          <a:p>
            <a:endParaRPr lang="de-DE"/>
          </a:p>
        </p:txBody>
      </p:sp>
      <p:sp>
        <p:nvSpPr>
          <p:cNvPr id="211" name="Battery Passport Dim Business"/>
          <p:cNvSpPr txBox="1"/>
          <p:nvPr/>
        </p:nvSpPr>
        <p:spPr>
          <a:xfrm>
            <a:off x="3438144" y="3783003"/>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12" name="Battery Passport Dim Dot Data Provisioning"/>
          <p:cNvSpPr/>
          <p:nvPr/>
        </p:nvSpPr>
        <p:spPr>
          <a:xfrm>
            <a:off x="3300984" y="3988743"/>
            <a:ext cx="82296" cy="82296"/>
          </a:xfrm>
          <a:prstGeom prst="ellipse">
            <a:avLst/>
          </a:prstGeom>
          <a:solidFill>
            <a:srgbClr val="53BE70"/>
          </a:solidFill>
          <a:ln>
            <a:noFill/>
          </a:ln>
          <a:effectLst/>
        </p:spPr>
        <p:txBody>
          <a:bodyPr rtlCol="0" anchor="ctr"/>
          <a:lstStyle/>
          <a:p>
            <a:endParaRPr lang="de-DE"/>
          </a:p>
        </p:txBody>
      </p:sp>
      <p:sp>
        <p:nvSpPr>
          <p:cNvPr id="213" name="Battery Passport Dim Data Provisioning"/>
          <p:cNvSpPr txBox="1"/>
          <p:nvPr/>
        </p:nvSpPr>
        <p:spPr>
          <a:xfrm>
            <a:off x="3438144" y="3952167"/>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14" name="Battery Passport Dim Dot Technical"/>
          <p:cNvSpPr/>
          <p:nvPr/>
        </p:nvSpPr>
        <p:spPr>
          <a:xfrm>
            <a:off x="3300984" y="4157907"/>
            <a:ext cx="82296" cy="82296"/>
          </a:xfrm>
          <a:prstGeom prst="ellipse">
            <a:avLst/>
          </a:prstGeom>
          <a:solidFill>
            <a:srgbClr val="53BE70"/>
          </a:solidFill>
          <a:ln>
            <a:noFill/>
          </a:ln>
          <a:effectLst/>
        </p:spPr>
        <p:txBody>
          <a:bodyPr rtlCol="0" anchor="ctr"/>
          <a:lstStyle/>
          <a:p>
            <a:endParaRPr lang="de-DE"/>
          </a:p>
        </p:txBody>
      </p:sp>
      <p:sp>
        <p:nvSpPr>
          <p:cNvPr id="215" name="Battery Passport Dim Technical"/>
          <p:cNvSpPr txBox="1"/>
          <p:nvPr/>
        </p:nvSpPr>
        <p:spPr>
          <a:xfrm>
            <a:off x="3438144" y="4121331"/>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16" name="Battery Passport Dim Dot Supplier Activation"/>
          <p:cNvSpPr/>
          <p:nvPr/>
        </p:nvSpPr>
        <p:spPr>
          <a:xfrm>
            <a:off x="3300984" y="4327071"/>
            <a:ext cx="82296" cy="82296"/>
          </a:xfrm>
          <a:prstGeom prst="ellipse">
            <a:avLst/>
          </a:prstGeom>
          <a:solidFill>
            <a:srgbClr val="53BE70"/>
          </a:solidFill>
          <a:ln>
            <a:noFill/>
          </a:ln>
          <a:effectLst/>
        </p:spPr>
        <p:txBody>
          <a:bodyPr rtlCol="0" anchor="ctr"/>
          <a:lstStyle/>
          <a:p>
            <a:endParaRPr lang="de-DE"/>
          </a:p>
        </p:txBody>
      </p:sp>
      <p:sp>
        <p:nvSpPr>
          <p:cNvPr id="217" name="Battery Passport Dim Supplier Activation"/>
          <p:cNvSpPr txBox="1"/>
          <p:nvPr/>
        </p:nvSpPr>
        <p:spPr>
          <a:xfrm>
            <a:off x="3438144" y="4290495"/>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18" name="Product Passes Dim Dot External · CX Association"/>
          <p:cNvSpPr/>
          <p:nvPr/>
        </p:nvSpPr>
        <p:spPr>
          <a:xfrm>
            <a:off x="4718304" y="3499539"/>
            <a:ext cx="82296" cy="82296"/>
          </a:xfrm>
          <a:prstGeom prst="ellipse">
            <a:avLst/>
          </a:prstGeom>
          <a:solidFill>
            <a:srgbClr val="F0B135"/>
          </a:solidFill>
          <a:ln>
            <a:noFill/>
          </a:ln>
          <a:effectLst/>
        </p:spPr>
        <p:txBody>
          <a:bodyPr rtlCol="0" anchor="ctr"/>
          <a:lstStyle/>
          <a:p>
            <a:endParaRPr lang="de-DE"/>
          </a:p>
        </p:txBody>
      </p:sp>
      <p:sp>
        <p:nvSpPr>
          <p:cNvPr id="219" name="Product Passes Dim External · CX Association"/>
          <p:cNvSpPr txBox="1"/>
          <p:nvPr/>
        </p:nvSpPr>
        <p:spPr>
          <a:xfrm>
            <a:off x="4855464" y="3462963"/>
            <a:ext cx="1170432"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0" name="Product Passes Dim Dot Business"/>
          <p:cNvSpPr/>
          <p:nvPr/>
        </p:nvSpPr>
        <p:spPr>
          <a:xfrm>
            <a:off x="4718304" y="3819579"/>
            <a:ext cx="82296" cy="82296"/>
          </a:xfrm>
          <a:prstGeom prst="ellipse">
            <a:avLst/>
          </a:prstGeom>
          <a:solidFill>
            <a:srgbClr val="F0B135"/>
          </a:solidFill>
          <a:ln>
            <a:noFill/>
          </a:ln>
          <a:effectLst/>
        </p:spPr>
        <p:txBody>
          <a:bodyPr rtlCol="0" anchor="ctr"/>
          <a:lstStyle/>
          <a:p>
            <a:endParaRPr lang="de-DE"/>
          </a:p>
        </p:txBody>
      </p:sp>
      <p:sp>
        <p:nvSpPr>
          <p:cNvPr id="221" name="Product Passes Dim Business"/>
          <p:cNvSpPr txBox="1"/>
          <p:nvPr/>
        </p:nvSpPr>
        <p:spPr>
          <a:xfrm>
            <a:off x="4855464" y="3783003"/>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2" name="Product Passes Dim Dot Data Provisioning"/>
          <p:cNvSpPr/>
          <p:nvPr/>
        </p:nvSpPr>
        <p:spPr>
          <a:xfrm>
            <a:off x="4718304" y="3988743"/>
            <a:ext cx="82296" cy="82296"/>
          </a:xfrm>
          <a:prstGeom prst="ellipse">
            <a:avLst/>
          </a:prstGeom>
          <a:solidFill>
            <a:srgbClr val="53BE70"/>
          </a:solidFill>
          <a:ln>
            <a:noFill/>
          </a:ln>
          <a:effectLst/>
        </p:spPr>
        <p:txBody>
          <a:bodyPr rtlCol="0" anchor="ctr"/>
          <a:lstStyle/>
          <a:p>
            <a:endParaRPr lang="de-DE"/>
          </a:p>
        </p:txBody>
      </p:sp>
      <p:sp>
        <p:nvSpPr>
          <p:cNvPr id="223" name="Product Passes Dim Data Provisioning"/>
          <p:cNvSpPr txBox="1"/>
          <p:nvPr/>
        </p:nvSpPr>
        <p:spPr>
          <a:xfrm>
            <a:off x="4855464" y="3952167"/>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24" name="Product Passes Dim Dot Technical"/>
          <p:cNvSpPr/>
          <p:nvPr/>
        </p:nvSpPr>
        <p:spPr>
          <a:xfrm>
            <a:off x="4718304" y="4157907"/>
            <a:ext cx="82296" cy="82296"/>
          </a:xfrm>
          <a:prstGeom prst="ellipse">
            <a:avLst/>
          </a:prstGeom>
          <a:solidFill>
            <a:srgbClr val="53BE70"/>
          </a:solidFill>
          <a:ln>
            <a:noFill/>
          </a:ln>
          <a:effectLst/>
        </p:spPr>
        <p:txBody>
          <a:bodyPr rtlCol="0" anchor="ctr"/>
          <a:lstStyle/>
          <a:p>
            <a:endParaRPr lang="de-DE"/>
          </a:p>
        </p:txBody>
      </p:sp>
      <p:sp>
        <p:nvSpPr>
          <p:cNvPr id="225" name="Product Passes Dim Technical"/>
          <p:cNvSpPr txBox="1"/>
          <p:nvPr/>
        </p:nvSpPr>
        <p:spPr>
          <a:xfrm>
            <a:off x="4855464" y="4121331"/>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6" name="Product Passes Dim Dot Supplier Activation"/>
          <p:cNvSpPr/>
          <p:nvPr/>
        </p:nvSpPr>
        <p:spPr>
          <a:xfrm>
            <a:off x="4718304" y="4327071"/>
            <a:ext cx="82296" cy="82296"/>
          </a:xfrm>
          <a:prstGeom prst="ellipse">
            <a:avLst/>
          </a:prstGeom>
          <a:solidFill>
            <a:srgbClr val="53BE70"/>
          </a:solidFill>
          <a:ln>
            <a:noFill/>
          </a:ln>
          <a:effectLst/>
        </p:spPr>
        <p:txBody>
          <a:bodyPr rtlCol="0" anchor="ctr"/>
          <a:lstStyle/>
          <a:p>
            <a:endParaRPr lang="de-DE"/>
          </a:p>
        </p:txBody>
      </p:sp>
      <p:sp>
        <p:nvSpPr>
          <p:cNvPr id="227" name="Product Passes Dim Supplier Activation"/>
          <p:cNvSpPr txBox="1"/>
          <p:nvPr/>
        </p:nvSpPr>
        <p:spPr>
          <a:xfrm>
            <a:off x="4855464" y="4290495"/>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28" name="PURIS Dim Dot External · CX Association"/>
          <p:cNvSpPr/>
          <p:nvPr/>
        </p:nvSpPr>
        <p:spPr>
          <a:xfrm>
            <a:off x="6135624" y="3499539"/>
            <a:ext cx="82296" cy="82296"/>
          </a:xfrm>
          <a:prstGeom prst="ellipse">
            <a:avLst/>
          </a:prstGeom>
          <a:solidFill>
            <a:srgbClr val="53BE70"/>
          </a:solidFill>
          <a:ln>
            <a:noFill/>
          </a:ln>
          <a:effectLst/>
        </p:spPr>
        <p:txBody>
          <a:bodyPr rtlCol="0" anchor="ctr"/>
          <a:lstStyle/>
          <a:p>
            <a:endParaRPr lang="de-DE"/>
          </a:p>
        </p:txBody>
      </p:sp>
      <p:sp>
        <p:nvSpPr>
          <p:cNvPr id="229" name="PURIS Dim External · CX Association"/>
          <p:cNvSpPr txBox="1"/>
          <p:nvPr/>
        </p:nvSpPr>
        <p:spPr>
          <a:xfrm>
            <a:off x="6272784" y="3462963"/>
            <a:ext cx="1170432"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0" name="PURIS Dim Dot Business"/>
          <p:cNvSpPr/>
          <p:nvPr/>
        </p:nvSpPr>
        <p:spPr>
          <a:xfrm>
            <a:off x="6135624" y="3819579"/>
            <a:ext cx="82296" cy="82296"/>
          </a:xfrm>
          <a:prstGeom prst="ellipse">
            <a:avLst/>
          </a:prstGeom>
          <a:solidFill>
            <a:srgbClr val="F0B135"/>
          </a:solidFill>
          <a:ln>
            <a:noFill/>
          </a:ln>
          <a:effectLst/>
        </p:spPr>
        <p:txBody>
          <a:bodyPr rtlCol="0" anchor="ctr"/>
          <a:lstStyle/>
          <a:p>
            <a:endParaRPr lang="de-DE"/>
          </a:p>
        </p:txBody>
      </p:sp>
      <p:sp>
        <p:nvSpPr>
          <p:cNvPr id="231" name="PURIS Dim Business"/>
          <p:cNvSpPr txBox="1"/>
          <p:nvPr/>
        </p:nvSpPr>
        <p:spPr>
          <a:xfrm>
            <a:off x="6272784" y="3783003"/>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2" name="PURIS Dim Dot Data Provisioning"/>
          <p:cNvSpPr/>
          <p:nvPr/>
        </p:nvSpPr>
        <p:spPr>
          <a:xfrm>
            <a:off x="6135624" y="3988743"/>
            <a:ext cx="82296" cy="82296"/>
          </a:xfrm>
          <a:prstGeom prst="ellipse">
            <a:avLst/>
          </a:prstGeom>
          <a:solidFill>
            <a:srgbClr val="F0B135"/>
          </a:solidFill>
          <a:ln>
            <a:noFill/>
          </a:ln>
          <a:effectLst/>
        </p:spPr>
        <p:txBody>
          <a:bodyPr rtlCol="0" anchor="ctr"/>
          <a:lstStyle/>
          <a:p>
            <a:endParaRPr lang="de-DE"/>
          </a:p>
        </p:txBody>
      </p:sp>
      <p:sp>
        <p:nvSpPr>
          <p:cNvPr id="233" name="PURIS Dim Data Provisioning"/>
          <p:cNvSpPr txBox="1"/>
          <p:nvPr/>
        </p:nvSpPr>
        <p:spPr>
          <a:xfrm>
            <a:off x="6272784" y="3952167"/>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34" name="PURIS Dim Dot Technical"/>
          <p:cNvSpPr/>
          <p:nvPr/>
        </p:nvSpPr>
        <p:spPr>
          <a:xfrm>
            <a:off x="6135624" y="4157907"/>
            <a:ext cx="82296" cy="82296"/>
          </a:xfrm>
          <a:prstGeom prst="ellipse">
            <a:avLst/>
          </a:prstGeom>
          <a:solidFill>
            <a:srgbClr val="F0B135"/>
          </a:solidFill>
          <a:ln>
            <a:noFill/>
          </a:ln>
          <a:effectLst/>
        </p:spPr>
        <p:txBody>
          <a:bodyPr rtlCol="0" anchor="ctr"/>
          <a:lstStyle/>
          <a:p>
            <a:endParaRPr lang="de-DE"/>
          </a:p>
        </p:txBody>
      </p:sp>
      <p:sp>
        <p:nvSpPr>
          <p:cNvPr id="235" name="PURIS Dim Technical"/>
          <p:cNvSpPr txBox="1"/>
          <p:nvPr/>
        </p:nvSpPr>
        <p:spPr>
          <a:xfrm>
            <a:off x="6272784" y="4121331"/>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6" name="PURIS Dim Dot Supplier Activation"/>
          <p:cNvSpPr/>
          <p:nvPr/>
        </p:nvSpPr>
        <p:spPr>
          <a:xfrm>
            <a:off x="6135624" y="4327071"/>
            <a:ext cx="82296" cy="82296"/>
          </a:xfrm>
          <a:prstGeom prst="ellipse">
            <a:avLst/>
          </a:prstGeom>
          <a:solidFill>
            <a:srgbClr val="F0B135"/>
          </a:solidFill>
          <a:ln>
            <a:noFill/>
          </a:ln>
          <a:effectLst/>
        </p:spPr>
        <p:txBody>
          <a:bodyPr rtlCol="0" anchor="ctr"/>
          <a:lstStyle/>
          <a:p>
            <a:endParaRPr lang="de-DE"/>
          </a:p>
        </p:txBody>
      </p:sp>
      <p:sp>
        <p:nvSpPr>
          <p:cNvPr id="237" name="PURIS Dim Supplier Activation"/>
          <p:cNvSpPr txBox="1"/>
          <p:nvPr/>
        </p:nvSpPr>
        <p:spPr>
          <a:xfrm>
            <a:off x="6272784" y="4290495"/>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38" name="Business Partner Data Mgmt Dim Dot External · CX Association"/>
          <p:cNvSpPr/>
          <p:nvPr/>
        </p:nvSpPr>
        <p:spPr>
          <a:xfrm>
            <a:off x="7552944" y="3499539"/>
            <a:ext cx="82296" cy="82296"/>
          </a:xfrm>
          <a:prstGeom prst="ellipse">
            <a:avLst/>
          </a:prstGeom>
          <a:solidFill>
            <a:srgbClr val="F0B135"/>
          </a:solidFill>
          <a:ln>
            <a:noFill/>
          </a:ln>
          <a:effectLst/>
        </p:spPr>
        <p:txBody>
          <a:bodyPr rtlCol="0" anchor="ctr"/>
          <a:lstStyle/>
          <a:p>
            <a:endParaRPr lang="de-DE"/>
          </a:p>
        </p:txBody>
      </p:sp>
      <p:sp>
        <p:nvSpPr>
          <p:cNvPr id="239" name="Business Partner Data Mgmt Dim External · CX Association"/>
          <p:cNvSpPr txBox="1"/>
          <p:nvPr/>
        </p:nvSpPr>
        <p:spPr>
          <a:xfrm>
            <a:off x="7690104" y="3462963"/>
            <a:ext cx="1170432"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0" name="Business Partner Data Mgmt Dim Dot Business"/>
          <p:cNvSpPr/>
          <p:nvPr/>
        </p:nvSpPr>
        <p:spPr>
          <a:xfrm>
            <a:off x="7552944" y="3819579"/>
            <a:ext cx="82296" cy="82296"/>
          </a:xfrm>
          <a:prstGeom prst="ellipse">
            <a:avLst/>
          </a:prstGeom>
          <a:solidFill>
            <a:srgbClr val="F0B135"/>
          </a:solidFill>
          <a:ln>
            <a:noFill/>
          </a:ln>
          <a:effectLst/>
        </p:spPr>
        <p:txBody>
          <a:bodyPr rtlCol="0" anchor="ctr"/>
          <a:lstStyle/>
          <a:p>
            <a:endParaRPr lang="de-DE"/>
          </a:p>
        </p:txBody>
      </p:sp>
      <p:sp>
        <p:nvSpPr>
          <p:cNvPr id="241" name="Business Partner Data Mgmt Dim Business"/>
          <p:cNvSpPr txBox="1"/>
          <p:nvPr/>
        </p:nvSpPr>
        <p:spPr>
          <a:xfrm>
            <a:off x="7690104" y="3783003"/>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2" name="Business Partner Data Mgmt Dim Dot Data Provisioning"/>
          <p:cNvSpPr/>
          <p:nvPr/>
        </p:nvSpPr>
        <p:spPr>
          <a:xfrm>
            <a:off x="7552944" y="3988743"/>
            <a:ext cx="82296" cy="82296"/>
          </a:xfrm>
          <a:prstGeom prst="ellipse">
            <a:avLst/>
          </a:prstGeom>
          <a:solidFill>
            <a:srgbClr val="53BE70"/>
          </a:solidFill>
          <a:ln>
            <a:noFill/>
          </a:ln>
          <a:effectLst/>
        </p:spPr>
        <p:txBody>
          <a:bodyPr rtlCol="0" anchor="ctr"/>
          <a:lstStyle/>
          <a:p>
            <a:endParaRPr lang="de-DE"/>
          </a:p>
        </p:txBody>
      </p:sp>
      <p:sp>
        <p:nvSpPr>
          <p:cNvPr id="243" name="Business Partner Data Mgmt Dim Data Provisioning"/>
          <p:cNvSpPr txBox="1"/>
          <p:nvPr/>
        </p:nvSpPr>
        <p:spPr>
          <a:xfrm>
            <a:off x="7690104" y="3952167"/>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44" name="Business Partner Data Mgmt Dim Dot Technical"/>
          <p:cNvSpPr/>
          <p:nvPr/>
        </p:nvSpPr>
        <p:spPr>
          <a:xfrm>
            <a:off x="7552944" y="4157907"/>
            <a:ext cx="82296" cy="82296"/>
          </a:xfrm>
          <a:prstGeom prst="ellipse">
            <a:avLst/>
          </a:prstGeom>
          <a:solidFill>
            <a:srgbClr val="F0B135"/>
          </a:solidFill>
          <a:ln>
            <a:noFill/>
          </a:ln>
          <a:effectLst/>
        </p:spPr>
        <p:txBody>
          <a:bodyPr rtlCol="0" anchor="ctr"/>
          <a:lstStyle/>
          <a:p>
            <a:endParaRPr lang="de-DE"/>
          </a:p>
        </p:txBody>
      </p:sp>
      <p:sp>
        <p:nvSpPr>
          <p:cNvPr id="245" name="Business Partner Data Mgmt Dim Technical"/>
          <p:cNvSpPr txBox="1"/>
          <p:nvPr/>
        </p:nvSpPr>
        <p:spPr>
          <a:xfrm>
            <a:off x="7690104" y="4121331"/>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6" name="Business Partner Data Mgmt Dim Dot Supplier Activation"/>
          <p:cNvSpPr/>
          <p:nvPr/>
        </p:nvSpPr>
        <p:spPr>
          <a:xfrm>
            <a:off x="7552944" y="4327071"/>
            <a:ext cx="82296" cy="82296"/>
          </a:xfrm>
          <a:prstGeom prst="ellipse">
            <a:avLst/>
          </a:prstGeom>
          <a:solidFill>
            <a:srgbClr val="CFD6DB"/>
          </a:solidFill>
          <a:ln>
            <a:noFill/>
          </a:ln>
          <a:effectLst/>
        </p:spPr>
        <p:txBody>
          <a:bodyPr rtlCol="0" anchor="ctr"/>
          <a:lstStyle/>
          <a:p>
            <a:endParaRPr lang="de-DE"/>
          </a:p>
        </p:txBody>
      </p:sp>
      <p:sp>
        <p:nvSpPr>
          <p:cNvPr id="247" name="Business Partner Data Mgmt Dim Supplier Activation"/>
          <p:cNvSpPr txBox="1"/>
          <p:nvPr/>
        </p:nvSpPr>
        <p:spPr>
          <a:xfrm>
            <a:off x="7690104" y="4290495"/>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48" name="Certificate Management Dim Dot External · CX Association"/>
          <p:cNvSpPr/>
          <p:nvPr/>
        </p:nvSpPr>
        <p:spPr>
          <a:xfrm>
            <a:off x="8970264" y="3499539"/>
            <a:ext cx="82296" cy="82296"/>
          </a:xfrm>
          <a:prstGeom prst="ellipse">
            <a:avLst/>
          </a:prstGeom>
          <a:solidFill>
            <a:srgbClr val="F0B135"/>
          </a:solidFill>
          <a:ln>
            <a:noFill/>
          </a:ln>
          <a:effectLst/>
        </p:spPr>
        <p:txBody>
          <a:bodyPr rtlCol="0" anchor="ctr"/>
          <a:lstStyle/>
          <a:p>
            <a:endParaRPr lang="de-DE"/>
          </a:p>
        </p:txBody>
      </p:sp>
      <p:sp>
        <p:nvSpPr>
          <p:cNvPr id="249" name="Certificate Management Dim External · CX Association"/>
          <p:cNvSpPr txBox="1"/>
          <p:nvPr/>
        </p:nvSpPr>
        <p:spPr>
          <a:xfrm>
            <a:off x="9107424" y="3462963"/>
            <a:ext cx="1170432"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0" name="Certificate Management Dim Dot Business"/>
          <p:cNvSpPr/>
          <p:nvPr/>
        </p:nvSpPr>
        <p:spPr>
          <a:xfrm>
            <a:off x="8970264" y="3819579"/>
            <a:ext cx="82296" cy="82296"/>
          </a:xfrm>
          <a:prstGeom prst="ellipse">
            <a:avLst/>
          </a:prstGeom>
          <a:solidFill>
            <a:srgbClr val="53BE70"/>
          </a:solidFill>
          <a:ln>
            <a:noFill/>
          </a:ln>
          <a:effectLst/>
        </p:spPr>
        <p:txBody>
          <a:bodyPr rtlCol="0" anchor="ctr"/>
          <a:lstStyle/>
          <a:p>
            <a:endParaRPr lang="de-DE"/>
          </a:p>
        </p:txBody>
      </p:sp>
      <p:sp>
        <p:nvSpPr>
          <p:cNvPr id="251" name="Certificate Management Dim Business"/>
          <p:cNvSpPr txBox="1"/>
          <p:nvPr/>
        </p:nvSpPr>
        <p:spPr>
          <a:xfrm>
            <a:off x="9107424" y="3783003"/>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2" name="Certificate Management Dim Dot Data Provisioning"/>
          <p:cNvSpPr/>
          <p:nvPr/>
        </p:nvSpPr>
        <p:spPr>
          <a:xfrm>
            <a:off x="8970264" y="3988743"/>
            <a:ext cx="82296" cy="82296"/>
          </a:xfrm>
          <a:prstGeom prst="ellipse">
            <a:avLst/>
          </a:prstGeom>
          <a:solidFill>
            <a:srgbClr val="53BE70"/>
          </a:solidFill>
          <a:ln>
            <a:noFill/>
          </a:ln>
          <a:effectLst/>
        </p:spPr>
        <p:txBody>
          <a:bodyPr rtlCol="0" anchor="ctr"/>
          <a:lstStyle/>
          <a:p>
            <a:endParaRPr lang="de-DE"/>
          </a:p>
        </p:txBody>
      </p:sp>
      <p:sp>
        <p:nvSpPr>
          <p:cNvPr id="253" name="Certificate Management Dim Data Provisioning"/>
          <p:cNvSpPr txBox="1"/>
          <p:nvPr/>
        </p:nvSpPr>
        <p:spPr>
          <a:xfrm>
            <a:off x="9107424" y="3952167"/>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4" name="Certificate Management Dim Dot Technical"/>
          <p:cNvSpPr/>
          <p:nvPr/>
        </p:nvSpPr>
        <p:spPr>
          <a:xfrm>
            <a:off x="8970264" y="4157907"/>
            <a:ext cx="82296" cy="82296"/>
          </a:xfrm>
          <a:prstGeom prst="ellipse">
            <a:avLst/>
          </a:prstGeom>
          <a:solidFill>
            <a:srgbClr val="53BE70"/>
          </a:solidFill>
          <a:ln>
            <a:noFill/>
          </a:ln>
          <a:effectLst/>
        </p:spPr>
        <p:txBody>
          <a:bodyPr rtlCol="0" anchor="ctr"/>
          <a:lstStyle/>
          <a:p>
            <a:endParaRPr lang="de-DE"/>
          </a:p>
        </p:txBody>
      </p:sp>
      <p:sp>
        <p:nvSpPr>
          <p:cNvPr id="255" name="Certificate Management Dim Technical"/>
          <p:cNvSpPr txBox="1"/>
          <p:nvPr/>
        </p:nvSpPr>
        <p:spPr>
          <a:xfrm>
            <a:off x="9107424" y="4121331"/>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6" name="Certificate Management Dim Dot Supplier Activation"/>
          <p:cNvSpPr/>
          <p:nvPr/>
        </p:nvSpPr>
        <p:spPr>
          <a:xfrm>
            <a:off x="8970264" y="4327071"/>
            <a:ext cx="82296" cy="82296"/>
          </a:xfrm>
          <a:prstGeom prst="ellipse">
            <a:avLst/>
          </a:prstGeom>
          <a:solidFill>
            <a:srgbClr val="53BE70"/>
          </a:solidFill>
          <a:ln>
            <a:noFill/>
          </a:ln>
          <a:effectLst/>
        </p:spPr>
        <p:txBody>
          <a:bodyPr rtlCol="0" anchor="ctr"/>
          <a:lstStyle/>
          <a:p>
            <a:endParaRPr lang="de-DE"/>
          </a:p>
        </p:txBody>
      </p:sp>
      <p:sp>
        <p:nvSpPr>
          <p:cNvPr id="257" name="Certificate Management Dim Supplier Activation"/>
          <p:cNvSpPr txBox="1"/>
          <p:nvPr/>
        </p:nvSpPr>
        <p:spPr>
          <a:xfrm>
            <a:off x="9107424" y="4290495"/>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8" name="Product Carbon Footprint Dim Dot External · CX Association"/>
          <p:cNvSpPr/>
          <p:nvPr/>
        </p:nvSpPr>
        <p:spPr>
          <a:xfrm>
            <a:off x="10387584" y="3499539"/>
            <a:ext cx="82296" cy="82296"/>
          </a:xfrm>
          <a:prstGeom prst="ellipse">
            <a:avLst/>
          </a:prstGeom>
          <a:solidFill>
            <a:srgbClr val="53BE70"/>
          </a:solidFill>
          <a:ln>
            <a:noFill/>
          </a:ln>
          <a:effectLst/>
        </p:spPr>
        <p:txBody>
          <a:bodyPr rtlCol="0" anchor="ctr"/>
          <a:lstStyle/>
          <a:p>
            <a:endParaRPr lang="de-DE"/>
          </a:p>
        </p:txBody>
      </p:sp>
      <p:sp>
        <p:nvSpPr>
          <p:cNvPr id="259" name="Product Carbon Footprint Dim External · CX Association"/>
          <p:cNvSpPr txBox="1"/>
          <p:nvPr/>
        </p:nvSpPr>
        <p:spPr>
          <a:xfrm>
            <a:off x="10524744" y="3462963"/>
            <a:ext cx="1170432"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0" name="Product Carbon Footprint Dim Dot Business"/>
          <p:cNvSpPr/>
          <p:nvPr/>
        </p:nvSpPr>
        <p:spPr>
          <a:xfrm>
            <a:off x="10387584" y="3819579"/>
            <a:ext cx="82296" cy="82296"/>
          </a:xfrm>
          <a:prstGeom prst="ellipse">
            <a:avLst/>
          </a:prstGeom>
          <a:solidFill>
            <a:srgbClr val="53BE70"/>
          </a:solidFill>
          <a:ln>
            <a:noFill/>
          </a:ln>
          <a:effectLst/>
        </p:spPr>
        <p:txBody>
          <a:bodyPr rtlCol="0" anchor="ctr"/>
          <a:lstStyle/>
          <a:p>
            <a:endParaRPr lang="de-DE"/>
          </a:p>
        </p:txBody>
      </p:sp>
      <p:sp>
        <p:nvSpPr>
          <p:cNvPr id="261" name="Product Carbon Footprint Dim Business"/>
          <p:cNvSpPr txBox="1"/>
          <p:nvPr/>
        </p:nvSpPr>
        <p:spPr>
          <a:xfrm>
            <a:off x="10524744" y="3783003"/>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2" name="Product Carbon Footprint Dim Dot Data Provisioning"/>
          <p:cNvSpPr/>
          <p:nvPr/>
        </p:nvSpPr>
        <p:spPr>
          <a:xfrm>
            <a:off x="10387584" y="3988743"/>
            <a:ext cx="82296" cy="82296"/>
          </a:xfrm>
          <a:prstGeom prst="ellipse">
            <a:avLst/>
          </a:prstGeom>
          <a:solidFill>
            <a:srgbClr val="53BE70"/>
          </a:solidFill>
          <a:ln>
            <a:noFill/>
          </a:ln>
          <a:effectLst/>
        </p:spPr>
        <p:txBody>
          <a:bodyPr rtlCol="0" anchor="ctr"/>
          <a:lstStyle/>
          <a:p>
            <a:endParaRPr lang="de-DE"/>
          </a:p>
        </p:txBody>
      </p:sp>
      <p:sp>
        <p:nvSpPr>
          <p:cNvPr id="263" name="Product Carbon Footprint Dim Data Provisioning"/>
          <p:cNvSpPr txBox="1"/>
          <p:nvPr/>
        </p:nvSpPr>
        <p:spPr>
          <a:xfrm>
            <a:off x="10524744" y="3952167"/>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4" name="Product Carbon Footprint Dim Dot Technical"/>
          <p:cNvSpPr/>
          <p:nvPr/>
        </p:nvSpPr>
        <p:spPr>
          <a:xfrm>
            <a:off x="10387584" y="4157907"/>
            <a:ext cx="82296" cy="82296"/>
          </a:xfrm>
          <a:prstGeom prst="ellipse">
            <a:avLst/>
          </a:prstGeom>
          <a:solidFill>
            <a:srgbClr val="53BE70"/>
          </a:solidFill>
          <a:ln>
            <a:noFill/>
          </a:ln>
          <a:effectLst/>
        </p:spPr>
        <p:txBody>
          <a:bodyPr rtlCol="0" anchor="ctr"/>
          <a:lstStyle/>
          <a:p>
            <a:endParaRPr lang="de-DE"/>
          </a:p>
        </p:txBody>
      </p:sp>
      <p:sp>
        <p:nvSpPr>
          <p:cNvPr id="265" name="Product Carbon Footprint Dim Technical"/>
          <p:cNvSpPr txBox="1"/>
          <p:nvPr/>
        </p:nvSpPr>
        <p:spPr>
          <a:xfrm>
            <a:off x="10524744" y="4121331"/>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6" name="Product Carbon Footprint Dim Dot Supplier Activation"/>
          <p:cNvSpPr/>
          <p:nvPr/>
        </p:nvSpPr>
        <p:spPr>
          <a:xfrm>
            <a:off x="10387584" y="4327071"/>
            <a:ext cx="82296" cy="82296"/>
          </a:xfrm>
          <a:prstGeom prst="ellipse">
            <a:avLst/>
          </a:prstGeom>
          <a:solidFill>
            <a:srgbClr val="53BE70"/>
          </a:solidFill>
          <a:ln>
            <a:noFill/>
          </a:ln>
          <a:effectLst/>
        </p:spPr>
        <p:txBody>
          <a:bodyPr rtlCol="0" anchor="ctr"/>
          <a:lstStyle/>
          <a:p>
            <a:endParaRPr lang="de-DE"/>
          </a:p>
        </p:txBody>
      </p:sp>
      <p:sp>
        <p:nvSpPr>
          <p:cNvPr id="267" name="Product Carbon Footprint Dim Supplier Activation"/>
          <p:cNvSpPr txBox="1"/>
          <p:nvPr/>
        </p:nvSpPr>
        <p:spPr>
          <a:xfrm>
            <a:off x="10524744" y="4290495"/>
            <a:ext cx="1170432"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8" name="Row Divider Suppliers enabled 2026"/>
          <p:cNvSpPr/>
          <p:nvPr/>
        </p:nvSpPr>
        <p:spPr>
          <a:xfrm>
            <a:off x="1828800" y="4492317"/>
            <a:ext cx="9921240" cy="6401"/>
          </a:xfrm>
          <a:prstGeom prst="rect">
            <a:avLst/>
          </a:prstGeom>
          <a:solidFill>
            <a:srgbClr val="E2E8EC"/>
          </a:solidFill>
          <a:ln>
            <a:noFill/>
          </a:ln>
          <a:effectLst/>
        </p:spPr>
        <p:txBody>
          <a:bodyPr rtlCol="0" anchor="ctr"/>
          <a:lstStyle/>
          <a:p>
            <a:endParaRPr lang="de-DE"/>
          </a:p>
        </p:txBody>
      </p:sp>
      <p:sp>
        <p:nvSpPr>
          <p:cNvPr id="269" name="Row Label Suppliers enabled 2026"/>
          <p:cNvSpPr txBox="1"/>
          <p:nvPr/>
        </p:nvSpPr>
        <p:spPr>
          <a:xfrm>
            <a:off x="502920" y="4592901"/>
            <a:ext cx="1170432" cy="34355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SUPPLIERS ENABLED 2026</a:t>
            </a:r>
          </a:p>
        </p:txBody>
      </p:sp>
      <p:sp>
        <p:nvSpPr>
          <p:cNvPr id="270" name="Quality Suppliers"/>
          <p:cNvSpPr txBox="1"/>
          <p:nvPr/>
        </p:nvSpPr>
        <p:spPr>
          <a:xfrm>
            <a:off x="1883664" y="4592901"/>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8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rescoped from 15</a:t>
            </a:r>
          </a:p>
        </p:txBody>
      </p:sp>
      <p:sp>
        <p:nvSpPr>
          <p:cNvPr id="271" name="Battery Passport Suppliers"/>
          <p:cNvSpPr txBox="1"/>
          <p:nvPr/>
        </p:nvSpPr>
        <p:spPr>
          <a:xfrm>
            <a:off x="3300984" y="4592901"/>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800" b="0" kern="0" dirty="0">
                <a:solidFill>
                  <a:srgbClr val="63707A"/>
                </a:solidFill>
                <a:latin typeface="Segoe UI" pitchFamily="34" charset="0"/>
                <a:ea typeface="Segoe UI" pitchFamily="34" charset="-122"/>
                <a:cs typeface="Segoe UI" pitchFamily="34" charset="-120"/>
              </a:rPr>
              <a:t>  0%</a:t>
            </a:r>
          </a:p>
        </p:txBody>
      </p:sp>
      <p:sp>
        <p:nvSpPr>
          <p:cNvPr id="272" name="Product Passes Suppliers"/>
          <p:cNvSpPr txBox="1"/>
          <p:nvPr/>
        </p:nvSpPr>
        <p:spPr>
          <a:xfrm>
            <a:off x="4718304" y="4592901"/>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800" b="0" kern="0" dirty="0">
                <a:solidFill>
                  <a:srgbClr val="63707A"/>
                </a:solidFill>
                <a:latin typeface="Segoe UI" pitchFamily="34" charset="0"/>
                <a:ea typeface="Segoe UI" pitchFamily="34" charset="-122"/>
                <a:cs typeface="Segoe UI" pitchFamily="34" charset="-120"/>
              </a:rPr>
              <a:t>  0%</a:t>
            </a:r>
          </a:p>
        </p:txBody>
      </p:sp>
      <p:sp>
        <p:nvSpPr>
          <p:cNvPr id="273" name="PURIS Suppliers"/>
          <p:cNvSpPr txBox="1"/>
          <p:nvPr/>
        </p:nvSpPr>
        <p:spPr>
          <a:xfrm>
            <a:off x="6135624" y="4592901"/>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800" b="0" kern="0" dirty="0">
                <a:solidFill>
                  <a:srgbClr val="63707A"/>
                </a:solidFill>
                <a:latin typeface="Segoe UI" pitchFamily="34" charset="0"/>
                <a:ea typeface="Segoe UI" pitchFamily="34" charset="-122"/>
                <a:cs typeface="Segoe UI" pitchFamily="34" charset="-120"/>
              </a:rPr>
              <a:t>  17%</a:t>
            </a:r>
          </a:p>
        </p:txBody>
      </p:sp>
      <p:sp>
        <p:nvSpPr>
          <p:cNvPr id="274" name="Business Partner Data Mgmt Suppliers"/>
          <p:cNvSpPr txBox="1"/>
          <p:nvPr/>
        </p:nvSpPr>
        <p:spPr>
          <a:xfrm>
            <a:off x="7552944" y="4592901"/>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800" b="0" kern="0" dirty="0">
                <a:solidFill>
                  <a:srgbClr val="63707A"/>
                </a:solidFill>
                <a:latin typeface="Segoe UI" pitchFamily="34" charset="0"/>
                <a:ea typeface="Segoe UI" pitchFamily="34" charset="-122"/>
                <a:cs typeface="Segoe UI" pitchFamily="34" charset="-120"/>
              </a:rPr>
              <a:t>  0%</a:t>
            </a:r>
          </a:p>
        </p:txBody>
      </p:sp>
      <p:sp>
        <p:nvSpPr>
          <p:cNvPr id="275" name="Certificate Management Suppliers"/>
          <p:cNvSpPr txBox="1"/>
          <p:nvPr/>
        </p:nvSpPr>
        <p:spPr>
          <a:xfrm>
            <a:off x="8970264" y="4592901"/>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72 / 100</a:t>
            </a:r>
            <a:r>
              <a:rPr lang="de-DE" sz="800" b="0" kern="0" dirty="0">
                <a:solidFill>
                  <a:srgbClr val="63707A"/>
                </a:solidFill>
                <a:latin typeface="Segoe UI" pitchFamily="34" charset="0"/>
                <a:ea typeface="Segoe UI" pitchFamily="34" charset="-122"/>
                <a:cs typeface="Segoe UI" pitchFamily="34" charset="-120"/>
              </a:rPr>
              <a:t>  72%</a:t>
            </a:r>
          </a:p>
        </p:txBody>
      </p:sp>
      <p:sp>
        <p:nvSpPr>
          <p:cNvPr id="276" name="Product Carbon Footprint Suppliers"/>
          <p:cNvSpPr txBox="1"/>
          <p:nvPr/>
        </p:nvSpPr>
        <p:spPr>
          <a:xfrm>
            <a:off x="10387584" y="4592901"/>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800" b="0" kern="0" dirty="0">
                <a:solidFill>
                  <a:srgbClr val="63707A"/>
                </a:solidFill>
                <a:latin typeface="Segoe UI" pitchFamily="34" charset="0"/>
                <a:ea typeface="Segoe UI" pitchFamily="34" charset="-122"/>
                <a:cs typeface="Segoe UI" pitchFamily="34" charset="-120"/>
              </a:rPr>
              <a:t>  0%</a:t>
            </a:r>
          </a:p>
        </p:txBody>
      </p:sp>
      <p:sp>
        <p:nvSpPr>
          <p:cNvPr id="277" name="Row Divider Goal: E2E go-live target"/>
          <p:cNvSpPr/>
          <p:nvPr/>
        </p:nvSpPr>
        <p:spPr>
          <a:xfrm>
            <a:off x="1828800" y="4982174"/>
            <a:ext cx="9921240" cy="6401"/>
          </a:xfrm>
          <a:prstGeom prst="rect">
            <a:avLst/>
          </a:prstGeom>
          <a:solidFill>
            <a:srgbClr val="E2E8EC"/>
          </a:solidFill>
          <a:ln>
            <a:noFill/>
          </a:ln>
          <a:effectLst/>
        </p:spPr>
        <p:txBody>
          <a:bodyPr rtlCol="0" anchor="ctr"/>
          <a:lstStyle/>
          <a:p>
            <a:endParaRPr lang="de-DE"/>
          </a:p>
        </p:txBody>
      </p:sp>
      <p:sp>
        <p:nvSpPr>
          <p:cNvPr id="278" name="Row Label Goal: E2E go-live target"/>
          <p:cNvSpPr txBox="1"/>
          <p:nvPr/>
        </p:nvSpPr>
        <p:spPr>
          <a:xfrm>
            <a:off x="502920" y="5082758"/>
            <a:ext cx="1170432" cy="34355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GOAL: E2E GO-LIVE TARGET</a:t>
            </a:r>
          </a:p>
        </p:txBody>
      </p:sp>
      <p:sp>
        <p:nvSpPr>
          <p:cNvPr id="279" name="Quality Go-live"/>
          <p:cNvSpPr txBox="1"/>
          <p:nvPr/>
        </p:nvSpPr>
        <p:spPr>
          <a:xfrm>
            <a:off x="1883664" y="5082758"/>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MVP Jan '27</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Scaling until 2030</a:t>
            </a:r>
          </a:p>
        </p:txBody>
      </p:sp>
      <p:sp>
        <p:nvSpPr>
          <p:cNvPr id="280" name="Battery Passport Go-live"/>
          <p:cNvSpPr txBox="1"/>
          <p:nvPr/>
        </p:nvSpPr>
        <p:spPr>
          <a:xfrm>
            <a:off x="3300984" y="5082758"/>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Feb 2027</a:t>
            </a:r>
          </a:p>
        </p:txBody>
      </p:sp>
      <p:sp>
        <p:nvSpPr>
          <p:cNvPr id="281" name="Product Passes Go-live"/>
          <p:cNvSpPr txBox="1"/>
          <p:nvPr/>
        </p:nvSpPr>
        <p:spPr>
          <a:xfrm>
            <a:off x="4718304" y="5082758"/>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800" b="0" i="1" kern="0" dirty="0">
                <a:solidFill>
                  <a:srgbClr val="9AA6AD"/>
                </a:solidFill>
                <a:latin typeface="Segoe UI" pitchFamily="34" charset="0"/>
                <a:ea typeface="Segoe UI" pitchFamily="34" charset="-122"/>
                <a:cs typeface="Segoe UI" pitchFamily="34" charset="-120"/>
              </a:rPr>
              <a:t>not defined yet</a:t>
            </a:r>
          </a:p>
        </p:txBody>
      </p:sp>
      <p:sp>
        <p:nvSpPr>
          <p:cNvPr id="282" name="PURIS Go-live"/>
          <p:cNvSpPr txBox="1"/>
          <p:nvPr/>
        </p:nvSpPr>
        <p:spPr>
          <a:xfrm>
            <a:off x="6135624" y="5082758"/>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800" b="0" i="1" kern="0" dirty="0">
                <a:solidFill>
                  <a:srgbClr val="9AA6AD"/>
                </a:solidFill>
                <a:latin typeface="Segoe UI" pitchFamily="34" charset="0"/>
                <a:ea typeface="Segoe UI" pitchFamily="34" charset="-122"/>
                <a:cs typeface="Segoe UI" pitchFamily="34" charset="-120"/>
              </a:rPr>
              <a:t>not specified</a:t>
            </a:r>
          </a:p>
        </p:txBody>
      </p:sp>
      <p:sp>
        <p:nvSpPr>
          <p:cNvPr id="283" name="Business Partner Data Mgmt Go-live"/>
          <p:cNvSpPr txBox="1"/>
          <p:nvPr/>
        </p:nvSpPr>
        <p:spPr>
          <a:xfrm>
            <a:off x="7552944" y="5082758"/>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Feb 2027</a:t>
            </a:r>
          </a:p>
        </p:txBody>
      </p:sp>
      <p:sp>
        <p:nvSpPr>
          <p:cNvPr id="284" name="Certificate Management Go-live"/>
          <p:cNvSpPr txBox="1"/>
          <p:nvPr/>
        </p:nvSpPr>
        <p:spPr>
          <a:xfrm>
            <a:off x="8970264" y="5082758"/>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May 2028</a:t>
            </a:r>
          </a:p>
        </p:txBody>
      </p:sp>
      <p:sp>
        <p:nvSpPr>
          <p:cNvPr id="285" name="Product Carbon Footprint Go-live"/>
          <p:cNvSpPr txBox="1"/>
          <p:nvPr/>
        </p:nvSpPr>
        <p:spPr>
          <a:xfrm>
            <a:off x="10387584" y="5082758"/>
            <a:ext cx="1307592"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01 Jan 2028</a:t>
            </a:r>
          </a:p>
        </p:txBody>
      </p:sp>
      <p:sp>
        <p:nvSpPr>
          <p:cNvPr id="286" name="Row Divider Decision required"/>
          <p:cNvSpPr/>
          <p:nvPr/>
        </p:nvSpPr>
        <p:spPr>
          <a:xfrm>
            <a:off x="1828800" y="5472031"/>
            <a:ext cx="9921240" cy="6401"/>
          </a:xfrm>
          <a:prstGeom prst="rect">
            <a:avLst/>
          </a:prstGeom>
          <a:solidFill>
            <a:srgbClr val="E2E8EC"/>
          </a:solidFill>
          <a:ln>
            <a:noFill/>
          </a:ln>
          <a:effectLst/>
        </p:spPr>
        <p:txBody>
          <a:bodyPr rtlCol="0" anchor="ctr"/>
          <a:lstStyle/>
          <a:p>
            <a:endParaRPr lang="de-DE"/>
          </a:p>
        </p:txBody>
      </p:sp>
      <p:sp>
        <p:nvSpPr>
          <p:cNvPr id="287" name="Row Label Decision required"/>
          <p:cNvSpPr txBox="1"/>
          <p:nvPr/>
        </p:nvSpPr>
        <p:spPr>
          <a:xfrm>
            <a:off x="502920" y="5572615"/>
            <a:ext cx="1170432" cy="91048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151B21"/>
                </a:solidFill>
                <a:latin typeface="Segoe UI" pitchFamily="34" charset="0"/>
                <a:ea typeface="Segoe UI" pitchFamily="34" charset="-122"/>
                <a:cs typeface="Segoe UI" pitchFamily="34" charset="-120"/>
              </a:rPr>
              <a:t>DECISION REQUIRED</a:t>
            </a:r>
          </a:p>
        </p:txBody>
      </p:sp>
      <p:sp>
        <p:nvSpPr>
          <p:cNvPr id="288" name="Quality Decision Flag"/>
          <p:cNvSpPr/>
          <p:nvPr/>
        </p:nvSpPr>
        <p:spPr>
          <a:xfrm>
            <a:off x="1883664" y="5572615"/>
            <a:ext cx="173736" cy="173736"/>
          </a:xfrm>
          <a:prstGeom prst="ellipse">
            <a:avLst/>
          </a:prstGeom>
          <a:solidFill>
            <a:srgbClr val="001E50"/>
          </a:solidFill>
          <a:ln>
            <a:noFill/>
          </a:ln>
          <a:effectLst/>
        </p:spPr>
        <p:txBody>
          <a:bodyPr rtlCol="0" anchor="ctr"/>
          <a:lstStyle/>
          <a:p>
            <a:endParaRPr lang="de-DE"/>
          </a:p>
        </p:txBody>
      </p:sp>
      <p:sp>
        <p:nvSpPr>
          <p:cNvPr id="289" name="Quality Decision No"/>
          <p:cNvSpPr txBox="1"/>
          <p:nvPr/>
        </p:nvSpPr>
        <p:spPr>
          <a:xfrm>
            <a:off x="1883664" y="5572615"/>
            <a:ext cx="173736" cy="173736"/>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90" name="Quality Decision"/>
          <p:cNvSpPr txBox="1"/>
          <p:nvPr/>
        </p:nvSpPr>
        <p:spPr>
          <a:xfrm>
            <a:off x="2112264" y="5572615"/>
            <a:ext cx="1078992" cy="928769"/>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291" name="Battery Passport Decision None"/>
          <p:cNvSpPr txBox="1"/>
          <p:nvPr/>
        </p:nvSpPr>
        <p:spPr>
          <a:xfrm>
            <a:off x="3300984" y="5572615"/>
            <a:ext cx="1307592"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2" name="Product Passes Decision None"/>
          <p:cNvSpPr txBox="1"/>
          <p:nvPr/>
        </p:nvSpPr>
        <p:spPr>
          <a:xfrm>
            <a:off x="4718304" y="5572615"/>
            <a:ext cx="1307592"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3" name="PURIS Decision Flag"/>
          <p:cNvSpPr/>
          <p:nvPr/>
        </p:nvSpPr>
        <p:spPr>
          <a:xfrm>
            <a:off x="6135624" y="5572615"/>
            <a:ext cx="173736" cy="173736"/>
          </a:xfrm>
          <a:prstGeom prst="ellipse">
            <a:avLst/>
          </a:prstGeom>
          <a:solidFill>
            <a:srgbClr val="001E50"/>
          </a:solidFill>
          <a:ln>
            <a:noFill/>
          </a:ln>
          <a:effectLst/>
        </p:spPr>
        <p:txBody>
          <a:bodyPr rtlCol="0" anchor="ctr"/>
          <a:lstStyle/>
          <a:p>
            <a:endParaRPr lang="de-DE"/>
          </a:p>
        </p:txBody>
      </p:sp>
      <p:sp>
        <p:nvSpPr>
          <p:cNvPr id="294" name="PURIS Decision No"/>
          <p:cNvSpPr txBox="1"/>
          <p:nvPr/>
        </p:nvSpPr>
        <p:spPr>
          <a:xfrm>
            <a:off x="6135624" y="5572615"/>
            <a:ext cx="173736" cy="173736"/>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95" name="PURIS Decision"/>
          <p:cNvSpPr txBox="1"/>
          <p:nvPr/>
        </p:nvSpPr>
        <p:spPr>
          <a:xfrm>
            <a:off x="6364224" y="5572615"/>
            <a:ext cx="1078992" cy="928769"/>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
        <p:nvSpPr>
          <p:cNvPr id="296" name="Business Partner Data Mgmt Decision None"/>
          <p:cNvSpPr txBox="1"/>
          <p:nvPr/>
        </p:nvSpPr>
        <p:spPr>
          <a:xfrm>
            <a:off x="7552944" y="5572615"/>
            <a:ext cx="1307592"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7" name="Certificate Management Decision None"/>
          <p:cNvSpPr txBox="1"/>
          <p:nvPr/>
        </p:nvSpPr>
        <p:spPr>
          <a:xfrm>
            <a:off x="8970264" y="5572615"/>
            <a:ext cx="1307592"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8" name="Product Carbon Footprint Decision None"/>
          <p:cNvSpPr txBox="1"/>
          <p:nvPr/>
        </p:nvSpPr>
        <p:spPr>
          <a:xfrm>
            <a:off x="10387584" y="5572615"/>
            <a:ext cx="1307592"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