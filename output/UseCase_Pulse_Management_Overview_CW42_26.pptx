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 Pulse Management Overview CW 42 / 2026 – one card per use case (read top to bottom), sorted by overall status. Next critical milestone = most critical amber/red milestone.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Use Cases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42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Not Started Ring"/>
          <p:cNvSpPr/>
          <p:nvPr/>
        </p:nvSpPr>
        <p:spPr>
          <a:xfrm>
            <a:off x="10727481" y="544068"/>
            <a:ext cx="68580" cy="68580"/>
          </a:xfrm>
          <a:prstGeom prst="ellipse">
            <a:avLst/>
          </a:prstGeom>
          <a:solidFill>
            <a:srgbClr val="0B3A45"/>
          </a:solidFill>
          <a:ln w="15875">
            <a:solidFill>
              <a:srgbClr val="CFD6DB"/>
            </a:solid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Quality Card"/>
          <p:cNvSpPr/>
          <p:nvPr/>
        </p:nvSpPr>
        <p:spPr>
          <a:xfrm>
            <a:off x="1298448"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Quality Name"/>
          <p:cNvSpPr txBox="1"/>
          <p:nvPr/>
        </p:nvSpPr>
        <p:spPr>
          <a:xfrm>
            <a:off x="1367028"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Quality</a:t>
            </a:r>
          </a:p>
        </p:txBody>
      </p:sp>
      <p:sp>
        <p:nvSpPr>
          <p:cNvPr id="117" name="Col Quality Abbr"/>
          <p:cNvSpPr txBox="1"/>
          <p:nvPr/>
        </p:nvSpPr>
        <p:spPr>
          <a:xfrm>
            <a:off x="1367028" y="12623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quality-cx</a:t>
            </a:r>
          </a:p>
        </p:txBody>
      </p:sp>
      <p:sp>
        <p:nvSpPr>
          <p:cNvPr id="118" name="Col Quality Domain Lead"/>
          <p:cNvSpPr txBox="1"/>
          <p:nvPr/>
        </p:nvSpPr>
        <p:spPr>
          <a:xfrm>
            <a:off x="1367028"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Kutritz (K-GQY)</a:t>
            </a:r>
          </a:p>
        </p:txBody>
      </p:sp>
      <p:sp>
        <p:nvSpPr>
          <p:cNvPr id="119" name="Col Quality Status Bar"/>
          <p:cNvSpPr/>
          <p:nvPr/>
        </p:nvSpPr>
        <p:spPr>
          <a:xfrm>
            <a:off x="1367028" y="2002790"/>
            <a:ext cx="1153858" cy="36576"/>
          </a:xfrm>
          <a:prstGeom prst="roundRect">
            <a:avLst>
              <a:gd name="adj" fmla="val 50000"/>
            </a:avLst>
          </a:prstGeom>
          <a:solidFill>
            <a:srgbClr val="F0B135"/>
          </a:solidFill>
          <a:ln>
            <a:noFill/>
          </a:ln>
          <a:effectLst/>
        </p:spPr>
        <p:txBody>
          <a:bodyPr rtlCol="0" anchor="ctr"/>
          <a:lstStyle/>
          <a:p>
            <a:endParaRPr lang="de-DE"/>
          </a:p>
        </p:txBody>
      </p:sp>
      <p:sp>
        <p:nvSpPr>
          <p:cNvPr id="120" name="Col Battery Passport Card"/>
          <p:cNvSpPr/>
          <p:nvPr/>
        </p:nvSpPr>
        <p:spPr>
          <a:xfrm>
            <a:off x="2630614"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Battery Passport Name"/>
          <p:cNvSpPr txBox="1"/>
          <p:nvPr/>
        </p:nvSpPr>
        <p:spPr>
          <a:xfrm>
            <a:off x="2699194"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Battery Passport</a:t>
            </a:r>
          </a:p>
        </p:txBody>
      </p:sp>
      <p:sp>
        <p:nvSpPr>
          <p:cNvPr id="122" name="Col Battery Passport Abbr"/>
          <p:cNvSpPr txBox="1"/>
          <p:nvPr/>
        </p:nvSpPr>
        <p:spPr>
          <a:xfrm>
            <a:off x="2699194" y="12623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batt-cx</a:t>
            </a:r>
          </a:p>
        </p:txBody>
      </p:sp>
      <p:sp>
        <p:nvSpPr>
          <p:cNvPr id="123" name="Col Battery Passport Domain Lead"/>
          <p:cNvSpPr txBox="1"/>
          <p:nvPr/>
        </p:nvSpPr>
        <p:spPr>
          <a:xfrm>
            <a:off x="2699194"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Alp (ZG-R)</a:t>
            </a:r>
          </a:p>
        </p:txBody>
      </p:sp>
      <p:sp>
        <p:nvSpPr>
          <p:cNvPr id="124" name="Col Battery Passport Status Bar"/>
          <p:cNvSpPr/>
          <p:nvPr/>
        </p:nvSpPr>
        <p:spPr>
          <a:xfrm>
            <a:off x="2699194" y="2002790"/>
            <a:ext cx="1153858" cy="36576"/>
          </a:xfrm>
          <a:prstGeom prst="roundRect">
            <a:avLst>
              <a:gd name="adj" fmla="val 50000"/>
            </a:avLst>
          </a:prstGeom>
          <a:solidFill>
            <a:srgbClr val="F0B135"/>
          </a:solidFill>
          <a:ln>
            <a:noFill/>
          </a:ln>
          <a:effectLst/>
        </p:spPr>
        <p:txBody>
          <a:bodyPr rtlCol="0" anchor="ctr"/>
          <a:lstStyle/>
          <a:p>
            <a:endParaRPr lang="de-DE"/>
          </a:p>
        </p:txBody>
      </p:sp>
      <p:sp>
        <p:nvSpPr>
          <p:cNvPr id="125" name="Col Product Passes Card"/>
          <p:cNvSpPr/>
          <p:nvPr/>
        </p:nvSpPr>
        <p:spPr>
          <a:xfrm>
            <a:off x="3962781"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Product Passes Name"/>
          <p:cNvSpPr txBox="1"/>
          <p:nvPr/>
        </p:nvSpPr>
        <p:spPr>
          <a:xfrm>
            <a:off x="4031361"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Passes</a:t>
            </a:r>
          </a:p>
        </p:txBody>
      </p:sp>
      <p:sp>
        <p:nvSpPr>
          <p:cNvPr id="127" name="Col Product Passes Abbr"/>
          <p:cNvSpPr txBox="1"/>
          <p:nvPr/>
        </p:nvSpPr>
        <p:spPr>
          <a:xfrm>
            <a:off x="4031361" y="12623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pass-cx</a:t>
            </a:r>
          </a:p>
        </p:txBody>
      </p:sp>
      <p:sp>
        <p:nvSpPr>
          <p:cNvPr id="128" name="Col Product Passes Domain Lead"/>
          <p:cNvSpPr txBox="1"/>
          <p:nvPr/>
        </p:nvSpPr>
        <p:spPr>
          <a:xfrm>
            <a:off x="4031361"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Drobir (K-GEP-2)</a:t>
            </a:r>
          </a:p>
        </p:txBody>
      </p:sp>
      <p:sp>
        <p:nvSpPr>
          <p:cNvPr id="129" name="Col Product Passes Status Bar"/>
          <p:cNvSpPr/>
          <p:nvPr/>
        </p:nvSpPr>
        <p:spPr>
          <a:xfrm>
            <a:off x="4031361" y="2002790"/>
            <a:ext cx="1153858" cy="36576"/>
          </a:xfrm>
          <a:prstGeom prst="roundRect">
            <a:avLst>
              <a:gd name="adj" fmla="val 50000"/>
            </a:avLst>
          </a:prstGeom>
          <a:solidFill>
            <a:srgbClr val="F0B135"/>
          </a:solidFill>
          <a:ln>
            <a:noFill/>
          </a:ln>
          <a:effectLst/>
        </p:spPr>
        <p:txBody>
          <a:bodyPr rtlCol="0" anchor="ctr"/>
          <a:lstStyle/>
          <a:p>
            <a:endParaRPr lang="de-DE"/>
          </a:p>
        </p:txBody>
      </p:sp>
      <p:sp>
        <p:nvSpPr>
          <p:cNvPr id="130" name="Col PURIS Card"/>
          <p:cNvSpPr/>
          <p:nvPr/>
        </p:nvSpPr>
        <p:spPr>
          <a:xfrm>
            <a:off x="5294947"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PURIS Name"/>
          <p:cNvSpPr txBox="1"/>
          <p:nvPr/>
        </p:nvSpPr>
        <p:spPr>
          <a:xfrm>
            <a:off x="5363528"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PURIS</a:t>
            </a:r>
          </a:p>
        </p:txBody>
      </p:sp>
      <p:sp>
        <p:nvSpPr>
          <p:cNvPr id="132" name="Col PURIS Abbr"/>
          <p:cNvSpPr txBox="1"/>
          <p:nvPr/>
        </p:nvSpPr>
        <p:spPr>
          <a:xfrm>
            <a:off x="5363528" y="12623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puris-cx</a:t>
            </a:r>
          </a:p>
        </p:txBody>
      </p:sp>
      <p:sp>
        <p:nvSpPr>
          <p:cNvPr id="133" name="Col PURIS Domain Lead"/>
          <p:cNvSpPr txBox="1"/>
          <p:nvPr/>
        </p:nvSpPr>
        <p:spPr>
          <a:xfrm>
            <a:off x="5363528"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Timpe (KL-GP), Behrens (BZ-PX)</a:t>
            </a:r>
          </a:p>
        </p:txBody>
      </p:sp>
      <p:sp>
        <p:nvSpPr>
          <p:cNvPr id="134" name="Col PURIS Status Bar"/>
          <p:cNvSpPr/>
          <p:nvPr/>
        </p:nvSpPr>
        <p:spPr>
          <a:xfrm>
            <a:off x="5363528" y="2002790"/>
            <a:ext cx="1153858" cy="36576"/>
          </a:xfrm>
          <a:prstGeom prst="roundRect">
            <a:avLst>
              <a:gd name="adj" fmla="val 50000"/>
            </a:avLst>
          </a:prstGeom>
          <a:solidFill>
            <a:srgbClr val="F0B135"/>
          </a:solidFill>
          <a:ln>
            <a:noFill/>
          </a:ln>
          <a:effectLst/>
        </p:spPr>
        <p:txBody>
          <a:bodyPr rtlCol="0" anchor="ctr"/>
          <a:lstStyle/>
          <a:p>
            <a:endParaRPr lang="de-DE"/>
          </a:p>
        </p:txBody>
      </p:sp>
      <p:sp>
        <p:nvSpPr>
          <p:cNvPr id="135" name="Col Business Partner Data Mgmt Card"/>
          <p:cNvSpPr/>
          <p:nvPr/>
        </p:nvSpPr>
        <p:spPr>
          <a:xfrm>
            <a:off x="6627114"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Business Partner Data Mgmt Name"/>
          <p:cNvSpPr txBox="1"/>
          <p:nvPr/>
        </p:nvSpPr>
        <p:spPr>
          <a:xfrm>
            <a:off x="6695694"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Business Partner Data Mgmt</a:t>
            </a:r>
          </a:p>
        </p:txBody>
      </p:sp>
      <p:sp>
        <p:nvSpPr>
          <p:cNvPr id="137" name="Col Business Partner Data Mgmt Abbr"/>
          <p:cNvSpPr txBox="1"/>
          <p:nvPr/>
        </p:nvSpPr>
        <p:spPr>
          <a:xfrm>
            <a:off x="6695694" y="14274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bpdm-cx</a:t>
            </a:r>
          </a:p>
        </p:txBody>
      </p:sp>
      <p:sp>
        <p:nvSpPr>
          <p:cNvPr id="138" name="Col Business Partner Data Mgmt Domain Lead"/>
          <p:cNvSpPr txBox="1"/>
          <p:nvPr/>
        </p:nvSpPr>
        <p:spPr>
          <a:xfrm>
            <a:off x="6695694"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Fehlner (I/BZ)</a:t>
            </a:r>
          </a:p>
        </p:txBody>
      </p:sp>
      <p:sp>
        <p:nvSpPr>
          <p:cNvPr id="139" name="Col Business Partner Data Mgmt Status Bar"/>
          <p:cNvSpPr/>
          <p:nvPr/>
        </p:nvSpPr>
        <p:spPr>
          <a:xfrm>
            <a:off x="6695694" y="2002790"/>
            <a:ext cx="1153858" cy="36576"/>
          </a:xfrm>
          <a:prstGeom prst="roundRect">
            <a:avLst>
              <a:gd name="adj" fmla="val 50000"/>
            </a:avLst>
          </a:prstGeom>
          <a:solidFill>
            <a:srgbClr val="F0B135"/>
          </a:solidFill>
          <a:ln>
            <a:noFill/>
          </a:ln>
          <a:effectLst/>
        </p:spPr>
        <p:txBody>
          <a:bodyPr rtlCol="0" anchor="ctr"/>
          <a:lstStyle/>
          <a:p>
            <a:endParaRPr lang="de-DE"/>
          </a:p>
        </p:txBody>
      </p:sp>
      <p:sp>
        <p:nvSpPr>
          <p:cNvPr id="140" name="Col Certificate Management Card"/>
          <p:cNvSpPr/>
          <p:nvPr/>
        </p:nvSpPr>
        <p:spPr>
          <a:xfrm>
            <a:off x="7959280"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Certificate Management Name"/>
          <p:cNvSpPr txBox="1"/>
          <p:nvPr/>
        </p:nvSpPr>
        <p:spPr>
          <a:xfrm>
            <a:off x="8027860"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Certificate Management</a:t>
            </a:r>
          </a:p>
        </p:txBody>
      </p:sp>
      <p:sp>
        <p:nvSpPr>
          <p:cNvPr id="142" name="Col Certificate Management Abbr"/>
          <p:cNvSpPr txBox="1"/>
          <p:nvPr/>
        </p:nvSpPr>
        <p:spPr>
          <a:xfrm>
            <a:off x="8027860" y="14274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cert-cx</a:t>
            </a:r>
          </a:p>
        </p:txBody>
      </p:sp>
      <p:sp>
        <p:nvSpPr>
          <p:cNvPr id="143" name="Col Certificate Management Domain Lead"/>
          <p:cNvSpPr txBox="1"/>
          <p:nvPr/>
        </p:nvSpPr>
        <p:spPr>
          <a:xfrm>
            <a:off x="8027860"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Poetsch (K-DDX/5)</a:t>
            </a:r>
          </a:p>
        </p:txBody>
      </p:sp>
      <p:sp>
        <p:nvSpPr>
          <p:cNvPr id="144" name="Col Certificate Management Status Bar"/>
          <p:cNvSpPr/>
          <p:nvPr/>
        </p:nvSpPr>
        <p:spPr>
          <a:xfrm>
            <a:off x="8027860" y="2002790"/>
            <a:ext cx="1153858" cy="36576"/>
          </a:xfrm>
          <a:prstGeom prst="roundRect">
            <a:avLst>
              <a:gd name="adj" fmla="val 50000"/>
            </a:avLst>
          </a:prstGeom>
          <a:solidFill>
            <a:srgbClr val="F0B135"/>
          </a:solidFill>
          <a:ln>
            <a:noFill/>
          </a:ln>
          <a:effectLst/>
        </p:spPr>
        <p:txBody>
          <a:bodyPr rtlCol="0" anchor="ctr"/>
          <a:lstStyle/>
          <a:p>
            <a:endParaRPr lang="de-DE"/>
          </a:p>
        </p:txBody>
      </p:sp>
      <p:sp>
        <p:nvSpPr>
          <p:cNvPr id="145" name="Col Product Carbon Footprint Card"/>
          <p:cNvSpPr/>
          <p:nvPr/>
        </p:nvSpPr>
        <p:spPr>
          <a:xfrm>
            <a:off x="9291447"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46" name="Col Product Carbon Footprint Name"/>
          <p:cNvSpPr txBox="1"/>
          <p:nvPr/>
        </p:nvSpPr>
        <p:spPr>
          <a:xfrm>
            <a:off x="9360027"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Product Carbon Footprint</a:t>
            </a:r>
          </a:p>
        </p:txBody>
      </p:sp>
      <p:sp>
        <p:nvSpPr>
          <p:cNvPr id="147" name="Col Product Carbon Footprint Abbr"/>
          <p:cNvSpPr txBox="1"/>
          <p:nvPr/>
        </p:nvSpPr>
        <p:spPr>
          <a:xfrm>
            <a:off x="9360027" y="14274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pcf-cx</a:t>
            </a:r>
          </a:p>
        </p:txBody>
      </p:sp>
      <p:sp>
        <p:nvSpPr>
          <p:cNvPr id="148" name="Col Product Carbon Footprint Domain Lead"/>
          <p:cNvSpPr txBox="1"/>
          <p:nvPr/>
        </p:nvSpPr>
        <p:spPr>
          <a:xfrm>
            <a:off x="9360027"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Dettmer (K-GEN), Voeste (K-GSS)</a:t>
            </a:r>
          </a:p>
        </p:txBody>
      </p:sp>
      <p:sp>
        <p:nvSpPr>
          <p:cNvPr id="149" name="Col Product Carbon Footprint Status Bar"/>
          <p:cNvSpPr/>
          <p:nvPr/>
        </p:nvSpPr>
        <p:spPr>
          <a:xfrm>
            <a:off x="9360027" y="2002790"/>
            <a:ext cx="1153858" cy="36576"/>
          </a:xfrm>
          <a:prstGeom prst="roundRect">
            <a:avLst>
              <a:gd name="adj" fmla="val 50000"/>
            </a:avLst>
          </a:prstGeom>
          <a:solidFill>
            <a:srgbClr val="F0B135"/>
          </a:solidFill>
          <a:ln>
            <a:noFill/>
          </a:ln>
          <a:effectLst/>
        </p:spPr>
        <p:txBody>
          <a:bodyPr rtlCol="0" anchor="ctr"/>
          <a:lstStyle/>
          <a:p>
            <a:endParaRPr lang="de-DE"/>
          </a:p>
        </p:txBody>
      </p:sp>
      <p:sp>
        <p:nvSpPr>
          <p:cNvPr id="150" name="Col N-Tier Card"/>
          <p:cNvSpPr/>
          <p:nvPr/>
        </p:nvSpPr>
        <p:spPr>
          <a:xfrm>
            <a:off x="10623614" y="978408"/>
            <a:ext cx="1291018" cy="5696712"/>
          </a:xfrm>
          <a:prstGeom prst="roundRect">
            <a:avLst>
              <a:gd name="adj" fmla="val 4000"/>
            </a:avLst>
          </a:prstGeom>
          <a:solidFill>
            <a:srgbClr val="FFFFFF"/>
          </a:solidFill>
          <a:ln>
            <a:noFill/>
          </a:ln>
          <a:effectLst/>
        </p:spPr>
        <p:txBody>
          <a:bodyPr rtlCol="0" anchor="ctr"/>
          <a:lstStyle/>
          <a:p>
            <a:endParaRPr lang="de-DE"/>
          </a:p>
        </p:txBody>
      </p:sp>
      <p:sp>
        <p:nvSpPr>
          <p:cNvPr id="151" name="Col N-Tier Name"/>
          <p:cNvSpPr txBox="1"/>
          <p:nvPr/>
        </p:nvSpPr>
        <p:spPr>
          <a:xfrm>
            <a:off x="10692193" y="1078992"/>
            <a:ext cx="1153858"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N-Tier</a:t>
            </a:r>
          </a:p>
        </p:txBody>
      </p:sp>
      <p:sp>
        <p:nvSpPr>
          <p:cNvPr id="152" name="Col N-Tier Abbr"/>
          <p:cNvSpPr txBox="1"/>
          <p:nvPr/>
        </p:nvSpPr>
        <p:spPr>
          <a:xfrm>
            <a:off x="10692193" y="1262380"/>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ntier-cx</a:t>
            </a:r>
          </a:p>
        </p:txBody>
      </p:sp>
      <p:sp>
        <p:nvSpPr>
          <p:cNvPr id="153" name="Col N-Tier Domain Lead"/>
          <p:cNvSpPr txBox="1"/>
          <p:nvPr/>
        </p:nvSpPr>
        <p:spPr>
          <a:xfrm>
            <a:off x="10692193" y="162839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Fink (BZI2)</a:t>
            </a:r>
          </a:p>
        </p:txBody>
      </p:sp>
      <p:sp>
        <p:nvSpPr>
          <p:cNvPr id="154" name="Col N-Tier Status Bar"/>
          <p:cNvSpPr/>
          <p:nvPr/>
        </p:nvSpPr>
        <p:spPr>
          <a:xfrm>
            <a:off x="10692193" y="2002790"/>
            <a:ext cx="1153858" cy="36576"/>
          </a:xfrm>
          <a:prstGeom prst="roundRect">
            <a:avLst>
              <a:gd name="adj" fmla="val 50000"/>
            </a:avLst>
          </a:prstGeom>
          <a:solidFill>
            <a:srgbClr val="53BE70"/>
          </a:solidFill>
          <a:ln>
            <a:noFill/>
          </a:ln>
          <a:effectLst/>
        </p:spPr>
        <p:txBody>
          <a:bodyPr rtlCol="0" anchor="ctr"/>
          <a:lstStyle/>
          <a:p>
            <a:endParaRPr lang="de-DE"/>
          </a:p>
        </p:txBody>
      </p:sp>
      <p:sp>
        <p:nvSpPr>
          <p:cNvPr id="155" name="Head Label Name"/>
          <p:cNvSpPr txBox="1"/>
          <p:nvPr/>
        </p:nvSpPr>
        <p:spPr>
          <a:xfrm>
            <a:off x="274320" y="1106424"/>
            <a:ext cx="987552"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56" name="Head Label Domain Lead"/>
          <p:cNvSpPr txBox="1"/>
          <p:nvPr/>
        </p:nvSpPr>
        <p:spPr>
          <a:xfrm>
            <a:off x="274320" y="1628394"/>
            <a:ext cx="987552"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Domain Lead</a:t>
            </a:r>
          </a:p>
        </p:txBody>
      </p:sp>
      <p:sp>
        <p:nvSpPr>
          <p:cNvPr id="157" name="Row Label Overall status"/>
          <p:cNvSpPr txBox="1"/>
          <p:nvPr/>
        </p:nvSpPr>
        <p:spPr>
          <a:xfrm>
            <a:off x="274320" y="2158238"/>
            <a:ext cx="987552" cy="22399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58" name="Quality Status Pill"/>
          <p:cNvSpPr/>
          <p:nvPr/>
        </p:nvSpPr>
        <p:spPr>
          <a:xfrm>
            <a:off x="1367028"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9" name="Quality Status Text"/>
          <p:cNvSpPr txBox="1"/>
          <p:nvPr/>
        </p:nvSpPr>
        <p:spPr>
          <a:xfrm>
            <a:off x="1367028"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0" name="Battery Passport Status Pill"/>
          <p:cNvSpPr/>
          <p:nvPr/>
        </p:nvSpPr>
        <p:spPr>
          <a:xfrm>
            <a:off x="2699194"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1" name="Battery Passport Status Text"/>
          <p:cNvSpPr txBox="1"/>
          <p:nvPr/>
        </p:nvSpPr>
        <p:spPr>
          <a:xfrm>
            <a:off x="2699194"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2" name="Product Passes Status Pill"/>
          <p:cNvSpPr/>
          <p:nvPr/>
        </p:nvSpPr>
        <p:spPr>
          <a:xfrm>
            <a:off x="4031361"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3" name="Product Passes Status Text"/>
          <p:cNvSpPr txBox="1"/>
          <p:nvPr/>
        </p:nvSpPr>
        <p:spPr>
          <a:xfrm>
            <a:off x="4031361"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4" name="PURIS Status Pill"/>
          <p:cNvSpPr/>
          <p:nvPr/>
        </p:nvSpPr>
        <p:spPr>
          <a:xfrm>
            <a:off x="5363528"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5" name="PURIS Status Text"/>
          <p:cNvSpPr txBox="1"/>
          <p:nvPr/>
        </p:nvSpPr>
        <p:spPr>
          <a:xfrm>
            <a:off x="5363528"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6" name="Business Partner Data Mgmt Status Pill"/>
          <p:cNvSpPr/>
          <p:nvPr/>
        </p:nvSpPr>
        <p:spPr>
          <a:xfrm>
            <a:off x="6695694"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7" name="Business Partner Data Mgmt Status Text"/>
          <p:cNvSpPr txBox="1"/>
          <p:nvPr/>
        </p:nvSpPr>
        <p:spPr>
          <a:xfrm>
            <a:off x="6695694"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8" name="Certificate Management Status Pill"/>
          <p:cNvSpPr/>
          <p:nvPr/>
        </p:nvSpPr>
        <p:spPr>
          <a:xfrm>
            <a:off x="802786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69" name="Certificate Management Status Text"/>
          <p:cNvSpPr txBox="1"/>
          <p:nvPr/>
        </p:nvSpPr>
        <p:spPr>
          <a:xfrm>
            <a:off x="802786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70" name="Product Carbon Footprint Status Pill"/>
          <p:cNvSpPr/>
          <p:nvPr/>
        </p:nvSpPr>
        <p:spPr>
          <a:xfrm>
            <a:off x="9360027"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71" name="Product Carbon Footprint Status Text"/>
          <p:cNvSpPr txBox="1"/>
          <p:nvPr/>
        </p:nvSpPr>
        <p:spPr>
          <a:xfrm>
            <a:off x="9360027"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72" name="N-Tier Status Pill"/>
          <p:cNvSpPr/>
          <p:nvPr/>
        </p:nvSpPr>
        <p:spPr>
          <a:xfrm>
            <a:off x="10692193" y="2135378"/>
            <a:ext cx="666433" cy="192024"/>
          </a:xfrm>
          <a:prstGeom prst="roundRect">
            <a:avLst>
              <a:gd name="adj" fmla="val 50000"/>
            </a:avLst>
          </a:prstGeom>
          <a:solidFill>
            <a:srgbClr val="53BE70"/>
          </a:solidFill>
          <a:ln>
            <a:noFill/>
          </a:ln>
          <a:effectLst/>
        </p:spPr>
        <p:txBody>
          <a:bodyPr rtlCol="0" anchor="ctr"/>
          <a:lstStyle/>
          <a:p>
            <a:endParaRPr lang="de-DE"/>
          </a:p>
        </p:txBody>
      </p:sp>
      <p:sp>
        <p:nvSpPr>
          <p:cNvPr id="173" name="N-Tier Status Text"/>
          <p:cNvSpPr txBox="1"/>
          <p:nvPr/>
        </p:nvSpPr>
        <p:spPr>
          <a:xfrm>
            <a:off x="10692193" y="2135378"/>
            <a:ext cx="66643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On Track</a:t>
            </a:r>
          </a:p>
        </p:txBody>
      </p:sp>
      <p:sp>
        <p:nvSpPr>
          <p:cNvPr id="174" name="Row Label Phase"/>
          <p:cNvSpPr txBox="1"/>
          <p:nvPr/>
        </p:nvSpPr>
        <p:spPr>
          <a:xfrm>
            <a:off x="274320" y="2446244"/>
            <a:ext cx="987552" cy="350857"/>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Phase</a:t>
            </a:r>
          </a:p>
        </p:txBody>
      </p:sp>
      <p:sp>
        <p:nvSpPr>
          <p:cNvPr id="175" name="Quality Row Divider Phase"/>
          <p:cNvSpPr/>
          <p:nvPr/>
        </p:nvSpPr>
        <p:spPr>
          <a:xfrm>
            <a:off x="1367028" y="2382236"/>
            <a:ext cx="1153858" cy="6401"/>
          </a:xfrm>
          <a:prstGeom prst="rect">
            <a:avLst/>
          </a:prstGeom>
          <a:solidFill>
            <a:srgbClr val="E2E8EC"/>
          </a:solidFill>
          <a:ln>
            <a:noFill/>
          </a:ln>
          <a:effectLst/>
        </p:spPr>
        <p:txBody>
          <a:bodyPr rtlCol="0" anchor="ctr"/>
          <a:lstStyle/>
          <a:p>
            <a:endParaRPr lang="de-DE"/>
          </a:p>
        </p:txBody>
      </p:sp>
      <p:sp>
        <p:nvSpPr>
          <p:cNvPr id="176" name="Quality Phase"/>
          <p:cNvSpPr txBox="1"/>
          <p:nvPr/>
        </p:nvSpPr>
        <p:spPr>
          <a:xfrm>
            <a:off x="1367028" y="244624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7" name="Battery Passport Row Divider Phase"/>
          <p:cNvSpPr/>
          <p:nvPr/>
        </p:nvSpPr>
        <p:spPr>
          <a:xfrm>
            <a:off x="2699194" y="2382236"/>
            <a:ext cx="1153858" cy="6401"/>
          </a:xfrm>
          <a:prstGeom prst="rect">
            <a:avLst/>
          </a:prstGeom>
          <a:solidFill>
            <a:srgbClr val="E2E8EC"/>
          </a:solidFill>
          <a:ln>
            <a:noFill/>
          </a:ln>
          <a:effectLst/>
        </p:spPr>
        <p:txBody>
          <a:bodyPr rtlCol="0" anchor="ctr"/>
          <a:lstStyle/>
          <a:p>
            <a:endParaRPr lang="de-DE"/>
          </a:p>
        </p:txBody>
      </p:sp>
      <p:sp>
        <p:nvSpPr>
          <p:cNvPr id="178" name="Battery Passport Phase"/>
          <p:cNvSpPr txBox="1"/>
          <p:nvPr/>
        </p:nvSpPr>
        <p:spPr>
          <a:xfrm>
            <a:off x="2699194" y="244624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79" name="Product Passes Row Divider Phase"/>
          <p:cNvSpPr/>
          <p:nvPr/>
        </p:nvSpPr>
        <p:spPr>
          <a:xfrm>
            <a:off x="4031361" y="2382236"/>
            <a:ext cx="1153858" cy="6401"/>
          </a:xfrm>
          <a:prstGeom prst="rect">
            <a:avLst/>
          </a:prstGeom>
          <a:solidFill>
            <a:srgbClr val="E2E8EC"/>
          </a:solidFill>
          <a:ln>
            <a:noFill/>
          </a:ln>
          <a:effectLst/>
        </p:spPr>
        <p:txBody>
          <a:bodyPr rtlCol="0" anchor="ctr"/>
          <a:lstStyle/>
          <a:p>
            <a:endParaRPr lang="de-DE"/>
          </a:p>
        </p:txBody>
      </p:sp>
      <p:sp>
        <p:nvSpPr>
          <p:cNvPr id="180" name="Product Passes Phase"/>
          <p:cNvSpPr txBox="1"/>
          <p:nvPr/>
        </p:nvSpPr>
        <p:spPr>
          <a:xfrm>
            <a:off x="4031361" y="244624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81" name="PURIS Row Divider Phase"/>
          <p:cNvSpPr/>
          <p:nvPr/>
        </p:nvSpPr>
        <p:spPr>
          <a:xfrm>
            <a:off x="5363528" y="2382236"/>
            <a:ext cx="1153858" cy="6401"/>
          </a:xfrm>
          <a:prstGeom prst="rect">
            <a:avLst/>
          </a:prstGeom>
          <a:solidFill>
            <a:srgbClr val="E2E8EC"/>
          </a:solidFill>
          <a:ln>
            <a:noFill/>
          </a:ln>
          <a:effectLst/>
        </p:spPr>
        <p:txBody>
          <a:bodyPr rtlCol="0" anchor="ctr"/>
          <a:lstStyle/>
          <a:p>
            <a:endParaRPr lang="de-DE"/>
          </a:p>
        </p:txBody>
      </p:sp>
      <p:sp>
        <p:nvSpPr>
          <p:cNvPr id="182" name="PURIS Phase"/>
          <p:cNvSpPr txBox="1"/>
          <p:nvPr/>
        </p:nvSpPr>
        <p:spPr>
          <a:xfrm>
            <a:off x="5363528" y="244624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3" name="Business Partner Data Mgmt Row Divider Phase"/>
          <p:cNvSpPr/>
          <p:nvPr/>
        </p:nvSpPr>
        <p:spPr>
          <a:xfrm>
            <a:off x="6695694" y="2382236"/>
            <a:ext cx="1153858" cy="6401"/>
          </a:xfrm>
          <a:prstGeom prst="rect">
            <a:avLst/>
          </a:prstGeom>
          <a:solidFill>
            <a:srgbClr val="E2E8EC"/>
          </a:solidFill>
          <a:ln>
            <a:noFill/>
          </a:ln>
          <a:effectLst/>
        </p:spPr>
        <p:txBody>
          <a:bodyPr rtlCol="0" anchor="ctr"/>
          <a:lstStyle/>
          <a:p>
            <a:endParaRPr lang="de-DE"/>
          </a:p>
        </p:txBody>
      </p:sp>
      <p:sp>
        <p:nvSpPr>
          <p:cNvPr id="184" name="Business Partner Data Mgmt Phase"/>
          <p:cNvSpPr txBox="1"/>
          <p:nvPr/>
        </p:nvSpPr>
        <p:spPr>
          <a:xfrm>
            <a:off x="6695694" y="244624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Implementation</a:t>
            </a:r>
          </a:p>
        </p:txBody>
      </p:sp>
      <p:sp>
        <p:nvSpPr>
          <p:cNvPr id="185" name="Certificate Management Row Divider Phase"/>
          <p:cNvSpPr/>
          <p:nvPr/>
        </p:nvSpPr>
        <p:spPr>
          <a:xfrm>
            <a:off x="8027860" y="2382236"/>
            <a:ext cx="1153858" cy="6401"/>
          </a:xfrm>
          <a:prstGeom prst="rect">
            <a:avLst/>
          </a:prstGeom>
          <a:solidFill>
            <a:srgbClr val="E2E8EC"/>
          </a:solidFill>
          <a:ln>
            <a:noFill/>
          </a:ln>
          <a:effectLst/>
        </p:spPr>
        <p:txBody>
          <a:bodyPr rtlCol="0" anchor="ctr"/>
          <a:lstStyle/>
          <a:p>
            <a:endParaRPr lang="de-DE"/>
          </a:p>
        </p:txBody>
      </p:sp>
      <p:sp>
        <p:nvSpPr>
          <p:cNvPr id="186" name="Certificate Management Phase"/>
          <p:cNvSpPr txBox="1"/>
          <p:nvPr/>
        </p:nvSpPr>
        <p:spPr>
          <a:xfrm>
            <a:off x="8027860" y="244624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Scaling</a:t>
            </a:r>
          </a:p>
        </p:txBody>
      </p:sp>
      <p:sp>
        <p:nvSpPr>
          <p:cNvPr id="187" name="Product Carbon Footprint Row Divider Phase"/>
          <p:cNvSpPr/>
          <p:nvPr/>
        </p:nvSpPr>
        <p:spPr>
          <a:xfrm>
            <a:off x="9360027" y="2382236"/>
            <a:ext cx="1153858" cy="6401"/>
          </a:xfrm>
          <a:prstGeom prst="rect">
            <a:avLst/>
          </a:prstGeom>
          <a:solidFill>
            <a:srgbClr val="E2E8EC"/>
          </a:solidFill>
          <a:ln>
            <a:noFill/>
          </a:ln>
          <a:effectLst/>
        </p:spPr>
        <p:txBody>
          <a:bodyPr rtlCol="0" anchor="ctr"/>
          <a:lstStyle/>
          <a:p>
            <a:endParaRPr lang="de-DE"/>
          </a:p>
        </p:txBody>
      </p:sp>
      <p:sp>
        <p:nvSpPr>
          <p:cNvPr id="188" name="Product Carbon Footprint Phase"/>
          <p:cNvSpPr txBox="1"/>
          <p:nvPr/>
        </p:nvSpPr>
        <p:spPr>
          <a:xfrm>
            <a:off x="9360027" y="244624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Piloting</a:t>
            </a:r>
          </a:p>
        </p:txBody>
      </p:sp>
      <p:sp>
        <p:nvSpPr>
          <p:cNvPr id="189" name="N-Tier Row Divider Phase"/>
          <p:cNvSpPr/>
          <p:nvPr/>
        </p:nvSpPr>
        <p:spPr>
          <a:xfrm>
            <a:off x="10692193" y="2382236"/>
            <a:ext cx="1153858" cy="6401"/>
          </a:xfrm>
          <a:prstGeom prst="rect">
            <a:avLst/>
          </a:prstGeom>
          <a:solidFill>
            <a:srgbClr val="E2E8EC"/>
          </a:solidFill>
          <a:ln>
            <a:noFill/>
          </a:ln>
          <a:effectLst/>
        </p:spPr>
        <p:txBody>
          <a:bodyPr rtlCol="0" anchor="ctr"/>
          <a:lstStyle/>
          <a:p>
            <a:endParaRPr lang="de-DE"/>
          </a:p>
        </p:txBody>
      </p:sp>
      <p:sp>
        <p:nvSpPr>
          <p:cNvPr id="190" name="N-Tier Phase"/>
          <p:cNvSpPr txBox="1"/>
          <p:nvPr/>
        </p:nvSpPr>
        <p:spPr>
          <a:xfrm>
            <a:off x="10692193" y="2446244"/>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Definition &amp; Clarification</a:t>
            </a:r>
          </a:p>
        </p:txBody>
      </p:sp>
      <p:sp>
        <p:nvSpPr>
          <p:cNvPr id="191" name="Row Label E2E go-live target date"/>
          <p:cNvSpPr txBox="1"/>
          <p:nvPr/>
        </p:nvSpPr>
        <p:spPr>
          <a:xfrm>
            <a:off x="274320" y="2861109"/>
            <a:ext cx="987552" cy="354750"/>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E2E go-live target date</a:t>
            </a:r>
          </a:p>
        </p:txBody>
      </p:sp>
      <p:sp>
        <p:nvSpPr>
          <p:cNvPr id="192" name="Quality Row Divider E2E go-live target date"/>
          <p:cNvSpPr/>
          <p:nvPr/>
        </p:nvSpPr>
        <p:spPr>
          <a:xfrm>
            <a:off x="1367028" y="2797101"/>
            <a:ext cx="1153858" cy="6401"/>
          </a:xfrm>
          <a:prstGeom prst="rect">
            <a:avLst/>
          </a:prstGeom>
          <a:solidFill>
            <a:srgbClr val="E2E8EC"/>
          </a:solidFill>
          <a:ln>
            <a:noFill/>
          </a:ln>
          <a:effectLst/>
        </p:spPr>
        <p:txBody>
          <a:bodyPr rtlCol="0" anchor="ctr"/>
          <a:lstStyle/>
          <a:p>
            <a:endParaRPr lang="de-DE"/>
          </a:p>
        </p:txBody>
      </p:sp>
      <p:sp>
        <p:nvSpPr>
          <p:cNvPr id="193" name="Quality Go-live"/>
          <p:cNvSpPr txBox="1"/>
          <p:nvPr/>
        </p:nvSpPr>
        <p:spPr>
          <a:xfrm>
            <a:off x="1367028" y="2861109"/>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MVP Jan 2027</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Scaling until 2030</a:t>
            </a:r>
          </a:p>
        </p:txBody>
      </p:sp>
      <p:sp>
        <p:nvSpPr>
          <p:cNvPr id="194" name="Battery Passport Row Divider E2E go-live target date"/>
          <p:cNvSpPr/>
          <p:nvPr/>
        </p:nvSpPr>
        <p:spPr>
          <a:xfrm>
            <a:off x="2699194" y="2797101"/>
            <a:ext cx="1153858" cy="6401"/>
          </a:xfrm>
          <a:prstGeom prst="rect">
            <a:avLst/>
          </a:prstGeom>
          <a:solidFill>
            <a:srgbClr val="E2E8EC"/>
          </a:solidFill>
          <a:ln>
            <a:noFill/>
          </a:ln>
          <a:effectLst/>
        </p:spPr>
        <p:txBody>
          <a:bodyPr rtlCol="0" anchor="ctr"/>
          <a:lstStyle/>
          <a:p>
            <a:endParaRPr lang="de-DE"/>
          </a:p>
        </p:txBody>
      </p:sp>
      <p:sp>
        <p:nvSpPr>
          <p:cNvPr id="195" name="Battery Passport Go-live"/>
          <p:cNvSpPr txBox="1"/>
          <p:nvPr/>
        </p:nvSpPr>
        <p:spPr>
          <a:xfrm>
            <a:off x="2699194" y="2861109"/>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196" name="Product Passes Row Divider E2E go-live target date"/>
          <p:cNvSpPr/>
          <p:nvPr/>
        </p:nvSpPr>
        <p:spPr>
          <a:xfrm>
            <a:off x="4031361" y="2797101"/>
            <a:ext cx="1153858" cy="6401"/>
          </a:xfrm>
          <a:prstGeom prst="rect">
            <a:avLst/>
          </a:prstGeom>
          <a:solidFill>
            <a:srgbClr val="E2E8EC"/>
          </a:solidFill>
          <a:ln>
            <a:noFill/>
          </a:ln>
          <a:effectLst/>
        </p:spPr>
        <p:txBody>
          <a:bodyPr rtlCol="0" anchor="ctr"/>
          <a:lstStyle/>
          <a:p>
            <a:endParaRPr lang="de-DE"/>
          </a:p>
        </p:txBody>
      </p:sp>
      <p:sp>
        <p:nvSpPr>
          <p:cNvPr id="197" name="Product Passes Go-live"/>
          <p:cNvSpPr txBox="1"/>
          <p:nvPr/>
        </p:nvSpPr>
        <p:spPr>
          <a:xfrm>
            <a:off x="4031361" y="2861109"/>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98" name="PURIS Row Divider E2E go-live target date"/>
          <p:cNvSpPr/>
          <p:nvPr/>
        </p:nvSpPr>
        <p:spPr>
          <a:xfrm>
            <a:off x="5363528" y="2797101"/>
            <a:ext cx="1153858" cy="6401"/>
          </a:xfrm>
          <a:prstGeom prst="rect">
            <a:avLst/>
          </a:prstGeom>
          <a:solidFill>
            <a:srgbClr val="E2E8EC"/>
          </a:solidFill>
          <a:ln>
            <a:noFill/>
          </a:ln>
          <a:effectLst/>
        </p:spPr>
        <p:txBody>
          <a:bodyPr rtlCol="0" anchor="ctr"/>
          <a:lstStyle/>
          <a:p>
            <a:endParaRPr lang="de-DE"/>
          </a:p>
        </p:txBody>
      </p:sp>
      <p:sp>
        <p:nvSpPr>
          <p:cNvPr id="199" name="PURIS Go-live"/>
          <p:cNvSpPr txBox="1"/>
          <p:nvPr/>
        </p:nvSpPr>
        <p:spPr>
          <a:xfrm>
            <a:off x="5363528" y="2861109"/>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0" name="Business Partner Data Mgmt Row Divider E2E go-live target date"/>
          <p:cNvSpPr/>
          <p:nvPr/>
        </p:nvSpPr>
        <p:spPr>
          <a:xfrm>
            <a:off x="6695694" y="2797101"/>
            <a:ext cx="1153858" cy="6401"/>
          </a:xfrm>
          <a:prstGeom prst="rect">
            <a:avLst/>
          </a:prstGeom>
          <a:solidFill>
            <a:srgbClr val="E2E8EC"/>
          </a:solidFill>
          <a:ln>
            <a:noFill/>
          </a:ln>
          <a:effectLst/>
        </p:spPr>
        <p:txBody>
          <a:bodyPr rtlCol="0" anchor="ctr"/>
          <a:lstStyle/>
          <a:p>
            <a:endParaRPr lang="de-DE"/>
          </a:p>
        </p:txBody>
      </p:sp>
      <p:sp>
        <p:nvSpPr>
          <p:cNvPr id="201" name="Business Partner Data Mgmt Go-live"/>
          <p:cNvSpPr txBox="1"/>
          <p:nvPr/>
        </p:nvSpPr>
        <p:spPr>
          <a:xfrm>
            <a:off x="6695694" y="2861109"/>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Feb 2027</a:t>
            </a:r>
          </a:p>
        </p:txBody>
      </p:sp>
      <p:sp>
        <p:nvSpPr>
          <p:cNvPr id="202" name="Certificate Management Row Divider E2E go-live target date"/>
          <p:cNvSpPr/>
          <p:nvPr/>
        </p:nvSpPr>
        <p:spPr>
          <a:xfrm>
            <a:off x="8027860" y="2797101"/>
            <a:ext cx="1153858" cy="6401"/>
          </a:xfrm>
          <a:prstGeom prst="rect">
            <a:avLst/>
          </a:prstGeom>
          <a:solidFill>
            <a:srgbClr val="E2E8EC"/>
          </a:solidFill>
          <a:ln>
            <a:noFill/>
          </a:ln>
          <a:effectLst/>
        </p:spPr>
        <p:txBody>
          <a:bodyPr rtlCol="0" anchor="ctr"/>
          <a:lstStyle/>
          <a:p>
            <a:endParaRPr lang="de-DE"/>
          </a:p>
        </p:txBody>
      </p:sp>
      <p:sp>
        <p:nvSpPr>
          <p:cNvPr id="203" name="Certificate Management Go-live"/>
          <p:cNvSpPr txBox="1"/>
          <p:nvPr/>
        </p:nvSpPr>
        <p:spPr>
          <a:xfrm>
            <a:off x="8027860" y="2861109"/>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May 2028</a:t>
            </a:r>
          </a:p>
        </p:txBody>
      </p:sp>
      <p:sp>
        <p:nvSpPr>
          <p:cNvPr id="204" name="Product Carbon Footprint Row Divider E2E go-live target date"/>
          <p:cNvSpPr/>
          <p:nvPr/>
        </p:nvSpPr>
        <p:spPr>
          <a:xfrm>
            <a:off x="9360027" y="2797101"/>
            <a:ext cx="1153858" cy="6401"/>
          </a:xfrm>
          <a:prstGeom prst="rect">
            <a:avLst/>
          </a:prstGeom>
          <a:solidFill>
            <a:srgbClr val="E2E8EC"/>
          </a:solidFill>
          <a:ln>
            <a:noFill/>
          </a:ln>
          <a:effectLst/>
        </p:spPr>
        <p:txBody>
          <a:bodyPr rtlCol="0" anchor="ctr"/>
          <a:lstStyle/>
          <a:p>
            <a:endParaRPr lang="de-DE"/>
          </a:p>
        </p:txBody>
      </p:sp>
      <p:sp>
        <p:nvSpPr>
          <p:cNvPr id="205" name="Product Carbon Footprint Go-live"/>
          <p:cNvSpPr txBox="1"/>
          <p:nvPr/>
        </p:nvSpPr>
        <p:spPr>
          <a:xfrm>
            <a:off x="9360027" y="2861109"/>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Jan 2028</a:t>
            </a:r>
          </a:p>
        </p:txBody>
      </p:sp>
      <p:sp>
        <p:nvSpPr>
          <p:cNvPr id="206" name="N-Tier Row Divider E2E go-live target date"/>
          <p:cNvSpPr/>
          <p:nvPr/>
        </p:nvSpPr>
        <p:spPr>
          <a:xfrm>
            <a:off x="10692193" y="2797101"/>
            <a:ext cx="1153858" cy="6401"/>
          </a:xfrm>
          <a:prstGeom prst="rect">
            <a:avLst/>
          </a:prstGeom>
          <a:solidFill>
            <a:srgbClr val="E2E8EC"/>
          </a:solidFill>
          <a:ln>
            <a:noFill/>
          </a:ln>
          <a:effectLst/>
        </p:spPr>
        <p:txBody>
          <a:bodyPr rtlCol="0" anchor="ctr"/>
          <a:lstStyle/>
          <a:p>
            <a:endParaRPr lang="de-DE"/>
          </a:p>
        </p:txBody>
      </p:sp>
      <p:sp>
        <p:nvSpPr>
          <p:cNvPr id="207" name="N-Tier Go-live"/>
          <p:cNvSpPr txBox="1"/>
          <p:nvPr/>
        </p:nvSpPr>
        <p:spPr>
          <a:xfrm>
            <a:off x="10692193" y="2861109"/>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208" name="Row Label Suppliers enabled 2026"/>
          <p:cNvSpPr txBox="1"/>
          <p:nvPr/>
        </p:nvSpPr>
        <p:spPr>
          <a:xfrm>
            <a:off x="274320" y="3279868"/>
            <a:ext cx="987552" cy="354750"/>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Suppliers enabled 2026</a:t>
            </a:r>
          </a:p>
        </p:txBody>
      </p:sp>
      <p:sp>
        <p:nvSpPr>
          <p:cNvPr id="209" name="Quality Row Divider Suppliers enabled 2026"/>
          <p:cNvSpPr/>
          <p:nvPr/>
        </p:nvSpPr>
        <p:spPr>
          <a:xfrm>
            <a:off x="1367028" y="3215860"/>
            <a:ext cx="1153858" cy="6401"/>
          </a:xfrm>
          <a:prstGeom prst="rect">
            <a:avLst/>
          </a:prstGeom>
          <a:solidFill>
            <a:srgbClr val="E2E8EC"/>
          </a:solidFill>
          <a:ln>
            <a:noFill/>
          </a:ln>
          <a:effectLst/>
        </p:spPr>
        <p:txBody>
          <a:bodyPr rtlCol="0" anchor="ctr"/>
          <a:lstStyle/>
          <a:p>
            <a:endParaRPr lang="de-DE"/>
          </a:p>
        </p:txBody>
      </p:sp>
      <p:sp>
        <p:nvSpPr>
          <p:cNvPr id="210" name="Quality Suppliers"/>
          <p:cNvSpPr txBox="1"/>
          <p:nvPr/>
        </p:nvSpPr>
        <p:spPr>
          <a:xfrm>
            <a:off x="1367028" y="3279868"/>
            <a:ext cx="1153858" cy="31038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2</a:t>
            </a:r>
            <a:r>
              <a:rPr lang="de-DE" sz="900" b="0" kern="0" dirty="0">
                <a:solidFill>
                  <a:srgbClr val="63707A"/>
                </a:solidFill>
                <a:latin typeface="Segoe UI" pitchFamily="34" charset="0"/>
                <a:ea typeface="Segoe UI" pitchFamily="34" charset="-122"/>
                <a:cs typeface="Segoe UI" pitchFamily="34" charset="-120"/>
              </a:rPr>
              <a:t>  0%</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rescoped from 15</a:t>
            </a:r>
          </a:p>
        </p:txBody>
      </p:sp>
      <p:sp>
        <p:nvSpPr>
          <p:cNvPr id="211" name="Battery Passport Row Divider Suppliers enabled 2026"/>
          <p:cNvSpPr/>
          <p:nvPr/>
        </p:nvSpPr>
        <p:spPr>
          <a:xfrm>
            <a:off x="2699194" y="3215860"/>
            <a:ext cx="1153858" cy="6401"/>
          </a:xfrm>
          <a:prstGeom prst="rect">
            <a:avLst/>
          </a:prstGeom>
          <a:solidFill>
            <a:srgbClr val="E2E8EC"/>
          </a:solidFill>
          <a:ln>
            <a:noFill/>
          </a:ln>
          <a:effectLst/>
        </p:spPr>
        <p:txBody>
          <a:bodyPr rtlCol="0" anchor="ctr"/>
          <a:lstStyle/>
          <a:p>
            <a:endParaRPr lang="de-DE"/>
          </a:p>
        </p:txBody>
      </p:sp>
      <p:sp>
        <p:nvSpPr>
          <p:cNvPr id="212" name="Battery Passport Suppliers"/>
          <p:cNvSpPr txBox="1"/>
          <p:nvPr/>
        </p:nvSpPr>
        <p:spPr>
          <a:xfrm>
            <a:off x="2699194" y="3279868"/>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3" name="Product Passes Row Divider Suppliers enabled 2026"/>
          <p:cNvSpPr/>
          <p:nvPr/>
        </p:nvSpPr>
        <p:spPr>
          <a:xfrm>
            <a:off x="4031361" y="3215860"/>
            <a:ext cx="1153858" cy="6401"/>
          </a:xfrm>
          <a:prstGeom prst="rect">
            <a:avLst/>
          </a:prstGeom>
          <a:solidFill>
            <a:srgbClr val="E2E8EC"/>
          </a:solidFill>
          <a:ln>
            <a:noFill/>
          </a:ln>
          <a:effectLst/>
        </p:spPr>
        <p:txBody>
          <a:bodyPr rtlCol="0" anchor="ctr"/>
          <a:lstStyle/>
          <a:p>
            <a:endParaRPr lang="de-DE"/>
          </a:p>
        </p:txBody>
      </p:sp>
      <p:sp>
        <p:nvSpPr>
          <p:cNvPr id="214" name="Product Passes Suppliers"/>
          <p:cNvSpPr txBox="1"/>
          <p:nvPr/>
        </p:nvSpPr>
        <p:spPr>
          <a:xfrm>
            <a:off x="4031361" y="3279868"/>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5" name="PURIS Row Divider Suppliers enabled 2026"/>
          <p:cNvSpPr/>
          <p:nvPr/>
        </p:nvSpPr>
        <p:spPr>
          <a:xfrm>
            <a:off x="5363528" y="3215860"/>
            <a:ext cx="1153858" cy="6401"/>
          </a:xfrm>
          <a:prstGeom prst="rect">
            <a:avLst/>
          </a:prstGeom>
          <a:solidFill>
            <a:srgbClr val="E2E8EC"/>
          </a:solidFill>
          <a:ln>
            <a:noFill/>
          </a:ln>
          <a:effectLst/>
        </p:spPr>
        <p:txBody>
          <a:bodyPr rtlCol="0" anchor="ctr"/>
          <a:lstStyle/>
          <a:p>
            <a:endParaRPr lang="de-DE"/>
          </a:p>
        </p:txBody>
      </p:sp>
      <p:sp>
        <p:nvSpPr>
          <p:cNvPr id="216" name="PURIS Suppliers"/>
          <p:cNvSpPr txBox="1"/>
          <p:nvPr/>
        </p:nvSpPr>
        <p:spPr>
          <a:xfrm>
            <a:off x="5363528" y="3279868"/>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1 / 6</a:t>
            </a:r>
            <a:r>
              <a:rPr lang="de-DE" sz="900" b="0" kern="0" dirty="0">
                <a:solidFill>
                  <a:srgbClr val="63707A"/>
                </a:solidFill>
                <a:latin typeface="Segoe UI" pitchFamily="34" charset="0"/>
                <a:ea typeface="Segoe UI" pitchFamily="34" charset="-122"/>
                <a:cs typeface="Segoe UI" pitchFamily="34" charset="-120"/>
              </a:rPr>
              <a:t>  17%</a:t>
            </a:r>
          </a:p>
        </p:txBody>
      </p:sp>
      <p:sp>
        <p:nvSpPr>
          <p:cNvPr id="217" name="Business Partner Data Mgmt Row Divider Suppliers enabled 2026"/>
          <p:cNvSpPr/>
          <p:nvPr/>
        </p:nvSpPr>
        <p:spPr>
          <a:xfrm>
            <a:off x="6695694" y="3215860"/>
            <a:ext cx="1153858" cy="6401"/>
          </a:xfrm>
          <a:prstGeom prst="rect">
            <a:avLst/>
          </a:prstGeom>
          <a:solidFill>
            <a:srgbClr val="E2E8EC"/>
          </a:solidFill>
          <a:ln>
            <a:noFill/>
          </a:ln>
          <a:effectLst/>
        </p:spPr>
        <p:txBody>
          <a:bodyPr rtlCol="0" anchor="ctr"/>
          <a:lstStyle/>
          <a:p>
            <a:endParaRPr lang="de-DE"/>
          </a:p>
        </p:txBody>
      </p:sp>
      <p:sp>
        <p:nvSpPr>
          <p:cNvPr id="218" name="Business Partner Data Mgmt Suppliers"/>
          <p:cNvSpPr txBox="1"/>
          <p:nvPr/>
        </p:nvSpPr>
        <p:spPr>
          <a:xfrm>
            <a:off x="6695694" y="3279868"/>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19" name="Certificate Management Row Divider Suppliers enabled 2026"/>
          <p:cNvSpPr/>
          <p:nvPr/>
        </p:nvSpPr>
        <p:spPr>
          <a:xfrm>
            <a:off x="8027860" y="3215860"/>
            <a:ext cx="1153858" cy="6401"/>
          </a:xfrm>
          <a:prstGeom prst="rect">
            <a:avLst/>
          </a:prstGeom>
          <a:solidFill>
            <a:srgbClr val="E2E8EC"/>
          </a:solidFill>
          <a:ln>
            <a:noFill/>
          </a:ln>
          <a:effectLst/>
        </p:spPr>
        <p:txBody>
          <a:bodyPr rtlCol="0" anchor="ctr"/>
          <a:lstStyle/>
          <a:p>
            <a:endParaRPr lang="de-DE"/>
          </a:p>
        </p:txBody>
      </p:sp>
      <p:sp>
        <p:nvSpPr>
          <p:cNvPr id="220" name="Certificate Management Suppliers"/>
          <p:cNvSpPr txBox="1"/>
          <p:nvPr/>
        </p:nvSpPr>
        <p:spPr>
          <a:xfrm>
            <a:off x="8027860" y="3279868"/>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89 / 100</a:t>
            </a:r>
            <a:r>
              <a:rPr lang="de-DE" sz="900" b="0" kern="0" dirty="0">
                <a:solidFill>
                  <a:srgbClr val="63707A"/>
                </a:solidFill>
                <a:latin typeface="Segoe UI" pitchFamily="34" charset="0"/>
                <a:ea typeface="Segoe UI" pitchFamily="34" charset="-122"/>
                <a:cs typeface="Segoe UI" pitchFamily="34" charset="-120"/>
              </a:rPr>
              <a:t>  89%</a:t>
            </a:r>
          </a:p>
        </p:txBody>
      </p:sp>
      <p:sp>
        <p:nvSpPr>
          <p:cNvPr id="221" name="Product Carbon Footprint Row Divider Suppliers enabled 2026"/>
          <p:cNvSpPr/>
          <p:nvPr/>
        </p:nvSpPr>
        <p:spPr>
          <a:xfrm>
            <a:off x="9360027" y="3215860"/>
            <a:ext cx="1153858" cy="6401"/>
          </a:xfrm>
          <a:prstGeom prst="rect">
            <a:avLst/>
          </a:prstGeom>
          <a:solidFill>
            <a:srgbClr val="E2E8EC"/>
          </a:solidFill>
          <a:ln>
            <a:noFill/>
          </a:ln>
          <a:effectLst/>
        </p:spPr>
        <p:txBody>
          <a:bodyPr rtlCol="0" anchor="ctr"/>
          <a:lstStyle/>
          <a:p>
            <a:endParaRPr lang="de-DE"/>
          </a:p>
        </p:txBody>
      </p:sp>
      <p:sp>
        <p:nvSpPr>
          <p:cNvPr id="222" name="Product Carbon Footprint Suppliers"/>
          <p:cNvSpPr txBox="1"/>
          <p:nvPr/>
        </p:nvSpPr>
        <p:spPr>
          <a:xfrm>
            <a:off x="9360027" y="3279868"/>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 / 1</a:t>
            </a:r>
            <a:r>
              <a:rPr lang="de-DE" sz="900" b="0" kern="0" dirty="0">
                <a:solidFill>
                  <a:srgbClr val="63707A"/>
                </a:solidFill>
                <a:latin typeface="Segoe UI" pitchFamily="34" charset="0"/>
                <a:ea typeface="Segoe UI" pitchFamily="34" charset="-122"/>
                <a:cs typeface="Segoe UI" pitchFamily="34" charset="-120"/>
              </a:rPr>
              <a:t>  0%</a:t>
            </a:r>
          </a:p>
        </p:txBody>
      </p:sp>
      <p:sp>
        <p:nvSpPr>
          <p:cNvPr id="223" name="N-Tier Row Divider Suppliers enabled 2026"/>
          <p:cNvSpPr/>
          <p:nvPr/>
        </p:nvSpPr>
        <p:spPr>
          <a:xfrm>
            <a:off x="10692193" y="3215860"/>
            <a:ext cx="1153858" cy="6401"/>
          </a:xfrm>
          <a:prstGeom prst="rect">
            <a:avLst/>
          </a:prstGeom>
          <a:solidFill>
            <a:srgbClr val="E2E8EC"/>
          </a:solidFill>
          <a:ln>
            <a:noFill/>
          </a:ln>
          <a:effectLst/>
        </p:spPr>
        <p:txBody>
          <a:bodyPr rtlCol="0" anchor="ctr"/>
          <a:lstStyle/>
          <a:p>
            <a:endParaRPr lang="de-DE"/>
          </a:p>
        </p:txBody>
      </p:sp>
      <p:sp>
        <p:nvSpPr>
          <p:cNvPr id="224" name="N-Tier Suppliers"/>
          <p:cNvSpPr txBox="1"/>
          <p:nvPr/>
        </p:nvSpPr>
        <p:spPr>
          <a:xfrm>
            <a:off x="10692193" y="3279868"/>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N/A</a:t>
            </a:r>
          </a:p>
        </p:txBody>
      </p:sp>
      <p:sp>
        <p:nvSpPr>
          <p:cNvPr id="225" name="Row Label Next critical milestone"/>
          <p:cNvSpPr txBox="1"/>
          <p:nvPr/>
        </p:nvSpPr>
        <p:spPr>
          <a:xfrm>
            <a:off x="274320" y="3698626"/>
            <a:ext cx="987552" cy="646850"/>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226" name="Quality Row Divider Next critical milestone"/>
          <p:cNvSpPr/>
          <p:nvPr/>
        </p:nvSpPr>
        <p:spPr>
          <a:xfrm>
            <a:off x="1367028" y="3634618"/>
            <a:ext cx="1153858" cy="6401"/>
          </a:xfrm>
          <a:prstGeom prst="rect">
            <a:avLst/>
          </a:prstGeom>
          <a:solidFill>
            <a:srgbClr val="E2E8EC"/>
          </a:solidFill>
          <a:ln>
            <a:noFill/>
          </a:ln>
          <a:effectLst/>
        </p:spPr>
        <p:txBody>
          <a:bodyPr rtlCol="0" anchor="ctr"/>
          <a:lstStyle/>
          <a:p>
            <a:endParaRPr lang="de-DE"/>
          </a:p>
        </p:txBody>
      </p:sp>
      <p:sp>
        <p:nvSpPr>
          <p:cNvPr id="227" name="Quality Milestone Dot"/>
          <p:cNvSpPr/>
          <p:nvPr/>
        </p:nvSpPr>
        <p:spPr>
          <a:xfrm>
            <a:off x="1367028" y="3735202"/>
            <a:ext cx="73152" cy="73152"/>
          </a:xfrm>
          <a:prstGeom prst="ellipse">
            <a:avLst/>
          </a:prstGeom>
          <a:solidFill>
            <a:srgbClr val="F0B135"/>
          </a:solidFill>
          <a:ln>
            <a:noFill/>
          </a:ln>
          <a:effectLst/>
        </p:spPr>
        <p:txBody>
          <a:bodyPr rtlCol="0" anchor="ctr"/>
          <a:lstStyle/>
          <a:p>
            <a:endParaRPr lang="de-DE"/>
          </a:p>
        </p:txBody>
      </p:sp>
      <p:sp>
        <p:nvSpPr>
          <p:cNvPr id="228" name="Quality Milestone"/>
          <p:cNvSpPr txBox="1"/>
          <p:nvPr/>
        </p:nvSpPr>
        <p:spPr>
          <a:xfrm>
            <a:off x="1504188" y="3698626"/>
            <a:ext cx="1016699" cy="6024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Domain expertise &amp; ownership aligned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30 Sep 2026</a:t>
            </a:r>
          </a:p>
        </p:txBody>
      </p:sp>
      <p:sp>
        <p:nvSpPr>
          <p:cNvPr id="229" name="Battery Passport Row Divider Next critical milestone"/>
          <p:cNvSpPr/>
          <p:nvPr/>
        </p:nvSpPr>
        <p:spPr>
          <a:xfrm>
            <a:off x="2699194" y="3634618"/>
            <a:ext cx="1153858" cy="6401"/>
          </a:xfrm>
          <a:prstGeom prst="rect">
            <a:avLst/>
          </a:prstGeom>
          <a:solidFill>
            <a:srgbClr val="E2E8EC"/>
          </a:solidFill>
          <a:ln>
            <a:noFill/>
          </a:ln>
          <a:effectLst/>
        </p:spPr>
        <p:txBody>
          <a:bodyPr rtlCol="0" anchor="ctr"/>
          <a:lstStyle/>
          <a:p>
            <a:endParaRPr lang="de-DE"/>
          </a:p>
        </p:txBody>
      </p:sp>
      <p:sp>
        <p:nvSpPr>
          <p:cNvPr id="230" name="Battery Passport Milestone"/>
          <p:cNvSpPr txBox="1"/>
          <p:nvPr/>
        </p:nvSpPr>
        <p:spPr>
          <a:xfrm>
            <a:off x="2699194" y="3698626"/>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1" name="Product Passes Row Divider Next critical milestone"/>
          <p:cNvSpPr/>
          <p:nvPr/>
        </p:nvSpPr>
        <p:spPr>
          <a:xfrm>
            <a:off x="4031361" y="3634618"/>
            <a:ext cx="1153858" cy="6401"/>
          </a:xfrm>
          <a:prstGeom prst="rect">
            <a:avLst/>
          </a:prstGeom>
          <a:solidFill>
            <a:srgbClr val="E2E8EC"/>
          </a:solidFill>
          <a:ln>
            <a:noFill/>
          </a:ln>
          <a:effectLst/>
        </p:spPr>
        <p:txBody>
          <a:bodyPr rtlCol="0" anchor="ctr"/>
          <a:lstStyle/>
          <a:p>
            <a:endParaRPr lang="de-DE"/>
          </a:p>
        </p:txBody>
      </p:sp>
      <p:sp>
        <p:nvSpPr>
          <p:cNvPr id="232" name="Product Passes Milestone Dot"/>
          <p:cNvSpPr/>
          <p:nvPr/>
        </p:nvSpPr>
        <p:spPr>
          <a:xfrm>
            <a:off x="4031361" y="3735202"/>
            <a:ext cx="73152" cy="73152"/>
          </a:xfrm>
          <a:prstGeom prst="ellipse">
            <a:avLst/>
          </a:prstGeom>
          <a:solidFill>
            <a:srgbClr val="F0B135"/>
          </a:solidFill>
          <a:ln>
            <a:noFill/>
          </a:ln>
          <a:effectLst/>
        </p:spPr>
        <p:txBody>
          <a:bodyPr rtlCol="0" anchor="ctr"/>
          <a:lstStyle/>
          <a:p>
            <a:endParaRPr lang="de-DE"/>
          </a:p>
        </p:txBody>
      </p:sp>
      <p:sp>
        <p:nvSpPr>
          <p:cNvPr id="233" name="Product Passes Milestone"/>
          <p:cNvSpPr txBox="1"/>
          <p:nvPr/>
        </p:nvSpPr>
        <p:spPr>
          <a:xfrm>
            <a:off x="4168521" y="3698626"/>
            <a:ext cx="1016699"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Product passes prioritized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Oct 2026</a:t>
            </a:r>
          </a:p>
        </p:txBody>
      </p:sp>
      <p:sp>
        <p:nvSpPr>
          <p:cNvPr id="234" name="PURIS Row Divider Next critical milestone"/>
          <p:cNvSpPr/>
          <p:nvPr/>
        </p:nvSpPr>
        <p:spPr>
          <a:xfrm>
            <a:off x="5363528" y="3634618"/>
            <a:ext cx="1153858" cy="6401"/>
          </a:xfrm>
          <a:prstGeom prst="rect">
            <a:avLst/>
          </a:prstGeom>
          <a:solidFill>
            <a:srgbClr val="E2E8EC"/>
          </a:solidFill>
          <a:ln>
            <a:noFill/>
          </a:ln>
          <a:effectLst/>
        </p:spPr>
        <p:txBody>
          <a:bodyPr rtlCol="0" anchor="ctr"/>
          <a:lstStyle/>
          <a:p>
            <a:endParaRPr lang="de-DE"/>
          </a:p>
        </p:txBody>
      </p:sp>
      <p:sp>
        <p:nvSpPr>
          <p:cNvPr id="235" name="PURIS Milestone Dot"/>
          <p:cNvSpPr/>
          <p:nvPr/>
        </p:nvSpPr>
        <p:spPr>
          <a:xfrm>
            <a:off x="5363528" y="3735202"/>
            <a:ext cx="73152" cy="73152"/>
          </a:xfrm>
          <a:prstGeom prst="ellipse">
            <a:avLst/>
          </a:prstGeom>
          <a:solidFill>
            <a:srgbClr val="F0B135"/>
          </a:solidFill>
          <a:ln>
            <a:noFill/>
          </a:ln>
          <a:effectLst/>
        </p:spPr>
        <p:txBody>
          <a:bodyPr rtlCol="0" anchor="ctr"/>
          <a:lstStyle/>
          <a:p>
            <a:endParaRPr lang="de-DE"/>
          </a:p>
        </p:txBody>
      </p:sp>
      <p:sp>
        <p:nvSpPr>
          <p:cNvPr id="236" name="PURIS Milestone"/>
          <p:cNvSpPr txBox="1"/>
          <p:nvPr/>
        </p:nvSpPr>
        <p:spPr>
          <a:xfrm>
            <a:off x="5500688" y="3698626"/>
            <a:ext cx="1016699"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Plan for existing challenges ready</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09 Oct 2026</a:t>
            </a:r>
          </a:p>
        </p:txBody>
      </p:sp>
      <p:sp>
        <p:nvSpPr>
          <p:cNvPr id="237" name="Business Partner Data Mgmt Row Divider Next critical milestone"/>
          <p:cNvSpPr/>
          <p:nvPr/>
        </p:nvSpPr>
        <p:spPr>
          <a:xfrm>
            <a:off x="6695694" y="3634618"/>
            <a:ext cx="1153858" cy="6401"/>
          </a:xfrm>
          <a:prstGeom prst="rect">
            <a:avLst/>
          </a:prstGeom>
          <a:solidFill>
            <a:srgbClr val="E2E8EC"/>
          </a:solidFill>
          <a:ln>
            <a:noFill/>
          </a:ln>
          <a:effectLst/>
        </p:spPr>
        <p:txBody>
          <a:bodyPr rtlCol="0" anchor="ctr"/>
          <a:lstStyle/>
          <a:p>
            <a:endParaRPr lang="de-DE"/>
          </a:p>
        </p:txBody>
      </p:sp>
      <p:sp>
        <p:nvSpPr>
          <p:cNvPr id="238" name="Business Partner Data Mgmt Milestone"/>
          <p:cNvSpPr txBox="1"/>
          <p:nvPr/>
        </p:nvSpPr>
        <p:spPr>
          <a:xfrm>
            <a:off x="6695694" y="3698626"/>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39" name="Certificate Management Row Divider Next critical milestone"/>
          <p:cNvSpPr/>
          <p:nvPr/>
        </p:nvSpPr>
        <p:spPr>
          <a:xfrm>
            <a:off x="8027860" y="3634618"/>
            <a:ext cx="1153858" cy="6401"/>
          </a:xfrm>
          <a:prstGeom prst="rect">
            <a:avLst/>
          </a:prstGeom>
          <a:solidFill>
            <a:srgbClr val="E2E8EC"/>
          </a:solidFill>
          <a:ln>
            <a:noFill/>
          </a:ln>
          <a:effectLst/>
        </p:spPr>
        <p:txBody>
          <a:bodyPr rtlCol="0" anchor="ctr"/>
          <a:lstStyle/>
          <a:p>
            <a:endParaRPr lang="de-DE"/>
          </a:p>
        </p:txBody>
      </p:sp>
      <p:sp>
        <p:nvSpPr>
          <p:cNvPr id="240" name="Certificate Management Milestone Dot"/>
          <p:cNvSpPr/>
          <p:nvPr/>
        </p:nvSpPr>
        <p:spPr>
          <a:xfrm>
            <a:off x="8027860" y="3735202"/>
            <a:ext cx="73152" cy="73152"/>
          </a:xfrm>
          <a:prstGeom prst="ellipse">
            <a:avLst/>
          </a:prstGeom>
          <a:solidFill>
            <a:srgbClr val="F0B135"/>
          </a:solidFill>
          <a:ln>
            <a:noFill/>
          </a:ln>
          <a:effectLst/>
        </p:spPr>
        <p:txBody>
          <a:bodyPr rtlCol="0" anchor="ctr"/>
          <a:lstStyle/>
          <a:p>
            <a:endParaRPr lang="de-DE"/>
          </a:p>
        </p:txBody>
      </p:sp>
      <p:sp>
        <p:nvSpPr>
          <p:cNvPr id="241" name="Certificate Management Milestone"/>
          <p:cNvSpPr txBox="1"/>
          <p:nvPr/>
        </p:nvSpPr>
        <p:spPr>
          <a:xfrm>
            <a:off x="8165020" y="3698626"/>
            <a:ext cx="1016699"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Official CX CCM release</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Sep 2026</a:t>
            </a:r>
          </a:p>
        </p:txBody>
      </p:sp>
      <p:sp>
        <p:nvSpPr>
          <p:cNvPr id="242" name="Product Carbon Footprint Row Divider Next critical milestone"/>
          <p:cNvSpPr/>
          <p:nvPr/>
        </p:nvSpPr>
        <p:spPr>
          <a:xfrm>
            <a:off x="9360027" y="3634618"/>
            <a:ext cx="1153858" cy="6401"/>
          </a:xfrm>
          <a:prstGeom prst="rect">
            <a:avLst/>
          </a:prstGeom>
          <a:solidFill>
            <a:srgbClr val="E2E8EC"/>
          </a:solidFill>
          <a:ln>
            <a:noFill/>
          </a:ln>
          <a:effectLst/>
        </p:spPr>
        <p:txBody>
          <a:bodyPr rtlCol="0" anchor="ctr"/>
          <a:lstStyle/>
          <a:p>
            <a:endParaRPr lang="de-DE"/>
          </a:p>
        </p:txBody>
      </p:sp>
      <p:sp>
        <p:nvSpPr>
          <p:cNvPr id="243" name="Product Carbon Footprint Milestone Dot"/>
          <p:cNvSpPr/>
          <p:nvPr/>
        </p:nvSpPr>
        <p:spPr>
          <a:xfrm>
            <a:off x="9360027" y="3735202"/>
            <a:ext cx="73152" cy="73152"/>
          </a:xfrm>
          <a:prstGeom prst="ellipse">
            <a:avLst/>
          </a:prstGeom>
          <a:solidFill>
            <a:srgbClr val="F0B135"/>
          </a:solidFill>
          <a:ln>
            <a:noFill/>
          </a:ln>
          <a:effectLst/>
        </p:spPr>
        <p:txBody>
          <a:bodyPr rtlCol="0" anchor="ctr"/>
          <a:lstStyle/>
          <a:p>
            <a:endParaRPr lang="de-DE"/>
          </a:p>
        </p:txBody>
      </p:sp>
      <p:sp>
        <p:nvSpPr>
          <p:cNvPr id="244" name="Product Carbon Footprint Milestone"/>
          <p:cNvSpPr txBox="1"/>
          <p:nvPr/>
        </p:nvSpPr>
        <p:spPr>
          <a:xfrm>
            <a:off x="9497187" y="3698626"/>
            <a:ext cx="1016699"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Supplier activation pilot stage 1</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15 Oct 2026</a:t>
            </a:r>
          </a:p>
        </p:txBody>
      </p:sp>
      <p:sp>
        <p:nvSpPr>
          <p:cNvPr id="245" name="N-Tier Row Divider Next critical milestone"/>
          <p:cNvSpPr/>
          <p:nvPr/>
        </p:nvSpPr>
        <p:spPr>
          <a:xfrm>
            <a:off x="10692193" y="3634618"/>
            <a:ext cx="1153858" cy="6401"/>
          </a:xfrm>
          <a:prstGeom prst="rect">
            <a:avLst/>
          </a:prstGeom>
          <a:solidFill>
            <a:srgbClr val="E2E8EC"/>
          </a:solidFill>
          <a:ln>
            <a:noFill/>
          </a:ln>
          <a:effectLst/>
        </p:spPr>
        <p:txBody>
          <a:bodyPr rtlCol="0" anchor="ctr"/>
          <a:lstStyle/>
          <a:p>
            <a:endParaRPr lang="de-DE"/>
          </a:p>
        </p:txBody>
      </p:sp>
      <p:sp>
        <p:nvSpPr>
          <p:cNvPr id="246" name="N-Tier Milestone"/>
          <p:cNvSpPr txBox="1"/>
          <p:nvPr/>
        </p:nvSpPr>
        <p:spPr>
          <a:xfrm>
            <a:off x="10692193" y="3698626"/>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47" name="Row Label Dimensions"/>
          <p:cNvSpPr txBox="1"/>
          <p:nvPr/>
        </p:nvSpPr>
        <p:spPr>
          <a:xfrm>
            <a:off x="274320" y="4409485"/>
            <a:ext cx="987552" cy="1105871"/>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48" name="Dim Label External · CX Association"/>
          <p:cNvSpPr txBox="1"/>
          <p:nvPr/>
        </p:nvSpPr>
        <p:spPr>
          <a:xfrm>
            <a:off x="347472" y="4592111"/>
            <a:ext cx="914400" cy="173676"/>
          </a:xfrm>
          <a:prstGeom prst="rect">
            <a:avLst/>
          </a:prstGeom>
          <a:noFill/>
          <a:ln>
            <a:noFill/>
          </a:ln>
        </p:spPr>
        <p:txBody>
          <a:bodyPr wrap="none" lIns="0" tIns="0" rIns="0" bIns="0" rtlCol="0" anchor="ctr">
            <a:noAutofit/>
          </a:bodyPr>
          <a:lstStyle/>
          <a:p>
            <a:pPr marL="0" indent="0" algn="l">
              <a:buNone/>
            </a:pPr>
            <a:r>
              <a:rPr lang="de-DE" sz="850" b="0" kern="0" dirty="0">
                <a:solidFill>
                  <a:srgbClr val="99D1CD"/>
                </a:solidFill>
                <a:latin typeface="Segoe UI" pitchFamily="34" charset="0"/>
                <a:ea typeface="Segoe UI" pitchFamily="34" charset="-122"/>
                <a:cs typeface="Segoe UI" pitchFamily="34" charset="-120"/>
              </a:rPr>
              <a:t>CX Association</a:t>
            </a:r>
          </a:p>
        </p:txBody>
      </p:sp>
      <p:sp>
        <p:nvSpPr>
          <p:cNvPr id="249" name="Dim Label Business"/>
          <p:cNvSpPr txBox="1"/>
          <p:nvPr/>
        </p:nvSpPr>
        <p:spPr>
          <a:xfrm>
            <a:off x="347472" y="4765787"/>
            <a:ext cx="914400" cy="173676"/>
          </a:xfrm>
          <a:prstGeom prst="rect">
            <a:avLst/>
          </a:prstGeom>
          <a:noFill/>
          <a:ln>
            <a:noFill/>
          </a:ln>
        </p:spPr>
        <p:txBody>
          <a:bodyPr wrap="none" lIns="0" tIns="0" rIns="0" bIns="0" rtlCol="0" anchor="ctr">
            <a:noAutofit/>
          </a:bodyPr>
          <a:lstStyle/>
          <a:p>
            <a:pPr marL="0" indent="0" algn="l">
              <a:buNone/>
            </a:pPr>
            <a:r>
              <a:rPr lang="de-DE" sz="850" b="0" kern="0" dirty="0">
                <a:solidFill>
                  <a:srgbClr val="99D1CD"/>
                </a:solidFill>
                <a:latin typeface="Segoe UI" pitchFamily="34" charset="0"/>
                <a:ea typeface="Segoe UI" pitchFamily="34" charset="-122"/>
                <a:cs typeface="Segoe UI" pitchFamily="34" charset="-120"/>
              </a:rPr>
              <a:t>Business</a:t>
            </a:r>
          </a:p>
        </p:txBody>
      </p:sp>
      <p:sp>
        <p:nvSpPr>
          <p:cNvPr id="250" name="Dim Label Data Provisioning"/>
          <p:cNvSpPr txBox="1"/>
          <p:nvPr/>
        </p:nvSpPr>
        <p:spPr>
          <a:xfrm>
            <a:off x="347472" y="4939463"/>
            <a:ext cx="914400" cy="173676"/>
          </a:xfrm>
          <a:prstGeom prst="rect">
            <a:avLst/>
          </a:prstGeom>
          <a:noFill/>
          <a:ln>
            <a:noFill/>
          </a:ln>
        </p:spPr>
        <p:txBody>
          <a:bodyPr wrap="none" lIns="0" tIns="0" rIns="0" bIns="0" rtlCol="0" anchor="ctr">
            <a:noAutofit/>
          </a:bodyPr>
          <a:lstStyle/>
          <a:p>
            <a:pPr marL="0" indent="0" algn="l">
              <a:buNone/>
            </a:pPr>
            <a:r>
              <a:rPr lang="de-DE" sz="850" b="0" kern="0" dirty="0">
                <a:solidFill>
                  <a:srgbClr val="99D1CD"/>
                </a:solidFill>
                <a:latin typeface="Segoe UI" pitchFamily="34" charset="0"/>
                <a:ea typeface="Segoe UI" pitchFamily="34" charset="-122"/>
                <a:cs typeface="Segoe UI" pitchFamily="34" charset="-120"/>
              </a:rPr>
              <a:t>Data Provisioning</a:t>
            </a:r>
          </a:p>
        </p:txBody>
      </p:sp>
      <p:sp>
        <p:nvSpPr>
          <p:cNvPr id="251" name="Dim Label Technical"/>
          <p:cNvSpPr txBox="1"/>
          <p:nvPr/>
        </p:nvSpPr>
        <p:spPr>
          <a:xfrm>
            <a:off x="347472" y="5113140"/>
            <a:ext cx="914400" cy="173676"/>
          </a:xfrm>
          <a:prstGeom prst="rect">
            <a:avLst/>
          </a:prstGeom>
          <a:noFill/>
          <a:ln>
            <a:noFill/>
          </a:ln>
        </p:spPr>
        <p:txBody>
          <a:bodyPr wrap="none" lIns="0" tIns="0" rIns="0" bIns="0" rtlCol="0" anchor="ctr">
            <a:noAutofit/>
          </a:bodyPr>
          <a:lstStyle/>
          <a:p>
            <a:pPr marL="0" indent="0" algn="l">
              <a:buNone/>
            </a:pPr>
            <a:r>
              <a:rPr lang="de-DE" sz="850" b="0" kern="0" dirty="0">
                <a:solidFill>
                  <a:srgbClr val="99D1CD"/>
                </a:solidFill>
                <a:latin typeface="Segoe UI" pitchFamily="34" charset="0"/>
                <a:ea typeface="Segoe UI" pitchFamily="34" charset="-122"/>
                <a:cs typeface="Segoe UI" pitchFamily="34" charset="-120"/>
              </a:rPr>
              <a:t>Technical</a:t>
            </a:r>
          </a:p>
        </p:txBody>
      </p:sp>
      <p:sp>
        <p:nvSpPr>
          <p:cNvPr id="252" name="Dim Label Supplier Activation"/>
          <p:cNvSpPr txBox="1"/>
          <p:nvPr/>
        </p:nvSpPr>
        <p:spPr>
          <a:xfrm>
            <a:off x="347472" y="5286816"/>
            <a:ext cx="914400" cy="173676"/>
          </a:xfrm>
          <a:prstGeom prst="rect">
            <a:avLst/>
          </a:prstGeom>
          <a:noFill/>
          <a:ln>
            <a:noFill/>
          </a:ln>
        </p:spPr>
        <p:txBody>
          <a:bodyPr wrap="none" lIns="0" tIns="0" rIns="0" bIns="0" rtlCol="0" anchor="ctr">
            <a:noAutofit/>
          </a:bodyPr>
          <a:lstStyle/>
          <a:p>
            <a:pPr marL="0" indent="0" algn="l">
              <a:buNone/>
            </a:pPr>
            <a:r>
              <a:rPr lang="de-DE" sz="850" b="0" kern="0" dirty="0">
                <a:solidFill>
                  <a:srgbClr val="99D1CD"/>
                </a:solidFill>
                <a:latin typeface="Segoe UI" pitchFamily="34" charset="0"/>
                <a:ea typeface="Segoe UI" pitchFamily="34" charset="-122"/>
                <a:cs typeface="Segoe UI" pitchFamily="34" charset="-120"/>
              </a:rPr>
              <a:t>Supplier Activation</a:t>
            </a:r>
          </a:p>
        </p:txBody>
      </p:sp>
      <p:sp>
        <p:nvSpPr>
          <p:cNvPr id="253" name="Quality Row Divider Dimensions"/>
          <p:cNvSpPr/>
          <p:nvPr/>
        </p:nvSpPr>
        <p:spPr>
          <a:xfrm>
            <a:off x="1367028" y="4345477"/>
            <a:ext cx="1153858" cy="6401"/>
          </a:xfrm>
          <a:prstGeom prst="rect">
            <a:avLst/>
          </a:prstGeom>
          <a:solidFill>
            <a:srgbClr val="E2E8EC"/>
          </a:solidFill>
          <a:ln>
            <a:noFill/>
          </a:ln>
          <a:effectLst/>
        </p:spPr>
        <p:txBody>
          <a:bodyPr rtlCol="0" anchor="ctr"/>
          <a:lstStyle/>
          <a:p>
            <a:endParaRPr lang="de-DE"/>
          </a:p>
        </p:txBody>
      </p:sp>
      <p:sp>
        <p:nvSpPr>
          <p:cNvPr id="254" name="Quality Dim External · CX Association Dot"/>
          <p:cNvSpPr/>
          <p:nvPr/>
        </p:nvSpPr>
        <p:spPr>
          <a:xfrm>
            <a:off x="1367028" y="4628657"/>
            <a:ext cx="100584" cy="100584"/>
          </a:xfrm>
          <a:prstGeom prst="ellipse">
            <a:avLst/>
          </a:prstGeom>
          <a:solidFill>
            <a:srgbClr val="53BE70"/>
          </a:solidFill>
          <a:ln>
            <a:noFill/>
          </a:ln>
          <a:effectLst/>
        </p:spPr>
        <p:txBody>
          <a:bodyPr rtlCol="0" anchor="ctr"/>
          <a:lstStyle/>
          <a:p>
            <a:endParaRPr lang="de-DE"/>
          </a:p>
        </p:txBody>
      </p:sp>
      <p:sp>
        <p:nvSpPr>
          <p:cNvPr id="255" name="Quality Dim Lane Business"/>
          <p:cNvSpPr/>
          <p:nvPr/>
        </p:nvSpPr>
        <p:spPr>
          <a:xfrm>
            <a:off x="1367028" y="4765787"/>
            <a:ext cx="1153858" cy="4572"/>
          </a:xfrm>
          <a:prstGeom prst="rect">
            <a:avLst/>
          </a:prstGeom>
          <a:solidFill>
            <a:srgbClr val="EDF0F3"/>
          </a:solidFill>
          <a:ln>
            <a:noFill/>
          </a:ln>
          <a:effectLst/>
        </p:spPr>
        <p:txBody>
          <a:bodyPr rtlCol="0" anchor="ctr"/>
          <a:lstStyle/>
          <a:p>
            <a:endParaRPr lang="de-DE"/>
          </a:p>
        </p:txBody>
      </p:sp>
      <p:sp>
        <p:nvSpPr>
          <p:cNvPr id="256" name="Quality Dim Business Dot"/>
          <p:cNvSpPr/>
          <p:nvPr/>
        </p:nvSpPr>
        <p:spPr>
          <a:xfrm>
            <a:off x="1367028" y="4802333"/>
            <a:ext cx="100584" cy="100584"/>
          </a:xfrm>
          <a:prstGeom prst="ellipse">
            <a:avLst/>
          </a:prstGeom>
          <a:solidFill>
            <a:srgbClr val="F0B135"/>
          </a:solidFill>
          <a:ln>
            <a:noFill/>
          </a:ln>
          <a:effectLst/>
        </p:spPr>
        <p:txBody>
          <a:bodyPr rtlCol="0" anchor="ctr"/>
          <a:lstStyle/>
          <a:p>
            <a:endParaRPr lang="de-DE"/>
          </a:p>
        </p:txBody>
      </p:sp>
      <p:sp>
        <p:nvSpPr>
          <p:cNvPr id="257" name="Quality Dim Lane Data Provisioning"/>
          <p:cNvSpPr/>
          <p:nvPr/>
        </p:nvSpPr>
        <p:spPr>
          <a:xfrm>
            <a:off x="1367028" y="4939463"/>
            <a:ext cx="1153858" cy="4572"/>
          </a:xfrm>
          <a:prstGeom prst="rect">
            <a:avLst/>
          </a:prstGeom>
          <a:solidFill>
            <a:srgbClr val="EDF0F3"/>
          </a:solidFill>
          <a:ln>
            <a:noFill/>
          </a:ln>
          <a:effectLst/>
        </p:spPr>
        <p:txBody>
          <a:bodyPr rtlCol="0" anchor="ctr"/>
          <a:lstStyle/>
          <a:p>
            <a:endParaRPr lang="de-DE"/>
          </a:p>
        </p:txBody>
      </p:sp>
      <p:sp>
        <p:nvSpPr>
          <p:cNvPr id="258" name="Quality Dim Data Provisioning Dot"/>
          <p:cNvSpPr/>
          <p:nvPr/>
        </p:nvSpPr>
        <p:spPr>
          <a:xfrm>
            <a:off x="1367028" y="4976009"/>
            <a:ext cx="100584" cy="100584"/>
          </a:xfrm>
          <a:prstGeom prst="ellipse">
            <a:avLst/>
          </a:prstGeom>
          <a:solidFill>
            <a:srgbClr val="F0B135"/>
          </a:solidFill>
          <a:ln>
            <a:noFill/>
          </a:ln>
          <a:effectLst/>
        </p:spPr>
        <p:txBody>
          <a:bodyPr rtlCol="0" anchor="ctr"/>
          <a:lstStyle/>
          <a:p>
            <a:endParaRPr lang="de-DE"/>
          </a:p>
        </p:txBody>
      </p:sp>
      <p:sp>
        <p:nvSpPr>
          <p:cNvPr id="259" name="Quality Dim Lane Technical"/>
          <p:cNvSpPr/>
          <p:nvPr/>
        </p:nvSpPr>
        <p:spPr>
          <a:xfrm>
            <a:off x="1367028" y="5113140"/>
            <a:ext cx="1153858" cy="4572"/>
          </a:xfrm>
          <a:prstGeom prst="rect">
            <a:avLst/>
          </a:prstGeom>
          <a:solidFill>
            <a:srgbClr val="EDF0F3"/>
          </a:solidFill>
          <a:ln>
            <a:noFill/>
          </a:ln>
          <a:effectLst/>
        </p:spPr>
        <p:txBody>
          <a:bodyPr rtlCol="0" anchor="ctr"/>
          <a:lstStyle/>
          <a:p>
            <a:endParaRPr lang="de-DE"/>
          </a:p>
        </p:txBody>
      </p:sp>
      <p:sp>
        <p:nvSpPr>
          <p:cNvPr id="260" name="Quality Dim Technical Dot"/>
          <p:cNvSpPr/>
          <p:nvPr/>
        </p:nvSpPr>
        <p:spPr>
          <a:xfrm>
            <a:off x="1367028" y="5149686"/>
            <a:ext cx="100584" cy="100584"/>
          </a:xfrm>
          <a:prstGeom prst="ellipse">
            <a:avLst/>
          </a:prstGeom>
          <a:solidFill>
            <a:srgbClr val="F0B135"/>
          </a:solidFill>
          <a:ln>
            <a:noFill/>
          </a:ln>
          <a:effectLst/>
        </p:spPr>
        <p:txBody>
          <a:bodyPr rtlCol="0" anchor="ctr"/>
          <a:lstStyle/>
          <a:p>
            <a:endParaRPr lang="de-DE"/>
          </a:p>
        </p:txBody>
      </p:sp>
      <p:sp>
        <p:nvSpPr>
          <p:cNvPr id="261" name="Quality Dim Lane Supplier Activation"/>
          <p:cNvSpPr/>
          <p:nvPr/>
        </p:nvSpPr>
        <p:spPr>
          <a:xfrm>
            <a:off x="1367028" y="5286816"/>
            <a:ext cx="1153858" cy="4572"/>
          </a:xfrm>
          <a:prstGeom prst="rect">
            <a:avLst/>
          </a:prstGeom>
          <a:solidFill>
            <a:srgbClr val="EDF0F3"/>
          </a:solidFill>
          <a:ln>
            <a:noFill/>
          </a:ln>
          <a:effectLst/>
        </p:spPr>
        <p:txBody>
          <a:bodyPr rtlCol="0" anchor="ctr"/>
          <a:lstStyle/>
          <a:p>
            <a:endParaRPr lang="de-DE"/>
          </a:p>
        </p:txBody>
      </p:sp>
      <p:sp>
        <p:nvSpPr>
          <p:cNvPr id="262" name="Quality Dim Supplier Activation Dot"/>
          <p:cNvSpPr/>
          <p:nvPr/>
        </p:nvSpPr>
        <p:spPr>
          <a:xfrm>
            <a:off x="1367028" y="5323362"/>
            <a:ext cx="100584" cy="100584"/>
          </a:xfrm>
          <a:prstGeom prst="ellipse">
            <a:avLst/>
          </a:prstGeom>
          <a:solidFill>
            <a:srgbClr val="F0B135"/>
          </a:solidFill>
          <a:ln>
            <a:noFill/>
          </a:ln>
          <a:effectLst/>
        </p:spPr>
        <p:txBody>
          <a:bodyPr rtlCol="0" anchor="ctr"/>
          <a:lstStyle/>
          <a:p>
            <a:endParaRPr lang="de-DE"/>
          </a:p>
        </p:txBody>
      </p:sp>
      <p:sp>
        <p:nvSpPr>
          <p:cNvPr id="263" name="Battery Passport Row Divider Dimensions"/>
          <p:cNvSpPr/>
          <p:nvPr/>
        </p:nvSpPr>
        <p:spPr>
          <a:xfrm>
            <a:off x="2699194" y="4345477"/>
            <a:ext cx="1153858" cy="6401"/>
          </a:xfrm>
          <a:prstGeom prst="rect">
            <a:avLst/>
          </a:prstGeom>
          <a:solidFill>
            <a:srgbClr val="E2E8EC"/>
          </a:solidFill>
          <a:ln>
            <a:noFill/>
          </a:ln>
          <a:effectLst/>
        </p:spPr>
        <p:txBody>
          <a:bodyPr rtlCol="0" anchor="ctr"/>
          <a:lstStyle/>
          <a:p>
            <a:endParaRPr lang="de-DE"/>
          </a:p>
        </p:txBody>
      </p:sp>
      <p:sp>
        <p:nvSpPr>
          <p:cNvPr id="264" name="Battery Passport Dim External · CX Association Dot"/>
          <p:cNvSpPr/>
          <p:nvPr/>
        </p:nvSpPr>
        <p:spPr>
          <a:xfrm>
            <a:off x="2699194" y="4628657"/>
            <a:ext cx="100584" cy="100584"/>
          </a:xfrm>
          <a:prstGeom prst="ellipse">
            <a:avLst/>
          </a:prstGeom>
          <a:solidFill>
            <a:srgbClr val="F0B135"/>
          </a:solidFill>
          <a:ln>
            <a:noFill/>
          </a:ln>
          <a:effectLst/>
        </p:spPr>
        <p:txBody>
          <a:bodyPr rtlCol="0" anchor="ctr"/>
          <a:lstStyle/>
          <a:p>
            <a:endParaRPr lang="de-DE"/>
          </a:p>
        </p:txBody>
      </p:sp>
      <p:sp>
        <p:nvSpPr>
          <p:cNvPr id="265" name="Battery Passport Dim Lane Business"/>
          <p:cNvSpPr/>
          <p:nvPr/>
        </p:nvSpPr>
        <p:spPr>
          <a:xfrm>
            <a:off x="2699194" y="4765787"/>
            <a:ext cx="1153858" cy="4572"/>
          </a:xfrm>
          <a:prstGeom prst="rect">
            <a:avLst/>
          </a:prstGeom>
          <a:solidFill>
            <a:srgbClr val="EDF0F3"/>
          </a:solidFill>
          <a:ln>
            <a:noFill/>
          </a:ln>
          <a:effectLst/>
        </p:spPr>
        <p:txBody>
          <a:bodyPr rtlCol="0" anchor="ctr"/>
          <a:lstStyle/>
          <a:p>
            <a:endParaRPr lang="de-DE"/>
          </a:p>
        </p:txBody>
      </p:sp>
      <p:sp>
        <p:nvSpPr>
          <p:cNvPr id="266" name="Battery Passport Dim Business Dot"/>
          <p:cNvSpPr/>
          <p:nvPr/>
        </p:nvSpPr>
        <p:spPr>
          <a:xfrm>
            <a:off x="2699194" y="4802333"/>
            <a:ext cx="100584" cy="100584"/>
          </a:xfrm>
          <a:prstGeom prst="ellipse">
            <a:avLst/>
          </a:prstGeom>
          <a:solidFill>
            <a:srgbClr val="F0B135"/>
          </a:solidFill>
          <a:ln>
            <a:noFill/>
          </a:ln>
          <a:effectLst/>
        </p:spPr>
        <p:txBody>
          <a:bodyPr rtlCol="0" anchor="ctr"/>
          <a:lstStyle/>
          <a:p>
            <a:endParaRPr lang="de-DE"/>
          </a:p>
        </p:txBody>
      </p:sp>
      <p:sp>
        <p:nvSpPr>
          <p:cNvPr id="267" name="Battery Passport Dim Lane Data Provisioning"/>
          <p:cNvSpPr/>
          <p:nvPr/>
        </p:nvSpPr>
        <p:spPr>
          <a:xfrm>
            <a:off x="2699194" y="4939463"/>
            <a:ext cx="1153858" cy="4572"/>
          </a:xfrm>
          <a:prstGeom prst="rect">
            <a:avLst/>
          </a:prstGeom>
          <a:solidFill>
            <a:srgbClr val="EDF0F3"/>
          </a:solidFill>
          <a:ln>
            <a:noFill/>
          </a:ln>
          <a:effectLst/>
        </p:spPr>
        <p:txBody>
          <a:bodyPr rtlCol="0" anchor="ctr"/>
          <a:lstStyle/>
          <a:p>
            <a:endParaRPr lang="de-DE"/>
          </a:p>
        </p:txBody>
      </p:sp>
      <p:sp>
        <p:nvSpPr>
          <p:cNvPr id="268" name="Battery Passport Dim Data Provisioning Dot"/>
          <p:cNvSpPr/>
          <p:nvPr/>
        </p:nvSpPr>
        <p:spPr>
          <a:xfrm>
            <a:off x="2699194" y="4976009"/>
            <a:ext cx="100584" cy="100584"/>
          </a:xfrm>
          <a:prstGeom prst="ellipse">
            <a:avLst/>
          </a:prstGeom>
          <a:solidFill>
            <a:srgbClr val="53BE70"/>
          </a:solidFill>
          <a:ln>
            <a:noFill/>
          </a:ln>
          <a:effectLst/>
        </p:spPr>
        <p:txBody>
          <a:bodyPr rtlCol="0" anchor="ctr"/>
          <a:lstStyle/>
          <a:p>
            <a:endParaRPr lang="de-DE"/>
          </a:p>
        </p:txBody>
      </p:sp>
      <p:sp>
        <p:nvSpPr>
          <p:cNvPr id="269" name="Battery Passport Dim Lane Technical"/>
          <p:cNvSpPr/>
          <p:nvPr/>
        </p:nvSpPr>
        <p:spPr>
          <a:xfrm>
            <a:off x="2699194" y="5113140"/>
            <a:ext cx="1153858" cy="4572"/>
          </a:xfrm>
          <a:prstGeom prst="rect">
            <a:avLst/>
          </a:prstGeom>
          <a:solidFill>
            <a:srgbClr val="EDF0F3"/>
          </a:solidFill>
          <a:ln>
            <a:noFill/>
          </a:ln>
          <a:effectLst/>
        </p:spPr>
        <p:txBody>
          <a:bodyPr rtlCol="0" anchor="ctr"/>
          <a:lstStyle/>
          <a:p>
            <a:endParaRPr lang="de-DE"/>
          </a:p>
        </p:txBody>
      </p:sp>
      <p:sp>
        <p:nvSpPr>
          <p:cNvPr id="270" name="Battery Passport Dim Technical Dot"/>
          <p:cNvSpPr/>
          <p:nvPr/>
        </p:nvSpPr>
        <p:spPr>
          <a:xfrm>
            <a:off x="2699194" y="5149686"/>
            <a:ext cx="100584" cy="100584"/>
          </a:xfrm>
          <a:prstGeom prst="ellipse">
            <a:avLst/>
          </a:prstGeom>
          <a:solidFill>
            <a:srgbClr val="53BE70"/>
          </a:solidFill>
          <a:ln>
            <a:noFill/>
          </a:ln>
          <a:effectLst/>
        </p:spPr>
        <p:txBody>
          <a:bodyPr rtlCol="0" anchor="ctr"/>
          <a:lstStyle/>
          <a:p>
            <a:endParaRPr lang="de-DE"/>
          </a:p>
        </p:txBody>
      </p:sp>
      <p:sp>
        <p:nvSpPr>
          <p:cNvPr id="271" name="Battery Passport Dim Lane Supplier Activation"/>
          <p:cNvSpPr/>
          <p:nvPr/>
        </p:nvSpPr>
        <p:spPr>
          <a:xfrm>
            <a:off x="2699194" y="5286816"/>
            <a:ext cx="1153858" cy="4572"/>
          </a:xfrm>
          <a:prstGeom prst="rect">
            <a:avLst/>
          </a:prstGeom>
          <a:solidFill>
            <a:srgbClr val="EDF0F3"/>
          </a:solidFill>
          <a:ln>
            <a:noFill/>
          </a:ln>
          <a:effectLst/>
        </p:spPr>
        <p:txBody>
          <a:bodyPr rtlCol="0" anchor="ctr"/>
          <a:lstStyle/>
          <a:p>
            <a:endParaRPr lang="de-DE"/>
          </a:p>
        </p:txBody>
      </p:sp>
      <p:sp>
        <p:nvSpPr>
          <p:cNvPr id="272" name="Battery Passport Dim Supplier Activation Dot"/>
          <p:cNvSpPr/>
          <p:nvPr/>
        </p:nvSpPr>
        <p:spPr>
          <a:xfrm>
            <a:off x="2699194" y="5323362"/>
            <a:ext cx="100584" cy="100584"/>
          </a:xfrm>
          <a:prstGeom prst="ellipse">
            <a:avLst/>
          </a:prstGeom>
          <a:solidFill>
            <a:srgbClr val="53BE70"/>
          </a:solidFill>
          <a:ln>
            <a:noFill/>
          </a:ln>
          <a:effectLst/>
        </p:spPr>
        <p:txBody>
          <a:bodyPr rtlCol="0" anchor="ctr"/>
          <a:lstStyle/>
          <a:p>
            <a:endParaRPr lang="de-DE"/>
          </a:p>
        </p:txBody>
      </p:sp>
      <p:sp>
        <p:nvSpPr>
          <p:cNvPr id="273" name="Product Passes Row Divider Dimensions"/>
          <p:cNvSpPr/>
          <p:nvPr/>
        </p:nvSpPr>
        <p:spPr>
          <a:xfrm>
            <a:off x="4031361" y="4345477"/>
            <a:ext cx="1153858" cy="6401"/>
          </a:xfrm>
          <a:prstGeom prst="rect">
            <a:avLst/>
          </a:prstGeom>
          <a:solidFill>
            <a:srgbClr val="E2E8EC"/>
          </a:solidFill>
          <a:ln>
            <a:noFill/>
          </a:ln>
          <a:effectLst/>
        </p:spPr>
        <p:txBody>
          <a:bodyPr rtlCol="0" anchor="ctr"/>
          <a:lstStyle/>
          <a:p>
            <a:endParaRPr lang="de-DE"/>
          </a:p>
        </p:txBody>
      </p:sp>
      <p:sp>
        <p:nvSpPr>
          <p:cNvPr id="274" name="Product Passes Dim External · CX Association Dot"/>
          <p:cNvSpPr/>
          <p:nvPr/>
        </p:nvSpPr>
        <p:spPr>
          <a:xfrm>
            <a:off x="4031361" y="4628657"/>
            <a:ext cx="100584" cy="100584"/>
          </a:xfrm>
          <a:prstGeom prst="ellipse">
            <a:avLst/>
          </a:prstGeom>
          <a:solidFill>
            <a:srgbClr val="F0B135"/>
          </a:solidFill>
          <a:ln>
            <a:noFill/>
          </a:ln>
          <a:effectLst/>
        </p:spPr>
        <p:txBody>
          <a:bodyPr rtlCol="0" anchor="ctr"/>
          <a:lstStyle/>
          <a:p>
            <a:endParaRPr lang="de-DE"/>
          </a:p>
        </p:txBody>
      </p:sp>
      <p:sp>
        <p:nvSpPr>
          <p:cNvPr id="275" name="Product Passes Dim Lane Business"/>
          <p:cNvSpPr/>
          <p:nvPr/>
        </p:nvSpPr>
        <p:spPr>
          <a:xfrm>
            <a:off x="4031361" y="4765787"/>
            <a:ext cx="1153858" cy="4572"/>
          </a:xfrm>
          <a:prstGeom prst="rect">
            <a:avLst/>
          </a:prstGeom>
          <a:solidFill>
            <a:srgbClr val="EDF0F3"/>
          </a:solidFill>
          <a:ln>
            <a:noFill/>
          </a:ln>
          <a:effectLst/>
        </p:spPr>
        <p:txBody>
          <a:bodyPr rtlCol="0" anchor="ctr"/>
          <a:lstStyle/>
          <a:p>
            <a:endParaRPr lang="de-DE"/>
          </a:p>
        </p:txBody>
      </p:sp>
      <p:sp>
        <p:nvSpPr>
          <p:cNvPr id="276" name="Product Passes Dim Business Dot"/>
          <p:cNvSpPr/>
          <p:nvPr/>
        </p:nvSpPr>
        <p:spPr>
          <a:xfrm>
            <a:off x="4031361" y="4802333"/>
            <a:ext cx="100584" cy="100584"/>
          </a:xfrm>
          <a:prstGeom prst="ellipse">
            <a:avLst/>
          </a:prstGeom>
          <a:solidFill>
            <a:srgbClr val="F0B135"/>
          </a:solidFill>
          <a:ln>
            <a:noFill/>
          </a:ln>
          <a:effectLst/>
        </p:spPr>
        <p:txBody>
          <a:bodyPr rtlCol="0" anchor="ctr"/>
          <a:lstStyle/>
          <a:p>
            <a:endParaRPr lang="de-DE"/>
          </a:p>
        </p:txBody>
      </p:sp>
      <p:sp>
        <p:nvSpPr>
          <p:cNvPr id="277" name="Product Passes Dim Lane Data Provisioning"/>
          <p:cNvSpPr/>
          <p:nvPr/>
        </p:nvSpPr>
        <p:spPr>
          <a:xfrm>
            <a:off x="4031361" y="4939463"/>
            <a:ext cx="1153858" cy="4572"/>
          </a:xfrm>
          <a:prstGeom prst="rect">
            <a:avLst/>
          </a:prstGeom>
          <a:solidFill>
            <a:srgbClr val="EDF0F3"/>
          </a:solidFill>
          <a:ln>
            <a:noFill/>
          </a:ln>
          <a:effectLst/>
        </p:spPr>
        <p:txBody>
          <a:bodyPr rtlCol="0" anchor="ctr"/>
          <a:lstStyle/>
          <a:p>
            <a:endParaRPr lang="de-DE"/>
          </a:p>
        </p:txBody>
      </p:sp>
      <p:sp>
        <p:nvSpPr>
          <p:cNvPr id="278" name="Product Passes Dim Data Provisioning Dot"/>
          <p:cNvSpPr/>
          <p:nvPr/>
        </p:nvSpPr>
        <p:spPr>
          <a:xfrm>
            <a:off x="4031361" y="4976009"/>
            <a:ext cx="100584" cy="100584"/>
          </a:xfrm>
          <a:prstGeom prst="ellipse">
            <a:avLst/>
          </a:prstGeom>
          <a:solidFill>
            <a:srgbClr val="53BE70"/>
          </a:solidFill>
          <a:ln>
            <a:noFill/>
          </a:ln>
          <a:effectLst/>
        </p:spPr>
        <p:txBody>
          <a:bodyPr rtlCol="0" anchor="ctr"/>
          <a:lstStyle/>
          <a:p>
            <a:endParaRPr lang="de-DE"/>
          </a:p>
        </p:txBody>
      </p:sp>
      <p:sp>
        <p:nvSpPr>
          <p:cNvPr id="279" name="Product Passes Dim Lane Technical"/>
          <p:cNvSpPr/>
          <p:nvPr/>
        </p:nvSpPr>
        <p:spPr>
          <a:xfrm>
            <a:off x="4031361" y="5113140"/>
            <a:ext cx="1153858" cy="4572"/>
          </a:xfrm>
          <a:prstGeom prst="rect">
            <a:avLst/>
          </a:prstGeom>
          <a:solidFill>
            <a:srgbClr val="EDF0F3"/>
          </a:solidFill>
          <a:ln>
            <a:noFill/>
          </a:ln>
          <a:effectLst/>
        </p:spPr>
        <p:txBody>
          <a:bodyPr rtlCol="0" anchor="ctr"/>
          <a:lstStyle/>
          <a:p>
            <a:endParaRPr lang="de-DE"/>
          </a:p>
        </p:txBody>
      </p:sp>
      <p:sp>
        <p:nvSpPr>
          <p:cNvPr id="280" name="Product Passes Dim Technical Dot"/>
          <p:cNvSpPr/>
          <p:nvPr/>
        </p:nvSpPr>
        <p:spPr>
          <a:xfrm>
            <a:off x="4031361" y="5149686"/>
            <a:ext cx="100584" cy="100584"/>
          </a:xfrm>
          <a:prstGeom prst="ellipse">
            <a:avLst/>
          </a:prstGeom>
          <a:solidFill>
            <a:srgbClr val="53BE70"/>
          </a:solidFill>
          <a:ln>
            <a:noFill/>
          </a:ln>
          <a:effectLst/>
        </p:spPr>
        <p:txBody>
          <a:bodyPr rtlCol="0" anchor="ctr"/>
          <a:lstStyle/>
          <a:p>
            <a:endParaRPr lang="de-DE"/>
          </a:p>
        </p:txBody>
      </p:sp>
      <p:sp>
        <p:nvSpPr>
          <p:cNvPr id="281" name="Product Passes Dim Lane Supplier Activation"/>
          <p:cNvSpPr/>
          <p:nvPr/>
        </p:nvSpPr>
        <p:spPr>
          <a:xfrm>
            <a:off x="4031361" y="5286816"/>
            <a:ext cx="1153858" cy="4572"/>
          </a:xfrm>
          <a:prstGeom prst="rect">
            <a:avLst/>
          </a:prstGeom>
          <a:solidFill>
            <a:srgbClr val="EDF0F3"/>
          </a:solidFill>
          <a:ln>
            <a:noFill/>
          </a:ln>
          <a:effectLst/>
        </p:spPr>
        <p:txBody>
          <a:bodyPr rtlCol="0" anchor="ctr"/>
          <a:lstStyle/>
          <a:p>
            <a:endParaRPr lang="de-DE"/>
          </a:p>
        </p:txBody>
      </p:sp>
      <p:sp>
        <p:nvSpPr>
          <p:cNvPr id="282" name="Product Passes Dim Supplier Activation Dot"/>
          <p:cNvSpPr/>
          <p:nvPr/>
        </p:nvSpPr>
        <p:spPr>
          <a:xfrm>
            <a:off x="4031361" y="5323362"/>
            <a:ext cx="100584" cy="100584"/>
          </a:xfrm>
          <a:prstGeom prst="ellipse">
            <a:avLst/>
          </a:prstGeom>
          <a:solidFill>
            <a:srgbClr val="53BE70"/>
          </a:solidFill>
          <a:ln>
            <a:noFill/>
          </a:ln>
          <a:effectLst/>
        </p:spPr>
        <p:txBody>
          <a:bodyPr rtlCol="0" anchor="ctr"/>
          <a:lstStyle/>
          <a:p>
            <a:endParaRPr lang="de-DE"/>
          </a:p>
        </p:txBody>
      </p:sp>
      <p:sp>
        <p:nvSpPr>
          <p:cNvPr id="283" name="PURIS Row Divider Dimensions"/>
          <p:cNvSpPr/>
          <p:nvPr/>
        </p:nvSpPr>
        <p:spPr>
          <a:xfrm>
            <a:off x="5363528" y="4345477"/>
            <a:ext cx="1153858" cy="6401"/>
          </a:xfrm>
          <a:prstGeom prst="rect">
            <a:avLst/>
          </a:prstGeom>
          <a:solidFill>
            <a:srgbClr val="E2E8EC"/>
          </a:solidFill>
          <a:ln>
            <a:noFill/>
          </a:ln>
          <a:effectLst/>
        </p:spPr>
        <p:txBody>
          <a:bodyPr rtlCol="0" anchor="ctr"/>
          <a:lstStyle/>
          <a:p>
            <a:endParaRPr lang="de-DE"/>
          </a:p>
        </p:txBody>
      </p:sp>
      <p:sp>
        <p:nvSpPr>
          <p:cNvPr id="284" name="PURIS Dim External · CX Association Dot"/>
          <p:cNvSpPr/>
          <p:nvPr/>
        </p:nvSpPr>
        <p:spPr>
          <a:xfrm>
            <a:off x="5363528" y="4628657"/>
            <a:ext cx="100584" cy="100584"/>
          </a:xfrm>
          <a:prstGeom prst="ellipse">
            <a:avLst/>
          </a:prstGeom>
          <a:solidFill>
            <a:srgbClr val="53BE70"/>
          </a:solidFill>
          <a:ln>
            <a:noFill/>
          </a:ln>
          <a:effectLst/>
        </p:spPr>
        <p:txBody>
          <a:bodyPr rtlCol="0" anchor="ctr"/>
          <a:lstStyle/>
          <a:p>
            <a:endParaRPr lang="de-DE"/>
          </a:p>
        </p:txBody>
      </p:sp>
      <p:sp>
        <p:nvSpPr>
          <p:cNvPr id="285" name="PURIS Dim Lane Business"/>
          <p:cNvSpPr/>
          <p:nvPr/>
        </p:nvSpPr>
        <p:spPr>
          <a:xfrm>
            <a:off x="5363528" y="4765787"/>
            <a:ext cx="1153858" cy="4572"/>
          </a:xfrm>
          <a:prstGeom prst="rect">
            <a:avLst/>
          </a:prstGeom>
          <a:solidFill>
            <a:srgbClr val="EDF0F3"/>
          </a:solidFill>
          <a:ln>
            <a:noFill/>
          </a:ln>
          <a:effectLst/>
        </p:spPr>
        <p:txBody>
          <a:bodyPr rtlCol="0" anchor="ctr"/>
          <a:lstStyle/>
          <a:p>
            <a:endParaRPr lang="de-DE"/>
          </a:p>
        </p:txBody>
      </p:sp>
      <p:sp>
        <p:nvSpPr>
          <p:cNvPr id="286" name="PURIS Dim Business Dot"/>
          <p:cNvSpPr/>
          <p:nvPr/>
        </p:nvSpPr>
        <p:spPr>
          <a:xfrm>
            <a:off x="5363528" y="4802333"/>
            <a:ext cx="100584" cy="100584"/>
          </a:xfrm>
          <a:prstGeom prst="ellipse">
            <a:avLst/>
          </a:prstGeom>
          <a:solidFill>
            <a:srgbClr val="F0B135"/>
          </a:solidFill>
          <a:ln>
            <a:noFill/>
          </a:ln>
          <a:effectLst/>
        </p:spPr>
        <p:txBody>
          <a:bodyPr rtlCol="0" anchor="ctr"/>
          <a:lstStyle/>
          <a:p>
            <a:endParaRPr lang="de-DE"/>
          </a:p>
        </p:txBody>
      </p:sp>
      <p:sp>
        <p:nvSpPr>
          <p:cNvPr id="287" name="PURIS Dim Lane Data Provisioning"/>
          <p:cNvSpPr/>
          <p:nvPr/>
        </p:nvSpPr>
        <p:spPr>
          <a:xfrm>
            <a:off x="5363528" y="4939463"/>
            <a:ext cx="1153858" cy="4572"/>
          </a:xfrm>
          <a:prstGeom prst="rect">
            <a:avLst/>
          </a:prstGeom>
          <a:solidFill>
            <a:srgbClr val="EDF0F3"/>
          </a:solidFill>
          <a:ln>
            <a:noFill/>
          </a:ln>
          <a:effectLst/>
        </p:spPr>
        <p:txBody>
          <a:bodyPr rtlCol="0" anchor="ctr"/>
          <a:lstStyle/>
          <a:p>
            <a:endParaRPr lang="de-DE"/>
          </a:p>
        </p:txBody>
      </p:sp>
      <p:sp>
        <p:nvSpPr>
          <p:cNvPr id="288" name="PURIS Dim Data Provisioning Dot"/>
          <p:cNvSpPr/>
          <p:nvPr/>
        </p:nvSpPr>
        <p:spPr>
          <a:xfrm>
            <a:off x="5363528" y="4976009"/>
            <a:ext cx="100584" cy="100584"/>
          </a:xfrm>
          <a:prstGeom prst="ellipse">
            <a:avLst/>
          </a:prstGeom>
          <a:solidFill>
            <a:srgbClr val="F0B135"/>
          </a:solidFill>
          <a:ln>
            <a:noFill/>
          </a:ln>
          <a:effectLst/>
        </p:spPr>
        <p:txBody>
          <a:bodyPr rtlCol="0" anchor="ctr"/>
          <a:lstStyle/>
          <a:p>
            <a:endParaRPr lang="de-DE"/>
          </a:p>
        </p:txBody>
      </p:sp>
      <p:sp>
        <p:nvSpPr>
          <p:cNvPr id="289" name="PURIS Dim Lane Technical"/>
          <p:cNvSpPr/>
          <p:nvPr/>
        </p:nvSpPr>
        <p:spPr>
          <a:xfrm>
            <a:off x="5363528" y="5113140"/>
            <a:ext cx="1153858" cy="4572"/>
          </a:xfrm>
          <a:prstGeom prst="rect">
            <a:avLst/>
          </a:prstGeom>
          <a:solidFill>
            <a:srgbClr val="EDF0F3"/>
          </a:solidFill>
          <a:ln>
            <a:noFill/>
          </a:ln>
          <a:effectLst/>
        </p:spPr>
        <p:txBody>
          <a:bodyPr rtlCol="0" anchor="ctr"/>
          <a:lstStyle/>
          <a:p>
            <a:endParaRPr lang="de-DE"/>
          </a:p>
        </p:txBody>
      </p:sp>
      <p:sp>
        <p:nvSpPr>
          <p:cNvPr id="290" name="PURIS Dim Technical Dot"/>
          <p:cNvSpPr/>
          <p:nvPr/>
        </p:nvSpPr>
        <p:spPr>
          <a:xfrm>
            <a:off x="5363528" y="5149686"/>
            <a:ext cx="100584" cy="100584"/>
          </a:xfrm>
          <a:prstGeom prst="ellipse">
            <a:avLst/>
          </a:prstGeom>
          <a:solidFill>
            <a:srgbClr val="F0B135"/>
          </a:solidFill>
          <a:ln>
            <a:noFill/>
          </a:ln>
          <a:effectLst/>
        </p:spPr>
        <p:txBody>
          <a:bodyPr rtlCol="0" anchor="ctr"/>
          <a:lstStyle/>
          <a:p>
            <a:endParaRPr lang="de-DE"/>
          </a:p>
        </p:txBody>
      </p:sp>
      <p:sp>
        <p:nvSpPr>
          <p:cNvPr id="291" name="PURIS Dim Lane Supplier Activation"/>
          <p:cNvSpPr/>
          <p:nvPr/>
        </p:nvSpPr>
        <p:spPr>
          <a:xfrm>
            <a:off x="5363528" y="5286816"/>
            <a:ext cx="1153858" cy="4572"/>
          </a:xfrm>
          <a:prstGeom prst="rect">
            <a:avLst/>
          </a:prstGeom>
          <a:solidFill>
            <a:srgbClr val="EDF0F3"/>
          </a:solidFill>
          <a:ln>
            <a:noFill/>
          </a:ln>
          <a:effectLst/>
        </p:spPr>
        <p:txBody>
          <a:bodyPr rtlCol="0" anchor="ctr"/>
          <a:lstStyle/>
          <a:p>
            <a:endParaRPr lang="de-DE"/>
          </a:p>
        </p:txBody>
      </p:sp>
      <p:sp>
        <p:nvSpPr>
          <p:cNvPr id="292" name="PURIS Dim Supplier Activation Dot"/>
          <p:cNvSpPr/>
          <p:nvPr/>
        </p:nvSpPr>
        <p:spPr>
          <a:xfrm>
            <a:off x="5363528" y="5323362"/>
            <a:ext cx="100584" cy="100584"/>
          </a:xfrm>
          <a:prstGeom prst="ellipse">
            <a:avLst/>
          </a:prstGeom>
          <a:solidFill>
            <a:srgbClr val="F0B135"/>
          </a:solidFill>
          <a:ln>
            <a:noFill/>
          </a:ln>
          <a:effectLst/>
        </p:spPr>
        <p:txBody>
          <a:bodyPr rtlCol="0" anchor="ctr"/>
          <a:lstStyle/>
          <a:p>
            <a:endParaRPr lang="de-DE"/>
          </a:p>
        </p:txBody>
      </p:sp>
      <p:sp>
        <p:nvSpPr>
          <p:cNvPr id="293" name="Business Partner Data Mgmt Row Divider Dimensions"/>
          <p:cNvSpPr/>
          <p:nvPr/>
        </p:nvSpPr>
        <p:spPr>
          <a:xfrm>
            <a:off x="6695694" y="4345477"/>
            <a:ext cx="1153858" cy="6401"/>
          </a:xfrm>
          <a:prstGeom prst="rect">
            <a:avLst/>
          </a:prstGeom>
          <a:solidFill>
            <a:srgbClr val="E2E8EC"/>
          </a:solidFill>
          <a:ln>
            <a:noFill/>
          </a:ln>
          <a:effectLst/>
        </p:spPr>
        <p:txBody>
          <a:bodyPr rtlCol="0" anchor="ctr"/>
          <a:lstStyle/>
          <a:p>
            <a:endParaRPr lang="de-DE"/>
          </a:p>
        </p:txBody>
      </p:sp>
      <p:sp>
        <p:nvSpPr>
          <p:cNvPr id="294" name="Business Partner Data Mgmt Dim External · CX Association Dot"/>
          <p:cNvSpPr/>
          <p:nvPr/>
        </p:nvSpPr>
        <p:spPr>
          <a:xfrm>
            <a:off x="6695694" y="4628657"/>
            <a:ext cx="100584" cy="100584"/>
          </a:xfrm>
          <a:prstGeom prst="ellipse">
            <a:avLst/>
          </a:prstGeom>
          <a:solidFill>
            <a:srgbClr val="53BE70"/>
          </a:solidFill>
          <a:ln>
            <a:noFill/>
          </a:ln>
          <a:effectLst/>
        </p:spPr>
        <p:txBody>
          <a:bodyPr rtlCol="0" anchor="ctr"/>
          <a:lstStyle/>
          <a:p>
            <a:endParaRPr lang="de-DE"/>
          </a:p>
        </p:txBody>
      </p:sp>
      <p:sp>
        <p:nvSpPr>
          <p:cNvPr id="295" name="Business Partner Data Mgmt Dim Lane Business"/>
          <p:cNvSpPr/>
          <p:nvPr/>
        </p:nvSpPr>
        <p:spPr>
          <a:xfrm>
            <a:off x="6695694" y="4765787"/>
            <a:ext cx="1153858" cy="4572"/>
          </a:xfrm>
          <a:prstGeom prst="rect">
            <a:avLst/>
          </a:prstGeom>
          <a:solidFill>
            <a:srgbClr val="EDF0F3"/>
          </a:solidFill>
          <a:ln>
            <a:noFill/>
          </a:ln>
          <a:effectLst/>
        </p:spPr>
        <p:txBody>
          <a:bodyPr rtlCol="0" anchor="ctr"/>
          <a:lstStyle/>
          <a:p>
            <a:endParaRPr lang="de-DE"/>
          </a:p>
        </p:txBody>
      </p:sp>
      <p:sp>
        <p:nvSpPr>
          <p:cNvPr id="296" name="Business Partner Data Mgmt Dim Business Dot"/>
          <p:cNvSpPr/>
          <p:nvPr/>
        </p:nvSpPr>
        <p:spPr>
          <a:xfrm>
            <a:off x="6695694" y="4802333"/>
            <a:ext cx="100584" cy="100584"/>
          </a:xfrm>
          <a:prstGeom prst="ellipse">
            <a:avLst/>
          </a:prstGeom>
          <a:solidFill>
            <a:srgbClr val="F0B135"/>
          </a:solidFill>
          <a:ln>
            <a:noFill/>
          </a:ln>
          <a:effectLst/>
        </p:spPr>
        <p:txBody>
          <a:bodyPr rtlCol="0" anchor="ctr"/>
          <a:lstStyle/>
          <a:p>
            <a:endParaRPr lang="de-DE"/>
          </a:p>
        </p:txBody>
      </p:sp>
      <p:sp>
        <p:nvSpPr>
          <p:cNvPr id="297" name="Business Partner Data Mgmt Dim Lane Data Provisioning"/>
          <p:cNvSpPr/>
          <p:nvPr/>
        </p:nvSpPr>
        <p:spPr>
          <a:xfrm>
            <a:off x="6695694" y="4939463"/>
            <a:ext cx="1153858" cy="4572"/>
          </a:xfrm>
          <a:prstGeom prst="rect">
            <a:avLst/>
          </a:prstGeom>
          <a:solidFill>
            <a:srgbClr val="EDF0F3"/>
          </a:solidFill>
          <a:ln>
            <a:noFill/>
          </a:ln>
          <a:effectLst/>
        </p:spPr>
        <p:txBody>
          <a:bodyPr rtlCol="0" anchor="ctr"/>
          <a:lstStyle/>
          <a:p>
            <a:endParaRPr lang="de-DE"/>
          </a:p>
        </p:txBody>
      </p:sp>
      <p:sp>
        <p:nvSpPr>
          <p:cNvPr id="298" name="Business Partner Data Mgmt Dim Data Provisioning Dot"/>
          <p:cNvSpPr/>
          <p:nvPr/>
        </p:nvSpPr>
        <p:spPr>
          <a:xfrm>
            <a:off x="6695694" y="4976009"/>
            <a:ext cx="100584" cy="100584"/>
          </a:xfrm>
          <a:prstGeom prst="ellipse">
            <a:avLst/>
          </a:prstGeom>
          <a:solidFill>
            <a:srgbClr val="53BE70"/>
          </a:solidFill>
          <a:ln>
            <a:noFill/>
          </a:ln>
          <a:effectLst/>
        </p:spPr>
        <p:txBody>
          <a:bodyPr rtlCol="0" anchor="ctr"/>
          <a:lstStyle/>
          <a:p>
            <a:endParaRPr lang="de-DE"/>
          </a:p>
        </p:txBody>
      </p:sp>
      <p:sp>
        <p:nvSpPr>
          <p:cNvPr id="299" name="Business Partner Data Mgmt Dim Lane Technical"/>
          <p:cNvSpPr/>
          <p:nvPr/>
        </p:nvSpPr>
        <p:spPr>
          <a:xfrm>
            <a:off x="6695694" y="5113140"/>
            <a:ext cx="1153858" cy="4572"/>
          </a:xfrm>
          <a:prstGeom prst="rect">
            <a:avLst/>
          </a:prstGeom>
          <a:solidFill>
            <a:srgbClr val="EDF0F3"/>
          </a:solidFill>
          <a:ln>
            <a:noFill/>
          </a:ln>
          <a:effectLst/>
        </p:spPr>
        <p:txBody>
          <a:bodyPr rtlCol="0" anchor="ctr"/>
          <a:lstStyle/>
          <a:p>
            <a:endParaRPr lang="de-DE"/>
          </a:p>
        </p:txBody>
      </p:sp>
      <p:sp>
        <p:nvSpPr>
          <p:cNvPr id="300" name="Business Partner Data Mgmt Dim Technical Dot"/>
          <p:cNvSpPr/>
          <p:nvPr/>
        </p:nvSpPr>
        <p:spPr>
          <a:xfrm>
            <a:off x="6695694" y="5149686"/>
            <a:ext cx="100584" cy="100584"/>
          </a:xfrm>
          <a:prstGeom prst="ellipse">
            <a:avLst/>
          </a:prstGeom>
          <a:solidFill>
            <a:srgbClr val="F0B135"/>
          </a:solidFill>
          <a:ln>
            <a:noFill/>
          </a:ln>
          <a:effectLst/>
        </p:spPr>
        <p:txBody>
          <a:bodyPr rtlCol="0" anchor="ctr"/>
          <a:lstStyle/>
          <a:p>
            <a:endParaRPr lang="de-DE"/>
          </a:p>
        </p:txBody>
      </p:sp>
      <p:sp>
        <p:nvSpPr>
          <p:cNvPr id="301" name="Business Partner Data Mgmt Dim Lane Supplier Activation"/>
          <p:cNvSpPr/>
          <p:nvPr/>
        </p:nvSpPr>
        <p:spPr>
          <a:xfrm>
            <a:off x="6695694" y="5286816"/>
            <a:ext cx="1153858" cy="4572"/>
          </a:xfrm>
          <a:prstGeom prst="rect">
            <a:avLst/>
          </a:prstGeom>
          <a:solidFill>
            <a:srgbClr val="EDF0F3"/>
          </a:solidFill>
          <a:ln>
            <a:noFill/>
          </a:ln>
          <a:effectLst/>
        </p:spPr>
        <p:txBody>
          <a:bodyPr rtlCol="0" anchor="ctr"/>
          <a:lstStyle/>
          <a:p>
            <a:endParaRPr lang="de-DE"/>
          </a:p>
        </p:txBody>
      </p:sp>
      <p:sp>
        <p:nvSpPr>
          <p:cNvPr id="302" name="Business Partner Data Mgmt Dim Supplier Activation Ring"/>
          <p:cNvSpPr/>
          <p:nvPr/>
        </p:nvSpPr>
        <p:spPr>
          <a:xfrm>
            <a:off x="6695694" y="5323362"/>
            <a:ext cx="100584" cy="100584"/>
          </a:xfrm>
          <a:prstGeom prst="ellipse">
            <a:avLst/>
          </a:prstGeom>
          <a:solidFill>
            <a:srgbClr val="FFFFFF"/>
          </a:solidFill>
          <a:ln w="15875">
            <a:solidFill>
              <a:srgbClr val="AEB9C1"/>
            </a:solidFill>
          </a:ln>
          <a:effectLst/>
        </p:spPr>
        <p:txBody>
          <a:bodyPr rtlCol="0" anchor="ctr"/>
          <a:lstStyle/>
          <a:p>
            <a:endParaRPr lang="de-DE"/>
          </a:p>
        </p:txBody>
      </p:sp>
      <p:sp>
        <p:nvSpPr>
          <p:cNvPr id="303" name="Certificate Management Row Divider Dimensions"/>
          <p:cNvSpPr/>
          <p:nvPr/>
        </p:nvSpPr>
        <p:spPr>
          <a:xfrm>
            <a:off x="8027860" y="4345477"/>
            <a:ext cx="1153858" cy="6401"/>
          </a:xfrm>
          <a:prstGeom prst="rect">
            <a:avLst/>
          </a:prstGeom>
          <a:solidFill>
            <a:srgbClr val="E2E8EC"/>
          </a:solidFill>
          <a:ln>
            <a:noFill/>
          </a:ln>
          <a:effectLst/>
        </p:spPr>
        <p:txBody>
          <a:bodyPr rtlCol="0" anchor="ctr"/>
          <a:lstStyle/>
          <a:p>
            <a:endParaRPr lang="de-DE"/>
          </a:p>
        </p:txBody>
      </p:sp>
      <p:sp>
        <p:nvSpPr>
          <p:cNvPr id="304" name="Certificate Management Dim External · CX Association Dot"/>
          <p:cNvSpPr/>
          <p:nvPr/>
        </p:nvSpPr>
        <p:spPr>
          <a:xfrm>
            <a:off x="8027860" y="4628657"/>
            <a:ext cx="100584" cy="100584"/>
          </a:xfrm>
          <a:prstGeom prst="ellipse">
            <a:avLst/>
          </a:prstGeom>
          <a:solidFill>
            <a:srgbClr val="53BE70"/>
          </a:solidFill>
          <a:ln>
            <a:noFill/>
          </a:ln>
          <a:effectLst/>
        </p:spPr>
        <p:txBody>
          <a:bodyPr rtlCol="0" anchor="ctr"/>
          <a:lstStyle/>
          <a:p>
            <a:endParaRPr lang="de-DE"/>
          </a:p>
        </p:txBody>
      </p:sp>
      <p:sp>
        <p:nvSpPr>
          <p:cNvPr id="305" name="Certificate Management Dim Lane Business"/>
          <p:cNvSpPr/>
          <p:nvPr/>
        </p:nvSpPr>
        <p:spPr>
          <a:xfrm>
            <a:off x="8027860" y="4765787"/>
            <a:ext cx="1153858" cy="4572"/>
          </a:xfrm>
          <a:prstGeom prst="rect">
            <a:avLst/>
          </a:prstGeom>
          <a:solidFill>
            <a:srgbClr val="EDF0F3"/>
          </a:solidFill>
          <a:ln>
            <a:noFill/>
          </a:ln>
          <a:effectLst/>
        </p:spPr>
        <p:txBody>
          <a:bodyPr rtlCol="0" anchor="ctr"/>
          <a:lstStyle/>
          <a:p>
            <a:endParaRPr lang="de-DE"/>
          </a:p>
        </p:txBody>
      </p:sp>
      <p:sp>
        <p:nvSpPr>
          <p:cNvPr id="306" name="Certificate Management Dim Business Dot"/>
          <p:cNvSpPr/>
          <p:nvPr/>
        </p:nvSpPr>
        <p:spPr>
          <a:xfrm>
            <a:off x="8027860" y="4802333"/>
            <a:ext cx="100584" cy="100584"/>
          </a:xfrm>
          <a:prstGeom prst="ellipse">
            <a:avLst/>
          </a:prstGeom>
          <a:solidFill>
            <a:srgbClr val="53BE70"/>
          </a:solidFill>
          <a:ln>
            <a:noFill/>
          </a:ln>
          <a:effectLst/>
        </p:spPr>
        <p:txBody>
          <a:bodyPr rtlCol="0" anchor="ctr"/>
          <a:lstStyle/>
          <a:p>
            <a:endParaRPr lang="de-DE"/>
          </a:p>
        </p:txBody>
      </p:sp>
      <p:sp>
        <p:nvSpPr>
          <p:cNvPr id="307" name="Certificate Management Dim Lane Data Provisioning"/>
          <p:cNvSpPr/>
          <p:nvPr/>
        </p:nvSpPr>
        <p:spPr>
          <a:xfrm>
            <a:off x="8027860" y="4939463"/>
            <a:ext cx="1153858" cy="4572"/>
          </a:xfrm>
          <a:prstGeom prst="rect">
            <a:avLst/>
          </a:prstGeom>
          <a:solidFill>
            <a:srgbClr val="EDF0F3"/>
          </a:solidFill>
          <a:ln>
            <a:noFill/>
          </a:ln>
          <a:effectLst/>
        </p:spPr>
        <p:txBody>
          <a:bodyPr rtlCol="0" anchor="ctr"/>
          <a:lstStyle/>
          <a:p>
            <a:endParaRPr lang="de-DE"/>
          </a:p>
        </p:txBody>
      </p:sp>
      <p:sp>
        <p:nvSpPr>
          <p:cNvPr id="308" name="Certificate Management Dim Data Provisioning Dot"/>
          <p:cNvSpPr/>
          <p:nvPr/>
        </p:nvSpPr>
        <p:spPr>
          <a:xfrm>
            <a:off x="8027860" y="4976009"/>
            <a:ext cx="100584" cy="100584"/>
          </a:xfrm>
          <a:prstGeom prst="ellipse">
            <a:avLst/>
          </a:prstGeom>
          <a:solidFill>
            <a:srgbClr val="53BE70"/>
          </a:solidFill>
          <a:ln>
            <a:noFill/>
          </a:ln>
          <a:effectLst/>
        </p:spPr>
        <p:txBody>
          <a:bodyPr rtlCol="0" anchor="ctr"/>
          <a:lstStyle/>
          <a:p>
            <a:endParaRPr lang="de-DE"/>
          </a:p>
        </p:txBody>
      </p:sp>
      <p:sp>
        <p:nvSpPr>
          <p:cNvPr id="309" name="Certificate Management Dim Lane Technical"/>
          <p:cNvSpPr/>
          <p:nvPr/>
        </p:nvSpPr>
        <p:spPr>
          <a:xfrm>
            <a:off x="8027860" y="5113140"/>
            <a:ext cx="1153858" cy="4572"/>
          </a:xfrm>
          <a:prstGeom prst="rect">
            <a:avLst/>
          </a:prstGeom>
          <a:solidFill>
            <a:srgbClr val="EDF0F3"/>
          </a:solidFill>
          <a:ln>
            <a:noFill/>
          </a:ln>
          <a:effectLst/>
        </p:spPr>
        <p:txBody>
          <a:bodyPr rtlCol="0" anchor="ctr"/>
          <a:lstStyle/>
          <a:p>
            <a:endParaRPr lang="de-DE"/>
          </a:p>
        </p:txBody>
      </p:sp>
      <p:sp>
        <p:nvSpPr>
          <p:cNvPr id="310" name="Certificate Management Dim Technical Dot"/>
          <p:cNvSpPr/>
          <p:nvPr/>
        </p:nvSpPr>
        <p:spPr>
          <a:xfrm>
            <a:off x="8027860" y="5149686"/>
            <a:ext cx="100584" cy="100584"/>
          </a:xfrm>
          <a:prstGeom prst="ellipse">
            <a:avLst/>
          </a:prstGeom>
          <a:solidFill>
            <a:srgbClr val="53BE70"/>
          </a:solidFill>
          <a:ln>
            <a:noFill/>
          </a:ln>
          <a:effectLst/>
        </p:spPr>
        <p:txBody>
          <a:bodyPr rtlCol="0" anchor="ctr"/>
          <a:lstStyle/>
          <a:p>
            <a:endParaRPr lang="de-DE"/>
          </a:p>
        </p:txBody>
      </p:sp>
      <p:sp>
        <p:nvSpPr>
          <p:cNvPr id="311" name="Certificate Management Dim Lane Supplier Activation"/>
          <p:cNvSpPr/>
          <p:nvPr/>
        </p:nvSpPr>
        <p:spPr>
          <a:xfrm>
            <a:off x="8027860" y="5286816"/>
            <a:ext cx="1153858" cy="4572"/>
          </a:xfrm>
          <a:prstGeom prst="rect">
            <a:avLst/>
          </a:prstGeom>
          <a:solidFill>
            <a:srgbClr val="EDF0F3"/>
          </a:solidFill>
          <a:ln>
            <a:noFill/>
          </a:ln>
          <a:effectLst/>
        </p:spPr>
        <p:txBody>
          <a:bodyPr rtlCol="0" anchor="ctr"/>
          <a:lstStyle/>
          <a:p>
            <a:endParaRPr lang="de-DE"/>
          </a:p>
        </p:txBody>
      </p:sp>
      <p:sp>
        <p:nvSpPr>
          <p:cNvPr id="312" name="Certificate Management Dim Supplier Activation Dot"/>
          <p:cNvSpPr/>
          <p:nvPr/>
        </p:nvSpPr>
        <p:spPr>
          <a:xfrm>
            <a:off x="8027860" y="5323362"/>
            <a:ext cx="100584" cy="100584"/>
          </a:xfrm>
          <a:prstGeom prst="ellipse">
            <a:avLst/>
          </a:prstGeom>
          <a:solidFill>
            <a:srgbClr val="53BE70"/>
          </a:solidFill>
          <a:ln>
            <a:noFill/>
          </a:ln>
          <a:effectLst/>
        </p:spPr>
        <p:txBody>
          <a:bodyPr rtlCol="0" anchor="ctr"/>
          <a:lstStyle/>
          <a:p>
            <a:endParaRPr lang="de-DE"/>
          </a:p>
        </p:txBody>
      </p:sp>
      <p:sp>
        <p:nvSpPr>
          <p:cNvPr id="313" name="Product Carbon Footprint Row Divider Dimensions"/>
          <p:cNvSpPr/>
          <p:nvPr/>
        </p:nvSpPr>
        <p:spPr>
          <a:xfrm>
            <a:off x="9360027" y="4345477"/>
            <a:ext cx="1153858" cy="6401"/>
          </a:xfrm>
          <a:prstGeom prst="rect">
            <a:avLst/>
          </a:prstGeom>
          <a:solidFill>
            <a:srgbClr val="E2E8EC"/>
          </a:solidFill>
          <a:ln>
            <a:noFill/>
          </a:ln>
          <a:effectLst/>
        </p:spPr>
        <p:txBody>
          <a:bodyPr rtlCol="0" anchor="ctr"/>
          <a:lstStyle/>
          <a:p>
            <a:endParaRPr lang="de-DE"/>
          </a:p>
        </p:txBody>
      </p:sp>
      <p:sp>
        <p:nvSpPr>
          <p:cNvPr id="314" name="Product Carbon Footprint Dim External · CX Association Dot"/>
          <p:cNvSpPr/>
          <p:nvPr/>
        </p:nvSpPr>
        <p:spPr>
          <a:xfrm>
            <a:off x="9360027" y="4628657"/>
            <a:ext cx="100584" cy="100584"/>
          </a:xfrm>
          <a:prstGeom prst="ellipse">
            <a:avLst/>
          </a:prstGeom>
          <a:solidFill>
            <a:srgbClr val="53BE70"/>
          </a:solidFill>
          <a:ln>
            <a:noFill/>
          </a:ln>
          <a:effectLst/>
        </p:spPr>
        <p:txBody>
          <a:bodyPr rtlCol="0" anchor="ctr"/>
          <a:lstStyle/>
          <a:p>
            <a:endParaRPr lang="de-DE"/>
          </a:p>
        </p:txBody>
      </p:sp>
      <p:sp>
        <p:nvSpPr>
          <p:cNvPr id="315" name="Product Carbon Footprint Dim Lane Business"/>
          <p:cNvSpPr/>
          <p:nvPr/>
        </p:nvSpPr>
        <p:spPr>
          <a:xfrm>
            <a:off x="9360027" y="4765787"/>
            <a:ext cx="1153858" cy="4572"/>
          </a:xfrm>
          <a:prstGeom prst="rect">
            <a:avLst/>
          </a:prstGeom>
          <a:solidFill>
            <a:srgbClr val="EDF0F3"/>
          </a:solidFill>
          <a:ln>
            <a:noFill/>
          </a:ln>
          <a:effectLst/>
        </p:spPr>
        <p:txBody>
          <a:bodyPr rtlCol="0" anchor="ctr"/>
          <a:lstStyle/>
          <a:p>
            <a:endParaRPr lang="de-DE"/>
          </a:p>
        </p:txBody>
      </p:sp>
      <p:sp>
        <p:nvSpPr>
          <p:cNvPr id="316" name="Product Carbon Footprint Dim Business Dot"/>
          <p:cNvSpPr/>
          <p:nvPr/>
        </p:nvSpPr>
        <p:spPr>
          <a:xfrm>
            <a:off x="9360027" y="4802333"/>
            <a:ext cx="100584" cy="100584"/>
          </a:xfrm>
          <a:prstGeom prst="ellipse">
            <a:avLst/>
          </a:prstGeom>
          <a:solidFill>
            <a:srgbClr val="53BE70"/>
          </a:solidFill>
          <a:ln>
            <a:noFill/>
          </a:ln>
          <a:effectLst/>
        </p:spPr>
        <p:txBody>
          <a:bodyPr rtlCol="0" anchor="ctr"/>
          <a:lstStyle/>
          <a:p>
            <a:endParaRPr lang="de-DE"/>
          </a:p>
        </p:txBody>
      </p:sp>
      <p:sp>
        <p:nvSpPr>
          <p:cNvPr id="317" name="Product Carbon Footprint Dim Lane Data Provisioning"/>
          <p:cNvSpPr/>
          <p:nvPr/>
        </p:nvSpPr>
        <p:spPr>
          <a:xfrm>
            <a:off x="9360027" y="4939463"/>
            <a:ext cx="1153858" cy="4572"/>
          </a:xfrm>
          <a:prstGeom prst="rect">
            <a:avLst/>
          </a:prstGeom>
          <a:solidFill>
            <a:srgbClr val="EDF0F3"/>
          </a:solidFill>
          <a:ln>
            <a:noFill/>
          </a:ln>
          <a:effectLst/>
        </p:spPr>
        <p:txBody>
          <a:bodyPr rtlCol="0" anchor="ctr"/>
          <a:lstStyle/>
          <a:p>
            <a:endParaRPr lang="de-DE"/>
          </a:p>
        </p:txBody>
      </p:sp>
      <p:sp>
        <p:nvSpPr>
          <p:cNvPr id="318" name="Product Carbon Footprint Dim Data Provisioning Dot"/>
          <p:cNvSpPr/>
          <p:nvPr/>
        </p:nvSpPr>
        <p:spPr>
          <a:xfrm>
            <a:off x="9360027" y="4976009"/>
            <a:ext cx="100584" cy="100584"/>
          </a:xfrm>
          <a:prstGeom prst="ellipse">
            <a:avLst/>
          </a:prstGeom>
          <a:solidFill>
            <a:srgbClr val="F0B135"/>
          </a:solidFill>
          <a:ln>
            <a:noFill/>
          </a:ln>
          <a:effectLst/>
        </p:spPr>
        <p:txBody>
          <a:bodyPr rtlCol="0" anchor="ctr"/>
          <a:lstStyle/>
          <a:p>
            <a:endParaRPr lang="de-DE"/>
          </a:p>
        </p:txBody>
      </p:sp>
      <p:sp>
        <p:nvSpPr>
          <p:cNvPr id="319" name="Product Carbon Footprint Dim Lane Technical"/>
          <p:cNvSpPr/>
          <p:nvPr/>
        </p:nvSpPr>
        <p:spPr>
          <a:xfrm>
            <a:off x="9360027" y="5113140"/>
            <a:ext cx="1153858" cy="4572"/>
          </a:xfrm>
          <a:prstGeom prst="rect">
            <a:avLst/>
          </a:prstGeom>
          <a:solidFill>
            <a:srgbClr val="EDF0F3"/>
          </a:solidFill>
          <a:ln>
            <a:noFill/>
          </a:ln>
          <a:effectLst/>
        </p:spPr>
        <p:txBody>
          <a:bodyPr rtlCol="0" anchor="ctr"/>
          <a:lstStyle/>
          <a:p>
            <a:endParaRPr lang="de-DE"/>
          </a:p>
        </p:txBody>
      </p:sp>
      <p:sp>
        <p:nvSpPr>
          <p:cNvPr id="320" name="Product Carbon Footprint Dim Technical Dot"/>
          <p:cNvSpPr/>
          <p:nvPr/>
        </p:nvSpPr>
        <p:spPr>
          <a:xfrm>
            <a:off x="9360027" y="5149686"/>
            <a:ext cx="100584" cy="100584"/>
          </a:xfrm>
          <a:prstGeom prst="ellipse">
            <a:avLst/>
          </a:prstGeom>
          <a:solidFill>
            <a:srgbClr val="53BE70"/>
          </a:solidFill>
          <a:ln>
            <a:noFill/>
          </a:ln>
          <a:effectLst/>
        </p:spPr>
        <p:txBody>
          <a:bodyPr rtlCol="0" anchor="ctr"/>
          <a:lstStyle/>
          <a:p>
            <a:endParaRPr lang="de-DE"/>
          </a:p>
        </p:txBody>
      </p:sp>
      <p:sp>
        <p:nvSpPr>
          <p:cNvPr id="321" name="Product Carbon Footprint Dim Lane Supplier Activation"/>
          <p:cNvSpPr/>
          <p:nvPr/>
        </p:nvSpPr>
        <p:spPr>
          <a:xfrm>
            <a:off x="9360027" y="5286816"/>
            <a:ext cx="1153858" cy="4572"/>
          </a:xfrm>
          <a:prstGeom prst="rect">
            <a:avLst/>
          </a:prstGeom>
          <a:solidFill>
            <a:srgbClr val="EDF0F3"/>
          </a:solidFill>
          <a:ln>
            <a:noFill/>
          </a:ln>
          <a:effectLst/>
        </p:spPr>
        <p:txBody>
          <a:bodyPr rtlCol="0" anchor="ctr"/>
          <a:lstStyle/>
          <a:p>
            <a:endParaRPr lang="de-DE"/>
          </a:p>
        </p:txBody>
      </p:sp>
      <p:sp>
        <p:nvSpPr>
          <p:cNvPr id="322" name="Product Carbon Footprint Dim Supplier Activation Dot"/>
          <p:cNvSpPr/>
          <p:nvPr/>
        </p:nvSpPr>
        <p:spPr>
          <a:xfrm>
            <a:off x="9360027" y="5323362"/>
            <a:ext cx="100584" cy="100584"/>
          </a:xfrm>
          <a:prstGeom prst="ellipse">
            <a:avLst/>
          </a:prstGeom>
          <a:solidFill>
            <a:srgbClr val="F0B135"/>
          </a:solidFill>
          <a:ln>
            <a:noFill/>
          </a:ln>
          <a:effectLst/>
        </p:spPr>
        <p:txBody>
          <a:bodyPr rtlCol="0" anchor="ctr"/>
          <a:lstStyle/>
          <a:p>
            <a:endParaRPr lang="de-DE"/>
          </a:p>
        </p:txBody>
      </p:sp>
      <p:sp>
        <p:nvSpPr>
          <p:cNvPr id="323" name="N-Tier Row Divider Dimensions"/>
          <p:cNvSpPr/>
          <p:nvPr/>
        </p:nvSpPr>
        <p:spPr>
          <a:xfrm>
            <a:off x="10692193" y="4345477"/>
            <a:ext cx="1153858" cy="6401"/>
          </a:xfrm>
          <a:prstGeom prst="rect">
            <a:avLst/>
          </a:prstGeom>
          <a:solidFill>
            <a:srgbClr val="E2E8EC"/>
          </a:solidFill>
          <a:ln>
            <a:noFill/>
          </a:ln>
          <a:effectLst/>
        </p:spPr>
        <p:txBody>
          <a:bodyPr rtlCol="0" anchor="ctr"/>
          <a:lstStyle/>
          <a:p>
            <a:endParaRPr lang="de-DE"/>
          </a:p>
        </p:txBody>
      </p:sp>
      <p:sp>
        <p:nvSpPr>
          <p:cNvPr id="324" name="N-Tier Dim External · CX Association Dot"/>
          <p:cNvSpPr/>
          <p:nvPr/>
        </p:nvSpPr>
        <p:spPr>
          <a:xfrm>
            <a:off x="10692193" y="4628657"/>
            <a:ext cx="100584" cy="100584"/>
          </a:xfrm>
          <a:prstGeom prst="ellipse">
            <a:avLst/>
          </a:prstGeom>
          <a:solidFill>
            <a:srgbClr val="53BE70"/>
          </a:solidFill>
          <a:ln>
            <a:noFill/>
          </a:ln>
          <a:effectLst/>
        </p:spPr>
        <p:txBody>
          <a:bodyPr rtlCol="0" anchor="ctr"/>
          <a:lstStyle/>
          <a:p>
            <a:endParaRPr lang="de-DE"/>
          </a:p>
        </p:txBody>
      </p:sp>
      <p:sp>
        <p:nvSpPr>
          <p:cNvPr id="325" name="N-Tier Dim Lane Business"/>
          <p:cNvSpPr/>
          <p:nvPr/>
        </p:nvSpPr>
        <p:spPr>
          <a:xfrm>
            <a:off x="10692193" y="4765787"/>
            <a:ext cx="1153858" cy="4572"/>
          </a:xfrm>
          <a:prstGeom prst="rect">
            <a:avLst/>
          </a:prstGeom>
          <a:solidFill>
            <a:srgbClr val="EDF0F3"/>
          </a:solidFill>
          <a:ln>
            <a:noFill/>
          </a:ln>
          <a:effectLst/>
        </p:spPr>
        <p:txBody>
          <a:bodyPr rtlCol="0" anchor="ctr"/>
          <a:lstStyle/>
          <a:p>
            <a:endParaRPr lang="de-DE"/>
          </a:p>
        </p:txBody>
      </p:sp>
      <p:sp>
        <p:nvSpPr>
          <p:cNvPr id="326" name="N-Tier Dim Business Ring"/>
          <p:cNvSpPr/>
          <p:nvPr/>
        </p:nvSpPr>
        <p:spPr>
          <a:xfrm>
            <a:off x="10692193" y="4802333"/>
            <a:ext cx="100584" cy="100584"/>
          </a:xfrm>
          <a:prstGeom prst="ellipse">
            <a:avLst/>
          </a:prstGeom>
          <a:solidFill>
            <a:srgbClr val="FFFFFF"/>
          </a:solidFill>
          <a:ln w="15875">
            <a:solidFill>
              <a:srgbClr val="AEB9C1"/>
            </a:solidFill>
          </a:ln>
          <a:effectLst/>
        </p:spPr>
        <p:txBody>
          <a:bodyPr rtlCol="0" anchor="ctr"/>
          <a:lstStyle/>
          <a:p>
            <a:endParaRPr lang="de-DE"/>
          </a:p>
        </p:txBody>
      </p:sp>
      <p:sp>
        <p:nvSpPr>
          <p:cNvPr id="327" name="N-Tier Dim Lane Data Provisioning"/>
          <p:cNvSpPr/>
          <p:nvPr/>
        </p:nvSpPr>
        <p:spPr>
          <a:xfrm>
            <a:off x="10692193" y="4939463"/>
            <a:ext cx="1153858" cy="4572"/>
          </a:xfrm>
          <a:prstGeom prst="rect">
            <a:avLst/>
          </a:prstGeom>
          <a:solidFill>
            <a:srgbClr val="EDF0F3"/>
          </a:solidFill>
          <a:ln>
            <a:noFill/>
          </a:ln>
          <a:effectLst/>
        </p:spPr>
        <p:txBody>
          <a:bodyPr rtlCol="0" anchor="ctr"/>
          <a:lstStyle/>
          <a:p>
            <a:endParaRPr lang="de-DE"/>
          </a:p>
        </p:txBody>
      </p:sp>
      <p:sp>
        <p:nvSpPr>
          <p:cNvPr id="328" name="N-Tier Dim Data Provisioning Ring"/>
          <p:cNvSpPr/>
          <p:nvPr/>
        </p:nvSpPr>
        <p:spPr>
          <a:xfrm>
            <a:off x="10692193" y="4976009"/>
            <a:ext cx="100584" cy="100584"/>
          </a:xfrm>
          <a:prstGeom prst="ellipse">
            <a:avLst/>
          </a:prstGeom>
          <a:solidFill>
            <a:srgbClr val="FFFFFF"/>
          </a:solidFill>
          <a:ln w="15875">
            <a:solidFill>
              <a:srgbClr val="AEB9C1"/>
            </a:solidFill>
          </a:ln>
          <a:effectLst/>
        </p:spPr>
        <p:txBody>
          <a:bodyPr rtlCol="0" anchor="ctr"/>
          <a:lstStyle/>
          <a:p>
            <a:endParaRPr lang="de-DE"/>
          </a:p>
        </p:txBody>
      </p:sp>
      <p:sp>
        <p:nvSpPr>
          <p:cNvPr id="329" name="N-Tier Dim Lane Technical"/>
          <p:cNvSpPr/>
          <p:nvPr/>
        </p:nvSpPr>
        <p:spPr>
          <a:xfrm>
            <a:off x="10692193" y="5113140"/>
            <a:ext cx="1153858" cy="4572"/>
          </a:xfrm>
          <a:prstGeom prst="rect">
            <a:avLst/>
          </a:prstGeom>
          <a:solidFill>
            <a:srgbClr val="EDF0F3"/>
          </a:solidFill>
          <a:ln>
            <a:noFill/>
          </a:ln>
          <a:effectLst/>
        </p:spPr>
        <p:txBody>
          <a:bodyPr rtlCol="0" anchor="ctr"/>
          <a:lstStyle/>
          <a:p>
            <a:endParaRPr lang="de-DE"/>
          </a:p>
        </p:txBody>
      </p:sp>
      <p:sp>
        <p:nvSpPr>
          <p:cNvPr id="330" name="N-Tier Dim Technical Ring"/>
          <p:cNvSpPr/>
          <p:nvPr/>
        </p:nvSpPr>
        <p:spPr>
          <a:xfrm>
            <a:off x="10692193" y="5149686"/>
            <a:ext cx="100584" cy="100584"/>
          </a:xfrm>
          <a:prstGeom prst="ellipse">
            <a:avLst/>
          </a:prstGeom>
          <a:solidFill>
            <a:srgbClr val="FFFFFF"/>
          </a:solidFill>
          <a:ln w="15875">
            <a:solidFill>
              <a:srgbClr val="AEB9C1"/>
            </a:solidFill>
          </a:ln>
          <a:effectLst/>
        </p:spPr>
        <p:txBody>
          <a:bodyPr rtlCol="0" anchor="ctr"/>
          <a:lstStyle/>
          <a:p>
            <a:endParaRPr lang="de-DE"/>
          </a:p>
        </p:txBody>
      </p:sp>
      <p:sp>
        <p:nvSpPr>
          <p:cNvPr id="331" name="N-Tier Dim Lane Supplier Activation"/>
          <p:cNvSpPr/>
          <p:nvPr/>
        </p:nvSpPr>
        <p:spPr>
          <a:xfrm>
            <a:off x="10692193" y="5286816"/>
            <a:ext cx="1153858" cy="4572"/>
          </a:xfrm>
          <a:prstGeom prst="rect">
            <a:avLst/>
          </a:prstGeom>
          <a:solidFill>
            <a:srgbClr val="EDF0F3"/>
          </a:solidFill>
          <a:ln>
            <a:noFill/>
          </a:ln>
          <a:effectLst/>
        </p:spPr>
        <p:txBody>
          <a:bodyPr rtlCol="0" anchor="ctr"/>
          <a:lstStyle/>
          <a:p>
            <a:endParaRPr lang="de-DE"/>
          </a:p>
        </p:txBody>
      </p:sp>
      <p:sp>
        <p:nvSpPr>
          <p:cNvPr id="332" name="N-Tier Dim Supplier Activation Ring"/>
          <p:cNvSpPr/>
          <p:nvPr/>
        </p:nvSpPr>
        <p:spPr>
          <a:xfrm>
            <a:off x="10692193" y="5323362"/>
            <a:ext cx="100584" cy="100584"/>
          </a:xfrm>
          <a:prstGeom prst="ellipse">
            <a:avLst/>
          </a:prstGeom>
          <a:solidFill>
            <a:srgbClr val="FFFFFF"/>
          </a:solidFill>
          <a:ln w="15875">
            <a:solidFill>
              <a:srgbClr val="AEB9C1"/>
            </a:solidFill>
          </a:ln>
          <a:effectLst/>
        </p:spPr>
        <p:txBody>
          <a:bodyPr rtlCol="0" anchor="ctr"/>
          <a:lstStyle/>
          <a:p>
            <a:endParaRPr lang="de-DE"/>
          </a:p>
        </p:txBody>
      </p:sp>
      <p:sp>
        <p:nvSpPr>
          <p:cNvPr id="333" name="Row Label Decision required"/>
          <p:cNvSpPr txBox="1"/>
          <p:nvPr/>
        </p:nvSpPr>
        <p:spPr>
          <a:xfrm>
            <a:off x="274320" y="5579364"/>
            <a:ext cx="987552" cy="1040892"/>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334" name="Quality Row Divider Decision required"/>
          <p:cNvSpPr/>
          <p:nvPr/>
        </p:nvSpPr>
        <p:spPr>
          <a:xfrm>
            <a:off x="1367028" y="5515356"/>
            <a:ext cx="1153858" cy="6401"/>
          </a:xfrm>
          <a:prstGeom prst="rect">
            <a:avLst/>
          </a:prstGeom>
          <a:solidFill>
            <a:srgbClr val="E2E8EC"/>
          </a:solidFill>
          <a:ln>
            <a:noFill/>
          </a:ln>
          <a:effectLst/>
        </p:spPr>
        <p:txBody>
          <a:bodyPr rtlCol="0" anchor="ctr"/>
          <a:lstStyle/>
          <a:p>
            <a:endParaRPr lang="de-DE"/>
          </a:p>
        </p:txBody>
      </p:sp>
      <p:sp>
        <p:nvSpPr>
          <p:cNvPr id="335" name="Quality Decision None"/>
          <p:cNvSpPr txBox="1"/>
          <p:nvPr/>
        </p:nvSpPr>
        <p:spPr>
          <a:xfrm>
            <a:off x="1367028" y="557936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36" name="Battery Passport Row Divider Decision required"/>
          <p:cNvSpPr/>
          <p:nvPr/>
        </p:nvSpPr>
        <p:spPr>
          <a:xfrm>
            <a:off x="2699194" y="5515356"/>
            <a:ext cx="1153858" cy="6401"/>
          </a:xfrm>
          <a:prstGeom prst="rect">
            <a:avLst/>
          </a:prstGeom>
          <a:solidFill>
            <a:srgbClr val="E2E8EC"/>
          </a:solidFill>
          <a:ln>
            <a:noFill/>
          </a:ln>
          <a:effectLst/>
        </p:spPr>
        <p:txBody>
          <a:bodyPr rtlCol="0" anchor="ctr"/>
          <a:lstStyle/>
          <a:p>
            <a:endParaRPr lang="de-DE"/>
          </a:p>
        </p:txBody>
      </p:sp>
      <p:sp>
        <p:nvSpPr>
          <p:cNvPr id="337" name="Battery Passport Decision None"/>
          <p:cNvSpPr txBox="1"/>
          <p:nvPr/>
        </p:nvSpPr>
        <p:spPr>
          <a:xfrm>
            <a:off x="2699194" y="557936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38" name="Product Passes Row Divider Decision required"/>
          <p:cNvSpPr/>
          <p:nvPr/>
        </p:nvSpPr>
        <p:spPr>
          <a:xfrm>
            <a:off x="4031361" y="5515356"/>
            <a:ext cx="1153858" cy="6401"/>
          </a:xfrm>
          <a:prstGeom prst="rect">
            <a:avLst/>
          </a:prstGeom>
          <a:solidFill>
            <a:srgbClr val="E2E8EC"/>
          </a:solidFill>
          <a:ln>
            <a:noFill/>
          </a:ln>
          <a:effectLst/>
        </p:spPr>
        <p:txBody>
          <a:bodyPr rtlCol="0" anchor="ctr"/>
          <a:lstStyle/>
          <a:p>
            <a:endParaRPr lang="de-DE"/>
          </a:p>
        </p:txBody>
      </p:sp>
      <p:sp>
        <p:nvSpPr>
          <p:cNvPr id="339" name="Product Passes Decision None"/>
          <p:cNvSpPr txBox="1"/>
          <p:nvPr/>
        </p:nvSpPr>
        <p:spPr>
          <a:xfrm>
            <a:off x="4031361" y="557936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0" name="PURIS Row Divider Decision required"/>
          <p:cNvSpPr/>
          <p:nvPr/>
        </p:nvSpPr>
        <p:spPr>
          <a:xfrm>
            <a:off x="5363528" y="5515356"/>
            <a:ext cx="1153858" cy="6401"/>
          </a:xfrm>
          <a:prstGeom prst="rect">
            <a:avLst/>
          </a:prstGeom>
          <a:solidFill>
            <a:srgbClr val="E2E8EC"/>
          </a:solidFill>
          <a:ln>
            <a:noFill/>
          </a:ln>
          <a:effectLst/>
        </p:spPr>
        <p:txBody>
          <a:bodyPr rtlCol="0" anchor="ctr"/>
          <a:lstStyle/>
          <a:p>
            <a:endParaRPr lang="de-DE"/>
          </a:p>
        </p:txBody>
      </p:sp>
      <p:sp>
        <p:nvSpPr>
          <p:cNvPr id="341" name="PURIS Decision 1 Flag"/>
          <p:cNvSpPr/>
          <p:nvPr/>
        </p:nvSpPr>
        <p:spPr>
          <a:xfrm>
            <a:off x="5363528" y="5579364"/>
            <a:ext cx="146304" cy="146304"/>
          </a:xfrm>
          <a:prstGeom prst="ellipse">
            <a:avLst/>
          </a:prstGeom>
          <a:solidFill>
            <a:srgbClr val="001E50"/>
          </a:solidFill>
          <a:ln>
            <a:noFill/>
          </a:ln>
          <a:effectLst/>
        </p:spPr>
        <p:txBody>
          <a:bodyPr rtlCol="0" anchor="ctr"/>
          <a:lstStyle/>
          <a:p>
            <a:endParaRPr lang="de-DE"/>
          </a:p>
        </p:txBody>
      </p:sp>
      <p:sp>
        <p:nvSpPr>
          <p:cNvPr id="342" name="PURIS Decision 1 No"/>
          <p:cNvSpPr txBox="1"/>
          <p:nvPr/>
        </p:nvSpPr>
        <p:spPr>
          <a:xfrm>
            <a:off x="5363528" y="5579364"/>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343" name="PURIS Decision 1"/>
          <p:cNvSpPr txBox="1"/>
          <p:nvPr/>
        </p:nvSpPr>
        <p:spPr>
          <a:xfrm>
            <a:off x="5363528" y="5579364"/>
            <a:ext cx="1153858" cy="74853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Who decides how and when on the WINGS connectivity rollout roadmap?</a:t>
            </a:r>
          </a:p>
        </p:txBody>
      </p:sp>
      <p:sp>
        <p:nvSpPr>
          <p:cNvPr id="344" name="Business Partner Data Mgmt Row Divider Decision required"/>
          <p:cNvSpPr/>
          <p:nvPr/>
        </p:nvSpPr>
        <p:spPr>
          <a:xfrm>
            <a:off x="6695694" y="5515356"/>
            <a:ext cx="1153858" cy="6401"/>
          </a:xfrm>
          <a:prstGeom prst="rect">
            <a:avLst/>
          </a:prstGeom>
          <a:solidFill>
            <a:srgbClr val="E2E8EC"/>
          </a:solidFill>
          <a:ln>
            <a:noFill/>
          </a:ln>
          <a:effectLst/>
        </p:spPr>
        <p:txBody>
          <a:bodyPr rtlCol="0" anchor="ctr"/>
          <a:lstStyle/>
          <a:p>
            <a:endParaRPr lang="de-DE"/>
          </a:p>
        </p:txBody>
      </p:sp>
      <p:sp>
        <p:nvSpPr>
          <p:cNvPr id="345" name="Business Partner Data Mgmt Decision None"/>
          <p:cNvSpPr txBox="1"/>
          <p:nvPr/>
        </p:nvSpPr>
        <p:spPr>
          <a:xfrm>
            <a:off x="6695694" y="557936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6" name="Certificate Management Row Divider Decision required"/>
          <p:cNvSpPr/>
          <p:nvPr/>
        </p:nvSpPr>
        <p:spPr>
          <a:xfrm>
            <a:off x="8027860" y="5515356"/>
            <a:ext cx="1153858" cy="6401"/>
          </a:xfrm>
          <a:prstGeom prst="rect">
            <a:avLst/>
          </a:prstGeom>
          <a:solidFill>
            <a:srgbClr val="E2E8EC"/>
          </a:solidFill>
          <a:ln>
            <a:noFill/>
          </a:ln>
          <a:effectLst/>
        </p:spPr>
        <p:txBody>
          <a:bodyPr rtlCol="0" anchor="ctr"/>
          <a:lstStyle/>
          <a:p>
            <a:endParaRPr lang="de-DE"/>
          </a:p>
        </p:txBody>
      </p:sp>
      <p:sp>
        <p:nvSpPr>
          <p:cNvPr id="347" name="Certificate Management Decision None"/>
          <p:cNvSpPr txBox="1"/>
          <p:nvPr/>
        </p:nvSpPr>
        <p:spPr>
          <a:xfrm>
            <a:off x="8027860" y="557936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48" name="Product Carbon Footprint Row Divider Decision required"/>
          <p:cNvSpPr/>
          <p:nvPr/>
        </p:nvSpPr>
        <p:spPr>
          <a:xfrm>
            <a:off x="9360027" y="5515356"/>
            <a:ext cx="1153858" cy="6401"/>
          </a:xfrm>
          <a:prstGeom prst="rect">
            <a:avLst/>
          </a:prstGeom>
          <a:solidFill>
            <a:srgbClr val="E2E8EC"/>
          </a:solidFill>
          <a:ln>
            <a:noFill/>
          </a:ln>
          <a:effectLst/>
        </p:spPr>
        <p:txBody>
          <a:bodyPr rtlCol="0" anchor="ctr"/>
          <a:lstStyle/>
          <a:p>
            <a:endParaRPr lang="de-DE"/>
          </a:p>
        </p:txBody>
      </p:sp>
      <p:sp>
        <p:nvSpPr>
          <p:cNvPr id="349" name="Product Carbon Footprint Decision None"/>
          <p:cNvSpPr txBox="1"/>
          <p:nvPr/>
        </p:nvSpPr>
        <p:spPr>
          <a:xfrm>
            <a:off x="9360027" y="557936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350" name="N-Tier Row Divider Decision required"/>
          <p:cNvSpPr/>
          <p:nvPr/>
        </p:nvSpPr>
        <p:spPr>
          <a:xfrm>
            <a:off x="10692193" y="5515356"/>
            <a:ext cx="1153858" cy="6401"/>
          </a:xfrm>
          <a:prstGeom prst="rect">
            <a:avLst/>
          </a:prstGeom>
          <a:solidFill>
            <a:srgbClr val="E2E8EC"/>
          </a:solidFill>
          <a:ln>
            <a:noFill/>
          </a:ln>
          <a:effectLst/>
        </p:spPr>
        <p:txBody>
          <a:bodyPr rtlCol="0" anchor="ctr"/>
          <a:lstStyle/>
          <a:p>
            <a:endParaRPr lang="de-DE"/>
          </a:p>
        </p:txBody>
      </p:sp>
      <p:sp>
        <p:nvSpPr>
          <p:cNvPr id="351" name="N-Tier Decision None"/>
          <p:cNvSpPr txBox="1"/>
          <p:nvPr/>
        </p:nvSpPr>
        <p:spPr>
          <a:xfrm>
            <a:off x="10692193" y="5579364"/>
            <a:ext cx="1153858"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1</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