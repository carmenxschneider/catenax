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42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20846"/>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Quality Status Text"/>
          <p:cNvSpPr txBox="1"/>
          <p:nvPr/>
        </p:nvSpPr>
        <p:spPr>
          <a:xfrm>
            <a:off x="125730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71" name="Product Carbon Footprint Status Text"/>
          <p:cNvSpPr txBox="1"/>
          <p:nvPr/>
        </p:nvSpPr>
        <p:spPr>
          <a:xfrm>
            <a:off x="933259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43092"/>
            <a:ext cx="868680" cy="34894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379084"/>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379084"/>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379084"/>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379084"/>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379084"/>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379084"/>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379084"/>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379084"/>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856049"/>
            <a:ext cx="868680" cy="3509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792041"/>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856049"/>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2027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792041"/>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792041"/>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792041"/>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792041"/>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792041"/>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792041"/>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Jan 2028</a:t>
            </a:r>
          </a:p>
        </p:txBody>
      </p:sp>
      <p:sp>
        <p:nvSpPr>
          <p:cNvPr id="206" name="N-Tier Row Divider E2E go-live target date"/>
          <p:cNvSpPr/>
          <p:nvPr/>
        </p:nvSpPr>
        <p:spPr>
          <a:xfrm>
            <a:off x="10678477" y="2792041"/>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270991"/>
            <a:ext cx="868680" cy="3509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206983"/>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270991"/>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206983"/>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206983"/>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206983"/>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206983"/>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206983"/>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89 / 100</a:t>
            </a:r>
            <a:r>
              <a:rPr lang="de-DE" sz="900" b="0" kern="0" dirty="0">
                <a:solidFill>
                  <a:srgbClr val="63707A"/>
                </a:solidFill>
                <a:latin typeface="Segoe UI" pitchFamily="34" charset="0"/>
                <a:ea typeface="Segoe UI" pitchFamily="34" charset="-122"/>
                <a:cs typeface="Segoe UI" pitchFamily="34" charset="-120"/>
              </a:rPr>
              <a:t>  89%</a:t>
            </a:r>
          </a:p>
        </p:txBody>
      </p:sp>
      <p:sp>
        <p:nvSpPr>
          <p:cNvPr id="221" name="Product Carbon Footprint Row Divider Suppliers enabled 2026"/>
          <p:cNvSpPr/>
          <p:nvPr/>
        </p:nvSpPr>
        <p:spPr>
          <a:xfrm>
            <a:off x="9332595" y="3206983"/>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206983"/>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685933"/>
            <a:ext cx="868680" cy="6430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621925"/>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722509"/>
            <a:ext cx="73152" cy="73152"/>
          </a:xfrm>
          <a:prstGeom prst="ellipse">
            <a:avLst/>
          </a:prstGeom>
          <a:solidFill>
            <a:srgbClr val="F0B135"/>
          </a:solidFill>
          <a:ln>
            <a:noFill/>
          </a:ln>
          <a:effectLst/>
        </p:spPr>
        <p:txBody>
          <a:bodyPr rtlCol="0" anchor="ctr"/>
          <a:lstStyle/>
          <a:p>
            <a:endParaRPr lang="de-DE"/>
          </a:p>
        </p:txBody>
      </p:sp>
      <p:sp>
        <p:nvSpPr>
          <p:cNvPr id="228" name="Quality Milestone"/>
          <p:cNvSpPr txBox="1"/>
          <p:nvPr/>
        </p:nvSpPr>
        <p:spPr>
          <a:xfrm>
            <a:off x="1394460" y="3685933"/>
            <a:ext cx="1030415" cy="6024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&amp; ownership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9" name="Battery Passport Row Divider Next critical milestone"/>
          <p:cNvSpPr/>
          <p:nvPr/>
        </p:nvSpPr>
        <p:spPr>
          <a:xfrm>
            <a:off x="2603182" y="3621925"/>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68593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621925"/>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722509"/>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68593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621925"/>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722509"/>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68593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09 Oct 2026</a:t>
            </a:r>
          </a:p>
        </p:txBody>
      </p:sp>
      <p:sp>
        <p:nvSpPr>
          <p:cNvPr id="237" name="Business Partner Data Mgmt Row Divider Next critical milestone"/>
          <p:cNvSpPr/>
          <p:nvPr/>
        </p:nvSpPr>
        <p:spPr>
          <a:xfrm>
            <a:off x="6640830" y="3621925"/>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68593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621925"/>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722509"/>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68593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621925"/>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Dot"/>
          <p:cNvSpPr/>
          <p:nvPr/>
        </p:nvSpPr>
        <p:spPr>
          <a:xfrm>
            <a:off x="9332595" y="3722509"/>
            <a:ext cx="73152" cy="73152"/>
          </a:xfrm>
          <a:prstGeom prst="ellipse">
            <a:avLst/>
          </a:prstGeom>
          <a:solidFill>
            <a:srgbClr val="F0B135"/>
          </a:solidFill>
          <a:ln>
            <a:noFill/>
          </a:ln>
          <a:effectLst/>
        </p:spPr>
        <p:txBody>
          <a:bodyPr rtlCol="0" anchor="ctr"/>
          <a:lstStyle/>
          <a:p>
            <a:endParaRPr lang="de-DE"/>
          </a:p>
        </p:txBody>
      </p:sp>
      <p:sp>
        <p:nvSpPr>
          <p:cNvPr id="244" name="Product Carbon Footprint Milestone"/>
          <p:cNvSpPr txBox="1"/>
          <p:nvPr/>
        </p:nvSpPr>
        <p:spPr>
          <a:xfrm>
            <a:off x="9469755" y="368593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stage 1</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15 Oct 2026</a:t>
            </a:r>
          </a:p>
        </p:txBody>
      </p:sp>
      <p:sp>
        <p:nvSpPr>
          <p:cNvPr id="245" name="N-Tier Row Divider Next critical milestone"/>
          <p:cNvSpPr/>
          <p:nvPr/>
        </p:nvSpPr>
        <p:spPr>
          <a:xfrm>
            <a:off x="10678477" y="3621925"/>
            <a:ext cx="1167574" cy="6401"/>
          </a:xfrm>
          <a:prstGeom prst="rect">
            <a:avLst/>
          </a:prstGeom>
          <a:solidFill>
            <a:srgbClr val="E2E8EC"/>
          </a:solidFill>
          <a:ln>
            <a:noFill/>
          </a:ln>
          <a:effectLst/>
        </p:spPr>
        <p:txBody>
          <a:bodyPr rtlCol="0" anchor="ctr"/>
          <a:lstStyle/>
          <a:p>
            <a:endParaRPr lang="de-DE"/>
          </a:p>
        </p:txBody>
      </p:sp>
      <p:sp>
        <p:nvSpPr>
          <p:cNvPr id="246" name="N-Tier Milestone"/>
          <p:cNvSpPr txBox="1"/>
          <p:nvPr/>
        </p:nvSpPr>
        <p:spPr>
          <a:xfrm>
            <a:off x="10678477" y="368593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7" name="Row Label Dimensions"/>
          <p:cNvSpPr txBox="1"/>
          <p:nvPr/>
        </p:nvSpPr>
        <p:spPr>
          <a:xfrm>
            <a:off x="274320" y="4392975"/>
            <a:ext cx="868680" cy="112238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8" name="Quality Row Divider Dimensions"/>
          <p:cNvSpPr/>
          <p:nvPr/>
        </p:nvSpPr>
        <p:spPr>
          <a:xfrm>
            <a:off x="1257300" y="4328967"/>
            <a:ext cx="1167574" cy="6401"/>
          </a:xfrm>
          <a:prstGeom prst="rect">
            <a:avLst/>
          </a:prstGeom>
          <a:solidFill>
            <a:srgbClr val="E2E8EC"/>
          </a:solidFill>
          <a:ln>
            <a:noFill/>
          </a:ln>
          <a:effectLst/>
        </p:spPr>
        <p:txBody>
          <a:bodyPr rtlCol="0" anchor="ctr"/>
          <a:lstStyle/>
          <a:p>
            <a:endParaRPr lang="de-DE"/>
          </a:p>
        </p:txBody>
      </p:sp>
      <p:sp>
        <p:nvSpPr>
          <p:cNvPr id="249" name="Quality Dim Dot External · CX Association"/>
          <p:cNvSpPr/>
          <p:nvPr/>
        </p:nvSpPr>
        <p:spPr>
          <a:xfrm>
            <a:off x="1257300" y="4429551"/>
            <a:ext cx="73152" cy="73152"/>
          </a:xfrm>
          <a:prstGeom prst="ellipse">
            <a:avLst/>
          </a:prstGeom>
          <a:solidFill>
            <a:srgbClr val="53BE70"/>
          </a:solidFill>
          <a:ln>
            <a:noFill/>
          </a:ln>
          <a:effectLst/>
        </p:spPr>
        <p:txBody>
          <a:bodyPr rtlCol="0" anchor="ctr"/>
          <a:lstStyle/>
          <a:p>
            <a:endParaRPr lang="de-DE"/>
          </a:p>
        </p:txBody>
      </p:sp>
      <p:sp>
        <p:nvSpPr>
          <p:cNvPr id="250" name="Quality Dim External · CX Association"/>
          <p:cNvSpPr txBox="1"/>
          <p:nvPr/>
        </p:nvSpPr>
        <p:spPr>
          <a:xfrm>
            <a:off x="1394460"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1" name="Quality Dim Dot Business"/>
          <p:cNvSpPr/>
          <p:nvPr/>
        </p:nvSpPr>
        <p:spPr>
          <a:xfrm>
            <a:off x="1257300" y="4769455"/>
            <a:ext cx="73152" cy="73152"/>
          </a:xfrm>
          <a:prstGeom prst="ellipse">
            <a:avLst/>
          </a:prstGeom>
          <a:solidFill>
            <a:srgbClr val="F0B135"/>
          </a:solidFill>
          <a:ln>
            <a:noFill/>
          </a:ln>
          <a:effectLst/>
        </p:spPr>
        <p:txBody>
          <a:bodyPr rtlCol="0" anchor="ctr"/>
          <a:lstStyle/>
          <a:p>
            <a:endParaRPr lang="de-DE"/>
          </a:p>
        </p:txBody>
      </p:sp>
      <p:sp>
        <p:nvSpPr>
          <p:cNvPr id="252" name="Quality Dim Business"/>
          <p:cNvSpPr txBox="1"/>
          <p:nvPr/>
        </p:nvSpPr>
        <p:spPr>
          <a:xfrm>
            <a:off x="1394460"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3" name="Quality Dim Dot Data Provisioning"/>
          <p:cNvSpPr/>
          <p:nvPr/>
        </p:nvSpPr>
        <p:spPr>
          <a:xfrm>
            <a:off x="1257300" y="4963309"/>
            <a:ext cx="73152" cy="73152"/>
          </a:xfrm>
          <a:prstGeom prst="ellipse">
            <a:avLst/>
          </a:prstGeom>
          <a:solidFill>
            <a:srgbClr val="F0B135"/>
          </a:solidFill>
          <a:ln>
            <a:noFill/>
          </a:ln>
          <a:effectLst/>
        </p:spPr>
        <p:txBody>
          <a:bodyPr rtlCol="0" anchor="ctr"/>
          <a:lstStyle/>
          <a:p>
            <a:endParaRPr lang="de-DE"/>
          </a:p>
        </p:txBody>
      </p:sp>
      <p:sp>
        <p:nvSpPr>
          <p:cNvPr id="254" name="Quality Dim Data Provisioning"/>
          <p:cNvSpPr txBox="1"/>
          <p:nvPr/>
        </p:nvSpPr>
        <p:spPr>
          <a:xfrm>
            <a:off x="1394460"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5" name="Quality Dim Dot Technical"/>
          <p:cNvSpPr/>
          <p:nvPr/>
        </p:nvSpPr>
        <p:spPr>
          <a:xfrm>
            <a:off x="1257300" y="5157164"/>
            <a:ext cx="73152" cy="73152"/>
          </a:xfrm>
          <a:prstGeom prst="ellipse">
            <a:avLst/>
          </a:prstGeom>
          <a:solidFill>
            <a:srgbClr val="F0B135"/>
          </a:solidFill>
          <a:ln>
            <a:noFill/>
          </a:ln>
          <a:effectLst/>
        </p:spPr>
        <p:txBody>
          <a:bodyPr rtlCol="0" anchor="ctr"/>
          <a:lstStyle/>
          <a:p>
            <a:endParaRPr lang="de-DE"/>
          </a:p>
        </p:txBody>
      </p:sp>
      <p:sp>
        <p:nvSpPr>
          <p:cNvPr id="256" name="Quality Dim Technical"/>
          <p:cNvSpPr txBox="1"/>
          <p:nvPr/>
        </p:nvSpPr>
        <p:spPr>
          <a:xfrm>
            <a:off x="1394460"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7" name="Quality Dim Dot Supplier Activation"/>
          <p:cNvSpPr/>
          <p:nvPr/>
        </p:nvSpPr>
        <p:spPr>
          <a:xfrm>
            <a:off x="1257300" y="5351018"/>
            <a:ext cx="73152" cy="73152"/>
          </a:xfrm>
          <a:prstGeom prst="ellipse">
            <a:avLst/>
          </a:prstGeom>
          <a:solidFill>
            <a:srgbClr val="F0B135"/>
          </a:solidFill>
          <a:ln>
            <a:noFill/>
          </a:ln>
          <a:effectLst/>
        </p:spPr>
        <p:txBody>
          <a:bodyPr rtlCol="0" anchor="ctr"/>
          <a:lstStyle/>
          <a:p>
            <a:endParaRPr lang="de-DE"/>
          </a:p>
        </p:txBody>
      </p:sp>
      <p:sp>
        <p:nvSpPr>
          <p:cNvPr id="258" name="Quality Dim Supplier Activation"/>
          <p:cNvSpPr txBox="1"/>
          <p:nvPr/>
        </p:nvSpPr>
        <p:spPr>
          <a:xfrm>
            <a:off x="1394460"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9" name="Battery Passport Row Divider Dimensions"/>
          <p:cNvSpPr/>
          <p:nvPr/>
        </p:nvSpPr>
        <p:spPr>
          <a:xfrm>
            <a:off x="2603182" y="4328967"/>
            <a:ext cx="1167574" cy="6401"/>
          </a:xfrm>
          <a:prstGeom prst="rect">
            <a:avLst/>
          </a:prstGeom>
          <a:solidFill>
            <a:srgbClr val="E2E8EC"/>
          </a:solidFill>
          <a:ln>
            <a:noFill/>
          </a:ln>
          <a:effectLst/>
        </p:spPr>
        <p:txBody>
          <a:bodyPr rtlCol="0" anchor="ctr"/>
          <a:lstStyle/>
          <a:p>
            <a:endParaRPr lang="de-DE"/>
          </a:p>
        </p:txBody>
      </p:sp>
      <p:sp>
        <p:nvSpPr>
          <p:cNvPr id="260" name="Battery Passport Dim Dot External · CX Association"/>
          <p:cNvSpPr/>
          <p:nvPr/>
        </p:nvSpPr>
        <p:spPr>
          <a:xfrm>
            <a:off x="2603182" y="4429551"/>
            <a:ext cx="73152" cy="73152"/>
          </a:xfrm>
          <a:prstGeom prst="ellipse">
            <a:avLst/>
          </a:prstGeom>
          <a:solidFill>
            <a:srgbClr val="F0B135"/>
          </a:solidFill>
          <a:ln>
            <a:noFill/>
          </a:ln>
          <a:effectLst/>
        </p:spPr>
        <p:txBody>
          <a:bodyPr rtlCol="0" anchor="ctr"/>
          <a:lstStyle/>
          <a:p>
            <a:endParaRPr lang="de-DE"/>
          </a:p>
        </p:txBody>
      </p:sp>
      <p:sp>
        <p:nvSpPr>
          <p:cNvPr id="261" name="Battery Passport Dim External · CX Association"/>
          <p:cNvSpPr txBox="1"/>
          <p:nvPr/>
        </p:nvSpPr>
        <p:spPr>
          <a:xfrm>
            <a:off x="2740342"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2" name="Battery Passport Dim Dot Business"/>
          <p:cNvSpPr/>
          <p:nvPr/>
        </p:nvSpPr>
        <p:spPr>
          <a:xfrm>
            <a:off x="2603182" y="4769455"/>
            <a:ext cx="73152" cy="73152"/>
          </a:xfrm>
          <a:prstGeom prst="ellipse">
            <a:avLst/>
          </a:prstGeom>
          <a:solidFill>
            <a:srgbClr val="F0B135"/>
          </a:solidFill>
          <a:ln>
            <a:noFill/>
          </a:ln>
          <a:effectLst/>
        </p:spPr>
        <p:txBody>
          <a:bodyPr rtlCol="0" anchor="ctr"/>
          <a:lstStyle/>
          <a:p>
            <a:endParaRPr lang="de-DE"/>
          </a:p>
        </p:txBody>
      </p:sp>
      <p:sp>
        <p:nvSpPr>
          <p:cNvPr id="263" name="Battery Passport Dim Business"/>
          <p:cNvSpPr txBox="1"/>
          <p:nvPr/>
        </p:nvSpPr>
        <p:spPr>
          <a:xfrm>
            <a:off x="2740342"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4" name="Battery Passport Dim Dot Data Provisioning"/>
          <p:cNvSpPr/>
          <p:nvPr/>
        </p:nvSpPr>
        <p:spPr>
          <a:xfrm>
            <a:off x="2603182" y="4963309"/>
            <a:ext cx="73152" cy="73152"/>
          </a:xfrm>
          <a:prstGeom prst="ellipse">
            <a:avLst/>
          </a:prstGeom>
          <a:solidFill>
            <a:srgbClr val="53BE70"/>
          </a:solidFill>
          <a:ln>
            <a:noFill/>
          </a:ln>
          <a:effectLst/>
        </p:spPr>
        <p:txBody>
          <a:bodyPr rtlCol="0" anchor="ctr"/>
          <a:lstStyle/>
          <a:p>
            <a:endParaRPr lang="de-DE"/>
          </a:p>
        </p:txBody>
      </p:sp>
      <p:sp>
        <p:nvSpPr>
          <p:cNvPr id="265" name="Battery Passport Dim Data Provisioning"/>
          <p:cNvSpPr txBox="1"/>
          <p:nvPr/>
        </p:nvSpPr>
        <p:spPr>
          <a:xfrm>
            <a:off x="2740342"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6" name="Battery Passport Dim Dot Technical"/>
          <p:cNvSpPr/>
          <p:nvPr/>
        </p:nvSpPr>
        <p:spPr>
          <a:xfrm>
            <a:off x="2603182" y="5157164"/>
            <a:ext cx="73152" cy="73152"/>
          </a:xfrm>
          <a:prstGeom prst="ellipse">
            <a:avLst/>
          </a:prstGeom>
          <a:solidFill>
            <a:srgbClr val="53BE70"/>
          </a:solidFill>
          <a:ln>
            <a:noFill/>
          </a:ln>
          <a:effectLst/>
        </p:spPr>
        <p:txBody>
          <a:bodyPr rtlCol="0" anchor="ctr"/>
          <a:lstStyle/>
          <a:p>
            <a:endParaRPr lang="de-DE"/>
          </a:p>
        </p:txBody>
      </p:sp>
      <p:sp>
        <p:nvSpPr>
          <p:cNvPr id="267" name="Battery Passport Dim Technical"/>
          <p:cNvSpPr txBox="1"/>
          <p:nvPr/>
        </p:nvSpPr>
        <p:spPr>
          <a:xfrm>
            <a:off x="2740342"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8" name="Battery Passport Dim Dot Supplier Activation"/>
          <p:cNvSpPr/>
          <p:nvPr/>
        </p:nvSpPr>
        <p:spPr>
          <a:xfrm>
            <a:off x="2603182" y="5351018"/>
            <a:ext cx="73152" cy="73152"/>
          </a:xfrm>
          <a:prstGeom prst="ellipse">
            <a:avLst/>
          </a:prstGeom>
          <a:solidFill>
            <a:srgbClr val="53BE70"/>
          </a:solidFill>
          <a:ln>
            <a:noFill/>
          </a:ln>
          <a:effectLst/>
        </p:spPr>
        <p:txBody>
          <a:bodyPr rtlCol="0" anchor="ctr"/>
          <a:lstStyle/>
          <a:p>
            <a:endParaRPr lang="de-DE"/>
          </a:p>
        </p:txBody>
      </p:sp>
      <p:sp>
        <p:nvSpPr>
          <p:cNvPr id="269" name="Battery Passport Dim Supplier Activation"/>
          <p:cNvSpPr txBox="1"/>
          <p:nvPr/>
        </p:nvSpPr>
        <p:spPr>
          <a:xfrm>
            <a:off x="2740342"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70" name="Product Passes Row Divider Dimensions"/>
          <p:cNvSpPr/>
          <p:nvPr/>
        </p:nvSpPr>
        <p:spPr>
          <a:xfrm>
            <a:off x="3949065" y="4328967"/>
            <a:ext cx="1167574" cy="6401"/>
          </a:xfrm>
          <a:prstGeom prst="rect">
            <a:avLst/>
          </a:prstGeom>
          <a:solidFill>
            <a:srgbClr val="E2E8EC"/>
          </a:solidFill>
          <a:ln>
            <a:noFill/>
          </a:ln>
          <a:effectLst/>
        </p:spPr>
        <p:txBody>
          <a:bodyPr rtlCol="0" anchor="ctr"/>
          <a:lstStyle/>
          <a:p>
            <a:endParaRPr lang="de-DE"/>
          </a:p>
        </p:txBody>
      </p:sp>
      <p:sp>
        <p:nvSpPr>
          <p:cNvPr id="271" name="Product Passes Dim Dot External · CX Association"/>
          <p:cNvSpPr/>
          <p:nvPr/>
        </p:nvSpPr>
        <p:spPr>
          <a:xfrm>
            <a:off x="3949065" y="4429551"/>
            <a:ext cx="73152" cy="73152"/>
          </a:xfrm>
          <a:prstGeom prst="ellipse">
            <a:avLst/>
          </a:prstGeom>
          <a:solidFill>
            <a:srgbClr val="F0B135"/>
          </a:solidFill>
          <a:ln>
            <a:noFill/>
          </a:ln>
          <a:effectLst/>
        </p:spPr>
        <p:txBody>
          <a:bodyPr rtlCol="0" anchor="ctr"/>
          <a:lstStyle/>
          <a:p>
            <a:endParaRPr lang="de-DE"/>
          </a:p>
        </p:txBody>
      </p:sp>
      <p:sp>
        <p:nvSpPr>
          <p:cNvPr id="272" name="Product Passes Dim External · CX Association"/>
          <p:cNvSpPr txBox="1"/>
          <p:nvPr/>
        </p:nvSpPr>
        <p:spPr>
          <a:xfrm>
            <a:off x="4086225"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3" name="Product Passes Dim Dot Business"/>
          <p:cNvSpPr/>
          <p:nvPr/>
        </p:nvSpPr>
        <p:spPr>
          <a:xfrm>
            <a:off x="3949065" y="4769455"/>
            <a:ext cx="73152" cy="73152"/>
          </a:xfrm>
          <a:prstGeom prst="ellipse">
            <a:avLst/>
          </a:prstGeom>
          <a:solidFill>
            <a:srgbClr val="F0B135"/>
          </a:solidFill>
          <a:ln>
            <a:noFill/>
          </a:ln>
          <a:effectLst/>
        </p:spPr>
        <p:txBody>
          <a:bodyPr rtlCol="0" anchor="ctr"/>
          <a:lstStyle/>
          <a:p>
            <a:endParaRPr lang="de-DE"/>
          </a:p>
        </p:txBody>
      </p:sp>
      <p:sp>
        <p:nvSpPr>
          <p:cNvPr id="274" name="Product Passes Dim Business"/>
          <p:cNvSpPr txBox="1"/>
          <p:nvPr/>
        </p:nvSpPr>
        <p:spPr>
          <a:xfrm>
            <a:off x="4086225"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5" name="Product Passes Dim Dot Data Provisioning"/>
          <p:cNvSpPr/>
          <p:nvPr/>
        </p:nvSpPr>
        <p:spPr>
          <a:xfrm>
            <a:off x="3949065" y="4963309"/>
            <a:ext cx="73152" cy="73152"/>
          </a:xfrm>
          <a:prstGeom prst="ellipse">
            <a:avLst/>
          </a:prstGeom>
          <a:solidFill>
            <a:srgbClr val="53BE70"/>
          </a:solidFill>
          <a:ln>
            <a:noFill/>
          </a:ln>
          <a:effectLst/>
        </p:spPr>
        <p:txBody>
          <a:bodyPr rtlCol="0" anchor="ctr"/>
          <a:lstStyle/>
          <a:p>
            <a:endParaRPr lang="de-DE"/>
          </a:p>
        </p:txBody>
      </p:sp>
      <p:sp>
        <p:nvSpPr>
          <p:cNvPr id="276" name="Product Passes Dim Data Provisioning"/>
          <p:cNvSpPr txBox="1"/>
          <p:nvPr/>
        </p:nvSpPr>
        <p:spPr>
          <a:xfrm>
            <a:off x="4086225"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7" name="Product Passes Dim Dot Technical"/>
          <p:cNvSpPr/>
          <p:nvPr/>
        </p:nvSpPr>
        <p:spPr>
          <a:xfrm>
            <a:off x="3949065" y="5157164"/>
            <a:ext cx="73152" cy="73152"/>
          </a:xfrm>
          <a:prstGeom prst="ellipse">
            <a:avLst/>
          </a:prstGeom>
          <a:solidFill>
            <a:srgbClr val="53BE70"/>
          </a:solidFill>
          <a:ln>
            <a:noFill/>
          </a:ln>
          <a:effectLst/>
        </p:spPr>
        <p:txBody>
          <a:bodyPr rtlCol="0" anchor="ctr"/>
          <a:lstStyle/>
          <a:p>
            <a:endParaRPr lang="de-DE"/>
          </a:p>
        </p:txBody>
      </p:sp>
      <p:sp>
        <p:nvSpPr>
          <p:cNvPr id="278" name="Product Passes Dim Technical"/>
          <p:cNvSpPr txBox="1"/>
          <p:nvPr/>
        </p:nvSpPr>
        <p:spPr>
          <a:xfrm>
            <a:off x="4086225"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9" name="Product Passes Dim Dot Supplier Activation"/>
          <p:cNvSpPr/>
          <p:nvPr/>
        </p:nvSpPr>
        <p:spPr>
          <a:xfrm>
            <a:off x="3949065" y="5351018"/>
            <a:ext cx="73152" cy="73152"/>
          </a:xfrm>
          <a:prstGeom prst="ellipse">
            <a:avLst/>
          </a:prstGeom>
          <a:solidFill>
            <a:srgbClr val="53BE70"/>
          </a:solidFill>
          <a:ln>
            <a:noFill/>
          </a:ln>
          <a:effectLst/>
        </p:spPr>
        <p:txBody>
          <a:bodyPr rtlCol="0" anchor="ctr"/>
          <a:lstStyle/>
          <a:p>
            <a:endParaRPr lang="de-DE"/>
          </a:p>
        </p:txBody>
      </p:sp>
      <p:sp>
        <p:nvSpPr>
          <p:cNvPr id="280" name="Product Passes Dim Supplier Activation"/>
          <p:cNvSpPr txBox="1"/>
          <p:nvPr/>
        </p:nvSpPr>
        <p:spPr>
          <a:xfrm>
            <a:off x="4086225"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1" name="PURIS Row Divider Dimensions"/>
          <p:cNvSpPr/>
          <p:nvPr/>
        </p:nvSpPr>
        <p:spPr>
          <a:xfrm>
            <a:off x="5294947" y="4328967"/>
            <a:ext cx="1167574" cy="6401"/>
          </a:xfrm>
          <a:prstGeom prst="rect">
            <a:avLst/>
          </a:prstGeom>
          <a:solidFill>
            <a:srgbClr val="E2E8EC"/>
          </a:solidFill>
          <a:ln>
            <a:noFill/>
          </a:ln>
          <a:effectLst/>
        </p:spPr>
        <p:txBody>
          <a:bodyPr rtlCol="0" anchor="ctr"/>
          <a:lstStyle/>
          <a:p>
            <a:endParaRPr lang="de-DE"/>
          </a:p>
        </p:txBody>
      </p:sp>
      <p:sp>
        <p:nvSpPr>
          <p:cNvPr id="282" name="PURIS Dim Dot External · CX Association"/>
          <p:cNvSpPr/>
          <p:nvPr/>
        </p:nvSpPr>
        <p:spPr>
          <a:xfrm>
            <a:off x="5294947" y="4429551"/>
            <a:ext cx="73152" cy="73152"/>
          </a:xfrm>
          <a:prstGeom prst="ellipse">
            <a:avLst/>
          </a:prstGeom>
          <a:solidFill>
            <a:srgbClr val="53BE70"/>
          </a:solidFill>
          <a:ln>
            <a:noFill/>
          </a:ln>
          <a:effectLst/>
        </p:spPr>
        <p:txBody>
          <a:bodyPr rtlCol="0" anchor="ctr"/>
          <a:lstStyle/>
          <a:p>
            <a:endParaRPr lang="de-DE"/>
          </a:p>
        </p:txBody>
      </p:sp>
      <p:sp>
        <p:nvSpPr>
          <p:cNvPr id="283" name="PURIS Dim External · CX Association"/>
          <p:cNvSpPr txBox="1"/>
          <p:nvPr/>
        </p:nvSpPr>
        <p:spPr>
          <a:xfrm>
            <a:off x="5432108"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4" name="PURIS Dim Dot Business"/>
          <p:cNvSpPr/>
          <p:nvPr/>
        </p:nvSpPr>
        <p:spPr>
          <a:xfrm>
            <a:off x="5294947" y="4769455"/>
            <a:ext cx="73152" cy="73152"/>
          </a:xfrm>
          <a:prstGeom prst="ellipse">
            <a:avLst/>
          </a:prstGeom>
          <a:solidFill>
            <a:srgbClr val="F0B135"/>
          </a:solidFill>
          <a:ln>
            <a:noFill/>
          </a:ln>
          <a:effectLst/>
        </p:spPr>
        <p:txBody>
          <a:bodyPr rtlCol="0" anchor="ctr"/>
          <a:lstStyle/>
          <a:p>
            <a:endParaRPr lang="de-DE"/>
          </a:p>
        </p:txBody>
      </p:sp>
      <p:sp>
        <p:nvSpPr>
          <p:cNvPr id="285" name="PURIS Dim Business"/>
          <p:cNvSpPr txBox="1"/>
          <p:nvPr/>
        </p:nvSpPr>
        <p:spPr>
          <a:xfrm>
            <a:off x="5432108"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6" name="PURIS Dim Dot Data Provisioning"/>
          <p:cNvSpPr/>
          <p:nvPr/>
        </p:nvSpPr>
        <p:spPr>
          <a:xfrm>
            <a:off x="5294947" y="4963309"/>
            <a:ext cx="73152" cy="73152"/>
          </a:xfrm>
          <a:prstGeom prst="ellipse">
            <a:avLst/>
          </a:prstGeom>
          <a:solidFill>
            <a:srgbClr val="F0B135"/>
          </a:solidFill>
          <a:ln>
            <a:noFill/>
          </a:ln>
          <a:effectLst/>
        </p:spPr>
        <p:txBody>
          <a:bodyPr rtlCol="0" anchor="ctr"/>
          <a:lstStyle/>
          <a:p>
            <a:endParaRPr lang="de-DE"/>
          </a:p>
        </p:txBody>
      </p:sp>
      <p:sp>
        <p:nvSpPr>
          <p:cNvPr id="287" name="PURIS Dim Data Provisioning"/>
          <p:cNvSpPr txBox="1"/>
          <p:nvPr/>
        </p:nvSpPr>
        <p:spPr>
          <a:xfrm>
            <a:off x="5432108"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8" name="PURIS Dim Dot Technical"/>
          <p:cNvSpPr/>
          <p:nvPr/>
        </p:nvSpPr>
        <p:spPr>
          <a:xfrm>
            <a:off x="5294947" y="5157164"/>
            <a:ext cx="73152" cy="73152"/>
          </a:xfrm>
          <a:prstGeom prst="ellipse">
            <a:avLst/>
          </a:prstGeom>
          <a:solidFill>
            <a:srgbClr val="F0B135"/>
          </a:solidFill>
          <a:ln>
            <a:noFill/>
          </a:ln>
          <a:effectLst/>
        </p:spPr>
        <p:txBody>
          <a:bodyPr rtlCol="0" anchor="ctr"/>
          <a:lstStyle/>
          <a:p>
            <a:endParaRPr lang="de-DE"/>
          </a:p>
        </p:txBody>
      </p:sp>
      <p:sp>
        <p:nvSpPr>
          <p:cNvPr id="289" name="PURIS Dim Technical"/>
          <p:cNvSpPr txBox="1"/>
          <p:nvPr/>
        </p:nvSpPr>
        <p:spPr>
          <a:xfrm>
            <a:off x="5432108"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90" name="PURIS Dim Dot Supplier Activation"/>
          <p:cNvSpPr/>
          <p:nvPr/>
        </p:nvSpPr>
        <p:spPr>
          <a:xfrm>
            <a:off x="5294947" y="5351018"/>
            <a:ext cx="73152" cy="73152"/>
          </a:xfrm>
          <a:prstGeom prst="ellipse">
            <a:avLst/>
          </a:prstGeom>
          <a:solidFill>
            <a:srgbClr val="F0B135"/>
          </a:solidFill>
          <a:ln>
            <a:noFill/>
          </a:ln>
          <a:effectLst/>
        </p:spPr>
        <p:txBody>
          <a:bodyPr rtlCol="0" anchor="ctr"/>
          <a:lstStyle/>
          <a:p>
            <a:endParaRPr lang="de-DE"/>
          </a:p>
        </p:txBody>
      </p:sp>
      <p:sp>
        <p:nvSpPr>
          <p:cNvPr id="291" name="PURIS Dim Supplier Activation"/>
          <p:cNvSpPr txBox="1"/>
          <p:nvPr/>
        </p:nvSpPr>
        <p:spPr>
          <a:xfrm>
            <a:off x="5432108"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2" name="Business Partner Data Mgmt Row Divider Dimensions"/>
          <p:cNvSpPr/>
          <p:nvPr/>
        </p:nvSpPr>
        <p:spPr>
          <a:xfrm>
            <a:off x="6640830" y="4328967"/>
            <a:ext cx="1167574" cy="6401"/>
          </a:xfrm>
          <a:prstGeom prst="rect">
            <a:avLst/>
          </a:prstGeom>
          <a:solidFill>
            <a:srgbClr val="E2E8EC"/>
          </a:solidFill>
          <a:ln>
            <a:noFill/>
          </a:ln>
          <a:effectLst/>
        </p:spPr>
        <p:txBody>
          <a:bodyPr rtlCol="0" anchor="ctr"/>
          <a:lstStyle/>
          <a:p>
            <a:endParaRPr lang="de-DE"/>
          </a:p>
        </p:txBody>
      </p:sp>
      <p:sp>
        <p:nvSpPr>
          <p:cNvPr id="293" name="Business Partner Data Mgmt Dim Dot External · CX Association"/>
          <p:cNvSpPr/>
          <p:nvPr/>
        </p:nvSpPr>
        <p:spPr>
          <a:xfrm>
            <a:off x="6640830" y="4429551"/>
            <a:ext cx="73152" cy="73152"/>
          </a:xfrm>
          <a:prstGeom prst="ellipse">
            <a:avLst/>
          </a:prstGeom>
          <a:solidFill>
            <a:srgbClr val="53BE70"/>
          </a:solidFill>
          <a:ln>
            <a:noFill/>
          </a:ln>
          <a:effectLst/>
        </p:spPr>
        <p:txBody>
          <a:bodyPr rtlCol="0" anchor="ctr"/>
          <a:lstStyle/>
          <a:p>
            <a:endParaRPr lang="de-DE"/>
          </a:p>
        </p:txBody>
      </p:sp>
      <p:sp>
        <p:nvSpPr>
          <p:cNvPr id="294" name="Business Partner Data Mgmt Dim External · CX Association"/>
          <p:cNvSpPr txBox="1"/>
          <p:nvPr/>
        </p:nvSpPr>
        <p:spPr>
          <a:xfrm>
            <a:off x="6777990"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5" name="Business Partner Data Mgmt Dim Dot Business"/>
          <p:cNvSpPr/>
          <p:nvPr/>
        </p:nvSpPr>
        <p:spPr>
          <a:xfrm>
            <a:off x="6640830" y="4769455"/>
            <a:ext cx="73152" cy="73152"/>
          </a:xfrm>
          <a:prstGeom prst="ellipse">
            <a:avLst/>
          </a:prstGeom>
          <a:solidFill>
            <a:srgbClr val="F0B135"/>
          </a:solidFill>
          <a:ln>
            <a:noFill/>
          </a:ln>
          <a:effectLst/>
        </p:spPr>
        <p:txBody>
          <a:bodyPr rtlCol="0" anchor="ctr"/>
          <a:lstStyle/>
          <a:p>
            <a:endParaRPr lang="de-DE"/>
          </a:p>
        </p:txBody>
      </p:sp>
      <p:sp>
        <p:nvSpPr>
          <p:cNvPr id="296" name="Business Partner Data Mgmt Dim Business"/>
          <p:cNvSpPr txBox="1"/>
          <p:nvPr/>
        </p:nvSpPr>
        <p:spPr>
          <a:xfrm>
            <a:off x="6777990"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7" name="Business Partner Data Mgmt Dim Dot Data Provisioning"/>
          <p:cNvSpPr/>
          <p:nvPr/>
        </p:nvSpPr>
        <p:spPr>
          <a:xfrm>
            <a:off x="6640830" y="4963309"/>
            <a:ext cx="73152" cy="73152"/>
          </a:xfrm>
          <a:prstGeom prst="ellipse">
            <a:avLst/>
          </a:prstGeom>
          <a:solidFill>
            <a:srgbClr val="53BE70"/>
          </a:solidFill>
          <a:ln>
            <a:noFill/>
          </a:ln>
          <a:effectLst/>
        </p:spPr>
        <p:txBody>
          <a:bodyPr rtlCol="0" anchor="ctr"/>
          <a:lstStyle/>
          <a:p>
            <a:endParaRPr lang="de-DE"/>
          </a:p>
        </p:txBody>
      </p:sp>
      <p:sp>
        <p:nvSpPr>
          <p:cNvPr id="298" name="Business Partner Data Mgmt Dim Data Provisioning"/>
          <p:cNvSpPr txBox="1"/>
          <p:nvPr/>
        </p:nvSpPr>
        <p:spPr>
          <a:xfrm>
            <a:off x="6777990"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9" name="Business Partner Data Mgmt Dim Dot Technical"/>
          <p:cNvSpPr/>
          <p:nvPr/>
        </p:nvSpPr>
        <p:spPr>
          <a:xfrm>
            <a:off x="6640830" y="5157164"/>
            <a:ext cx="73152" cy="73152"/>
          </a:xfrm>
          <a:prstGeom prst="ellipse">
            <a:avLst/>
          </a:prstGeom>
          <a:solidFill>
            <a:srgbClr val="F0B135"/>
          </a:solidFill>
          <a:ln>
            <a:noFill/>
          </a:ln>
          <a:effectLst/>
        </p:spPr>
        <p:txBody>
          <a:bodyPr rtlCol="0" anchor="ctr"/>
          <a:lstStyle/>
          <a:p>
            <a:endParaRPr lang="de-DE"/>
          </a:p>
        </p:txBody>
      </p:sp>
      <p:sp>
        <p:nvSpPr>
          <p:cNvPr id="300" name="Business Partner Data Mgmt Dim Technical"/>
          <p:cNvSpPr txBox="1"/>
          <p:nvPr/>
        </p:nvSpPr>
        <p:spPr>
          <a:xfrm>
            <a:off x="6777990"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1" name="Business Partner Data Mgmt Dim Dot Supplier Activation"/>
          <p:cNvSpPr/>
          <p:nvPr/>
        </p:nvSpPr>
        <p:spPr>
          <a:xfrm>
            <a:off x="6640830" y="5351018"/>
            <a:ext cx="73152" cy="73152"/>
          </a:xfrm>
          <a:prstGeom prst="ellipse">
            <a:avLst/>
          </a:prstGeom>
          <a:solidFill>
            <a:srgbClr val="CFD6DB"/>
          </a:solidFill>
          <a:ln>
            <a:noFill/>
          </a:ln>
          <a:effectLst/>
        </p:spPr>
        <p:txBody>
          <a:bodyPr rtlCol="0" anchor="ctr"/>
          <a:lstStyle/>
          <a:p>
            <a:endParaRPr lang="de-DE"/>
          </a:p>
        </p:txBody>
      </p:sp>
      <p:sp>
        <p:nvSpPr>
          <p:cNvPr id="302" name="Business Partner Data Mgmt Dim Supplier Activation"/>
          <p:cNvSpPr txBox="1"/>
          <p:nvPr/>
        </p:nvSpPr>
        <p:spPr>
          <a:xfrm>
            <a:off x="6777990"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3" name="Certificate Management Row Divider Dimensions"/>
          <p:cNvSpPr/>
          <p:nvPr/>
        </p:nvSpPr>
        <p:spPr>
          <a:xfrm>
            <a:off x="7986712" y="4328967"/>
            <a:ext cx="1167574" cy="6401"/>
          </a:xfrm>
          <a:prstGeom prst="rect">
            <a:avLst/>
          </a:prstGeom>
          <a:solidFill>
            <a:srgbClr val="E2E8EC"/>
          </a:solidFill>
          <a:ln>
            <a:noFill/>
          </a:ln>
          <a:effectLst/>
        </p:spPr>
        <p:txBody>
          <a:bodyPr rtlCol="0" anchor="ctr"/>
          <a:lstStyle/>
          <a:p>
            <a:endParaRPr lang="de-DE"/>
          </a:p>
        </p:txBody>
      </p:sp>
      <p:sp>
        <p:nvSpPr>
          <p:cNvPr id="304" name="Certificate Management Dim Dot External · CX Association"/>
          <p:cNvSpPr/>
          <p:nvPr/>
        </p:nvSpPr>
        <p:spPr>
          <a:xfrm>
            <a:off x="7986712" y="4429551"/>
            <a:ext cx="73152" cy="73152"/>
          </a:xfrm>
          <a:prstGeom prst="ellipse">
            <a:avLst/>
          </a:prstGeom>
          <a:solidFill>
            <a:srgbClr val="53BE70"/>
          </a:solidFill>
          <a:ln>
            <a:noFill/>
          </a:ln>
          <a:effectLst/>
        </p:spPr>
        <p:txBody>
          <a:bodyPr rtlCol="0" anchor="ctr"/>
          <a:lstStyle/>
          <a:p>
            <a:endParaRPr lang="de-DE"/>
          </a:p>
        </p:txBody>
      </p:sp>
      <p:sp>
        <p:nvSpPr>
          <p:cNvPr id="305" name="Certificate Management Dim External · CX Association"/>
          <p:cNvSpPr txBox="1"/>
          <p:nvPr/>
        </p:nvSpPr>
        <p:spPr>
          <a:xfrm>
            <a:off x="8123872"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6" name="Certificate Management Dim Dot Business"/>
          <p:cNvSpPr/>
          <p:nvPr/>
        </p:nvSpPr>
        <p:spPr>
          <a:xfrm>
            <a:off x="7986712" y="4769455"/>
            <a:ext cx="73152" cy="73152"/>
          </a:xfrm>
          <a:prstGeom prst="ellipse">
            <a:avLst/>
          </a:prstGeom>
          <a:solidFill>
            <a:srgbClr val="53BE70"/>
          </a:solidFill>
          <a:ln>
            <a:noFill/>
          </a:ln>
          <a:effectLst/>
        </p:spPr>
        <p:txBody>
          <a:bodyPr rtlCol="0" anchor="ctr"/>
          <a:lstStyle/>
          <a:p>
            <a:endParaRPr lang="de-DE"/>
          </a:p>
        </p:txBody>
      </p:sp>
      <p:sp>
        <p:nvSpPr>
          <p:cNvPr id="307" name="Certificate Management Dim Business"/>
          <p:cNvSpPr txBox="1"/>
          <p:nvPr/>
        </p:nvSpPr>
        <p:spPr>
          <a:xfrm>
            <a:off x="8123872"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8" name="Certificate Management Dim Dot Data Provisioning"/>
          <p:cNvSpPr/>
          <p:nvPr/>
        </p:nvSpPr>
        <p:spPr>
          <a:xfrm>
            <a:off x="7986712" y="4963309"/>
            <a:ext cx="73152" cy="73152"/>
          </a:xfrm>
          <a:prstGeom prst="ellipse">
            <a:avLst/>
          </a:prstGeom>
          <a:solidFill>
            <a:srgbClr val="53BE70"/>
          </a:solidFill>
          <a:ln>
            <a:noFill/>
          </a:ln>
          <a:effectLst/>
        </p:spPr>
        <p:txBody>
          <a:bodyPr rtlCol="0" anchor="ctr"/>
          <a:lstStyle/>
          <a:p>
            <a:endParaRPr lang="de-DE"/>
          </a:p>
        </p:txBody>
      </p:sp>
      <p:sp>
        <p:nvSpPr>
          <p:cNvPr id="309" name="Certificate Management Dim Data Provisioning"/>
          <p:cNvSpPr txBox="1"/>
          <p:nvPr/>
        </p:nvSpPr>
        <p:spPr>
          <a:xfrm>
            <a:off x="8123872"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10" name="Certificate Management Dim Dot Technical"/>
          <p:cNvSpPr/>
          <p:nvPr/>
        </p:nvSpPr>
        <p:spPr>
          <a:xfrm>
            <a:off x="7986712" y="5157164"/>
            <a:ext cx="73152" cy="73152"/>
          </a:xfrm>
          <a:prstGeom prst="ellipse">
            <a:avLst/>
          </a:prstGeom>
          <a:solidFill>
            <a:srgbClr val="53BE70"/>
          </a:solidFill>
          <a:ln>
            <a:noFill/>
          </a:ln>
          <a:effectLst/>
        </p:spPr>
        <p:txBody>
          <a:bodyPr rtlCol="0" anchor="ctr"/>
          <a:lstStyle/>
          <a:p>
            <a:endParaRPr lang="de-DE"/>
          </a:p>
        </p:txBody>
      </p:sp>
      <p:sp>
        <p:nvSpPr>
          <p:cNvPr id="311" name="Certificate Management Dim Technical"/>
          <p:cNvSpPr txBox="1"/>
          <p:nvPr/>
        </p:nvSpPr>
        <p:spPr>
          <a:xfrm>
            <a:off x="8123872"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2" name="Certificate Management Dim Dot Supplier Activation"/>
          <p:cNvSpPr/>
          <p:nvPr/>
        </p:nvSpPr>
        <p:spPr>
          <a:xfrm>
            <a:off x="7986712" y="5351018"/>
            <a:ext cx="73152" cy="73152"/>
          </a:xfrm>
          <a:prstGeom prst="ellipse">
            <a:avLst/>
          </a:prstGeom>
          <a:solidFill>
            <a:srgbClr val="53BE70"/>
          </a:solidFill>
          <a:ln>
            <a:noFill/>
          </a:ln>
          <a:effectLst/>
        </p:spPr>
        <p:txBody>
          <a:bodyPr rtlCol="0" anchor="ctr"/>
          <a:lstStyle/>
          <a:p>
            <a:endParaRPr lang="de-DE"/>
          </a:p>
        </p:txBody>
      </p:sp>
      <p:sp>
        <p:nvSpPr>
          <p:cNvPr id="313" name="Certificate Management Dim Supplier Activation"/>
          <p:cNvSpPr txBox="1"/>
          <p:nvPr/>
        </p:nvSpPr>
        <p:spPr>
          <a:xfrm>
            <a:off x="8123872"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4" name="Product Carbon Footprint Row Divider Dimensions"/>
          <p:cNvSpPr/>
          <p:nvPr/>
        </p:nvSpPr>
        <p:spPr>
          <a:xfrm>
            <a:off x="9332595" y="4328967"/>
            <a:ext cx="1167574" cy="6401"/>
          </a:xfrm>
          <a:prstGeom prst="rect">
            <a:avLst/>
          </a:prstGeom>
          <a:solidFill>
            <a:srgbClr val="E2E8EC"/>
          </a:solidFill>
          <a:ln>
            <a:noFill/>
          </a:ln>
          <a:effectLst/>
        </p:spPr>
        <p:txBody>
          <a:bodyPr rtlCol="0" anchor="ctr"/>
          <a:lstStyle/>
          <a:p>
            <a:endParaRPr lang="de-DE"/>
          </a:p>
        </p:txBody>
      </p:sp>
      <p:sp>
        <p:nvSpPr>
          <p:cNvPr id="315" name="Product Carbon Footprint Dim Dot External · CX Association"/>
          <p:cNvSpPr/>
          <p:nvPr/>
        </p:nvSpPr>
        <p:spPr>
          <a:xfrm>
            <a:off x="9332595" y="4429551"/>
            <a:ext cx="73152" cy="73152"/>
          </a:xfrm>
          <a:prstGeom prst="ellipse">
            <a:avLst/>
          </a:prstGeom>
          <a:solidFill>
            <a:srgbClr val="53BE70"/>
          </a:solidFill>
          <a:ln>
            <a:noFill/>
          </a:ln>
          <a:effectLst/>
        </p:spPr>
        <p:txBody>
          <a:bodyPr rtlCol="0" anchor="ctr"/>
          <a:lstStyle/>
          <a:p>
            <a:endParaRPr lang="de-DE"/>
          </a:p>
        </p:txBody>
      </p:sp>
      <p:sp>
        <p:nvSpPr>
          <p:cNvPr id="316" name="Product Carbon Footprint Dim External · CX Association"/>
          <p:cNvSpPr txBox="1"/>
          <p:nvPr/>
        </p:nvSpPr>
        <p:spPr>
          <a:xfrm>
            <a:off x="9469755"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7" name="Product Carbon Footprint Dim Dot Business"/>
          <p:cNvSpPr/>
          <p:nvPr/>
        </p:nvSpPr>
        <p:spPr>
          <a:xfrm>
            <a:off x="9332595" y="4769455"/>
            <a:ext cx="73152" cy="73152"/>
          </a:xfrm>
          <a:prstGeom prst="ellipse">
            <a:avLst/>
          </a:prstGeom>
          <a:solidFill>
            <a:srgbClr val="53BE70"/>
          </a:solidFill>
          <a:ln>
            <a:noFill/>
          </a:ln>
          <a:effectLst/>
        </p:spPr>
        <p:txBody>
          <a:bodyPr rtlCol="0" anchor="ctr"/>
          <a:lstStyle/>
          <a:p>
            <a:endParaRPr lang="de-DE"/>
          </a:p>
        </p:txBody>
      </p:sp>
      <p:sp>
        <p:nvSpPr>
          <p:cNvPr id="318" name="Product Carbon Footprint Dim Business"/>
          <p:cNvSpPr txBox="1"/>
          <p:nvPr/>
        </p:nvSpPr>
        <p:spPr>
          <a:xfrm>
            <a:off x="9469755"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9" name="Product Carbon Footprint Dim Dot Data Provisioning"/>
          <p:cNvSpPr/>
          <p:nvPr/>
        </p:nvSpPr>
        <p:spPr>
          <a:xfrm>
            <a:off x="9332595" y="4963309"/>
            <a:ext cx="73152" cy="73152"/>
          </a:xfrm>
          <a:prstGeom prst="ellipse">
            <a:avLst/>
          </a:prstGeom>
          <a:solidFill>
            <a:srgbClr val="F0B135"/>
          </a:solidFill>
          <a:ln>
            <a:noFill/>
          </a:ln>
          <a:effectLst/>
        </p:spPr>
        <p:txBody>
          <a:bodyPr rtlCol="0" anchor="ctr"/>
          <a:lstStyle/>
          <a:p>
            <a:endParaRPr lang="de-DE"/>
          </a:p>
        </p:txBody>
      </p:sp>
      <p:sp>
        <p:nvSpPr>
          <p:cNvPr id="320" name="Product Carbon Footprint Dim Data Provisioning"/>
          <p:cNvSpPr txBox="1"/>
          <p:nvPr/>
        </p:nvSpPr>
        <p:spPr>
          <a:xfrm>
            <a:off x="9469755"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1" name="Product Carbon Footprint Dim Dot Technical"/>
          <p:cNvSpPr/>
          <p:nvPr/>
        </p:nvSpPr>
        <p:spPr>
          <a:xfrm>
            <a:off x="9332595" y="5157164"/>
            <a:ext cx="73152" cy="73152"/>
          </a:xfrm>
          <a:prstGeom prst="ellipse">
            <a:avLst/>
          </a:prstGeom>
          <a:solidFill>
            <a:srgbClr val="53BE70"/>
          </a:solidFill>
          <a:ln>
            <a:noFill/>
          </a:ln>
          <a:effectLst/>
        </p:spPr>
        <p:txBody>
          <a:bodyPr rtlCol="0" anchor="ctr"/>
          <a:lstStyle/>
          <a:p>
            <a:endParaRPr lang="de-DE"/>
          </a:p>
        </p:txBody>
      </p:sp>
      <p:sp>
        <p:nvSpPr>
          <p:cNvPr id="322" name="Product Carbon Footprint Dim Technical"/>
          <p:cNvSpPr txBox="1"/>
          <p:nvPr/>
        </p:nvSpPr>
        <p:spPr>
          <a:xfrm>
            <a:off x="9469755"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3" name="Product Carbon Footprint Dim Dot Supplier Activation"/>
          <p:cNvSpPr/>
          <p:nvPr/>
        </p:nvSpPr>
        <p:spPr>
          <a:xfrm>
            <a:off x="9332595" y="5351018"/>
            <a:ext cx="73152" cy="73152"/>
          </a:xfrm>
          <a:prstGeom prst="ellipse">
            <a:avLst/>
          </a:prstGeom>
          <a:solidFill>
            <a:srgbClr val="F0B135"/>
          </a:solidFill>
          <a:ln>
            <a:noFill/>
          </a:ln>
          <a:effectLst/>
        </p:spPr>
        <p:txBody>
          <a:bodyPr rtlCol="0" anchor="ctr"/>
          <a:lstStyle/>
          <a:p>
            <a:endParaRPr lang="de-DE"/>
          </a:p>
        </p:txBody>
      </p:sp>
      <p:sp>
        <p:nvSpPr>
          <p:cNvPr id="324" name="Product Carbon Footprint Dim Supplier Activation"/>
          <p:cNvSpPr txBox="1"/>
          <p:nvPr/>
        </p:nvSpPr>
        <p:spPr>
          <a:xfrm>
            <a:off x="9469755"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5" name="N-Tier Row Divider Dimensions"/>
          <p:cNvSpPr/>
          <p:nvPr/>
        </p:nvSpPr>
        <p:spPr>
          <a:xfrm>
            <a:off x="10678477" y="4328967"/>
            <a:ext cx="1167574" cy="6401"/>
          </a:xfrm>
          <a:prstGeom prst="rect">
            <a:avLst/>
          </a:prstGeom>
          <a:solidFill>
            <a:srgbClr val="E2E8EC"/>
          </a:solidFill>
          <a:ln>
            <a:noFill/>
          </a:ln>
          <a:effectLst/>
        </p:spPr>
        <p:txBody>
          <a:bodyPr rtlCol="0" anchor="ctr"/>
          <a:lstStyle/>
          <a:p>
            <a:endParaRPr lang="de-DE"/>
          </a:p>
        </p:txBody>
      </p:sp>
      <p:sp>
        <p:nvSpPr>
          <p:cNvPr id="326" name="N-Tier Dim Dot External · CX Association"/>
          <p:cNvSpPr/>
          <p:nvPr/>
        </p:nvSpPr>
        <p:spPr>
          <a:xfrm>
            <a:off x="10678477" y="4429551"/>
            <a:ext cx="73152" cy="73152"/>
          </a:xfrm>
          <a:prstGeom prst="ellipse">
            <a:avLst/>
          </a:prstGeom>
          <a:solidFill>
            <a:srgbClr val="53BE70"/>
          </a:solidFill>
          <a:ln>
            <a:noFill/>
          </a:ln>
          <a:effectLst/>
        </p:spPr>
        <p:txBody>
          <a:bodyPr rtlCol="0" anchor="ctr"/>
          <a:lstStyle/>
          <a:p>
            <a:endParaRPr lang="de-DE"/>
          </a:p>
        </p:txBody>
      </p:sp>
      <p:sp>
        <p:nvSpPr>
          <p:cNvPr id="327" name="N-Tier Dim External · CX Association"/>
          <p:cNvSpPr txBox="1"/>
          <p:nvPr/>
        </p:nvSpPr>
        <p:spPr>
          <a:xfrm>
            <a:off x="10815637"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8" name="N-Tier Dim Dot Business"/>
          <p:cNvSpPr/>
          <p:nvPr/>
        </p:nvSpPr>
        <p:spPr>
          <a:xfrm>
            <a:off x="10678477" y="4769455"/>
            <a:ext cx="73152" cy="73152"/>
          </a:xfrm>
          <a:prstGeom prst="ellipse">
            <a:avLst/>
          </a:prstGeom>
          <a:solidFill>
            <a:srgbClr val="CFD6DB"/>
          </a:solidFill>
          <a:ln>
            <a:noFill/>
          </a:ln>
          <a:effectLst/>
        </p:spPr>
        <p:txBody>
          <a:bodyPr rtlCol="0" anchor="ctr"/>
          <a:lstStyle/>
          <a:p>
            <a:endParaRPr lang="de-DE"/>
          </a:p>
        </p:txBody>
      </p:sp>
      <p:sp>
        <p:nvSpPr>
          <p:cNvPr id="329" name="N-Tier Dim Business"/>
          <p:cNvSpPr txBox="1"/>
          <p:nvPr/>
        </p:nvSpPr>
        <p:spPr>
          <a:xfrm>
            <a:off x="10815637"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30" name="N-Tier Dim Dot Data Provisioning"/>
          <p:cNvSpPr/>
          <p:nvPr/>
        </p:nvSpPr>
        <p:spPr>
          <a:xfrm>
            <a:off x="10678477" y="4963309"/>
            <a:ext cx="73152" cy="73152"/>
          </a:xfrm>
          <a:prstGeom prst="ellipse">
            <a:avLst/>
          </a:prstGeom>
          <a:solidFill>
            <a:srgbClr val="CFD6DB"/>
          </a:solidFill>
          <a:ln>
            <a:noFill/>
          </a:ln>
          <a:effectLst/>
        </p:spPr>
        <p:txBody>
          <a:bodyPr rtlCol="0" anchor="ctr"/>
          <a:lstStyle/>
          <a:p>
            <a:endParaRPr lang="de-DE"/>
          </a:p>
        </p:txBody>
      </p:sp>
      <p:sp>
        <p:nvSpPr>
          <p:cNvPr id="331" name="N-Tier Dim Data Provisioning"/>
          <p:cNvSpPr txBox="1"/>
          <p:nvPr/>
        </p:nvSpPr>
        <p:spPr>
          <a:xfrm>
            <a:off x="10815637"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2" name="N-Tier Dim Dot Technical"/>
          <p:cNvSpPr/>
          <p:nvPr/>
        </p:nvSpPr>
        <p:spPr>
          <a:xfrm>
            <a:off x="10678477" y="5157164"/>
            <a:ext cx="73152" cy="73152"/>
          </a:xfrm>
          <a:prstGeom prst="ellipse">
            <a:avLst/>
          </a:prstGeom>
          <a:solidFill>
            <a:srgbClr val="CFD6DB"/>
          </a:solidFill>
          <a:ln>
            <a:noFill/>
          </a:ln>
          <a:effectLst/>
        </p:spPr>
        <p:txBody>
          <a:bodyPr rtlCol="0" anchor="ctr"/>
          <a:lstStyle/>
          <a:p>
            <a:endParaRPr lang="de-DE"/>
          </a:p>
        </p:txBody>
      </p:sp>
      <p:sp>
        <p:nvSpPr>
          <p:cNvPr id="333" name="N-Tier Dim Technical"/>
          <p:cNvSpPr txBox="1"/>
          <p:nvPr/>
        </p:nvSpPr>
        <p:spPr>
          <a:xfrm>
            <a:off x="10815637"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4" name="N-Tier Dim Dot Supplier Activation"/>
          <p:cNvSpPr/>
          <p:nvPr/>
        </p:nvSpPr>
        <p:spPr>
          <a:xfrm>
            <a:off x="10678477" y="5351018"/>
            <a:ext cx="73152" cy="73152"/>
          </a:xfrm>
          <a:prstGeom prst="ellipse">
            <a:avLst/>
          </a:prstGeom>
          <a:solidFill>
            <a:srgbClr val="CFD6DB"/>
          </a:solidFill>
          <a:ln>
            <a:noFill/>
          </a:ln>
          <a:effectLst/>
        </p:spPr>
        <p:txBody>
          <a:bodyPr rtlCol="0" anchor="ctr"/>
          <a:lstStyle/>
          <a:p>
            <a:endParaRPr lang="de-DE"/>
          </a:p>
        </p:txBody>
      </p:sp>
      <p:sp>
        <p:nvSpPr>
          <p:cNvPr id="335" name="N-Tier Dim Supplier Activation"/>
          <p:cNvSpPr txBox="1"/>
          <p:nvPr/>
        </p:nvSpPr>
        <p:spPr>
          <a:xfrm>
            <a:off x="10815637"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6"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7" name="Quality Row Divider Decision required"/>
          <p:cNvSpPr/>
          <p:nvPr/>
        </p:nvSpPr>
        <p:spPr>
          <a:xfrm>
            <a:off x="1257300" y="5515356"/>
            <a:ext cx="1167574" cy="6401"/>
          </a:xfrm>
          <a:prstGeom prst="rect">
            <a:avLst/>
          </a:prstGeom>
          <a:solidFill>
            <a:srgbClr val="E2E8EC"/>
          </a:solidFill>
          <a:ln>
            <a:noFill/>
          </a:ln>
          <a:effectLst/>
        </p:spPr>
        <p:txBody>
          <a:bodyPr rtlCol="0" anchor="ctr"/>
          <a:lstStyle/>
          <a:p>
            <a:endParaRPr lang="de-DE"/>
          </a:p>
        </p:txBody>
      </p:sp>
      <p:sp>
        <p:nvSpPr>
          <p:cNvPr id="338" name="Quality Decision None"/>
          <p:cNvSpPr txBox="1"/>
          <p:nvPr/>
        </p:nvSpPr>
        <p:spPr>
          <a:xfrm>
            <a:off x="125730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39" name="Battery Passport Row Divider Decision required"/>
          <p:cNvSpPr/>
          <p:nvPr/>
        </p:nvSpPr>
        <p:spPr>
          <a:xfrm>
            <a:off x="2603182" y="5515356"/>
            <a:ext cx="1167574" cy="6401"/>
          </a:xfrm>
          <a:prstGeom prst="rect">
            <a:avLst/>
          </a:prstGeom>
          <a:solidFill>
            <a:srgbClr val="E2E8EC"/>
          </a:solidFill>
          <a:ln>
            <a:noFill/>
          </a:ln>
          <a:effectLst/>
        </p:spPr>
        <p:txBody>
          <a:bodyPr rtlCol="0" anchor="ctr"/>
          <a:lstStyle/>
          <a:p>
            <a:endParaRPr lang="de-DE"/>
          </a:p>
        </p:txBody>
      </p:sp>
      <p:sp>
        <p:nvSpPr>
          <p:cNvPr id="340" name="Battery Passport Decision None"/>
          <p:cNvSpPr txBox="1"/>
          <p:nvPr/>
        </p:nvSpPr>
        <p:spPr>
          <a:xfrm>
            <a:off x="260318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1" name="Product Passes Row Divider Decision required"/>
          <p:cNvSpPr/>
          <p:nvPr/>
        </p:nvSpPr>
        <p:spPr>
          <a:xfrm>
            <a:off x="3949065" y="5515356"/>
            <a:ext cx="1167574" cy="6401"/>
          </a:xfrm>
          <a:prstGeom prst="rect">
            <a:avLst/>
          </a:prstGeom>
          <a:solidFill>
            <a:srgbClr val="E2E8EC"/>
          </a:solidFill>
          <a:ln>
            <a:noFill/>
          </a:ln>
          <a:effectLst/>
        </p:spPr>
        <p:txBody>
          <a:bodyPr rtlCol="0" anchor="ctr"/>
          <a:lstStyle/>
          <a:p>
            <a:endParaRPr lang="de-DE"/>
          </a:p>
        </p:txBody>
      </p:sp>
      <p:sp>
        <p:nvSpPr>
          <p:cNvPr id="342" name="Product Passes Decision None"/>
          <p:cNvSpPr txBox="1"/>
          <p:nvPr/>
        </p:nvSpPr>
        <p:spPr>
          <a:xfrm>
            <a:off x="394906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3" name="PURIS Row Divider Decision required"/>
          <p:cNvSpPr/>
          <p:nvPr/>
        </p:nvSpPr>
        <p:spPr>
          <a:xfrm>
            <a:off x="5294947" y="5515356"/>
            <a:ext cx="1167574" cy="6401"/>
          </a:xfrm>
          <a:prstGeom prst="rect">
            <a:avLst/>
          </a:prstGeom>
          <a:solidFill>
            <a:srgbClr val="E2E8EC"/>
          </a:solidFill>
          <a:ln>
            <a:noFill/>
          </a:ln>
          <a:effectLst/>
        </p:spPr>
        <p:txBody>
          <a:bodyPr rtlCol="0" anchor="ctr"/>
          <a:lstStyle/>
          <a:p>
            <a:endParaRPr lang="de-DE"/>
          </a:p>
        </p:txBody>
      </p:sp>
      <p:sp>
        <p:nvSpPr>
          <p:cNvPr id="344" name="PURIS Decision 1 Flag"/>
          <p:cNvSpPr/>
          <p:nvPr/>
        </p:nvSpPr>
        <p:spPr>
          <a:xfrm>
            <a:off x="5294947" y="5579364"/>
            <a:ext cx="146304" cy="146304"/>
          </a:xfrm>
          <a:prstGeom prst="ellipse">
            <a:avLst/>
          </a:prstGeom>
          <a:solidFill>
            <a:srgbClr val="001E50"/>
          </a:solidFill>
          <a:ln>
            <a:noFill/>
          </a:ln>
          <a:effectLst/>
        </p:spPr>
        <p:txBody>
          <a:bodyPr rtlCol="0" anchor="ctr"/>
          <a:lstStyle/>
          <a:p>
            <a:endParaRPr lang="de-DE"/>
          </a:p>
        </p:txBody>
      </p:sp>
      <p:sp>
        <p:nvSpPr>
          <p:cNvPr id="345" name="PURIS Decision 1 No"/>
          <p:cNvSpPr txBox="1"/>
          <p:nvPr/>
        </p:nvSpPr>
        <p:spPr>
          <a:xfrm>
            <a:off x="5294947"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46" name="PURIS Decision 1"/>
          <p:cNvSpPr txBox="1"/>
          <p:nvPr/>
        </p:nvSpPr>
        <p:spPr>
          <a:xfrm>
            <a:off x="5294947" y="5579364"/>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7" name="Business Partner Data Mgmt Row Divider Decision required"/>
          <p:cNvSpPr/>
          <p:nvPr/>
        </p:nvSpPr>
        <p:spPr>
          <a:xfrm>
            <a:off x="6640830" y="5515356"/>
            <a:ext cx="1167574" cy="6401"/>
          </a:xfrm>
          <a:prstGeom prst="rect">
            <a:avLst/>
          </a:prstGeom>
          <a:solidFill>
            <a:srgbClr val="E2E8EC"/>
          </a:solidFill>
          <a:ln>
            <a:noFill/>
          </a:ln>
          <a:effectLst/>
        </p:spPr>
        <p:txBody>
          <a:bodyPr rtlCol="0" anchor="ctr"/>
          <a:lstStyle/>
          <a:p>
            <a:endParaRPr lang="de-DE"/>
          </a:p>
        </p:txBody>
      </p:sp>
      <p:sp>
        <p:nvSpPr>
          <p:cNvPr id="348" name="Business Partner Data Mgmt Decision None"/>
          <p:cNvSpPr txBox="1"/>
          <p:nvPr/>
        </p:nvSpPr>
        <p:spPr>
          <a:xfrm>
            <a:off x="664083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9" name="Certificate Management Row Divider Decision required"/>
          <p:cNvSpPr/>
          <p:nvPr/>
        </p:nvSpPr>
        <p:spPr>
          <a:xfrm>
            <a:off x="7986712" y="5515356"/>
            <a:ext cx="1167574" cy="6401"/>
          </a:xfrm>
          <a:prstGeom prst="rect">
            <a:avLst/>
          </a:prstGeom>
          <a:solidFill>
            <a:srgbClr val="E2E8EC"/>
          </a:solidFill>
          <a:ln>
            <a:noFill/>
          </a:ln>
          <a:effectLst/>
        </p:spPr>
        <p:txBody>
          <a:bodyPr rtlCol="0" anchor="ctr"/>
          <a:lstStyle/>
          <a:p>
            <a:endParaRPr lang="de-DE"/>
          </a:p>
        </p:txBody>
      </p:sp>
      <p:sp>
        <p:nvSpPr>
          <p:cNvPr id="350" name="Certificate Management Decision None"/>
          <p:cNvSpPr txBox="1"/>
          <p:nvPr/>
        </p:nvSpPr>
        <p:spPr>
          <a:xfrm>
            <a:off x="798671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1" name="Product Carbon Footprint Row Divider Decision required"/>
          <p:cNvSpPr/>
          <p:nvPr/>
        </p:nvSpPr>
        <p:spPr>
          <a:xfrm>
            <a:off x="9332595" y="5515356"/>
            <a:ext cx="1167574" cy="6401"/>
          </a:xfrm>
          <a:prstGeom prst="rect">
            <a:avLst/>
          </a:prstGeom>
          <a:solidFill>
            <a:srgbClr val="E2E8EC"/>
          </a:solidFill>
          <a:ln>
            <a:noFill/>
          </a:ln>
          <a:effectLst/>
        </p:spPr>
        <p:txBody>
          <a:bodyPr rtlCol="0" anchor="ctr"/>
          <a:lstStyle/>
          <a:p>
            <a:endParaRPr lang="de-DE"/>
          </a:p>
        </p:txBody>
      </p:sp>
      <p:sp>
        <p:nvSpPr>
          <p:cNvPr id="352" name="Product Carbon Footprint Decision None"/>
          <p:cNvSpPr txBox="1"/>
          <p:nvPr/>
        </p:nvSpPr>
        <p:spPr>
          <a:xfrm>
            <a:off x="933259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3" name="N-Tier Row Divider Decision required"/>
          <p:cNvSpPr/>
          <p:nvPr/>
        </p:nvSpPr>
        <p:spPr>
          <a:xfrm>
            <a:off x="10678477" y="5515356"/>
            <a:ext cx="1167574" cy="6401"/>
          </a:xfrm>
          <a:prstGeom prst="rect">
            <a:avLst/>
          </a:prstGeom>
          <a:solidFill>
            <a:srgbClr val="E2E8EC"/>
          </a:solidFill>
          <a:ln>
            <a:noFill/>
          </a:ln>
          <a:effectLst/>
        </p:spPr>
        <p:txBody>
          <a:bodyPr rtlCol="0" anchor="ctr"/>
          <a:lstStyle/>
          <a:p>
            <a:endParaRPr lang="de-DE"/>
          </a:p>
        </p:txBody>
      </p:sp>
      <p:sp>
        <p:nvSpPr>
          <p:cNvPr id="354" name="N-Tier Decision None"/>
          <p:cNvSpPr txBox="1"/>
          <p:nvPr/>
        </p:nvSpPr>
        <p:spPr>
          <a:xfrm>
            <a:off x="10678477"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