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42 / 2026 – one card per use case (read top to bottom), sorted by overall status. Next (critical) milestone = most critical amber/red milestone, else the next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298448"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367028"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367028"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367028"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367028"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6306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99194"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99194"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99194"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99194"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962781"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4031361"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4031361"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4031361"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4031361"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94947"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363528"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363528"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363528"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363528"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6271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95694"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95694"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95694"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95694"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59280"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8027860"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8027860"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8027860"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8027860"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91447"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60027"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60027"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60027"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60027"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50" name="Col N-Tier Card"/>
          <p:cNvSpPr/>
          <p:nvPr/>
        </p:nvSpPr>
        <p:spPr>
          <a:xfrm>
            <a:off x="106236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92193"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92193"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92193"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92193" y="2002790"/>
            <a:ext cx="1153858"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987552" cy="2613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36702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36702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991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991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4031361"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4031361"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36352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36352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802786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802786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6002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71" name="Product Carbon Footprint Status Text"/>
          <p:cNvSpPr txBox="1"/>
          <p:nvPr/>
        </p:nvSpPr>
        <p:spPr>
          <a:xfrm>
            <a:off x="936002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2" name="N-Tier Status Pill"/>
          <p:cNvSpPr/>
          <p:nvPr/>
        </p:nvSpPr>
        <p:spPr>
          <a:xfrm>
            <a:off x="10692193"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92193"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83580"/>
            <a:ext cx="987552" cy="37687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367028" y="2419572"/>
            <a:ext cx="1153858"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367028"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99194" y="2419572"/>
            <a:ext cx="1153858"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99194"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4031361" y="2419572"/>
            <a:ext cx="1153858"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4031361" y="2483580"/>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363528" y="2419572"/>
            <a:ext cx="1153858"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363528"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95694" y="2419572"/>
            <a:ext cx="1153858"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95694"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8027860" y="2419572"/>
            <a:ext cx="1153858"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8027860"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60027" y="2419572"/>
            <a:ext cx="1153858"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60027"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92193" y="2419572"/>
            <a:ext cx="1153858"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92193" y="2483580"/>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924465"/>
            <a:ext cx="987552" cy="40679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367028" y="2860457"/>
            <a:ext cx="1153858"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367028" y="2924465"/>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2027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99194" y="2860457"/>
            <a:ext cx="1153858"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99194"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4031361" y="2860457"/>
            <a:ext cx="1153858"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4031361"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363528" y="2860457"/>
            <a:ext cx="1153858"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363528"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95694" y="2860457"/>
            <a:ext cx="1153858"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95694"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8027860" y="2860457"/>
            <a:ext cx="1153858"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8027860"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60027" y="2860457"/>
            <a:ext cx="1153858"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60027"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Jan 2028</a:t>
            </a:r>
          </a:p>
        </p:txBody>
      </p:sp>
      <p:sp>
        <p:nvSpPr>
          <p:cNvPr id="206" name="N-Tier Row Divider E2E go-live target date"/>
          <p:cNvSpPr/>
          <p:nvPr/>
        </p:nvSpPr>
        <p:spPr>
          <a:xfrm>
            <a:off x="10692193" y="2860457"/>
            <a:ext cx="1153858"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92193"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95263"/>
            <a:ext cx="987552" cy="40679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367028" y="3331255"/>
            <a:ext cx="1153858"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367028" y="3395263"/>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99194" y="3331255"/>
            <a:ext cx="1153858"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99194"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4031361" y="3331255"/>
            <a:ext cx="1153858"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4031361"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363528" y="3331255"/>
            <a:ext cx="1153858"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363528"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95694" y="3331255"/>
            <a:ext cx="1153858"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95694"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8027860" y="3331255"/>
            <a:ext cx="1153858"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8027860"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89 / 100</a:t>
            </a:r>
            <a:r>
              <a:rPr lang="de-DE" sz="900" b="0" kern="0" dirty="0">
                <a:solidFill>
                  <a:srgbClr val="63707A"/>
                </a:solidFill>
                <a:latin typeface="Segoe UI" pitchFamily="34" charset="0"/>
                <a:ea typeface="Segoe UI" pitchFamily="34" charset="-122"/>
                <a:cs typeface="Segoe UI" pitchFamily="34" charset="-120"/>
              </a:rPr>
              <a:t>  89%</a:t>
            </a:r>
          </a:p>
        </p:txBody>
      </p:sp>
      <p:sp>
        <p:nvSpPr>
          <p:cNvPr id="221" name="Product Carbon Footprint Row Divider Suppliers enabled 2026"/>
          <p:cNvSpPr/>
          <p:nvPr/>
        </p:nvSpPr>
        <p:spPr>
          <a:xfrm>
            <a:off x="9360027" y="3331255"/>
            <a:ext cx="1153858"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60027"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92193" y="3331255"/>
            <a:ext cx="1153858"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92193"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866061"/>
            <a:ext cx="987552" cy="69889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367028" y="3802053"/>
            <a:ext cx="1153858"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367028" y="3902637"/>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504188" y="3866061"/>
            <a:ext cx="1016699"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99194" y="3802053"/>
            <a:ext cx="1153858" cy="6401"/>
          </a:xfrm>
          <a:prstGeom prst="rect">
            <a:avLst/>
          </a:prstGeom>
          <a:solidFill>
            <a:srgbClr val="E2E8EC"/>
          </a:solidFill>
          <a:ln>
            <a:noFill/>
          </a:ln>
          <a:effectLst/>
        </p:spPr>
        <p:txBody>
          <a:bodyPr rtlCol="0" anchor="ctr"/>
          <a:lstStyle/>
          <a:p>
            <a:endParaRPr lang="de-DE"/>
          </a:p>
        </p:txBody>
      </p:sp>
      <p:sp>
        <p:nvSpPr>
          <p:cNvPr id="230" name="Battery Passport Milestone Dot"/>
          <p:cNvSpPr/>
          <p:nvPr/>
        </p:nvSpPr>
        <p:spPr>
          <a:xfrm>
            <a:off x="2699194" y="3902637"/>
            <a:ext cx="73152" cy="73152"/>
          </a:xfrm>
          <a:prstGeom prst="ellipse">
            <a:avLst/>
          </a:prstGeom>
          <a:solidFill>
            <a:srgbClr val="53BE70"/>
          </a:solidFill>
          <a:ln>
            <a:noFill/>
          </a:ln>
          <a:effectLst/>
        </p:spPr>
        <p:txBody>
          <a:bodyPr rtlCol="0" anchor="ctr"/>
          <a:lstStyle/>
          <a:p>
            <a:endParaRPr lang="de-DE"/>
          </a:p>
        </p:txBody>
      </p:sp>
      <p:sp>
        <p:nvSpPr>
          <p:cNvPr id="231" name="Battery Passport Milestone"/>
          <p:cNvSpPr txBox="1"/>
          <p:nvPr/>
        </p:nvSpPr>
        <p:spPr>
          <a:xfrm>
            <a:off x="2836354"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2" name="Product Passes Row Divider Next (critical) milestone"/>
          <p:cNvSpPr/>
          <p:nvPr/>
        </p:nvSpPr>
        <p:spPr>
          <a:xfrm>
            <a:off x="4031361" y="3802053"/>
            <a:ext cx="1153858" cy="6401"/>
          </a:xfrm>
          <a:prstGeom prst="rect">
            <a:avLst/>
          </a:prstGeom>
          <a:solidFill>
            <a:srgbClr val="E2E8EC"/>
          </a:solidFill>
          <a:ln>
            <a:noFill/>
          </a:ln>
          <a:effectLst/>
        </p:spPr>
        <p:txBody>
          <a:bodyPr rtlCol="0" anchor="ctr"/>
          <a:lstStyle/>
          <a:p>
            <a:endParaRPr lang="de-DE"/>
          </a:p>
        </p:txBody>
      </p:sp>
      <p:sp>
        <p:nvSpPr>
          <p:cNvPr id="233" name="Product Passes Milestone Dot"/>
          <p:cNvSpPr/>
          <p:nvPr/>
        </p:nvSpPr>
        <p:spPr>
          <a:xfrm>
            <a:off x="4031361" y="3902637"/>
            <a:ext cx="73152" cy="73152"/>
          </a:xfrm>
          <a:prstGeom prst="ellipse">
            <a:avLst/>
          </a:prstGeom>
          <a:solidFill>
            <a:srgbClr val="F0B135"/>
          </a:solidFill>
          <a:ln>
            <a:noFill/>
          </a:ln>
          <a:effectLst/>
        </p:spPr>
        <p:txBody>
          <a:bodyPr rtlCol="0" anchor="ctr"/>
          <a:lstStyle/>
          <a:p>
            <a:endParaRPr lang="de-DE"/>
          </a:p>
        </p:txBody>
      </p:sp>
      <p:sp>
        <p:nvSpPr>
          <p:cNvPr id="234" name="Product Passes Milestone"/>
          <p:cNvSpPr txBox="1"/>
          <p:nvPr/>
        </p:nvSpPr>
        <p:spPr>
          <a:xfrm>
            <a:off x="4168521"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5" name="PURIS Row Divider Next (critical) milestone"/>
          <p:cNvSpPr/>
          <p:nvPr/>
        </p:nvSpPr>
        <p:spPr>
          <a:xfrm>
            <a:off x="5363528" y="3802053"/>
            <a:ext cx="1153858" cy="6401"/>
          </a:xfrm>
          <a:prstGeom prst="rect">
            <a:avLst/>
          </a:prstGeom>
          <a:solidFill>
            <a:srgbClr val="E2E8EC"/>
          </a:solidFill>
          <a:ln>
            <a:noFill/>
          </a:ln>
          <a:effectLst/>
        </p:spPr>
        <p:txBody>
          <a:bodyPr rtlCol="0" anchor="ctr"/>
          <a:lstStyle/>
          <a:p>
            <a:endParaRPr lang="de-DE"/>
          </a:p>
        </p:txBody>
      </p:sp>
      <p:sp>
        <p:nvSpPr>
          <p:cNvPr id="236" name="PURIS Milestone Dot"/>
          <p:cNvSpPr/>
          <p:nvPr/>
        </p:nvSpPr>
        <p:spPr>
          <a:xfrm>
            <a:off x="5363528" y="3902637"/>
            <a:ext cx="73152" cy="73152"/>
          </a:xfrm>
          <a:prstGeom prst="ellipse">
            <a:avLst/>
          </a:prstGeom>
          <a:solidFill>
            <a:srgbClr val="F0B135"/>
          </a:solidFill>
          <a:ln>
            <a:noFill/>
          </a:ln>
          <a:effectLst/>
        </p:spPr>
        <p:txBody>
          <a:bodyPr rtlCol="0" anchor="ctr"/>
          <a:lstStyle/>
          <a:p>
            <a:endParaRPr lang="de-DE"/>
          </a:p>
        </p:txBody>
      </p:sp>
      <p:sp>
        <p:nvSpPr>
          <p:cNvPr id="237" name="PURIS Milestone"/>
          <p:cNvSpPr txBox="1"/>
          <p:nvPr/>
        </p:nvSpPr>
        <p:spPr>
          <a:xfrm>
            <a:off x="5500688"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09 Oct 2026</a:t>
            </a:r>
          </a:p>
        </p:txBody>
      </p:sp>
      <p:sp>
        <p:nvSpPr>
          <p:cNvPr id="238" name="Business Partner Data Mgmt Row Divider Next (critical) milestone"/>
          <p:cNvSpPr/>
          <p:nvPr/>
        </p:nvSpPr>
        <p:spPr>
          <a:xfrm>
            <a:off x="6695694" y="3802053"/>
            <a:ext cx="1153858" cy="6401"/>
          </a:xfrm>
          <a:prstGeom prst="rect">
            <a:avLst/>
          </a:prstGeom>
          <a:solidFill>
            <a:srgbClr val="E2E8EC"/>
          </a:solidFill>
          <a:ln>
            <a:noFill/>
          </a:ln>
          <a:effectLst/>
        </p:spPr>
        <p:txBody>
          <a:bodyPr rtlCol="0" anchor="ctr"/>
          <a:lstStyle/>
          <a:p>
            <a:endParaRPr lang="de-DE"/>
          </a:p>
        </p:txBody>
      </p:sp>
      <p:sp>
        <p:nvSpPr>
          <p:cNvPr id="239" name="Business Partner Data Mgmt Milestone Dot"/>
          <p:cNvSpPr/>
          <p:nvPr/>
        </p:nvSpPr>
        <p:spPr>
          <a:xfrm>
            <a:off x="6695694" y="3902637"/>
            <a:ext cx="73152" cy="73152"/>
          </a:xfrm>
          <a:prstGeom prst="ellipse">
            <a:avLst/>
          </a:prstGeom>
          <a:solidFill>
            <a:srgbClr val="53BE70"/>
          </a:solidFill>
          <a:ln>
            <a:noFill/>
          </a:ln>
          <a:effectLst/>
        </p:spPr>
        <p:txBody>
          <a:bodyPr rtlCol="0" anchor="ctr"/>
          <a:lstStyle/>
          <a:p>
            <a:endParaRPr lang="de-DE"/>
          </a:p>
        </p:txBody>
      </p:sp>
      <p:sp>
        <p:nvSpPr>
          <p:cNvPr id="240" name="Business Partner Data Mgmt Milestone"/>
          <p:cNvSpPr txBox="1"/>
          <p:nvPr/>
        </p:nvSpPr>
        <p:spPr>
          <a:xfrm>
            <a:off x="6832854"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BPDM target picture defined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41" name="Certificate Management Row Divider Next (critical) milestone"/>
          <p:cNvSpPr/>
          <p:nvPr/>
        </p:nvSpPr>
        <p:spPr>
          <a:xfrm>
            <a:off x="8027860" y="3802053"/>
            <a:ext cx="1153858" cy="6401"/>
          </a:xfrm>
          <a:prstGeom prst="rect">
            <a:avLst/>
          </a:prstGeom>
          <a:solidFill>
            <a:srgbClr val="E2E8EC"/>
          </a:solidFill>
          <a:ln>
            <a:noFill/>
          </a:ln>
          <a:effectLst/>
        </p:spPr>
        <p:txBody>
          <a:bodyPr rtlCol="0" anchor="ctr"/>
          <a:lstStyle/>
          <a:p>
            <a:endParaRPr lang="de-DE"/>
          </a:p>
        </p:txBody>
      </p:sp>
      <p:sp>
        <p:nvSpPr>
          <p:cNvPr id="242" name="Certificate Management Milestone Dot"/>
          <p:cNvSpPr/>
          <p:nvPr/>
        </p:nvSpPr>
        <p:spPr>
          <a:xfrm>
            <a:off x="8027860" y="3902637"/>
            <a:ext cx="73152" cy="73152"/>
          </a:xfrm>
          <a:prstGeom prst="ellipse">
            <a:avLst/>
          </a:prstGeom>
          <a:solidFill>
            <a:srgbClr val="F0B135"/>
          </a:solidFill>
          <a:ln>
            <a:noFill/>
          </a:ln>
          <a:effectLst/>
        </p:spPr>
        <p:txBody>
          <a:bodyPr rtlCol="0" anchor="ctr"/>
          <a:lstStyle/>
          <a:p>
            <a:endParaRPr lang="de-DE"/>
          </a:p>
        </p:txBody>
      </p:sp>
      <p:sp>
        <p:nvSpPr>
          <p:cNvPr id="243" name="Certificate Management Milestone"/>
          <p:cNvSpPr txBox="1"/>
          <p:nvPr/>
        </p:nvSpPr>
        <p:spPr>
          <a:xfrm>
            <a:off x="8165020"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4" name="Product Carbon Footprint Row Divider Next (critical) milestone"/>
          <p:cNvSpPr/>
          <p:nvPr/>
        </p:nvSpPr>
        <p:spPr>
          <a:xfrm>
            <a:off x="9360027" y="3802053"/>
            <a:ext cx="1153858" cy="6401"/>
          </a:xfrm>
          <a:prstGeom prst="rect">
            <a:avLst/>
          </a:prstGeom>
          <a:solidFill>
            <a:srgbClr val="E2E8EC"/>
          </a:solidFill>
          <a:ln>
            <a:noFill/>
          </a:ln>
          <a:effectLst/>
        </p:spPr>
        <p:txBody>
          <a:bodyPr rtlCol="0" anchor="ctr"/>
          <a:lstStyle/>
          <a:p>
            <a:endParaRPr lang="de-DE"/>
          </a:p>
        </p:txBody>
      </p:sp>
      <p:sp>
        <p:nvSpPr>
          <p:cNvPr id="245" name="Product Carbon Footprint Milestone Dot"/>
          <p:cNvSpPr/>
          <p:nvPr/>
        </p:nvSpPr>
        <p:spPr>
          <a:xfrm>
            <a:off x="9360027" y="3902637"/>
            <a:ext cx="73152" cy="73152"/>
          </a:xfrm>
          <a:prstGeom prst="ellipse">
            <a:avLst/>
          </a:prstGeom>
          <a:solidFill>
            <a:srgbClr val="F0B135"/>
          </a:solidFill>
          <a:ln>
            <a:noFill/>
          </a:ln>
          <a:effectLst/>
        </p:spPr>
        <p:txBody>
          <a:bodyPr rtlCol="0" anchor="ctr"/>
          <a:lstStyle/>
          <a:p>
            <a:endParaRPr lang="de-DE"/>
          </a:p>
        </p:txBody>
      </p:sp>
      <p:sp>
        <p:nvSpPr>
          <p:cNvPr id="246" name="Product Carbon Footprint Milestone"/>
          <p:cNvSpPr txBox="1"/>
          <p:nvPr/>
        </p:nvSpPr>
        <p:spPr>
          <a:xfrm>
            <a:off x="9497187"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stage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7" name="N-Tier Row Divider Next (critical) milestone"/>
          <p:cNvSpPr/>
          <p:nvPr/>
        </p:nvSpPr>
        <p:spPr>
          <a:xfrm>
            <a:off x="10692193" y="3802053"/>
            <a:ext cx="1153858" cy="6401"/>
          </a:xfrm>
          <a:prstGeom prst="rect">
            <a:avLst/>
          </a:prstGeom>
          <a:solidFill>
            <a:srgbClr val="E2E8EC"/>
          </a:solidFill>
          <a:ln>
            <a:noFill/>
          </a:ln>
          <a:effectLst/>
        </p:spPr>
        <p:txBody>
          <a:bodyPr rtlCol="0" anchor="ctr"/>
          <a:lstStyle/>
          <a:p>
            <a:endParaRPr lang="de-DE"/>
          </a:p>
        </p:txBody>
      </p:sp>
      <p:sp>
        <p:nvSpPr>
          <p:cNvPr id="248" name="N-Tier Milestone Dot"/>
          <p:cNvSpPr/>
          <p:nvPr/>
        </p:nvSpPr>
        <p:spPr>
          <a:xfrm>
            <a:off x="10692193" y="3902637"/>
            <a:ext cx="73152" cy="73152"/>
          </a:xfrm>
          <a:prstGeom prst="ellipse">
            <a:avLst/>
          </a:prstGeom>
          <a:solidFill>
            <a:srgbClr val="53BE70"/>
          </a:solidFill>
          <a:ln>
            <a:noFill/>
          </a:ln>
          <a:effectLst/>
        </p:spPr>
        <p:txBody>
          <a:bodyPr rtlCol="0" anchor="ctr"/>
          <a:lstStyle/>
          <a:p>
            <a:endParaRPr lang="de-DE"/>
          </a:p>
        </p:txBody>
      </p:sp>
      <p:sp>
        <p:nvSpPr>
          <p:cNvPr id="249" name="N-Tier Milestone"/>
          <p:cNvSpPr txBox="1"/>
          <p:nvPr/>
        </p:nvSpPr>
        <p:spPr>
          <a:xfrm>
            <a:off x="10829353"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Working group framework created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Q4 2026</a:t>
            </a:r>
          </a:p>
        </p:txBody>
      </p:sp>
      <p:sp>
        <p:nvSpPr>
          <p:cNvPr id="250" name="Row Label Dimensions"/>
          <p:cNvSpPr txBox="1"/>
          <p:nvPr/>
        </p:nvSpPr>
        <p:spPr>
          <a:xfrm>
            <a:off x="274320" y="4628960"/>
            <a:ext cx="987552" cy="166211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51" name="Dim Lane External · CX Association"/>
          <p:cNvSpPr/>
          <p:nvPr/>
        </p:nvSpPr>
        <p:spPr>
          <a:xfrm>
            <a:off x="201168" y="4811586"/>
            <a:ext cx="1097280" cy="284924"/>
          </a:xfrm>
          <a:prstGeom prst="rect">
            <a:avLst/>
          </a:prstGeom>
          <a:solidFill>
            <a:srgbClr val="0B3A45"/>
          </a:solidFill>
          <a:ln>
            <a:noFill/>
          </a:ln>
          <a:effectLst/>
        </p:spPr>
        <p:txBody>
          <a:bodyPr rtlCol="0" anchor="ctr"/>
          <a:lstStyle/>
          <a:p>
            <a:endParaRPr lang="de-DE"/>
          </a:p>
        </p:txBody>
      </p:sp>
      <p:sp>
        <p:nvSpPr>
          <p:cNvPr id="252" name="Dim Label External · CX Association"/>
          <p:cNvSpPr txBox="1"/>
          <p:nvPr/>
        </p:nvSpPr>
        <p:spPr>
          <a:xfrm>
            <a:off x="329184" y="4811586"/>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53" name="Dim Label Business"/>
          <p:cNvSpPr txBox="1"/>
          <p:nvPr/>
        </p:nvSpPr>
        <p:spPr>
          <a:xfrm>
            <a:off x="329184" y="5096510"/>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54" name="Dim Lane Data Provisioning"/>
          <p:cNvSpPr/>
          <p:nvPr/>
        </p:nvSpPr>
        <p:spPr>
          <a:xfrm>
            <a:off x="201168" y="5381435"/>
            <a:ext cx="1097280" cy="284924"/>
          </a:xfrm>
          <a:prstGeom prst="rect">
            <a:avLst/>
          </a:prstGeom>
          <a:solidFill>
            <a:srgbClr val="0B3A45"/>
          </a:solidFill>
          <a:ln>
            <a:noFill/>
          </a:ln>
          <a:effectLst/>
        </p:spPr>
        <p:txBody>
          <a:bodyPr rtlCol="0" anchor="ctr"/>
          <a:lstStyle/>
          <a:p>
            <a:endParaRPr lang="de-DE"/>
          </a:p>
        </p:txBody>
      </p:sp>
      <p:sp>
        <p:nvSpPr>
          <p:cNvPr id="255" name="Dim Label Data Provisioning"/>
          <p:cNvSpPr txBox="1"/>
          <p:nvPr/>
        </p:nvSpPr>
        <p:spPr>
          <a:xfrm>
            <a:off x="329184" y="5381435"/>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Data Provisioning</a:t>
            </a:r>
          </a:p>
        </p:txBody>
      </p:sp>
      <p:sp>
        <p:nvSpPr>
          <p:cNvPr id="256" name="Dim Label Technical"/>
          <p:cNvSpPr txBox="1"/>
          <p:nvPr/>
        </p:nvSpPr>
        <p:spPr>
          <a:xfrm>
            <a:off x="329184" y="5666359"/>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57" name="Dim Lane Supplier Activation"/>
          <p:cNvSpPr/>
          <p:nvPr/>
        </p:nvSpPr>
        <p:spPr>
          <a:xfrm>
            <a:off x="201168" y="5951284"/>
            <a:ext cx="1097280" cy="284924"/>
          </a:xfrm>
          <a:prstGeom prst="rect">
            <a:avLst/>
          </a:prstGeom>
          <a:solidFill>
            <a:srgbClr val="0B3A45"/>
          </a:solidFill>
          <a:ln>
            <a:noFill/>
          </a:ln>
          <a:effectLst/>
        </p:spPr>
        <p:txBody>
          <a:bodyPr rtlCol="0" anchor="ctr"/>
          <a:lstStyle/>
          <a:p>
            <a:endParaRPr lang="de-DE"/>
          </a:p>
        </p:txBody>
      </p:sp>
      <p:sp>
        <p:nvSpPr>
          <p:cNvPr id="258" name="Dim Label Supplier Activation"/>
          <p:cNvSpPr txBox="1"/>
          <p:nvPr/>
        </p:nvSpPr>
        <p:spPr>
          <a:xfrm>
            <a:off x="329184" y="5951284"/>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Supplier Activation</a:t>
            </a:r>
          </a:p>
        </p:txBody>
      </p:sp>
      <p:sp>
        <p:nvSpPr>
          <p:cNvPr id="259" name="Quality Row Divider Dimensions"/>
          <p:cNvSpPr/>
          <p:nvPr/>
        </p:nvSpPr>
        <p:spPr>
          <a:xfrm>
            <a:off x="1367028" y="4564952"/>
            <a:ext cx="1153858" cy="6401"/>
          </a:xfrm>
          <a:prstGeom prst="rect">
            <a:avLst/>
          </a:prstGeom>
          <a:solidFill>
            <a:srgbClr val="E2E8EC"/>
          </a:solidFill>
          <a:ln>
            <a:noFill/>
          </a:ln>
          <a:effectLst/>
        </p:spPr>
        <p:txBody>
          <a:bodyPr rtlCol="0" anchor="ctr"/>
          <a:lstStyle/>
          <a:p>
            <a:endParaRPr lang="de-DE"/>
          </a:p>
        </p:txBody>
      </p:sp>
      <p:sp>
        <p:nvSpPr>
          <p:cNvPr id="260" name="Quality Dim Lane External · CX Association"/>
          <p:cNvSpPr/>
          <p:nvPr/>
        </p:nvSpPr>
        <p:spPr>
          <a:xfrm>
            <a:off x="1298448" y="4811586"/>
            <a:ext cx="1291018" cy="284924"/>
          </a:xfrm>
          <a:prstGeom prst="rect">
            <a:avLst/>
          </a:prstGeom>
          <a:solidFill>
            <a:srgbClr val="F0F3F6"/>
          </a:solidFill>
          <a:ln>
            <a:noFill/>
          </a:ln>
          <a:effectLst/>
        </p:spPr>
        <p:txBody>
          <a:bodyPr rtlCol="0" anchor="ctr"/>
          <a:lstStyle/>
          <a:p>
            <a:endParaRPr lang="de-DE"/>
          </a:p>
        </p:txBody>
      </p:sp>
      <p:sp>
        <p:nvSpPr>
          <p:cNvPr id="261" name="Quality Dim External · CX Association Dot"/>
          <p:cNvSpPr/>
          <p:nvPr/>
        </p:nvSpPr>
        <p:spPr>
          <a:xfrm>
            <a:off x="1367028" y="4899184"/>
            <a:ext cx="109728" cy="109728"/>
          </a:xfrm>
          <a:prstGeom prst="ellipse">
            <a:avLst/>
          </a:prstGeom>
          <a:solidFill>
            <a:srgbClr val="53BE70"/>
          </a:solidFill>
          <a:ln>
            <a:noFill/>
          </a:ln>
          <a:effectLst/>
        </p:spPr>
        <p:txBody>
          <a:bodyPr rtlCol="0" anchor="ctr"/>
          <a:lstStyle/>
          <a:p>
            <a:endParaRPr lang="de-DE"/>
          </a:p>
        </p:txBody>
      </p:sp>
      <p:sp>
        <p:nvSpPr>
          <p:cNvPr id="262" name="Quality Dim Business Dot"/>
          <p:cNvSpPr/>
          <p:nvPr/>
        </p:nvSpPr>
        <p:spPr>
          <a:xfrm>
            <a:off x="1367028" y="5184108"/>
            <a:ext cx="109728" cy="109728"/>
          </a:xfrm>
          <a:prstGeom prst="ellipse">
            <a:avLst/>
          </a:prstGeom>
          <a:solidFill>
            <a:srgbClr val="F0B135"/>
          </a:solidFill>
          <a:ln>
            <a:noFill/>
          </a:ln>
          <a:effectLst/>
        </p:spPr>
        <p:txBody>
          <a:bodyPr rtlCol="0" anchor="ctr"/>
          <a:lstStyle/>
          <a:p>
            <a:endParaRPr lang="de-DE"/>
          </a:p>
        </p:txBody>
      </p:sp>
      <p:sp>
        <p:nvSpPr>
          <p:cNvPr id="263" name="Quality Dim Lane Data Provisioning"/>
          <p:cNvSpPr/>
          <p:nvPr/>
        </p:nvSpPr>
        <p:spPr>
          <a:xfrm>
            <a:off x="1298448" y="5381435"/>
            <a:ext cx="1291018" cy="284924"/>
          </a:xfrm>
          <a:prstGeom prst="rect">
            <a:avLst/>
          </a:prstGeom>
          <a:solidFill>
            <a:srgbClr val="F0F3F6"/>
          </a:solidFill>
          <a:ln>
            <a:noFill/>
          </a:ln>
          <a:effectLst/>
        </p:spPr>
        <p:txBody>
          <a:bodyPr rtlCol="0" anchor="ctr"/>
          <a:lstStyle/>
          <a:p>
            <a:endParaRPr lang="de-DE"/>
          </a:p>
        </p:txBody>
      </p:sp>
      <p:sp>
        <p:nvSpPr>
          <p:cNvPr id="264" name="Quality Dim Data Provisioning Dot"/>
          <p:cNvSpPr/>
          <p:nvPr/>
        </p:nvSpPr>
        <p:spPr>
          <a:xfrm>
            <a:off x="1367028" y="5469033"/>
            <a:ext cx="109728" cy="109728"/>
          </a:xfrm>
          <a:prstGeom prst="ellipse">
            <a:avLst/>
          </a:prstGeom>
          <a:solidFill>
            <a:srgbClr val="F0B135"/>
          </a:solidFill>
          <a:ln>
            <a:noFill/>
          </a:ln>
          <a:effectLst/>
        </p:spPr>
        <p:txBody>
          <a:bodyPr rtlCol="0" anchor="ctr"/>
          <a:lstStyle/>
          <a:p>
            <a:endParaRPr lang="de-DE"/>
          </a:p>
        </p:txBody>
      </p:sp>
      <p:sp>
        <p:nvSpPr>
          <p:cNvPr id="265" name="Quality Dim Technical Dot"/>
          <p:cNvSpPr/>
          <p:nvPr/>
        </p:nvSpPr>
        <p:spPr>
          <a:xfrm>
            <a:off x="1367028" y="5753957"/>
            <a:ext cx="109728" cy="109728"/>
          </a:xfrm>
          <a:prstGeom prst="ellipse">
            <a:avLst/>
          </a:prstGeom>
          <a:solidFill>
            <a:srgbClr val="F0B135"/>
          </a:solidFill>
          <a:ln>
            <a:noFill/>
          </a:ln>
          <a:effectLst/>
        </p:spPr>
        <p:txBody>
          <a:bodyPr rtlCol="0" anchor="ctr"/>
          <a:lstStyle/>
          <a:p>
            <a:endParaRPr lang="de-DE"/>
          </a:p>
        </p:txBody>
      </p:sp>
      <p:sp>
        <p:nvSpPr>
          <p:cNvPr id="266" name="Quality Dim Lane Supplier Activation"/>
          <p:cNvSpPr/>
          <p:nvPr/>
        </p:nvSpPr>
        <p:spPr>
          <a:xfrm>
            <a:off x="1298448" y="5951284"/>
            <a:ext cx="1291018" cy="284924"/>
          </a:xfrm>
          <a:prstGeom prst="rect">
            <a:avLst/>
          </a:prstGeom>
          <a:solidFill>
            <a:srgbClr val="F0F3F6"/>
          </a:solidFill>
          <a:ln>
            <a:noFill/>
          </a:ln>
          <a:effectLst/>
        </p:spPr>
        <p:txBody>
          <a:bodyPr rtlCol="0" anchor="ctr"/>
          <a:lstStyle/>
          <a:p>
            <a:endParaRPr lang="de-DE"/>
          </a:p>
        </p:txBody>
      </p:sp>
      <p:sp>
        <p:nvSpPr>
          <p:cNvPr id="267" name="Quality Dim Supplier Activation Dot"/>
          <p:cNvSpPr/>
          <p:nvPr/>
        </p:nvSpPr>
        <p:spPr>
          <a:xfrm>
            <a:off x="1367028" y="6038882"/>
            <a:ext cx="109728" cy="109728"/>
          </a:xfrm>
          <a:prstGeom prst="ellipse">
            <a:avLst/>
          </a:prstGeom>
          <a:solidFill>
            <a:srgbClr val="F0B135"/>
          </a:solidFill>
          <a:ln>
            <a:noFill/>
          </a:ln>
          <a:effectLst/>
        </p:spPr>
        <p:txBody>
          <a:bodyPr rtlCol="0" anchor="ctr"/>
          <a:lstStyle/>
          <a:p>
            <a:endParaRPr lang="de-DE"/>
          </a:p>
        </p:txBody>
      </p:sp>
      <p:sp>
        <p:nvSpPr>
          <p:cNvPr id="268" name="Battery Passport Row Divider Dimensions"/>
          <p:cNvSpPr/>
          <p:nvPr/>
        </p:nvSpPr>
        <p:spPr>
          <a:xfrm>
            <a:off x="2699194" y="4564952"/>
            <a:ext cx="1153858" cy="6401"/>
          </a:xfrm>
          <a:prstGeom prst="rect">
            <a:avLst/>
          </a:prstGeom>
          <a:solidFill>
            <a:srgbClr val="E2E8EC"/>
          </a:solidFill>
          <a:ln>
            <a:noFill/>
          </a:ln>
          <a:effectLst/>
        </p:spPr>
        <p:txBody>
          <a:bodyPr rtlCol="0" anchor="ctr"/>
          <a:lstStyle/>
          <a:p>
            <a:endParaRPr lang="de-DE"/>
          </a:p>
        </p:txBody>
      </p:sp>
      <p:sp>
        <p:nvSpPr>
          <p:cNvPr id="269" name="Battery Passport Dim Lane External · CX Association"/>
          <p:cNvSpPr/>
          <p:nvPr/>
        </p:nvSpPr>
        <p:spPr>
          <a:xfrm>
            <a:off x="2630614" y="4811586"/>
            <a:ext cx="1291018" cy="284924"/>
          </a:xfrm>
          <a:prstGeom prst="rect">
            <a:avLst/>
          </a:prstGeom>
          <a:solidFill>
            <a:srgbClr val="F0F3F6"/>
          </a:solidFill>
          <a:ln>
            <a:noFill/>
          </a:ln>
          <a:effectLst/>
        </p:spPr>
        <p:txBody>
          <a:bodyPr rtlCol="0" anchor="ctr"/>
          <a:lstStyle/>
          <a:p>
            <a:endParaRPr lang="de-DE"/>
          </a:p>
        </p:txBody>
      </p:sp>
      <p:sp>
        <p:nvSpPr>
          <p:cNvPr id="270" name="Battery Passport Dim External · CX Association Dot"/>
          <p:cNvSpPr/>
          <p:nvPr/>
        </p:nvSpPr>
        <p:spPr>
          <a:xfrm>
            <a:off x="2699194" y="4899184"/>
            <a:ext cx="109728" cy="109728"/>
          </a:xfrm>
          <a:prstGeom prst="ellipse">
            <a:avLst/>
          </a:prstGeom>
          <a:solidFill>
            <a:srgbClr val="F0B135"/>
          </a:solidFill>
          <a:ln>
            <a:noFill/>
          </a:ln>
          <a:effectLst/>
        </p:spPr>
        <p:txBody>
          <a:bodyPr rtlCol="0" anchor="ctr"/>
          <a:lstStyle/>
          <a:p>
            <a:endParaRPr lang="de-DE"/>
          </a:p>
        </p:txBody>
      </p:sp>
      <p:sp>
        <p:nvSpPr>
          <p:cNvPr id="271" name="Battery Passport Dim Business Dot"/>
          <p:cNvSpPr/>
          <p:nvPr/>
        </p:nvSpPr>
        <p:spPr>
          <a:xfrm>
            <a:off x="2699194" y="5184108"/>
            <a:ext cx="109728" cy="109728"/>
          </a:xfrm>
          <a:prstGeom prst="ellipse">
            <a:avLst/>
          </a:prstGeom>
          <a:solidFill>
            <a:srgbClr val="F0B135"/>
          </a:solidFill>
          <a:ln>
            <a:noFill/>
          </a:ln>
          <a:effectLst/>
        </p:spPr>
        <p:txBody>
          <a:bodyPr rtlCol="0" anchor="ctr"/>
          <a:lstStyle/>
          <a:p>
            <a:endParaRPr lang="de-DE"/>
          </a:p>
        </p:txBody>
      </p:sp>
      <p:sp>
        <p:nvSpPr>
          <p:cNvPr id="272" name="Battery Passport Dim Lane Data Provisioning"/>
          <p:cNvSpPr/>
          <p:nvPr/>
        </p:nvSpPr>
        <p:spPr>
          <a:xfrm>
            <a:off x="2630614" y="5381435"/>
            <a:ext cx="1291018" cy="284924"/>
          </a:xfrm>
          <a:prstGeom prst="rect">
            <a:avLst/>
          </a:prstGeom>
          <a:solidFill>
            <a:srgbClr val="F0F3F6"/>
          </a:solidFill>
          <a:ln>
            <a:noFill/>
          </a:ln>
          <a:effectLst/>
        </p:spPr>
        <p:txBody>
          <a:bodyPr rtlCol="0" anchor="ctr"/>
          <a:lstStyle/>
          <a:p>
            <a:endParaRPr lang="de-DE"/>
          </a:p>
        </p:txBody>
      </p:sp>
      <p:sp>
        <p:nvSpPr>
          <p:cNvPr id="273" name="Battery Passport Dim Data Provisioning Dot"/>
          <p:cNvSpPr/>
          <p:nvPr/>
        </p:nvSpPr>
        <p:spPr>
          <a:xfrm>
            <a:off x="2699194" y="5469033"/>
            <a:ext cx="109728" cy="109728"/>
          </a:xfrm>
          <a:prstGeom prst="ellipse">
            <a:avLst/>
          </a:prstGeom>
          <a:solidFill>
            <a:srgbClr val="53BE70"/>
          </a:solidFill>
          <a:ln>
            <a:noFill/>
          </a:ln>
          <a:effectLst/>
        </p:spPr>
        <p:txBody>
          <a:bodyPr rtlCol="0" anchor="ctr"/>
          <a:lstStyle/>
          <a:p>
            <a:endParaRPr lang="de-DE"/>
          </a:p>
        </p:txBody>
      </p:sp>
      <p:sp>
        <p:nvSpPr>
          <p:cNvPr id="274" name="Battery Passport Dim Technical Dot"/>
          <p:cNvSpPr/>
          <p:nvPr/>
        </p:nvSpPr>
        <p:spPr>
          <a:xfrm>
            <a:off x="2699194" y="5753957"/>
            <a:ext cx="109728" cy="109728"/>
          </a:xfrm>
          <a:prstGeom prst="ellipse">
            <a:avLst/>
          </a:prstGeom>
          <a:solidFill>
            <a:srgbClr val="53BE70"/>
          </a:solidFill>
          <a:ln>
            <a:noFill/>
          </a:ln>
          <a:effectLst/>
        </p:spPr>
        <p:txBody>
          <a:bodyPr rtlCol="0" anchor="ctr"/>
          <a:lstStyle/>
          <a:p>
            <a:endParaRPr lang="de-DE"/>
          </a:p>
        </p:txBody>
      </p:sp>
      <p:sp>
        <p:nvSpPr>
          <p:cNvPr id="275" name="Battery Passport Dim Lane Supplier Activation"/>
          <p:cNvSpPr/>
          <p:nvPr/>
        </p:nvSpPr>
        <p:spPr>
          <a:xfrm>
            <a:off x="2630614" y="5951284"/>
            <a:ext cx="1291018" cy="284924"/>
          </a:xfrm>
          <a:prstGeom prst="rect">
            <a:avLst/>
          </a:prstGeom>
          <a:solidFill>
            <a:srgbClr val="F0F3F6"/>
          </a:solidFill>
          <a:ln>
            <a:noFill/>
          </a:ln>
          <a:effectLst/>
        </p:spPr>
        <p:txBody>
          <a:bodyPr rtlCol="0" anchor="ctr"/>
          <a:lstStyle/>
          <a:p>
            <a:endParaRPr lang="de-DE"/>
          </a:p>
        </p:txBody>
      </p:sp>
      <p:sp>
        <p:nvSpPr>
          <p:cNvPr id="276" name="Battery Passport Dim Supplier Activation Dot"/>
          <p:cNvSpPr/>
          <p:nvPr/>
        </p:nvSpPr>
        <p:spPr>
          <a:xfrm>
            <a:off x="2699194" y="6038882"/>
            <a:ext cx="109728" cy="109728"/>
          </a:xfrm>
          <a:prstGeom prst="ellipse">
            <a:avLst/>
          </a:prstGeom>
          <a:solidFill>
            <a:srgbClr val="53BE70"/>
          </a:solidFill>
          <a:ln>
            <a:noFill/>
          </a:ln>
          <a:effectLst/>
        </p:spPr>
        <p:txBody>
          <a:bodyPr rtlCol="0" anchor="ctr"/>
          <a:lstStyle/>
          <a:p>
            <a:endParaRPr lang="de-DE"/>
          </a:p>
        </p:txBody>
      </p:sp>
      <p:sp>
        <p:nvSpPr>
          <p:cNvPr id="277" name="Product Passes Row Divider Dimensions"/>
          <p:cNvSpPr/>
          <p:nvPr/>
        </p:nvSpPr>
        <p:spPr>
          <a:xfrm>
            <a:off x="4031361" y="4564952"/>
            <a:ext cx="1153858" cy="6401"/>
          </a:xfrm>
          <a:prstGeom prst="rect">
            <a:avLst/>
          </a:prstGeom>
          <a:solidFill>
            <a:srgbClr val="E2E8EC"/>
          </a:solidFill>
          <a:ln>
            <a:noFill/>
          </a:ln>
          <a:effectLst/>
        </p:spPr>
        <p:txBody>
          <a:bodyPr rtlCol="0" anchor="ctr"/>
          <a:lstStyle/>
          <a:p>
            <a:endParaRPr lang="de-DE"/>
          </a:p>
        </p:txBody>
      </p:sp>
      <p:sp>
        <p:nvSpPr>
          <p:cNvPr id="278" name="Product Passes Dim Lane External · CX Association"/>
          <p:cNvSpPr/>
          <p:nvPr/>
        </p:nvSpPr>
        <p:spPr>
          <a:xfrm>
            <a:off x="3962781" y="4811586"/>
            <a:ext cx="1291018" cy="284924"/>
          </a:xfrm>
          <a:prstGeom prst="rect">
            <a:avLst/>
          </a:prstGeom>
          <a:solidFill>
            <a:srgbClr val="F0F3F6"/>
          </a:solidFill>
          <a:ln>
            <a:noFill/>
          </a:ln>
          <a:effectLst/>
        </p:spPr>
        <p:txBody>
          <a:bodyPr rtlCol="0" anchor="ctr"/>
          <a:lstStyle/>
          <a:p>
            <a:endParaRPr lang="de-DE"/>
          </a:p>
        </p:txBody>
      </p:sp>
      <p:sp>
        <p:nvSpPr>
          <p:cNvPr id="279" name="Product Passes Dim External · CX Association Dot"/>
          <p:cNvSpPr/>
          <p:nvPr/>
        </p:nvSpPr>
        <p:spPr>
          <a:xfrm>
            <a:off x="4031361" y="4899184"/>
            <a:ext cx="109728" cy="109728"/>
          </a:xfrm>
          <a:prstGeom prst="ellipse">
            <a:avLst/>
          </a:prstGeom>
          <a:solidFill>
            <a:srgbClr val="F0B135"/>
          </a:solidFill>
          <a:ln>
            <a:noFill/>
          </a:ln>
          <a:effectLst/>
        </p:spPr>
        <p:txBody>
          <a:bodyPr rtlCol="0" anchor="ctr"/>
          <a:lstStyle/>
          <a:p>
            <a:endParaRPr lang="de-DE"/>
          </a:p>
        </p:txBody>
      </p:sp>
      <p:sp>
        <p:nvSpPr>
          <p:cNvPr id="280" name="Product Passes Dim Business Dot"/>
          <p:cNvSpPr/>
          <p:nvPr/>
        </p:nvSpPr>
        <p:spPr>
          <a:xfrm>
            <a:off x="4031361" y="5184108"/>
            <a:ext cx="109728" cy="109728"/>
          </a:xfrm>
          <a:prstGeom prst="ellipse">
            <a:avLst/>
          </a:prstGeom>
          <a:solidFill>
            <a:srgbClr val="F0B135"/>
          </a:solidFill>
          <a:ln>
            <a:noFill/>
          </a:ln>
          <a:effectLst/>
        </p:spPr>
        <p:txBody>
          <a:bodyPr rtlCol="0" anchor="ctr"/>
          <a:lstStyle/>
          <a:p>
            <a:endParaRPr lang="de-DE"/>
          </a:p>
        </p:txBody>
      </p:sp>
      <p:sp>
        <p:nvSpPr>
          <p:cNvPr id="281" name="Product Passes Dim Lane Data Provisioning"/>
          <p:cNvSpPr/>
          <p:nvPr/>
        </p:nvSpPr>
        <p:spPr>
          <a:xfrm>
            <a:off x="3962781" y="5381435"/>
            <a:ext cx="1291018" cy="284924"/>
          </a:xfrm>
          <a:prstGeom prst="rect">
            <a:avLst/>
          </a:prstGeom>
          <a:solidFill>
            <a:srgbClr val="F0F3F6"/>
          </a:solidFill>
          <a:ln>
            <a:noFill/>
          </a:ln>
          <a:effectLst/>
        </p:spPr>
        <p:txBody>
          <a:bodyPr rtlCol="0" anchor="ctr"/>
          <a:lstStyle/>
          <a:p>
            <a:endParaRPr lang="de-DE"/>
          </a:p>
        </p:txBody>
      </p:sp>
      <p:sp>
        <p:nvSpPr>
          <p:cNvPr id="282" name="Product Passes Dim Data Provisioning Dot"/>
          <p:cNvSpPr/>
          <p:nvPr/>
        </p:nvSpPr>
        <p:spPr>
          <a:xfrm>
            <a:off x="4031361" y="5469033"/>
            <a:ext cx="109728" cy="109728"/>
          </a:xfrm>
          <a:prstGeom prst="ellipse">
            <a:avLst/>
          </a:prstGeom>
          <a:solidFill>
            <a:srgbClr val="53BE70"/>
          </a:solidFill>
          <a:ln>
            <a:noFill/>
          </a:ln>
          <a:effectLst/>
        </p:spPr>
        <p:txBody>
          <a:bodyPr rtlCol="0" anchor="ctr"/>
          <a:lstStyle/>
          <a:p>
            <a:endParaRPr lang="de-DE"/>
          </a:p>
        </p:txBody>
      </p:sp>
      <p:sp>
        <p:nvSpPr>
          <p:cNvPr id="283" name="Product Passes Dim Technical Dot"/>
          <p:cNvSpPr/>
          <p:nvPr/>
        </p:nvSpPr>
        <p:spPr>
          <a:xfrm>
            <a:off x="4031361" y="5753957"/>
            <a:ext cx="109728" cy="109728"/>
          </a:xfrm>
          <a:prstGeom prst="ellipse">
            <a:avLst/>
          </a:prstGeom>
          <a:solidFill>
            <a:srgbClr val="53BE70"/>
          </a:solidFill>
          <a:ln>
            <a:noFill/>
          </a:ln>
          <a:effectLst/>
        </p:spPr>
        <p:txBody>
          <a:bodyPr rtlCol="0" anchor="ctr"/>
          <a:lstStyle/>
          <a:p>
            <a:endParaRPr lang="de-DE"/>
          </a:p>
        </p:txBody>
      </p:sp>
      <p:sp>
        <p:nvSpPr>
          <p:cNvPr id="284" name="Product Passes Dim Lane Supplier Activation"/>
          <p:cNvSpPr/>
          <p:nvPr/>
        </p:nvSpPr>
        <p:spPr>
          <a:xfrm>
            <a:off x="3962781" y="5951284"/>
            <a:ext cx="1291018" cy="284924"/>
          </a:xfrm>
          <a:prstGeom prst="rect">
            <a:avLst/>
          </a:prstGeom>
          <a:solidFill>
            <a:srgbClr val="F0F3F6"/>
          </a:solidFill>
          <a:ln>
            <a:noFill/>
          </a:ln>
          <a:effectLst/>
        </p:spPr>
        <p:txBody>
          <a:bodyPr rtlCol="0" anchor="ctr"/>
          <a:lstStyle/>
          <a:p>
            <a:endParaRPr lang="de-DE"/>
          </a:p>
        </p:txBody>
      </p:sp>
      <p:sp>
        <p:nvSpPr>
          <p:cNvPr id="285" name="Product Passes Dim Supplier Activation Dot"/>
          <p:cNvSpPr/>
          <p:nvPr/>
        </p:nvSpPr>
        <p:spPr>
          <a:xfrm>
            <a:off x="4031361" y="6038882"/>
            <a:ext cx="109728" cy="109728"/>
          </a:xfrm>
          <a:prstGeom prst="ellipse">
            <a:avLst/>
          </a:prstGeom>
          <a:solidFill>
            <a:srgbClr val="53BE70"/>
          </a:solidFill>
          <a:ln>
            <a:noFill/>
          </a:ln>
          <a:effectLst/>
        </p:spPr>
        <p:txBody>
          <a:bodyPr rtlCol="0" anchor="ctr"/>
          <a:lstStyle/>
          <a:p>
            <a:endParaRPr lang="de-DE"/>
          </a:p>
        </p:txBody>
      </p:sp>
      <p:sp>
        <p:nvSpPr>
          <p:cNvPr id="286" name="PURIS Row Divider Dimensions"/>
          <p:cNvSpPr/>
          <p:nvPr/>
        </p:nvSpPr>
        <p:spPr>
          <a:xfrm>
            <a:off x="5363528" y="4564952"/>
            <a:ext cx="1153858" cy="6401"/>
          </a:xfrm>
          <a:prstGeom prst="rect">
            <a:avLst/>
          </a:prstGeom>
          <a:solidFill>
            <a:srgbClr val="E2E8EC"/>
          </a:solidFill>
          <a:ln>
            <a:noFill/>
          </a:ln>
          <a:effectLst/>
        </p:spPr>
        <p:txBody>
          <a:bodyPr rtlCol="0" anchor="ctr"/>
          <a:lstStyle/>
          <a:p>
            <a:endParaRPr lang="de-DE"/>
          </a:p>
        </p:txBody>
      </p:sp>
      <p:sp>
        <p:nvSpPr>
          <p:cNvPr id="287" name="PURIS Dim Lane External · CX Association"/>
          <p:cNvSpPr/>
          <p:nvPr/>
        </p:nvSpPr>
        <p:spPr>
          <a:xfrm>
            <a:off x="5294947" y="4811586"/>
            <a:ext cx="1291018" cy="284924"/>
          </a:xfrm>
          <a:prstGeom prst="rect">
            <a:avLst/>
          </a:prstGeom>
          <a:solidFill>
            <a:srgbClr val="F0F3F6"/>
          </a:solidFill>
          <a:ln>
            <a:noFill/>
          </a:ln>
          <a:effectLst/>
        </p:spPr>
        <p:txBody>
          <a:bodyPr rtlCol="0" anchor="ctr"/>
          <a:lstStyle/>
          <a:p>
            <a:endParaRPr lang="de-DE"/>
          </a:p>
        </p:txBody>
      </p:sp>
      <p:sp>
        <p:nvSpPr>
          <p:cNvPr id="288" name="PURIS Dim External · CX Association Dot"/>
          <p:cNvSpPr/>
          <p:nvPr/>
        </p:nvSpPr>
        <p:spPr>
          <a:xfrm>
            <a:off x="5363528" y="4899184"/>
            <a:ext cx="109728" cy="109728"/>
          </a:xfrm>
          <a:prstGeom prst="ellipse">
            <a:avLst/>
          </a:prstGeom>
          <a:solidFill>
            <a:srgbClr val="53BE70"/>
          </a:solidFill>
          <a:ln>
            <a:noFill/>
          </a:ln>
          <a:effectLst/>
        </p:spPr>
        <p:txBody>
          <a:bodyPr rtlCol="0" anchor="ctr"/>
          <a:lstStyle/>
          <a:p>
            <a:endParaRPr lang="de-DE"/>
          </a:p>
        </p:txBody>
      </p:sp>
      <p:sp>
        <p:nvSpPr>
          <p:cNvPr id="289" name="PURIS Dim Business Dot"/>
          <p:cNvSpPr/>
          <p:nvPr/>
        </p:nvSpPr>
        <p:spPr>
          <a:xfrm>
            <a:off x="5363528" y="5184108"/>
            <a:ext cx="109728" cy="109728"/>
          </a:xfrm>
          <a:prstGeom prst="ellipse">
            <a:avLst/>
          </a:prstGeom>
          <a:solidFill>
            <a:srgbClr val="F0B135"/>
          </a:solidFill>
          <a:ln>
            <a:noFill/>
          </a:ln>
          <a:effectLst/>
        </p:spPr>
        <p:txBody>
          <a:bodyPr rtlCol="0" anchor="ctr"/>
          <a:lstStyle/>
          <a:p>
            <a:endParaRPr lang="de-DE"/>
          </a:p>
        </p:txBody>
      </p:sp>
      <p:sp>
        <p:nvSpPr>
          <p:cNvPr id="290" name="PURIS Dim Lane Data Provisioning"/>
          <p:cNvSpPr/>
          <p:nvPr/>
        </p:nvSpPr>
        <p:spPr>
          <a:xfrm>
            <a:off x="5294947" y="5381435"/>
            <a:ext cx="1291018" cy="284924"/>
          </a:xfrm>
          <a:prstGeom prst="rect">
            <a:avLst/>
          </a:prstGeom>
          <a:solidFill>
            <a:srgbClr val="F0F3F6"/>
          </a:solidFill>
          <a:ln>
            <a:noFill/>
          </a:ln>
          <a:effectLst/>
        </p:spPr>
        <p:txBody>
          <a:bodyPr rtlCol="0" anchor="ctr"/>
          <a:lstStyle/>
          <a:p>
            <a:endParaRPr lang="de-DE"/>
          </a:p>
        </p:txBody>
      </p:sp>
      <p:sp>
        <p:nvSpPr>
          <p:cNvPr id="291" name="PURIS Dim Data Provisioning Dot"/>
          <p:cNvSpPr/>
          <p:nvPr/>
        </p:nvSpPr>
        <p:spPr>
          <a:xfrm>
            <a:off x="5363528" y="5469033"/>
            <a:ext cx="109728" cy="109728"/>
          </a:xfrm>
          <a:prstGeom prst="ellipse">
            <a:avLst/>
          </a:prstGeom>
          <a:solidFill>
            <a:srgbClr val="F0B135"/>
          </a:solidFill>
          <a:ln>
            <a:noFill/>
          </a:ln>
          <a:effectLst/>
        </p:spPr>
        <p:txBody>
          <a:bodyPr rtlCol="0" anchor="ctr"/>
          <a:lstStyle/>
          <a:p>
            <a:endParaRPr lang="de-DE"/>
          </a:p>
        </p:txBody>
      </p:sp>
      <p:sp>
        <p:nvSpPr>
          <p:cNvPr id="292" name="PURIS Dim Technical Dot"/>
          <p:cNvSpPr/>
          <p:nvPr/>
        </p:nvSpPr>
        <p:spPr>
          <a:xfrm>
            <a:off x="5363528" y="5753957"/>
            <a:ext cx="109728" cy="109728"/>
          </a:xfrm>
          <a:prstGeom prst="ellipse">
            <a:avLst/>
          </a:prstGeom>
          <a:solidFill>
            <a:srgbClr val="F0B135"/>
          </a:solidFill>
          <a:ln>
            <a:noFill/>
          </a:ln>
          <a:effectLst/>
        </p:spPr>
        <p:txBody>
          <a:bodyPr rtlCol="0" anchor="ctr"/>
          <a:lstStyle/>
          <a:p>
            <a:endParaRPr lang="de-DE"/>
          </a:p>
        </p:txBody>
      </p:sp>
      <p:sp>
        <p:nvSpPr>
          <p:cNvPr id="293" name="PURIS Dim Lane Supplier Activation"/>
          <p:cNvSpPr/>
          <p:nvPr/>
        </p:nvSpPr>
        <p:spPr>
          <a:xfrm>
            <a:off x="5294947" y="5951284"/>
            <a:ext cx="1291018" cy="284924"/>
          </a:xfrm>
          <a:prstGeom prst="rect">
            <a:avLst/>
          </a:prstGeom>
          <a:solidFill>
            <a:srgbClr val="F0F3F6"/>
          </a:solidFill>
          <a:ln>
            <a:noFill/>
          </a:ln>
          <a:effectLst/>
        </p:spPr>
        <p:txBody>
          <a:bodyPr rtlCol="0" anchor="ctr"/>
          <a:lstStyle/>
          <a:p>
            <a:endParaRPr lang="de-DE"/>
          </a:p>
        </p:txBody>
      </p:sp>
      <p:sp>
        <p:nvSpPr>
          <p:cNvPr id="294" name="PURIS Dim Supplier Activation Dot"/>
          <p:cNvSpPr/>
          <p:nvPr/>
        </p:nvSpPr>
        <p:spPr>
          <a:xfrm>
            <a:off x="5363528" y="6038882"/>
            <a:ext cx="109728" cy="109728"/>
          </a:xfrm>
          <a:prstGeom prst="ellipse">
            <a:avLst/>
          </a:prstGeom>
          <a:solidFill>
            <a:srgbClr val="F0B135"/>
          </a:solidFill>
          <a:ln>
            <a:noFill/>
          </a:ln>
          <a:effectLst/>
        </p:spPr>
        <p:txBody>
          <a:bodyPr rtlCol="0" anchor="ctr"/>
          <a:lstStyle/>
          <a:p>
            <a:endParaRPr lang="de-DE"/>
          </a:p>
        </p:txBody>
      </p:sp>
      <p:sp>
        <p:nvSpPr>
          <p:cNvPr id="295" name="Business Partner Data Mgmt Row Divider Dimensions"/>
          <p:cNvSpPr/>
          <p:nvPr/>
        </p:nvSpPr>
        <p:spPr>
          <a:xfrm>
            <a:off x="6695694" y="4564952"/>
            <a:ext cx="1153858" cy="6401"/>
          </a:xfrm>
          <a:prstGeom prst="rect">
            <a:avLst/>
          </a:prstGeom>
          <a:solidFill>
            <a:srgbClr val="E2E8EC"/>
          </a:solidFill>
          <a:ln>
            <a:noFill/>
          </a:ln>
          <a:effectLst/>
        </p:spPr>
        <p:txBody>
          <a:bodyPr rtlCol="0" anchor="ctr"/>
          <a:lstStyle/>
          <a:p>
            <a:endParaRPr lang="de-DE"/>
          </a:p>
        </p:txBody>
      </p:sp>
      <p:sp>
        <p:nvSpPr>
          <p:cNvPr id="296" name="Business Partner Data Mgmt Dim Lane External · CX Association"/>
          <p:cNvSpPr/>
          <p:nvPr/>
        </p:nvSpPr>
        <p:spPr>
          <a:xfrm>
            <a:off x="6627114" y="4811586"/>
            <a:ext cx="1291018" cy="284924"/>
          </a:xfrm>
          <a:prstGeom prst="rect">
            <a:avLst/>
          </a:prstGeom>
          <a:solidFill>
            <a:srgbClr val="F0F3F6"/>
          </a:solidFill>
          <a:ln>
            <a:noFill/>
          </a:ln>
          <a:effectLst/>
        </p:spPr>
        <p:txBody>
          <a:bodyPr rtlCol="0" anchor="ctr"/>
          <a:lstStyle/>
          <a:p>
            <a:endParaRPr lang="de-DE"/>
          </a:p>
        </p:txBody>
      </p:sp>
      <p:sp>
        <p:nvSpPr>
          <p:cNvPr id="297" name="Business Partner Data Mgmt Dim External · CX Association Dot"/>
          <p:cNvSpPr/>
          <p:nvPr/>
        </p:nvSpPr>
        <p:spPr>
          <a:xfrm>
            <a:off x="6695694" y="4899184"/>
            <a:ext cx="109728" cy="109728"/>
          </a:xfrm>
          <a:prstGeom prst="ellipse">
            <a:avLst/>
          </a:prstGeom>
          <a:solidFill>
            <a:srgbClr val="53BE70"/>
          </a:solidFill>
          <a:ln>
            <a:noFill/>
          </a:ln>
          <a:effectLst/>
        </p:spPr>
        <p:txBody>
          <a:bodyPr rtlCol="0" anchor="ctr"/>
          <a:lstStyle/>
          <a:p>
            <a:endParaRPr lang="de-DE"/>
          </a:p>
        </p:txBody>
      </p:sp>
      <p:sp>
        <p:nvSpPr>
          <p:cNvPr id="298" name="Business Partner Data Mgmt Dim Business Dot"/>
          <p:cNvSpPr/>
          <p:nvPr/>
        </p:nvSpPr>
        <p:spPr>
          <a:xfrm>
            <a:off x="6695694" y="5184108"/>
            <a:ext cx="109728" cy="109728"/>
          </a:xfrm>
          <a:prstGeom prst="ellipse">
            <a:avLst/>
          </a:prstGeom>
          <a:solidFill>
            <a:srgbClr val="F0B135"/>
          </a:solidFill>
          <a:ln>
            <a:noFill/>
          </a:ln>
          <a:effectLst/>
        </p:spPr>
        <p:txBody>
          <a:bodyPr rtlCol="0" anchor="ctr"/>
          <a:lstStyle/>
          <a:p>
            <a:endParaRPr lang="de-DE"/>
          </a:p>
        </p:txBody>
      </p:sp>
      <p:sp>
        <p:nvSpPr>
          <p:cNvPr id="299" name="Business Partner Data Mgmt Dim Lane Data Provisioning"/>
          <p:cNvSpPr/>
          <p:nvPr/>
        </p:nvSpPr>
        <p:spPr>
          <a:xfrm>
            <a:off x="6627114" y="5381435"/>
            <a:ext cx="1291018" cy="284924"/>
          </a:xfrm>
          <a:prstGeom prst="rect">
            <a:avLst/>
          </a:prstGeom>
          <a:solidFill>
            <a:srgbClr val="F0F3F6"/>
          </a:solidFill>
          <a:ln>
            <a:noFill/>
          </a:ln>
          <a:effectLst/>
        </p:spPr>
        <p:txBody>
          <a:bodyPr rtlCol="0" anchor="ctr"/>
          <a:lstStyle/>
          <a:p>
            <a:endParaRPr lang="de-DE"/>
          </a:p>
        </p:txBody>
      </p:sp>
      <p:sp>
        <p:nvSpPr>
          <p:cNvPr id="300" name="Business Partner Data Mgmt Dim Data Provisioning Dot"/>
          <p:cNvSpPr/>
          <p:nvPr/>
        </p:nvSpPr>
        <p:spPr>
          <a:xfrm>
            <a:off x="6695694" y="5469033"/>
            <a:ext cx="109728" cy="109728"/>
          </a:xfrm>
          <a:prstGeom prst="ellipse">
            <a:avLst/>
          </a:prstGeom>
          <a:solidFill>
            <a:srgbClr val="53BE70"/>
          </a:solidFill>
          <a:ln>
            <a:noFill/>
          </a:ln>
          <a:effectLst/>
        </p:spPr>
        <p:txBody>
          <a:bodyPr rtlCol="0" anchor="ctr"/>
          <a:lstStyle/>
          <a:p>
            <a:endParaRPr lang="de-DE"/>
          </a:p>
        </p:txBody>
      </p:sp>
      <p:sp>
        <p:nvSpPr>
          <p:cNvPr id="301" name="Business Partner Data Mgmt Dim Technical Dot"/>
          <p:cNvSpPr/>
          <p:nvPr/>
        </p:nvSpPr>
        <p:spPr>
          <a:xfrm>
            <a:off x="6695694" y="5753957"/>
            <a:ext cx="109728" cy="109728"/>
          </a:xfrm>
          <a:prstGeom prst="ellipse">
            <a:avLst/>
          </a:prstGeom>
          <a:solidFill>
            <a:srgbClr val="F0B135"/>
          </a:solidFill>
          <a:ln>
            <a:noFill/>
          </a:ln>
          <a:effectLst/>
        </p:spPr>
        <p:txBody>
          <a:bodyPr rtlCol="0" anchor="ctr"/>
          <a:lstStyle/>
          <a:p>
            <a:endParaRPr lang="de-DE"/>
          </a:p>
        </p:txBody>
      </p:sp>
      <p:sp>
        <p:nvSpPr>
          <p:cNvPr id="302" name="Business Partner Data Mgmt Dim Lane Supplier Activation"/>
          <p:cNvSpPr/>
          <p:nvPr/>
        </p:nvSpPr>
        <p:spPr>
          <a:xfrm>
            <a:off x="6627114" y="5951284"/>
            <a:ext cx="1291018" cy="284924"/>
          </a:xfrm>
          <a:prstGeom prst="rect">
            <a:avLst/>
          </a:prstGeom>
          <a:solidFill>
            <a:srgbClr val="F0F3F6"/>
          </a:solidFill>
          <a:ln>
            <a:noFill/>
          </a:ln>
          <a:effectLst/>
        </p:spPr>
        <p:txBody>
          <a:bodyPr rtlCol="0" anchor="ctr"/>
          <a:lstStyle/>
          <a:p>
            <a:endParaRPr lang="de-DE"/>
          </a:p>
        </p:txBody>
      </p:sp>
      <p:sp>
        <p:nvSpPr>
          <p:cNvPr id="303" name="Business Partner Data Mgmt Dim Supplier Activation Ring"/>
          <p:cNvSpPr/>
          <p:nvPr/>
        </p:nvSpPr>
        <p:spPr>
          <a:xfrm>
            <a:off x="6695694" y="6038882"/>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04" name="Certificate Management Row Divider Dimensions"/>
          <p:cNvSpPr/>
          <p:nvPr/>
        </p:nvSpPr>
        <p:spPr>
          <a:xfrm>
            <a:off x="8027860" y="4564952"/>
            <a:ext cx="1153858" cy="6401"/>
          </a:xfrm>
          <a:prstGeom prst="rect">
            <a:avLst/>
          </a:prstGeom>
          <a:solidFill>
            <a:srgbClr val="E2E8EC"/>
          </a:solidFill>
          <a:ln>
            <a:noFill/>
          </a:ln>
          <a:effectLst/>
        </p:spPr>
        <p:txBody>
          <a:bodyPr rtlCol="0" anchor="ctr"/>
          <a:lstStyle/>
          <a:p>
            <a:endParaRPr lang="de-DE"/>
          </a:p>
        </p:txBody>
      </p:sp>
      <p:sp>
        <p:nvSpPr>
          <p:cNvPr id="305" name="Certificate Management Dim Lane External · CX Association"/>
          <p:cNvSpPr/>
          <p:nvPr/>
        </p:nvSpPr>
        <p:spPr>
          <a:xfrm>
            <a:off x="7959280" y="4811586"/>
            <a:ext cx="1291018" cy="284924"/>
          </a:xfrm>
          <a:prstGeom prst="rect">
            <a:avLst/>
          </a:prstGeom>
          <a:solidFill>
            <a:srgbClr val="F0F3F6"/>
          </a:solidFill>
          <a:ln>
            <a:noFill/>
          </a:ln>
          <a:effectLst/>
        </p:spPr>
        <p:txBody>
          <a:bodyPr rtlCol="0" anchor="ctr"/>
          <a:lstStyle/>
          <a:p>
            <a:endParaRPr lang="de-DE"/>
          </a:p>
        </p:txBody>
      </p:sp>
      <p:sp>
        <p:nvSpPr>
          <p:cNvPr id="306" name="Certificate Management Dim External · CX Association Dot"/>
          <p:cNvSpPr/>
          <p:nvPr/>
        </p:nvSpPr>
        <p:spPr>
          <a:xfrm>
            <a:off x="8027860" y="4899184"/>
            <a:ext cx="109728" cy="109728"/>
          </a:xfrm>
          <a:prstGeom prst="ellipse">
            <a:avLst/>
          </a:prstGeom>
          <a:solidFill>
            <a:srgbClr val="53BE70"/>
          </a:solidFill>
          <a:ln>
            <a:noFill/>
          </a:ln>
          <a:effectLst/>
        </p:spPr>
        <p:txBody>
          <a:bodyPr rtlCol="0" anchor="ctr"/>
          <a:lstStyle/>
          <a:p>
            <a:endParaRPr lang="de-DE"/>
          </a:p>
        </p:txBody>
      </p:sp>
      <p:sp>
        <p:nvSpPr>
          <p:cNvPr id="307" name="Certificate Management Dim Business Dot"/>
          <p:cNvSpPr/>
          <p:nvPr/>
        </p:nvSpPr>
        <p:spPr>
          <a:xfrm>
            <a:off x="8027860" y="5184108"/>
            <a:ext cx="109728" cy="109728"/>
          </a:xfrm>
          <a:prstGeom prst="ellipse">
            <a:avLst/>
          </a:prstGeom>
          <a:solidFill>
            <a:srgbClr val="53BE70"/>
          </a:solidFill>
          <a:ln>
            <a:noFill/>
          </a:ln>
          <a:effectLst/>
        </p:spPr>
        <p:txBody>
          <a:bodyPr rtlCol="0" anchor="ctr"/>
          <a:lstStyle/>
          <a:p>
            <a:endParaRPr lang="de-DE"/>
          </a:p>
        </p:txBody>
      </p:sp>
      <p:sp>
        <p:nvSpPr>
          <p:cNvPr id="308" name="Certificate Management Dim Lane Data Provisioning"/>
          <p:cNvSpPr/>
          <p:nvPr/>
        </p:nvSpPr>
        <p:spPr>
          <a:xfrm>
            <a:off x="7959280" y="5381435"/>
            <a:ext cx="1291018" cy="284924"/>
          </a:xfrm>
          <a:prstGeom prst="rect">
            <a:avLst/>
          </a:prstGeom>
          <a:solidFill>
            <a:srgbClr val="F0F3F6"/>
          </a:solidFill>
          <a:ln>
            <a:noFill/>
          </a:ln>
          <a:effectLst/>
        </p:spPr>
        <p:txBody>
          <a:bodyPr rtlCol="0" anchor="ctr"/>
          <a:lstStyle/>
          <a:p>
            <a:endParaRPr lang="de-DE"/>
          </a:p>
        </p:txBody>
      </p:sp>
      <p:sp>
        <p:nvSpPr>
          <p:cNvPr id="309" name="Certificate Management Dim Data Provisioning Dot"/>
          <p:cNvSpPr/>
          <p:nvPr/>
        </p:nvSpPr>
        <p:spPr>
          <a:xfrm>
            <a:off x="8027860" y="5469033"/>
            <a:ext cx="109728" cy="109728"/>
          </a:xfrm>
          <a:prstGeom prst="ellipse">
            <a:avLst/>
          </a:prstGeom>
          <a:solidFill>
            <a:srgbClr val="53BE70"/>
          </a:solidFill>
          <a:ln>
            <a:noFill/>
          </a:ln>
          <a:effectLst/>
        </p:spPr>
        <p:txBody>
          <a:bodyPr rtlCol="0" anchor="ctr"/>
          <a:lstStyle/>
          <a:p>
            <a:endParaRPr lang="de-DE"/>
          </a:p>
        </p:txBody>
      </p:sp>
      <p:sp>
        <p:nvSpPr>
          <p:cNvPr id="310" name="Certificate Management Dim Technical Dot"/>
          <p:cNvSpPr/>
          <p:nvPr/>
        </p:nvSpPr>
        <p:spPr>
          <a:xfrm>
            <a:off x="8027860" y="5753957"/>
            <a:ext cx="109728" cy="109728"/>
          </a:xfrm>
          <a:prstGeom prst="ellipse">
            <a:avLst/>
          </a:prstGeom>
          <a:solidFill>
            <a:srgbClr val="53BE70"/>
          </a:solidFill>
          <a:ln>
            <a:noFill/>
          </a:ln>
          <a:effectLst/>
        </p:spPr>
        <p:txBody>
          <a:bodyPr rtlCol="0" anchor="ctr"/>
          <a:lstStyle/>
          <a:p>
            <a:endParaRPr lang="de-DE"/>
          </a:p>
        </p:txBody>
      </p:sp>
      <p:sp>
        <p:nvSpPr>
          <p:cNvPr id="311" name="Certificate Management Dim Lane Supplier Activation"/>
          <p:cNvSpPr/>
          <p:nvPr/>
        </p:nvSpPr>
        <p:spPr>
          <a:xfrm>
            <a:off x="7959280" y="5951284"/>
            <a:ext cx="1291018" cy="284924"/>
          </a:xfrm>
          <a:prstGeom prst="rect">
            <a:avLst/>
          </a:prstGeom>
          <a:solidFill>
            <a:srgbClr val="F0F3F6"/>
          </a:solidFill>
          <a:ln>
            <a:noFill/>
          </a:ln>
          <a:effectLst/>
        </p:spPr>
        <p:txBody>
          <a:bodyPr rtlCol="0" anchor="ctr"/>
          <a:lstStyle/>
          <a:p>
            <a:endParaRPr lang="de-DE"/>
          </a:p>
        </p:txBody>
      </p:sp>
      <p:sp>
        <p:nvSpPr>
          <p:cNvPr id="312" name="Certificate Management Dim Supplier Activation Dot"/>
          <p:cNvSpPr/>
          <p:nvPr/>
        </p:nvSpPr>
        <p:spPr>
          <a:xfrm>
            <a:off x="8027860" y="6038882"/>
            <a:ext cx="109728" cy="109728"/>
          </a:xfrm>
          <a:prstGeom prst="ellipse">
            <a:avLst/>
          </a:prstGeom>
          <a:solidFill>
            <a:srgbClr val="53BE70"/>
          </a:solidFill>
          <a:ln>
            <a:noFill/>
          </a:ln>
          <a:effectLst/>
        </p:spPr>
        <p:txBody>
          <a:bodyPr rtlCol="0" anchor="ctr"/>
          <a:lstStyle/>
          <a:p>
            <a:endParaRPr lang="de-DE"/>
          </a:p>
        </p:txBody>
      </p:sp>
      <p:sp>
        <p:nvSpPr>
          <p:cNvPr id="313" name="Product Carbon Footprint Row Divider Dimensions"/>
          <p:cNvSpPr/>
          <p:nvPr/>
        </p:nvSpPr>
        <p:spPr>
          <a:xfrm>
            <a:off x="9360027" y="4564952"/>
            <a:ext cx="1153858" cy="6401"/>
          </a:xfrm>
          <a:prstGeom prst="rect">
            <a:avLst/>
          </a:prstGeom>
          <a:solidFill>
            <a:srgbClr val="E2E8EC"/>
          </a:solidFill>
          <a:ln>
            <a:noFill/>
          </a:ln>
          <a:effectLst/>
        </p:spPr>
        <p:txBody>
          <a:bodyPr rtlCol="0" anchor="ctr"/>
          <a:lstStyle/>
          <a:p>
            <a:endParaRPr lang="de-DE"/>
          </a:p>
        </p:txBody>
      </p:sp>
      <p:sp>
        <p:nvSpPr>
          <p:cNvPr id="314" name="Product Carbon Footprint Dim Lane External · CX Association"/>
          <p:cNvSpPr/>
          <p:nvPr/>
        </p:nvSpPr>
        <p:spPr>
          <a:xfrm>
            <a:off x="9291447" y="4811586"/>
            <a:ext cx="1291018" cy="284924"/>
          </a:xfrm>
          <a:prstGeom prst="rect">
            <a:avLst/>
          </a:prstGeom>
          <a:solidFill>
            <a:srgbClr val="F0F3F6"/>
          </a:solidFill>
          <a:ln>
            <a:noFill/>
          </a:ln>
          <a:effectLst/>
        </p:spPr>
        <p:txBody>
          <a:bodyPr rtlCol="0" anchor="ctr"/>
          <a:lstStyle/>
          <a:p>
            <a:endParaRPr lang="de-DE"/>
          </a:p>
        </p:txBody>
      </p:sp>
      <p:sp>
        <p:nvSpPr>
          <p:cNvPr id="315" name="Product Carbon Footprint Dim External · CX Association Dot"/>
          <p:cNvSpPr/>
          <p:nvPr/>
        </p:nvSpPr>
        <p:spPr>
          <a:xfrm>
            <a:off x="9360027" y="4899184"/>
            <a:ext cx="109728" cy="109728"/>
          </a:xfrm>
          <a:prstGeom prst="ellipse">
            <a:avLst/>
          </a:prstGeom>
          <a:solidFill>
            <a:srgbClr val="53BE70"/>
          </a:solidFill>
          <a:ln>
            <a:noFill/>
          </a:ln>
          <a:effectLst/>
        </p:spPr>
        <p:txBody>
          <a:bodyPr rtlCol="0" anchor="ctr"/>
          <a:lstStyle/>
          <a:p>
            <a:endParaRPr lang="de-DE"/>
          </a:p>
        </p:txBody>
      </p:sp>
      <p:sp>
        <p:nvSpPr>
          <p:cNvPr id="316" name="Product Carbon Footprint Dim Business Dot"/>
          <p:cNvSpPr/>
          <p:nvPr/>
        </p:nvSpPr>
        <p:spPr>
          <a:xfrm>
            <a:off x="9360027" y="5184108"/>
            <a:ext cx="109728" cy="109728"/>
          </a:xfrm>
          <a:prstGeom prst="ellipse">
            <a:avLst/>
          </a:prstGeom>
          <a:solidFill>
            <a:srgbClr val="53BE70"/>
          </a:solidFill>
          <a:ln>
            <a:noFill/>
          </a:ln>
          <a:effectLst/>
        </p:spPr>
        <p:txBody>
          <a:bodyPr rtlCol="0" anchor="ctr"/>
          <a:lstStyle/>
          <a:p>
            <a:endParaRPr lang="de-DE"/>
          </a:p>
        </p:txBody>
      </p:sp>
      <p:sp>
        <p:nvSpPr>
          <p:cNvPr id="317" name="Product Carbon Footprint Dim Lane Data Provisioning"/>
          <p:cNvSpPr/>
          <p:nvPr/>
        </p:nvSpPr>
        <p:spPr>
          <a:xfrm>
            <a:off x="9291447" y="5381435"/>
            <a:ext cx="1291018" cy="284924"/>
          </a:xfrm>
          <a:prstGeom prst="rect">
            <a:avLst/>
          </a:prstGeom>
          <a:solidFill>
            <a:srgbClr val="F0F3F6"/>
          </a:solidFill>
          <a:ln>
            <a:noFill/>
          </a:ln>
          <a:effectLst/>
        </p:spPr>
        <p:txBody>
          <a:bodyPr rtlCol="0" anchor="ctr"/>
          <a:lstStyle/>
          <a:p>
            <a:endParaRPr lang="de-DE"/>
          </a:p>
        </p:txBody>
      </p:sp>
      <p:sp>
        <p:nvSpPr>
          <p:cNvPr id="318" name="Product Carbon Footprint Dim Data Provisioning Dot"/>
          <p:cNvSpPr/>
          <p:nvPr/>
        </p:nvSpPr>
        <p:spPr>
          <a:xfrm>
            <a:off x="9360027" y="5469033"/>
            <a:ext cx="109728" cy="109728"/>
          </a:xfrm>
          <a:prstGeom prst="ellipse">
            <a:avLst/>
          </a:prstGeom>
          <a:solidFill>
            <a:srgbClr val="F0B135"/>
          </a:solidFill>
          <a:ln>
            <a:noFill/>
          </a:ln>
          <a:effectLst/>
        </p:spPr>
        <p:txBody>
          <a:bodyPr rtlCol="0" anchor="ctr"/>
          <a:lstStyle/>
          <a:p>
            <a:endParaRPr lang="de-DE"/>
          </a:p>
        </p:txBody>
      </p:sp>
      <p:sp>
        <p:nvSpPr>
          <p:cNvPr id="319" name="Product Carbon Footprint Dim Technical Dot"/>
          <p:cNvSpPr/>
          <p:nvPr/>
        </p:nvSpPr>
        <p:spPr>
          <a:xfrm>
            <a:off x="9360027" y="5753957"/>
            <a:ext cx="109728" cy="109728"/>
          </a:xfrm>
          <a:prstGeom prst="ellipse">
            <a:avLst/>
          </a:prstGeom>
          <a:solidFill>
            <a:srgbClr val="53BE70"/>
          </a:solidFill>
          <a:ln>
            <a:noFill/>
          </a:ln>
          <a:effectLst/>
        </p:spPr>
        <p:txBody>
          <a:bodyPr rtlCol="0" anchor="ctr"/>
          <a:lstStyle/>
          <a:p>
            <a:endParaRPr lang="de-DE"/>
          </a:p>
        </p:txBody>
      </p:sp>
      <p:sp>
        <p:nvSpPr>
          <p:cNvPr id="320" name="Product Carbon Footprint Dim Lane Supplier Activation"/>
          <p:cNvSpPr/>
          <p:nvPr/>
        </p:nvSpPr>
        <p:spPr>
          <a:xfrm>
            <a:off x="9291447" y="5951284"/>
            <a:ext cx="1291018" cy="284924"/>
          </a:xfrm>
          <a:prstGeom prst="rect">
            <a:avLst/>
          </a:prstGeom>
          <a:solidFill>
            <a:srgbClr val="F0F3F6"/>
          </a:solidFill>
          <a:ln>
            <a:noFill/>
          </a:ln>
          <a:effectLst/>
        </p:spPr>
        <p:txBody>
          <a:bodyPr rtlCol="0" anchor="ctr"/>
          <a:lstStyle/>
          <a:p>
            <a:endParaRPr lang="de-DE"/>
          </a:p>
        </p:txBody>
      </p:sp>
      <p:sp>
        <p:nvSpPr>
          <p:cNvPr id="321" name="Product Carbon Footprint Dim Supplier Activation Dot"/>
          <p:cNvSpPr/>
          <p:nvPr/>
        </p:nvSpPr>
        <p:spPr>
          <a:xfrm>
            <a:off x="9360027" y="6038882"/>
            <a:ext cx="109728" cy="109728"/>
          </a:xfrm>
          <a:prstGeom prst="ellipse">
            <a:avLst/>
          </a:prstGeom>
          <a:solidFill>
            <a:srgbClr val="F0B135"/>
          </a:solidFill>
          <a:ln>
            <a:noFill/>
          </a:ln>
          <a:effectLst/>
        </p:spPr>
        <p:txBody>
          <a:bodyPr rtlCol="0" anchor="ctr"/>
          <a:lstStyle/>
          <a:p>
            <a:endParaRPr lang="de-DE"/>
          </a:p>
        </p:txBody>
      </p:sp>
      <p:sp>
        <p:nvSpPr>
          <p:cNvPr id="322" name="N-Tier Row Divider Dimensions"/>
          <p:cNvSpPr/>
          <p:nvPr/>
        </p:nvSpPr>
        <p:spPr>
          <a:xfrm>
            <a:off x="10692193" y="4564952"/>
            <a:ext cx="1153858" cy="6401"/>
          </a:xfrm>
          <a:prstGeom prst="rect">
            <a:avLst/>
          </a:prstGeom>
          <a:solidFill>
            <a:srgbClr val="E2E8EC"/>
          </a:solidFill>
          <a:ln>
            <a:noFill/>
          </a:ln>
          <a:effectLst/>
        </p:spPr>
        <p:txBody>
          <a:bodyPr rtlCol="0" anchor="ctr"/>
          <a:lstStyle/>
          <a:p>
            <a:endParaRPr lang="de-DE"/>
          </a:p>
        </p:txBody>
      </p:sp>
      <p:sp>
        <p:nvSpPr>
          <p:cNvPr id="323" name="N-Tier Dim Lane External · CX Association"/>
          <p:cNvSpPr/>
          <p:nvPr/>
        </p:nvSpPr>
        <p:spPr>
          <a:xfrm>
            <a:off x="10623614" y="4811586"/>
            <a:ext cx="1291018" cy="284924"/>
          </a:xfrm>
          <a:prstGeom prst="rect">
            <a:avLst/>
          </a:prstGeom>
          <a:solidFill>
            <a:srgbClr val="F0F3F6"/>
          </a:solidFill>
          <a:ln>
            <a:noFill/>
          </a:ln>
          <a:effectLst/>
        </p:spPr>
        <p:txBody>
          <a:bodyPr rtlCol="0" anchor="ctr"/>
          <a:lstStyle/>
          <a:p>
            <a:endParaRPr lang="de-DE"/>
          </a:p>
        </p:txBody>
      </p:sp>
      <p:sp>
        <p:nvSpPr>
          <p:cNvPr id="324" name="N-Tier Dim External · CX Association Dot"/>
          <p:cNvSpPr/>
          <p:nvPr/>
        </p:nvSpPr>
        <p:spPr>
          <a:xfrm>
            <a:off x="10692193" y="4899184"/>
            <a:ext cx="109728" cy="109728"/>
          </a:xfrm>
          <a:prstGeom prst="ellipse">
            <a:avLst/>
          </a:prstGeom>
          <a:solidFill>
            <a:srgbClr val="53BE70"/>
          </a:solidFill>
          <a:ln>
            <a:noFill/>
          </a:ln>
          <a:effectLst/>
        </p:spPr>
        <p:txBody>
          <a:bodyPr rtlCol="0" anchor="ctr"/>
          <a:lstStyle/>
          <a:p>
            <a:endParaRPr lang="de-DE"/>
          </a:p>
        </p:txBody>
      </p:sp>
      <p:sp>
        <p:nvSpPr>
          <p:cNvPr id="325" name="N-Tier Dim Business Ring"/>
          <p:cNvSpPr/>
          <p:nvPr/>
        </p:nvSpPr>
        <p:spPr>
          <a:xfrm>
            <a:off x="10692193" y="5184108"/>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26" name="N-Tier Dim Lane Data Provisioning"/>
          <p:cNvSpPr/>
          <p:nvPr/>
        </p:nvSpPr>
        <p:spPr>
          <a:xfrm>
            <a:off x="10623614" y="5381435"/>
            <a:ext cx="1291018" cy="284924"/>
          </a:xfrm>
          <a:prstGeom prst="rect">
            <a:avLst/>
          </a:prstGeom>
          <a:solidFill>
            <a:srgbClr val="F0F3F6"/>
          </a:solidFill>
          <a:ln>
            <a:noFill/>
          </a:ln>
          <a:effectLst/>
        </p:spPr>
        <p:txBody>
          <a:bodyPr rtlCol="0" anchor="ctr"/>
          <a:lstStyle/>
          <a:p>
            <a:endParaRPr lang="de-DE"/>
          </a:p>
        </p:txBody>
      </p:sp>
      <p:sp>
        <p:nvSpPr>
          <p:cNvPr id="327" name="N-Tier Dim Data Provisioning Ring"/>
          <p:cNvSpPr/>
          <p:nvPr/>
        </p:nvSpPr>
        <p:spPr>
          <a:xfrm>
            <a:off x="10692193" y="5469033"/>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28" name="N-Tier Dim Technical Ring"/>
          <p:cNvSpPr/>
          <p:nvPr/>
        </p:nvSpPr>
        <p:spPr>
          <a:xfrm>
            <a:off x="10692193" y="5753957"/>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29" name="N-Tier Dim Lane Supplier Activation"/>
          <p:cNvSpPr/>
          <p:nvPr/>
        </p:nvSpPr>
        <p:spPr>
          <a:xfrm>
            <a:off x="10623614" y="5951284"/>
            <a:ext cx="1291018" cy="284924"/>
          </a:xfrm>
          <a:prstGeom prst="rect">
            <a:avLst/>
          </a:prstGeom>
          <a:solidFill>
            <a:srgbClr val="F0F3F6"/>
          </a:solidFill>
          <a:ln>
            <a:noFill/>
          </a:ln>
          <a:effectLst/>
        </p:spPr>
        <p:txBody>
          <a:bodyPr rtlCol="0" anchor="ctr"/>
          <a:lstStyle/>
          <a:p>
            <a:endParaRPr lang="de-DE"/>
          </a:p>
        </p:txBody>
      </p:sp>
      <p:sp>
        <p:nvSpPr>
          <p:cNvPr id="330" name="N-Tier Dim Supplier Activation Ring"/>
          <p:cNvSpPr/>
          <p:nvPr/>
        </p:nvSpPr>
        <p:spPr>
          <a:xfrm>
            <a:off x="10692193" y="6038882"/>
            <a:ext cx="109728" cy="109728"/>
          </a:xfrm>
          <a:prstGeom prst="ellipse">
            <a:avLst/>
          </a:prstGeom>
          <a:solidFill>
            <a:srgbClr val="FFFFFF"/>
          </a:solidFill>
          <a:ln w="15875">
            <a:solidFill>
              <a:srgbClr val="AEB9C1"/>
            </a:solidFill>
          </a:ln>
          <a:effectLst/>
        </p:spPr>
        <p:txBody>
          <a:bodyPr rtlCol="0" anchor="ctr"/>
          <a:lstStyle/>
          <a:p>
            <a:endParaRPr lang="de-D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Portfolio, AI+, C-X NEXT, DigiTrace Card"/>
          <p:cNvSpPr/>
          <p:nvPr/>
        </p:nvSpPr>
        <p:spPr>
          <a:xfrm>
            <a:off x="129844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Portfolio, AI+, C-X NEXT, DigiTrace Name"/>
          <p:cNvSpPr txBox="1"/>
          <p:nvPr/>
        </p:nvSpPr>
        <p:spPr>
          <a:xfrm>
            <a:off x="136702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17" name="Col Portfolio, AI+, C-X NEXT, DigiTrace Abbr"/>
          <p:cNvSpPr txBox="1"/>
          <p:nvPr/>
        </p:nvSpPr>
        <p:spPr>
          <a:xfrm>
            <a:off x="1367028" y="14274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18" name="Col Portfolio, AI+, C-X NEXT, DigiTrace Domain Lead"/>
          <p:cNvSpPr txBox="1"/>
          <p:nvPr/>
        </p:nvSpPr>
        <p:spPr>
          <a:xfrm>
            <a:off x="136702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19" name="Col Portfolio, AI+, C-X NEXT, DigiTrace Tag"/>
          <p:cNvSpPr/>
          <p:nvPr/>
        </p:nvSpPr>
        <p:spPr>
          <a:xfrm>
            <a:off x="1367028" y="6364224"/>
            <a:ext cx="1502111" cy="237744"/>
          </a:xfrm>
          <a:prstGeom prst="roundRect">
            <a:avLst>
              <a:gd name="adj" fmla="val 50000"/>
            </a:avLst>
          </a:prstGeom>
          <a:solidFill>
            <a:srgbClr val="001E50"/>
          </a:solidFill>
          <a:ln>
            <a:noFill/>
          </a:ln>
          <a:effectLst/>
        </p:spPr>
        <p:txBody>
          <a:bodyPr rtlCol="0" anchor="ctr"/>
          <a:lstStyle/>
          <a:p>
            <a:endParaRPr lang="de-DE"/>
          </a:p>
        </p:txBody>
      </p:sp>
      <p:sp>
        <p:nvSpPr>
          <p:cNvPr id="120" name="Col Portfolio, AI+, C-X NEXT, DigiTrace Tag Text"/>
          <p:cNvSpPr txBox="1"/>
          <p:nvPr/>
        </p:nvSpPr>
        <p:spPr>
          <a:xfrm>
            <a:off x="1367028" y="6364224"/>
            <a:ext cx="1502111" cy="237744"/>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 Deep dive: Topic 5</a:t>
            </a:r>
          </a:p>
        </p:txBody>
      </p:sp>
      <p:sp>
        <p:nvSpPr>
          <p:cNvPr id="121" name="Col Portfolio, AI+, C-X NEXT, DigiTrace Status Bar"/>
          <p:cNvSpPr/>
          <p:nvPr/>
        </p:nvSpPr>
        <p:spPr>
          <a:xfrm>
            <a:off x="1367028" y="2002790"/>
            <a:ext cx="1597914" cy="36576"/>
          </a:xfrm>
          <a:prstGeom prst="roundRect">
            <a:avLst>
              <a:gd name="adj" fmla="val 50000"/>
            </a:avLst>
          </a:prstGeom>
          <a:solidFill>
            <a:srgbClr val="E64343"/>
          </a:solidFill>
          <a:ln>
            <a:noFill/>
          </a:ln>
          <a:effectLst/>
        </p:spPr>
        <p:txBody>
          <a:bodyPr rtlCol="0" anchor="ctr"/>
          <a:lstStyle/>
          <a:p>
            <a:endParaRPr lang="de-DE"/>
          </a:p>
        </p:txBody>
      </p:sp>
      <p:sp>
        <p:nvSpPr>
          <p:cNvPr id="122" name="Col Supplier Activation Card"/>
          <p:cNvSpPr/>
          <p:nvPr/>
        </p:nvSpPr>
        <p:spPr>
          <a:xfrm>
            <a:off x="3074670"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3" name="Col Supplier Activation Name"/>
          <p:cNvSpPr txBox="1"/>
          <p:nvPr/>
        </p:nvSpPr>
        <p:spPr>
          <a:xfrm>
            <a:off x="3143250"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24" name="Col Supplier Activation Abbr"/>
          <p:cNvSpPr txBox="1"/>
          <p:nvPr/>
        </p:nvSpPr>
        <p:spPr>
          <a:xfrm>
            <a:off x="3143250"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25" name="Col Supplier Activation Domain Lead"/>
          <p:cNvSpPr txBox="1"/>
          <p:nvPr/>
        </p:nvSpPr>
        <p:spPr>
          <a:xfrm>
            <a:off x="3143250"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26" name="Col Supplier Activation Status Bar"/>
          <p:cNvSpPr/>
          <p:nvPr/>
        </p:nvSpPr>
        <p:spPr>
          <a:xfrm>
            <a:off x="3143250"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27" name="Col Data Provisioning Card"/>
          <p:cNvSpPr/>
          <p:nvPr/>
        </p:nvSpPr>
        <p:spPr>
          <a:xfrm>
            <a:off x="4850892"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8" name="Col Data Provisioning Name"/>
          <p:cNvSpPr txBox="1"/>
          <p:nvPr/>
        </p:nvSpPr>
        <p:spPr>
          <a:xfrm>
            <a:off x="4919472"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9" name="Col Data Provisioning Abbr"/>
          <p:cNvSpPr txBox="1"/>
          <p:nvPr/>
        </p:nvSpPr>
        <p:spPr>
          <a:xfrm>
            <a:off x="4919472"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30" name="Col Data Provisioning Domain Lead"/>
          <p:cNvSpPr txBox="1"/>
          <p:nvPr/>
        </p:nvSpPr>
        <p:spPr>
          <a:xfrm>
            <a:off x="4919472"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1" name="Col Data Provisioning Status Bar"/>
          <p:cNvSpPr/>
          <p:nvPr/>
        </p:nvSpPr>
        <p:spPr>
          <a:xfrm>
            <a:off x="4919472"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2" name="Col Hub &amp; Spoke Card"/>
          <p:cNvSpPr/>
          <p:nvPr/>
        </p:nvSpPr>
        <p:spPr>
          <a:xfrm>
            <a:off x="6627114"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3" name="Col Hub &amp; Spoke Name"/>
          <p:cNvSpPr txBox="1"/>
          <p:nvPr/>
        </p:nvSpPr>
        <p:spPr>
          <a:xfrm>
            <a:off x="6695694"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4" name="Col Hub &amp; Spoke Abbr"/>
          <p:cNvSpPr txBox="1"/>
          <p:nvPr/>
        </p:nvSpPr>
        <p:spPr>
          <a:xfrm>
            <a:off x="6695694"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5" name="Col Hub &amp; Spoke Domain Lead"/>
          <p:cNvSpPr txBox="1"/>
          <p:nvPr/>
        </p:nvSpPr>
        <p:spPr>
          <a:xfrm>
            <a:off x="6695694"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6" name="Col Hub &amp; Spoke Status Bar"/>
          <p:cNvSpPr/>
          <p:nvPr/>
        </p:nvSpPr>
        <p:spPr>
          <a:xfrm>
            <a:off x="6695694"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7" name="Col Legal &amp; Contracts Card"/>
          <p:cNvSpPr/>
          <p:nvPr/>
        </p:nvSpPr>
        <p:spPr>
          <a:xfrm>
            <a:off x="8403336"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8" name="Col Legal &amp; Contracts Name"/>
          <p:cNvSpPr txBox="1"/>
          <p:nvPr/>
        </p:nvSpPr>
        <p:spPr>
          <a:xfrm>
            <a:off x="8471916"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9" name="Col Legal &amp; Contracts Abbr"/>
          <p:cNvSpPr txBox="1"/>
          <p:nvPr/>
        </p:nvSpPr>
        <p:spPr>
          <a:xfrm>
            <a:off x="8471916"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40" name="Col Legal &amp; Contracts Domain Lead"/>
          <p:cNvSpPr txBox="1"/>
          <p:nvPr/>
        </p:nvSpPr>
        <p:spPr>
          <a:xfrm>
            <a:off x="8471916"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Schiffelbaum (A-IIED-EJ)</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Support: Brunke (K-ILX-6)</a:t>
            </a:r>
          </a:p>
        </p:txBody>
      </p:sp>
      <p:sp>
        <p:nvSpPr>
          <p:cNvPr id="141" name="Col Legal &amp; Contracts Status Bar"/>
          <p:cNvSpPr/>
          <p:nvPr/>
        </p:nvSpPr>
        <p:spPr>
          <a:xfrm>
            <a:off x="8471916"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2" name="Col Architecture Card"/>
          <p:cNvSpPr/>
          <p:nvPr/>
        </p:nvSpPr>
        <p:spPr>
          <a:xfrm>
            <a:off x="1017955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43" name="Col Architecture Name"/>
          <p:cNvSpPr txBox="1"/>
          <p:nvPr/>
        </p:nvSpPr>
        <p:spPr>
          <a:xfrm>
            <a:off x="1024813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4" name="Col Architecture Abbr"/>
          <p:cNvSpPr txBox="1"/>
          <p:nvPr/>
        </p:nvSpPr>
        <p:spPr>
          <a:xfrm>
            <a:off x="10248138"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5" name="Col Architecture Domain Lead"/>
          <p:cNvSpPr txBox="1"/>
          <p:nvPr/>
        </p:nvSpPr>
        <p:spPr>
          <a:xfrm>
            <a:off x="1024813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6" name="Col Architecture Status Bar"/>
          <p:cNvSpPr/>
          <p:nvPr/>
        </p:nvSpPr>
        <p:spPr>
          <a:xfrm>
            <a:off x="10248138"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7"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8" name="Head Label Workstream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9" name="Row Label Overall status"/>
          <p:cNvSpPr txBox="1"/>
          <p:nvPr/>
        </p:nvSpPr>
        <p:spPr>
          <a:xfrm>
            <a:off x="274320" y="2158238"/>
            <a:ext cx="987552" cy="2613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0" name="Portfolio, AI+, C-X NEXT, DigiTrace Status Pill"/>
          <p:cNvSpPr/>
          <p:nvPr/>
        </p:nvSpPr>
        <p:spPr>
          <a:xfrm>
            <a:off x="1367028"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1367028"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Supplier Activation Status Pill"/>
          <p:cNvSpPr/>
          <p:nvPr/>
        </p:nvSpPr>
        <p:spPr>
          <a:xfrm>
            <a:off x="31432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Supplier Activation Status Text"/>
          <p:cNvSpPr txBox="1"/>
          <p:nvPr/>
        </p:nvSpPr>
        <p:spPr>
          <a:xfrm>
            <a:off x="31432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Data Provisioning Status Pill"/>
          <p:cNvSpPr/>
          <p:nvPr/>
        </p:nvSpPr>
        <p:spPr>
          <a:xfrm>
            <a:off x="491947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Data Provisioning Status Text"/>
          <p:cNvSpPr txBox="1"/>
          <p:nvPr/>
        </p:nvSpPr>
        <p:spPr>
          <a:xfrm>
            <a:off x="491947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Hub &amp; Spoke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Hub &amp; Spoke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Legal &amp; Contracts Status Pill"/>
          <p:cNvSpPr/>
          <p:nvPr/>
        </p:nvSpPr>
        <p:spPr>
          <a:xfrm>
            <a:off x="8471916"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Legal &amp; Contracts Status Text"/>
          <p:cNvSpPr txBox="1"/>
          <p:nvPr/>
        </p:nvSpPr>
        <p:spPr>
          <a:xfrm>
            <a:off x="8471916"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Architecture Status Pill"/>
          <p:cNvSpPr/>
          <p:nvPr/>
        </p:nvSpPr>
        <p:spPr>
          <a:xfrm>
            <a:off x="1024813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Architecture Status Text"/>
          <p:cNvSpPr txBox="1"/>
          <p:nvPr/>
        </p:nvSpPr>
        <p:spPr>
          <a:xfrm>
            <a:off x="1024813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Row Label Goal"/>
          <p:cNvSpPr txBox="1"/>
          <p:nvPr/>
        </p:nvSpPr>
        <p:spPr>
          <a:xfrm>
            <a:off x="274320" y="2483580"/>
            <a:ext cx="987552" cy="50024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3" name="Portfolio, AI+, C-X NEXT, DigiTrace Row Divider Goal"/>
          <p:cNvSpPr/>
          <p:nvPr/>
        </p:nvSpPr>
        <p:spPr>
          <a:xfrm>
            <a:off x="1367028" y="2419572"/>
            <a:ext cx="1597914"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1367028"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Supplier Activation Row Divider Goal"/>
          <p:cNvSpPr/>
          <p:nvPr/>
        </p:nvSpPr>
        <p:spPr>
          <a:xfrm>
            <a:off x="3143250" y="2419572"/>
            <a:ext cx="1597914" cy="6401"/>
          </a:xfrm>
          <a:prstGeom prst="rect">
            <a:avLst/>
          </a:prstGeom>
          <a:solidFill>
            <a:srgbClr val="E2E8EC"/>
          </a:solidFill>
          <a:ln>
            <a:noFill/>
          </a:ln>
          <a:effectLst/>
        </p:spPr>
        <p:txBody>
          <a:bodyPr rtlCol="0" anchor="ctr"/>
          <a:lstStyle/>
          <a:p>
            <a:endParaRPr lang="de-DE"/>
          </a:p>
        </p:txBody>
      </p:sp>
      <p:sp>
        <p:nvSpPr>
          <p:cNvPr id="166" name="Supplier Activation Goal"/>
          <p:cNvSpPr txBox="1"/>
          <p:nvPr/>
        </p:nvSpPr>
        <p:spPr>
          <a:xfrm>
            <a:off x="3143250"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7" name="Data Provisioning Row Divider Goal"/>
          <p:cNvSpPr/>
          <p:nvPr/>
        </p:nvSpPr>
        <p:spPr>
          <a:xfrm>
            <a:off x="4919472" y="2419572"/>
            <a:ext cx="1597914" cy="6401"/>
          </a:xfrm>
          <a:prstGeom prst="rect">
            <a:avLst/>
          </a:prstGeom>
          <a:solidFill>
            <a:srgbClr val="E2E8EC"/>
          </a:solidFill>
          <a:ln>
            <a:noFill/>
          </a:ln>
          <a:effectLst/>
        </p:spPr>
        <p:txBody>
          <a:bodyPr rtlCol="0" anchor="ctr"/>
          <a:lstStyle/>
          <a:p>
            <a:endParaRPr lang="de-DE"/>
          </a:p>
        </p:txBody>
      </p:sp>
      <p:sp>
        <p:nvSpPr>
          <p:cNvPr id="168" name="Data Provisioning Goal"/>
          <p:cNvSpPr txBox="1"/>
          <p:nvPr/>
        </p:nvSpPr>
        <p:spPr>
          <a:xfrm>
            <a:off x="4919472"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9" name="Hub &amp; Spoke Row Divider Goal"/>
          <p:cNvSpPr/>
          <p:nvPr/>
        </p:nvSpPr>
        <p:spPr>
          <a:xfrm>
            <a:off x="6695694" y="2419572"/>
            <a:ext cx="1597914" cy="6401"/>
          </a:xfrm>
          <a:prstGeom prst="rect">
            <a:avLst/>
          </a:prstGeom>
          <a:solidFill>
            <a:srgbClr val="E2E8EC"/>
          </a:solidFill>
          <a:ln>
            <a:noFill/>
          </a:ln>
          <a:effectLst/>
        </p:spPr>
        <p:txBody>
          <a:bodyPr rtlCol="0" anchor="ctr"/>
          <a:lstStyle/>
          <a:p>
            <a:endParaRPr lang="de-DE"/>
          </a:p>
        </p:txBody>
      </p:sp>
      <p:sp>
        <p:nvSpPr>
          <p:cNvPr id="170" name="Hub &amp; Spoke Goal"/>
          <p:cNvSpPr txBox="1"/>
          <p:nvPr/>
        </p:nvSpPr>
        <p:spPr>
          <a:xfrm>
            <a:off x="6695694"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71" name="Legal &amp; Contracts Row Divider Goal"/>
          <p:cNvSpPr/>
          <p:nvPr/>
        </p:nvSpPr>
        <p:spPr>
          <a:xfrm>
            <a:off x="8471916" y="2419572"/>
            <a:ext cx="1597914" cy="6401"/>
          </a:xfrm>
          <a:prstGeom prst="rect">
            <a:avLst/>
          </a:prstGeom>
          <a:solidFill>
            <a:srgbClr val="E2E8EC"/>
          </a:solidFill>
          <a:ln>
            <a:noFill/>
          </a:ln>
          <a:effectLst/>
        </p:spPr>
        <p:txBody>
          <a:bodyPr rtlCol="0" anchor="ctr"/>
          <a:lstStyle/>
          <a:p>
            <a:endParaRPr lang="de-DE"/>
          </a:p>
        </p:txBody>
      </p:sp>
      <p:sp>
        <p:nvSpPr>
          <p:cNvPr id="172" name="Legal &amp; Contracts Goal"/>
          <p:cNvSpPr txBox="1"/>
          <p:nvPr/>
        </p:nvSpPr>
        <p:spPr>
          <a:xfrm>
            <a:off x="8471916"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3" name="Architecture Row Divider Goal"/>
          <p:cNvSpPr/>
          <p:nvPr/>
        </p:nvSpPr>
        <p:spPr>
          <a:xfrm>
            <a:off x="10248138" y="2419572"/>
            <a:ext cx="1597914" cy="6401"/>
          </a:xfrm>
          <a:prstGeom prst="rect">
            <a:avLst/>
          </a:prstGeom>
          <a:solidFill>
            <a:srgbClr val="E2E8EC"/>
          </a:solidFill>
          <a:ln>
            <a:noFill/>
          </a:ln>
          <a:effectLst/>
        </p:spPr>
        <p:txBody>
          <a:bodyPr rtlCol="0" anchor="ctr"/>
          <a:lstStyle/>
          <a:p>
            <a:endParaRPr lang="de-DE"/>
          </a:p>
        </p:txBody>
      </p:sp>
      <p:sp>
        <p:nvSpPr>
          <p:cNvPr id="174" name="Architecture Goal"/>
          <p:cNvSpPr txBox="1"/>
          <p:nvPr/>
        </p:nvSpPr>
        <p:spPr>
          <a:xfrm>
            <a:off x="10248138"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5" name="Row Label Key KPI"/>
          <p:cNvSpPr txBox="1"/>
          <p:nvPr/>
        </p:nvSpPr>
        <p:spPr>
          <a:xfrm>
            <a:off x="274320" y="3047835"/>
            <a:ext cx="987552" cy="65352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6" name="Portfolio, AI+, C-X NEXT, DigiTrace Row Divider Key KPI"/>
          <p:cNvSpPr/>
          <p:nvPr/>
        </p:nvSpPr>
        <p:spPr>
          <a:xfrm>
            <a:off x="1367028" y="2983827"/>
            <a:ext cx="1597914"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1367028"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Supplier Activation Row Divider Key KPI"/>
          <p:cNvSpPr/>
          <p:nvPr/>
        </p:nvSpPr>
        <p:spPr>
          <a:xfrm>
            <a:off x="3143250" y="2983827"/>
            <a:ext cx="1597914" cy="6401"/>
          </a:xfrm>
          <a:prstGeom prst="rect">
            <a:avLst/>
          </a:prstGeom>
          <a:solidFill>
            <a:srgbClr val="E2E8EC"/>
          </a:solidFill>
          <a:ln>
            <a:noFill/>
          </a:ln>
          <a:effectLst/>
        </p:spPr>
        <p:txBody>
          <a:bodyPr rtlCol="0" anchor="ctr"/>
          <a:lstStyle/>
          <a:p>
            <a:endParaRPr lang="de-DE"/>
          </a:p>
        </p:txBody>
      </p:sp>
      <p:sp>
        <p:nvSpPr>
          <p:cNvPr id="179" name="Supplier Activation KPI"/>
          <p:cNvSpPr txBox="1"/>
          <p:nvPr/>
        </p:nvSpPr>
        <p:spPr>
          <a:xfrm>
            <a:off x="3143250"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80" name="Data Provisioning Row Divider Key KPI"/>
          <p:cNvSpPr/>
          <p:nvPr/>
        </p:nvSpPr>
        <p:spPr>
          <a:xfrm>
            <a:off x="4919472" y="2983827"/>
            <a:ext cx="1597914" cy="6401"/>
          </a:xfrm>
          <a:prstGeom prst="rect">
            <a:avLst/>
          </a:prstGeom>
          <a:solidFill>
            <a:srgbClr val="E2E8EC"/>
          </a:solidFill>
          <a:ln>
            <a:noFill/>
          </a:ln>
          <a:effectLst/>
        </p:spPr>
        <p:txBody>
          <a:bodyPr rtlCol="0" anchor="ctr"/>
          <a:lstStyle/>
          <a:p>
            <a:endParaRPr lang="de-DE"/>
          </a:p>
        </p:txBody>
      </p:sp>
      <p:sp>
        <p:nvSpPr>
          <p:cNvPr id="181" name="Data Provisioning KPI"/>
          <p:cNvSpPr txBox="1"/>
          <p:nvPr/>
        </p:nvSpPr>
        <p:spPr>
          <a:xfrm>
            <a:off x="4919472"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2" name="Hub &amp; Spoke Row Divider Key KPI"/>
          <p:cNvSpPr/>
          <p:nvPr/>
        </p:nvSpPr>
        <p:spPr>
          <a:xfrm>
            <a:off x="6695694" y="2983827"/>
            <a:ext cx="1597914" cy="6401"/>
          </a:xfrm>
          <a:prstGeom prst="rect">
            <a:avLst/>
          </a:prstGeom>
          <a:solidFill>
            <a:srgbClr val="E2E8EC"/>
          </a:solidFill>
          <a:ln>
            <a:noFill/>
          </a:ln>
          <a:effectLst/>
        </p:spPr>
        <p:txBody>
          <a:bodyPr rtlCol="0" anchor="ctr"/>
          <a:lstStyle/>
          <a:p>
            <a:endParaRPr lang="de-DE"/>
          </a:p>
        </p:txBody>
      </p:sp>
      <p:sp>
        <p:nvSpPr>
          <p:cNvPr id="183" name="Hub &amp; Spoke KPI"/>
          <p:cNvSpPr txBox="1"/>
          <p:nvPr/>
        </p:nvSpPr>
        <p:spPr>
          <a:xfrm>
            <a:off x="6695694"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4" name="Legal &amp; Contracts Row Divider Key KPI"/>
          <p:cNvSpPr/>
          <p:nvPr/>
        </p:nvSpPr>
        <p:spPr>
          <a:xfrm>
            <a:off x="8471916" y="2983827"/>
            <a:ext cx="1597914" cy="6401"/>
          </a:xfrm>
          <a:prstGeom prst="rect">
            <a:avLst/>
          </a:prstGeom>
          <a:solidFill>
            <a:srgbClr val="E2E8EC"/>
          </a:solidFill>
          <a:ln>
            <a:noFill/>
          </a:ln>
          <a:effectLst/>
        </p:spPr>
        <p:txBody>
          <a:bodyPr rtlCol="0" anchor="ctr"/>
          <a:lstStyle/>
          <a:p>
            <a:endParaRPr lang="de-DE"/>
          </a:p>
        </p:txBody>
      </p:sp>
      <p:sp>
        <p:nvSpPr>
          <p:cNvPr id="185" name="Legal &amp; Contracts KPI"/>
          <p:cNvSpPr txBox="1"/>
          <p:nvPr/>
        </p:nvSpPr>
        <p:spPr>
          <a:xfrm>
            <a:off x="8471916"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6" name="Architecture Row Divider Key KPI"/>
          <p:cNvSpPr/>
          <p:nvPr/>
        </p:nvSpPr>
        <p:spPr>
          <a:xfrm>
            <a:off x="10248138" y="2983827"/>
            <a:ext cx="1597914" cy="6401"/>
          </a:xfrm>
          <a:prstGeom prst="rect">
            <a:avLst/>
          </a:prstGeom>
          <a:solidFill>
            <a:srgbClr val="E2E8EC"/>
          </a:solidFill>
          <a:ln>
            <a:noFill/>
          </a:ln>
          <a:effectLst/>
        </p:spPr>
        <p:txBody>
          <a:bodyPr rtlCol="0" anchor="ctr"/>
          <a:lstStyle/>
          <a:p>
            <a:endParaRPr lang="de-DE"/>
          </a:p>
        </p:txBody>
      </p:sp>
      <p:sp>
        <p:nvSpPr>
          <p:cNvPr id="187" name="Architecture KPI"/>
          <p:cNvSpPr txBox="1"/>
          <p:nvPr/>
        </p:nvSpPr>
        <p:spPr>
          <a:xfrm>
            <a:off x="10248138" y="3047835"/>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8" name="Row Label Next (critical) milestone"/>
          <p:cNvSpPr txBox="1"/>
          <p:nvPr/>
        </p:nvSpPr>
        <p:spPr>
          <a:xfrm>
            <a:off x="274320" y="3765372"/>
            <a:ext cx="987552" cy="79957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9" name="Portfolio, AI+, C-X NEXT, DigiTrace Row Divider Next (critical) milestone"/>
          <p:cNvSpPr/>
          <p:nvPr/>
        </p:nvSpPr>
        <p:spPr>
          <a:xfrm>
            <a:off x="1367028" y="3701364"/>
            <a:ext cx="1597914" cy="6401"/>
          </a:xfrm>
          <a:prstGeom prst="rect">
            <a:avLst/>
          </a:prstGeom>
          <a:solidFill>
            <a:srgbClr val="E2E8EC"/>
          </a:solidFill>
          <a:ln>
            <a:noFill/>
          </a:ln>
          <a:effectLst/>
        </p:spPr>
        <p:txBody>
          <a:bodyPr rtlCol="0" anchor="ctr"/>
          <a:lstStyle/>
          <a:p>
            <a:endParaRPr lang="de-DE"/>
          </a:p>
        </p:txBody>
      </p:sp>
      <p:sp>
        <p:nvSpPr>
          <p:cNvPr id="190" name="Portfolio, AI+, C-X NEXT, DigiTrace Milestone Dot"/>
          <p:cNvSpPr/>
          <p:nvPr/>
        </p:nvSpPr>
        <p:spPr>
          <a:xfrm>
            <a:off x="1367028" y="3801948"/>
            <a:ext cx="73152" cy="73152"/>
          </a:xfrm>
          <a:prstGeom prst="ellipse">
            <a:avLst/>
          </a:prstGeom>
          <a:solidFill>
            <a:srgbClr val="E64343"/>
          </a:solidFill>
          <a:ln>
            <a:noFill/>
          </a:ln>
          <a:effectLst/>
        </p:spPr>
        <p:txBody>
          <a:bodyPr rtlCol="0" anchor="ctr"/>
          <a:lstStyle/>
          <a:p>
            <a:endParaRPr lang="de-DE"/>
          </a:p>
        </p:txBody>
      </p:sp>
      <p:sp>
        <p:nvSpPr>
          <p:cNvPr id="191" name="Portfolio, AI+, C-X NEXT, DigiTrace Milestone"/>
          <p:cNvSpPr txBox="1"/>
          <p:nvPr/>
        </p:nvSpPr>
        <p:spPr>
          <a:xfrm>
            <a:off x="1504188" y="3765372"/>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192" name="Supplier Activation Row Divider Next (critical) milestone"/>
          <p:cNvSpPr/>
          <p:nvPr/>
        </p:nvSpPr>
        <p:spPr>
          <a:xfrm>
            <a:off x="3143250" y="3701364"/>
            <a:ext cx="1597914" cy="6401"/>
          </a:xfrm>
          <a:prstGeom prst="rect">
            <a:avLst/>
          </a:prstGeom>
          <a:solidFill>
            <a:srgbClr val="E2E8EC"/>
          </a:solidFill>
          <a:ln>
            <a:noFill/>
          </a:ln>
          <a:effectLst/>
        </p:spPr>
        <p:txBody>
          <a:bodyPr rtlCol="0" anchor="ctr"/>
          <a:lstStyle/>
          <a:p>
            <a:endParaRPr lang="de-DE"/>
          </a:p>
        </p:txBody>
      </p:sp>
      <p:sp>
        <p:nvSpPr>
          <p:cNvPr id="193" name="Supplier Activation Milestone Dot"/>
          <p:cNvSpPr/>
          <p:nvPr/>
        </p:nvSpPr>
        <p:spPr>
          <a:xfrm>
            <a:off x="3143250" y="3801948"/>
            <a:ext cx="73152" cy="73152"/>
          </a:xfrm>
          <a:prstGeom prst="ellipse">
            <a:avLst/>
          </a:prstGeom>
          <a:solidFill>
            <a:srgbClr val="F0B135"/>
          </a:solidFill>
          <a:ln>
            <a:noFill/>
          </a:ln>
          <a:effectLst/>
        </p:spPr>
        <p:txBody>
          <a:bodyPr rtlCol="0" anchor="ctr"/>
          <a:lstStyle/>
          <a:p>
            <a:endParaRPr lang="de-DE"/>
          </a:p>
        </p:txBody>
      </p:sp>
      <p:sp>
        <p:nvSpPr>
          <p:cNvPr id="194" name="Supplier Activation Milestone"/>
          <p:cNvSpPr txBox="1"/>
          <p:nvPr/>
        </p:nvSpPr>
        <p:spPr>
          <a:xfrm>
            <a:off x="3280410"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EoY goal: 400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5" name="Data Provisioning Row Divider Next (critical) milestone"/>
          <p:cNvSpPr/>
          <p:nvPr/>
        </p:nvSpPr>
        <p:spPr>
          <a:xfrm>
            <a:off x="4919472" y="3701364"/>
            <a:ext cx="1597914" cy="6401"/>
          </a:xfrm>
          <a:prstGeom prst="rect">
            <a:avLst/>
          </a:prstGeom>
          <a:solidFill>
            <a:srgbClr val="E2E8EC"/>
          </a:solidFill>
          <a:ln>
            <a:noFill/>
          </a:ln>
          <a:effectLst/>
        </p:spPr>
        <p:txBody>
          <a:bodyPr rtlCol="0" anchor="ctr"/>
          <a:lstStyle/>
          <a:p>
            <a:endParaRPr lang="de-DE"/>
          </a:p>
        </p:txBody>
      </p:sp>
      <p:sp>
        <p:nvSpPr>
          <p:cNvPr id="196" name="Data Provisioning Milestone Dot"/>
          <p:cNvSpPr/>
          <p:nvPr/>
        </p:nvSpPr>
        <p:spPr>
          <a:xfrm>
            <a:off x="4919472" y="3801948"/>
            <a:ext cx="73152" cy="73152"/>
          </a:xfrm>
          <a:prstGeom prst="ellipse">
            <a:avLst/>
          </a:prstGeom>
          <a:solidFill>
            <a:srgbClr val="53BE70"/>
          </a:solidFill>
          <a:ln>
            <a:noFill/>
          </a:ln>
          <a:effectLst/>
        </p:spPr>
        <p:txBody>
          <a:bodyPr rtlCol="0" anchor="ctr"/>
          <a:lstStyle/>
          <a:p>
            <a:endParaRPr lang="de-DE"/>
          </a:p>
        </p:txBody>
      </p:sp>
      <p:sp>
        <p:nvSpPr>
          <p:cNvPr id="197" name="Data Provisioning Milestone"/>
          <p:cNvSpPr txBox="1"/>
          <p:nvPr/>
        </p:nvSpPr>
        <p:spPr>
          <a:xfrm>
            <a:off x="5056632"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vision: semantic models</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28 Oct 2026</a:t>
            </a:r>
          </a:p>
        </p:txBody>
      </p:sp>
      <p:sp>
        <p:nvSpPr>
          <p:cNvPr id="198" name="Hub &amp; Spoke Row Divider Next (critical) milestone"/>
          <p:cNvSpPr/>
          <p:nvPr/>
        </p:nvSpPr>
        <p:spPr>
          <a:xfrm>
            <a:off x="6695694" y="3701364"/>
            <a:ext cx="1597914" cy="6401"/>
          </a:xfrm>
          <a:prstGeom prst="rect">
            <a:avLst/>
          </a:prstGeom>
          <a:solidFill>
            <a:srgbClr val="E2E8EC"/>
          </a:solidFill>
          <a:ln>
            <a:noFill/>
          </a:ln>
          <a:effectLst/>
        </p:spPr>
        <p:txBody>
          <a:bodyPr rtlCol="0" anchor="ctr"/>
          <a:lstStyle/>
          <a:p>
            <a:endParaRPr lang="de-DE"/>
          </a:p>
        </p:txBody>
      </p:sp>
      <p:sp>
        <p:nvSpPr>
          <p:cNvPr id="199" name="Hub &amp; Spoke Milestone Dot"/>
          <p:cNvSpPr/>
          <p:nvPr/>
        </p:nvSpPr>
        <p:spPr>
          <a:xfrm>
            <a:off x="6695694" y="3801948"/>
            <a:ext cx="73152" cy="73152"/>
          </a:xfrm>
          <a:prstGeom prst="ellipse">
            <a:avLst/>
          </a:prstGeom>
          <a:solidFill>
            <a:srgbClr val="F0B135"/>
          </a:solidFill>
          <a:ln>
            <a:noFill/>
          </a:ln>
          <a:effectLst/>
        </p:spPr>
        <p:txBody>
          <a:bodyPr rtlCol="0" anchor="ctr"/>
          <a:lstStyle/>
          <a:p>
            <a:endParaRPr lang="de-DE"/>
          </a:p>
        </p:txBody>
      </p:sp>
      <p:sp>
        <p:nvSpPr>
          <p:cNvPr id="200" name="Hub &amp; Spoke Milestone"/>
          <p:cNvSpPr txBox="1"/>
          <p:nvPr/>
        </p:nvSpPr>
        <p:spPr>
          <a:xfrm>
            <a:off x="6832854"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01" name="Legal &amp; Contracts Row Divider Next (critical) milestone"/>
          <p:cNvSpPr/>
          <p:nvPr/>
        </p:nvSpPr>
        <p:spPr>
          <a:xfrm>
            <a:off x="8471916" y="3701364"/>
            <a:ext cx="1597914" cy="6401"/>
          </a:xfrm>
          <a:prstGeom prst="rect">
            <a:avLst/>
          </a:prstGeom>
          <a:solidFill>
            <a:srgbClr val="E2E8EC"/>
          </a:solidFill>
          <a:ln>
            <a:noFill/>
          </a:ln>
          <a:effectLst/>
        </p:spPr>
        <p:txBody>
          <a:bodyPr rtlCol="0" anchor="ctr"/>
          <a:lstStyle/>
          <a:p>
            <a:endParaRPr lang="de-DE"/>
          </a:p>
        </p:txBody>
      </p:sp>
      <p:sp>
        <p:nvSpPr>
          <p:cNvPr id="202" name="Legal &amp; Contracts Milestone Dot"/>
          <p:cNvSpPr/>
          <p:nvPr/>
        </p:nvSpPr>
        <p:spPr>
          <a:xfrm>
            <a:off x="8471916" y="3801948"/>
            <a:ext cx="73152" cy="73152"/>
          </a:xfrm>
          <a:prstGeom prst="ellipse">
            <a:avLst/>
          </a:prstGeom>
          <a:solidFill>
            <a:srgbClr val="F0B135"/>
          </a:solidFill>
          <a:ln>
            <a:noFill/>
          </a:ln>
          <a:effectLst/>
        </p:spPr>
        <p:txBody>
          <a:bodyPr rtlCol="0" anchor="ctr"/>
          <a:lstStyle/>
          <a:p>
            <a:endParaRPr lang="de-DE"/>
          </a:p>
        </p:txBody>
      </p:sp>
      <p:sp>
        <p:nvSpPr>
          <p:cNvPr id="203" name="Legal &amp; Contracts Milestone"/>
          <p:cNvSpPr txBox="1"/>
          <p:nvPr/>
        </p:nvSpPr>
        <p:spPr>
          <a:xfrm>
            <a:off x="8609076" y="3765372"/>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4" name="Architecture Row Divider Next (critical) milestone"/>
          <p:cNvSpPr/>
          <p:nvPr/>
        </p:nvSpPr>
        <p:spPr>
          <a:xfrm>
            <a:off x="10248138" y="3701364"/>
            <a:ext cx="1597914" cy="6401"/>
          </a:xfrm>
          <a:prstGeom prst="rect">
            <a:avLst/>
          </a:prstGeom>
          <a:solidFill>
            <a:srgbClr val="E2E8EC"/>
          </a:solidFill>
          <a:ln>
            <a:noFill/>
          </a:ln>
          <a:effectLst/>
        </p:spPr>
        <p:txBody>
          <a:bodyPr rtlCol="0" anchor="ctr"/>
          <a:lstStyle/>
          <a:p>
            <a:endParaRPr lang="de-DE"/>
          </a:p>
        </p:txBody>
      </p:sp>
      <p:sp>
        <p:nvSpPr>
          <p:cNvPr id="205" name="Architecture Milestone Dot"/>
          <p:cNvSpPr/>
          <p:nvPr/>
        </p:nvSpPr>
        <p:spPr>
          <a:xfrm>
            <a:off x="10248138" y="3801948"/>
            <a:ext cx="73152" cy="73152"/>
          </a:xfrm>
          <a:prstGeom prst="ellipse">
            <a:avLst/>
          </a:prstGeom>
          <a:solidFill>
            <a:srgbClr val="53BE70"/>
          </a:solidFill>
          <a:ln>
            <a:noFill/>
          </a:ln>
          <a:effectLst/>
        </p:spPr>
        <p:txBody>
          <a:bodyPr rtlCol="0" anchor="ctr"/>
          <a:lstStyle/>
          <a:p>
            <a:endParaRPr lang="de-DE"/>
          </a:p>
        </p:txBody>
      </p:sp>
      <p:sp>
        <p:nvSpPr>
          <p:cNvPr id="206" name="Architecture Milestone"/>
          <p:cNvSpPr txBox="1"/>
          <p:nvPr/>
        </p:nvSpPr>
        <p:spPr>
          <a:xfrm>
            <a:off x="10385298"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High-level architecture updated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25 Nov 2026</a:t>
            </a:r>
          </a:p>
        </p:txBody>
      </p:sp>
      <p:sp>
        <p:nvSpPr>
          <p:cNvPr id="207" name="Row Label Dimensions"/>
          <p:cNvSpPr txBox="1"/>
          <p:nvPr/>
        </p:nvSpPr>
        <p:spPr>
          <a:xfrm>
            <a:off x="274320" y="4628960"/>
            <a:ext cx="987552" cy="166211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8" name="Dim Lane External · CX Association"/>
          <p:cNvSpPr/>
          <p:nvPr/>
        </p:nvSpPr>
        <p:spPr>
          <a:xfrm>
            <a:off x="201168" y="4811586"/>
            <a:ext cx="1097280" cy="356156"/>
          </a:xfrm>
          <a:prstGeom prst="rect">
            <a:avLst/>
          </a:prstGeom>
          <a:solidFill>
            <a:srgbClr val="0B3A45"/>
          </a:solidFill>
          <a:ln>
            <a:noFill/>
          </a:ln>
          <a:effectLst/>
        </p:spPr>
        <p:txBody>
          <a:bodyPr rtlCol="0" anchor="ctr"/>
          <a:lstStyle/>
          <a:p>
            <a:endParaRPr lang="de-DE"/>
          </a:p>
        </p:txBody>
      </p:sp>
      <p:sp>
        <p:nvSpPr>
          <p:cNvPr id="209" name="Dim Label External · CX Association"/>
          <p:cNvSpPr txBox="1"/>
          <p:nvPr/>
        </p:nvSpPr>
        <p:spPr>
          <a:xfrm>
            <a:off x="329184" y="4811586"/>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10" name="Dim Label Business"/>
          <p:cNvSpPr txBox="1"/>
          <p:nvPr/>
        </p:nvSpPr>
        <p:spPr>
          <a:xfrm>
            <a:off x="329184" y="5167741"/>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11" name="Dim Lane Use Cases"/>
          <p:cNvSpPr/>
          <p:nvPr/>
        </p:nvSpPr>
        <p:spPr>
          <a:xfrm>
            <a:off x="201168" y="5523897"/>
            <a:ext cx="1097280" cy="356156"/>
          </a:xfrm>
          <a:prstGeom prst="rect">
            <a:avLst/>
          </a:prstGeom>
          <a:solidFill>
            <a:srgbClr val="0B3A45"/>
          </a:solidFill>
          <a:ln>
            <a:noFill/>
          </a:ln>
          <a:effectLst/>
        </p:spPr>
        <p:txBody>
          <a:bodyPr rtlCol="0" anchor="ctr"/>
          <a:lstStyle/>
          <a:p>
            <a:endParaRPr lang="de-DE"/>
          </a:p>
        </p:txBody>
      </p:sp>
      <p:sp>
        <p:nvSpPr>
          <p:cNvPr id="212" name="Dim Label Use Cases"/>
          <p:cNvSpPr txBox="1"/>
          <p:nvPr/>
        </p:nvSpPr>
        <p:spPr>
          <a:xfrm>
            <a:off x="329184" y="5523897"/>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Use Cases</a:t>
            </a:r>
          </a:p>
        </p:txBody>
      </p:sp>
      <p:sp>
        <p:nvSpPr>
          <p:cNvPr id="213" name="Dim Label Technical"/>
          <p:cNvSpPr txBox="1"/>
          <p:nvPr/>
        </p:nvSpPr>
        <p:spPr>
          <a:xfrm>
            <a:off x="329184" y="5880052"/>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14" name="Portfolio, AI+, C-X NEXT, DigiTrace Row Divider Dimensions"/>
          <p:cNvSpPr/>
          <p:nvPr/>
        </p:nvSpPr>
        <p:spPr>
          <a:xfrm>
            <a:off x="1367028" y="4564952"/>
            <a:ext cx="1597914" cy="6401"/>
          </a:xfrm>
          <a:prstGeom prst="rect">
            <a:avLst/>
          </a:prstGeom>
          <a:solidFill>
            <a:srgbClr val="E2E8EC"/>
          </a:solidFill>
          <a:ln>
            <a:noFill/>
          </a:ln>
          <a:effectLst/>
        </p:spPr>
        <p:txBody>
          <a:bodyPr rtlCol="0" anchor="ctr"/>
          <a:lstStyle/>
          <a:p>
            <a:endParaRPr lang="de-DE"/>
          </a:p>
        </p:txBody>
      </p:sp>
      <p:sp>
        <p:nvSpPr>
          <p:cNvPr id="215" name="Portfolio, AI+, C-X NEXT, DigiTrace Dim Lane External · CX Association"/>
          <p:cNvSpPr/>
          <p:nvPr/>
        </p:nvSpPr>
        <p:spPr>
          <a:xfrm>
            <a:off x="1298448" y="4811586"/>
            <a:ext cx="1735074" cy="356156"/>
          </a:xfrm>
          <a:prstGeom prst="rect">
            <a:avLst/>
          </a:prstGeom>
          <a:solidFill>
            <a:srgbClr val="F0F3F6"/>
          </a:solidFill>
          <a:ln>
            <a:noFill/>
          </a:ln>
          <a:effectLst/>
        </p:spPr>
        <p:txBody>
          <a:bodyPr rtlCol="0" anchor="ctr"/>
          <a:lstStyle/>
          <a:p>
            <a:endParaRPr lang="de-DE"/>
          </a:p>
        </p:txBody>
      </p:sp>
      <p:sp>
        <p:nvSpPr>
          <p:cNvPr id="216" name="Portfolio, AI+, C-X NEXT, DigiTrace Dim External · CX Association Dot"/>
          <p:cNvSpPr/>
          <p:nvPr/>
        </p:nvSpPr>
        <p:spPr>
          <a:xfrm>
            <a:off x="1367028" y="4934799"/>
            <a:ext cx="109728" cy="109728"/>
          </a:xfrm>
          <a:prstGeom prst="ellipse">
            <a:avLst/>
          </a:prstGeom>
          <a:solidFill>
            <a:srgbClr val="53BE70"/>
          </a:solidFill>
          <a:ln>
            <a:noFill/>
          </a:ln>
          <a:effectLst/>
        </p:spPr>
        <p:txBody>
          <a:bodyPr rtlCol="0" anchor="ctr"/>
          <a:lstStyle/>
          <a:p>
            <a:endParaRPr lang="de-DE"/>
          </a:p>
        </p:txBody>
      </p:sp>
      <p:sp>
        <p:nvSpPr>
          <p:cNvPr id="217" name="Portfolio, AI+, C-X NEXT, DigiTrace Dim Business Dot"/>
          <p:cNvSpPr/>
          <p:nvPr/>
        </p:nvSpPr>
        <p:spPr>
          <a:xfrm>
            <a:off x="1367028" y="5290955"/>
            <a:ext cx="109728" cy="109728"/>
          </a:xfrm>
          <a:prstGeom prst="ellipse">
            <a:avLst/>
          </a:prstGeom>
          <a:solidFill>
            <a:srgbClr val="F0B135"/>
          </a:solidFill>
          <a:ln>
            <a:noFill/>
          </a:ln>
          <a:effectLst/>
        </p:spPr>
        <p:txBody>
          <a:bodyPr rtlCol="0" anchor="ctr"/>
          <a:lstStyle/>
          <a:p>
            <a:endParaRPr lang="de-DE"/>
          </a:p>
        </p:txBody>
      </p:sp>
      <p:sp>
        <p:nvSpPr>
          <p:cNvPr id="218" name="Portfolio, AI+, C-X NEXT, DigiTrace Dim Lane Use Cases"/>
          <p:cNvSpPr/>
          <p:nvPr/>
        </p:nvSpPr>
        <p:spPr>
          <a:xfrm>
            <a:off x="1298448" y="5523897"/>
            <a:ext cx="1735074" cy="356156"/>
          </a:xfrm>
          <a:prstGeom prst="rect">
            <a:avLst/>
          </a:prstGeom>
          <a:solidFill>
            <a:srgbClr val="F0F3F6"/>
          </a:solidFill>
          <a:ln>
            <a:noFill/>
          </a:ln>
          <a:effectLst/>
        </p:spPr>
        <p:txBody>
          <a:bodyPr rtlCol="0" anchor="ctr"/>
          <a:lstStyle/>
          <a:p>
            <a:endParaRPr lang="de-DE"/>
          </a:p>
        </p:txBody>
      </p:sp>
      <p:sp>
        <p:nvSpPr>
          <p:cNvPr id="219" name="Portfolio, AI+, C-X NEXT, DigiTrace Dim Use Cases Dot"/>
          <p:cNvSpPr/>
          <p:nvPr/>
        </p:nvSpPr>
        <p:spPr>
          <a:xfrm>
            <a:off x="1367028" y="5647111"/>
            <a:ext cx="109728" cy="109728"/>
          </a:xfrm>
          <a:prstGeom prst="ellipse">
            <a:avLst/>
          </a:prstGeom>
          <a:solidFill>
            <a:srgbClr val="F0B135"/>
          </a:solidFill>
          <a:ln>
            <a:noFill/>
          </a:ln>
          <a:effectLst/>
        </p:spPr>
        <p:txBody>
          <a:bodyPr rtlCol="0" anchor="ctr"/>
          <a:lstStyle/>
          <a:p>
            <a:endParaRPr lang="de-DE"/>
          </a:p>
        </p:txBody>
      </p:sp>
      <p:sp>
        <p:nvSpPr>
          <p:cNvPr id="220" name="Portfolio, AI+, C-X NEXT, DigiTrace Dim Technical Dot"/>
          <p:cNvSpPr/>
          <p:nvPr/>
        </p:nvSpPr>
        <p:spPr>
          <a:xfrm>
            <a:off x="1367028" y="6003266"/>
            <a:ext cx="109728" cy="109728"/>
          </a:xfrm>
          <a:prstGeom prst="ellipse">
            <a:avLst/>
          </a:prstGeom>
          <a:solidFill>
            <a:srgbClr val="53BE70"/>
          </a:solidFill>
          <a:ln>
            <a:noFill/>
          </a:ln>
          <a:effectLst/>
        </p:spPr>
        <p:txBody>
          <a:bodyPr rtlCol="0" anchor="ctr"/>
          <a:lstStyle/>
          <a:p>
            <a:endParaRPr lang="de-DE"/>
          </a:p>
        </p:txBody>
      </p:sp>
      <p:sp>
        <p:nvSpPr>
          <p:cNvPr id="221" name="Supplier Activation Row Divider Dimensions"/>
          <p:cNvSpPr/>
          <p:nvPr/>
        </p:nvSpPr>
        <p:spPr>
          <a:xfrm>
            <a:off x="3143250" y="4564952"/>
            <a:ext cx="1597914" cy="6401"/>
          </a:xfrm>
          <a:prstGeom prst="rect">
            <a:avLst/>
          </a:prstGeom>
          <a:solidFill>
            <a:srgbClr val="E2E8EC"/>
          </a:solidFill>
          <a:ln>
            <a:noFill/>
          </a:ln>
          <a:effectLst/>
        </p:spPr>
        <p:txBody>
          <a:bodyPr rtlCol="0" anchor="ctr"/>
          <a:lstStyle/>
          <a:p>
            <a:endParaRPr lang="de-DE"/>
          </a:p>
        </p:txBody>
      </p:sp>
      <p:sp>
        <p:nvSpPr>
          <p:cNvPr id="222" name="Supplier Activation Dim Lane External · CX Association"/>
          <p:cNvSpPr/>
          <p:nvPr/>
        </p:nvSpPr>
        <p:spPr>
          <a:xfrm>
            <a:off x="3074670" y="4811586"/>
            <a:ext cx="1735074" cy="356156"/>
          </a:xfrm>
          <a:prstGeom prst="rect">
            <a:avLst/>
          </a:prstGeom>
          <a:solidFill>
            <a:srgbClr val="F0F3F6"/>
          </a:solidFill>
          <a:ln>
            <a:noFill/>
          </a:ln>
          <a:effectLst/>
        </p:spPr>
        <p:txBody>
          <a:bodyPr rtlCol="0" anchor="ctr"/>
          <a:lstStyle/>
          <a:p>
            <a:endParaRPr lang="de-DE"/>
          </a:p>
        </p:txBody>
      </p:sp>
      <p:sp>
        <p:nvSpPr>
          <p:cNvPr id="223" name="Supplier Activation Dim External · CX Association Dot"/>
          <p:cNvSpPr/>
          <p:nvPr/>
        </p:nvSpPr>
        <p:spPr>
          <a:xfrm>
            <a:off x="3143250" y="4934799"/>
            <a:ext cx="109728" cy="109728"/>
          </a:xfrm>
          <a:prstGeom prst="ellipse">
            <a:avLst/>
          </a:prstGeom>
          <a:solidFill>
            <a:srgbClr val="F0B135"/>
          </a:solidFill>
          <a:ln>
            <a:noFill/>
          </a:ln>
          <a:effectLst/>
        </p:spPr>
        <p:txBody>
          <a:bodyPr rtlCol="0" anchor="ctr"/>
          <a:lstStyle/>
          <a:p>
            <a:endParaRPr lang="de-DE"/>
          </a:p>
        </p:txBody>
      </p:sp>
      <p:sp>
        <p:nvSpPr>
          <p:cNvPr id="224" name="Supplier Activation Dim Business Dot"/>
          <p:cNvSpPr/>
          <p:nvPr/>
        </p:nvSpPr>
        <p:spPr>
          <a:xfrm>
            <a:off x="3143250" y="5290955"/>
            <a:ext cx="109728" cy="109728"/>
          </a:xfrm>
          <a:prstGeom prst="ellipse">
            <a:avLst/>
          </a:prstGeom>
          <a:solidFill>
            <a:srgbClr val="F0B135"/>
          </a:solidFill>
          <a:ln>
            <a:noFill/>
          </a:ln>
          <a:effectLst/>
        </p:spPr>
        <p:txBody>
          <a:bodyPr rtlCol="0" anchor="ctr"/>
          <a:lstStyle/>
          <a:p>
            <a:endParaRPr lang="de-DE"/>
          </a:p>
        </p:txBody>
      </p:sp>
      <p:sp>
        <p:nvSpPr>
          <p:cNvPr id="225" name="Supplier Activation Dim Lane Use Cases"/>
          <p:cNvSpPr/>
          <p:nvPr/>
        </p:nvSpPr>
        <p:spPr>
          <a:xfrm>
            <a:off x="3074670" y="5523897"/>
            <a:ext cx="1735074" cy="356156"/>
          </a:xfrm>
          <a:prstGeom prst="rect">
            <a:avLst/>
          </a:prstGeom>
          <a:solidFill>
            <a:srgbClr val="F0F3F6"/>
          </a:solidFill>
          <a:ln>
            <a:noFill/>
          </a:ln>
          <a:effectLst/>
        </p:spPr>
        <p:txBody>
          <a:bodyPr rtlCol="0" anchor="ctr"/>
          <a:lstStyle/>
          <a:p>
            <a:endParaRPr lang="de-DE"/>
          </a:p>
        </p:txBody>
      </p:sp>
      <p:sp>
        <p:nvSpPr>
          <p:cNvPr id="226" name="Supplier Activation Dim Use Cases Ring"/>
          <p:cNvSpPr/>
          <p:nvPr/>
        </p:nvSpPr>
        <p:spPr>
          <a:xfrm>
            <a:off x="3143250" y="5647111"/>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27" name="Supplier Activation Dim Technical Ring"/>
          <p:cNvSpPr/>
          <p:nvPr/>
        </p:nvSpPr>
        <p:spPr>
          <a:xfrm>
            <a:off x="3143250" y="6003266"/>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28" name="Data Provisioning Row Divider Dimensions"/>
          <p:cNvSpPr/>
          <p:nvPr/>
        </p:nvSpPr>
        <p:spPr>
          <a:xfrm>
            <a:off x="4919472" y="4564952"/>
            <a:ext cx="1597914" cy="6401"/>
          </a:xfrm>
          <a:prstGeom prst="rect">
            <a:avLst/>
          </a:prstGeom>
          <a:solidFill>
            <a:srgbClr val="E2E8EC"/>
          </a:solidFill>
          <a:ln>
            <a:noFill/>
          </a:ln>
          <a:effectLst/>
        </p:spPr>
        <p:txBody>
          <a:bodyPr rtlCol="0" anchor="ctr"/>
          <a:lstStyle/>
          <a:p>
            <a:endParaRPr lang="de-DE"/>
          </a:p>
        </p:txBody>
      </p:sp>
      <p:sp>
        <p:nvSpPr>
          <p:cNvPr id="229" name="Data Provisioning Dim Lane External · CX Association"/>
          <p:cNvSpPr/>
          <p:nvPr/>
        </p:nvSpPr>
        <p:spPr>
          <a:xfrm>
            <a:off x="4850892" y="4811586"/>
            <a:ext cx="1735074" cy="356156"/>
          </a:xfrm>
          <a:prstGeom prst="rect">
            <a:avLst/>
          </a:prstGeom>
          <a:solidFill>
            <a:srgbClr val="F0F3F6"/>
          </a:solidFill>
          <a:ln>
            <a:noFill/>
          </a:ln>
          <a:effectLst/>
        </p:spPr>
        <p:txBody>
          <a:bodyPr rtlCol="0" anchor="ctr"/>
          <a:lstStyle/>
          <a:p>
            <a:endParaRPr lang="de-DE"/>
          </a:p>
        </p:txBody>
      </p:sp>
      <p:sp>
        <p:nvSpPr>
          <p:cNvPr id="230" name="Data Provisioning Dim External · CX Association Dot"/>
          <p:cNvSpPr/>
          <p:nvPr/>
        </p:nvSpPr>
        <p:spPr>
          <a:xfrm>
            <a:off x="4919472" y="4934799"/>
            <a:ext cx="109728" cy="109728"/>
          </a:xfrm>
          <a:prstGeom prst="ellipse">
            <a:avLst/>
          </a:prstGeom>
          <a:solidFill>
            <a:srgbClr val="53BE70"/>
          </a:solidFill>
          <a:ln>
            <a:noFill/>
          </a:ln>
          <a:effectLst/>
        </p:spPr>
        <p:txBody>
          <a:bodyPr rtlCol="0" anchor="ctr"/>
          <a:lstStyle/>
          <a:p>
            <a:endParaRPr lang="de-DE"/>
          </a:p>
        </p:txBody>
      </p:sp>
      <p:sp>
        <p:nvSpPr>
          <p:cNvPr id="231" name="Data Provisioning Dim Business Dot"/>
          <p:cNvSpPr/>
          <p:nvPr/>
        </p:nvSpPr>
        <p:spPr>
          <a:xfrm>
            <a:off x="4919472" y="5290955"/>
            <a:ext cx="109728" cy="109728"/>
          </a:xfrm>
          <a:prstGeom prst="ellipse">
            <a:avLst/>
          </a:prstGeom>
          <a:solidFill>
            <a:srgbClr val="53BE70"/>
          </a:solidFill>
          <a:ln>
            <a:noFill/>
          </a:ln>
          <a:effectLst/>
        </p:spPr>
        <p:txBody>
          <a:bodyPr rtlCol="0" anchor="ctr"/>
          <a:lstStyle/>
          <a:p>
            <a:endParaRPr lang="de-DE"/>
          </a:p>
        </p:txBody>
      </p:sp>
      <p:sp>
        <p:nvSpPr>
          <p:cNvPr id="232" name="Data Provisioning Dim Lane Use Cases"/>
          <p:cNvSpPr/>
          <p:nvPr/>
        </p:nvSpPr>
        <p:spPr>
          <a:xfrm>
            <a:off x="4850892" y="5523897"/>
            <a:ext cx="1735074" cy="356156"/>
          </a:xfrm>
          <a:prstGeom prst="rect">
            <a:avLst/>
          </a:prstGeom>
          <a:solidFill>
            <a:srgbClr val="F0F3F6"/>
          </a:solidFill>
          <a:ln>
            <a:noFill/>
          </a:ln>
          <a:effectLst/>
        </p:spPr>
        <p:txBody>
          <a:bodyPr rtlCol="0" anchor="ctr"/>
          <a:lstStyle/>
          <a:p>
            <a:endParaRPr lang="de-DE"/>
          </a:p>
        </p:txBody>
      </p:sp>
      <p:sp>
        <p:nvSpPr>
          <p:cNvPr id="233" name="Data Provisioning Dim Use Cases Dot"/>
          <p:cNvSpPr/>
          <p:nvPr/>
        </p:nvSpPr>
        <p:spPr>
          <a:xfrm>
            <a:off x="4919472" y="5647111"/>
            <a:ext cx="109728" cy="109728"/>
          </a:xfrm>
          <a:prstGeom prst="ellipse">
            <a:avLst/>
          </a:prstGeom>
          <a:solidFill>
            <a:srgbClr val="F0B135"/>
          </a:solidFill>
          <a:ln>
            <a:noFill/>
          </a:ln>
          <a:effectLst/>
        </p:spPr>
        <p:txBody>
          <a:bodyPr rtlCol="0" anchor="ctr"/>
          <a:lstStyle/>
          <a:p>
            <a:endParaRPr lang="de-DE"/>
          </a:p>
        </p:txBody>
      </p:sp>
      <p:sp>
        <p:nvSpPr>
          <p:cNvPr id="234" name="Data Provisioning Dim Technical Ring"/>
          <p:cNvSpPr/>
          <p:nvPr/>
        </p:nvSpPr>
        <p:spPr>
          <a:xfrm>
            <a:off x="4919472" y="6003266"/>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35" name="Hub &amp; Spoke Row Divider Dimensions"/>
          <p:cNvSpPr/>
          <p:nvPr/>
        </p:nvSpPr>
        <p:spPr>
          <a:xfrm>
            <a:off x="6695694" y="4564952"/>
            <a:ext cx="1597914" cy="6401"/>
          </a:xfrm>
          <a:prstGeom prst="rect">
            <a:avLst/>
          </a:prstGeom>
          <a:solidFill>
            <a:srgbClr val="E2E8EC"/>
          </a:solidFill>
          <a:ln>
            <a:noFill/>
          </a:ln>
          <a:effectLst/>
        </p:spPr>
        <p:txBody>
          <a:bodyPr rtlCol="0" anchor="ctr"/>
          <a:lstStyle/>
          <a:p>
            <a:endParaRPr lang="de-DE"/>
          </a:p>
        </p:txBody>
      </p:sp>
      <p:sp>
        <p:nvSpPr>
          <p:cNvPr id="236" name="Hub &amp; Spoke Dim Lane External · CX Association"/>
          <p:cNvSpPr/>
          <p:nvPr/>
        </p:nvSpPr>
        <p:spPr>
          <a:xfrm>
            <a:off x="6627114" y="4811586"/>
            <a:ext cx="1735074" cy="356156"/>
          </a:xfrm>
          <a:prstGeom prst="rect">
            <a:avLst/>
          </a:prstGeom>
          <a:solidFill>
            <a:srgbClr val="F0F3F6"/>
          </a:solidFill>
          <a:ln>
            <a:noFill/>
          </a:ln>
          <a:effectLst/>
        </p:spPr>
        <p:txBody>
          <a:bodyPr rtlCol="0" anchor="ctr"/>
          <a:lstStyle/>
          <a:p>
            <a:endParaRPr lang="de-DE"/>
          </a:p>
        </p:txBody>
      </p:sp>
      <p:sp>
        <p:nvSpPr>
          <p:cNvPr id="237" name="Hub &amp; Spoke Dim External · CX Association Dot"/>
          <p:cNvSpPr/>
          <p:nvPr/>
        </p:nvSpPr>
        <p:spPr>
          <a:xfrm>
            <a:off x="6695694" y="4934799"/>
            <a:ext cx="109728" cy="109728"/>
          </a:xfrm>
          <a:prstGeom prst="ellipse">
            <a:avLst/>
          </a:prstGeom>
          <a:solidFill>
            <a:srgbClr val="53BE70"/>
          </a:solidFill>
          <a:ln>
            <a:noFill/>
          </a:ln>
          <a:effectLst/>
        </p:spPr>
        <p:txBody>
          <a:bodyPr rtlCol="0" anchor="ctr"/>
          <a:lstStyle/>
          <a:p>
            <a:endParaRPr lang="de-DE"/>
          </a:p>
        </p:txBody>
      </p:sp>
      <p:sp>
        <p:nvSpPr>
          <p:cNvPr id="238" name="Hub &amp; Spoke Dim Business Dot"/>
          <p:cNvSpPr/>
          <p:nvPr/>
        </p:nvSpPr>
        <p:spPr>
          <a:xfrm>
            <a:off x="6695694" y="5290955"/>
            <a:ext cx="109728" cy="109728"/>
          </a:xfrm>
          <a:prstGeom prst="ellipse">
            <a:avLst/>
          </a:prstGeom>
          <a:solidFill>
            <a:srgbClr val="F0B135"/>
          </a:solidFill>
          <a:ln>
            <a:noFill/>
          </a:ln>
          <a:effectLst/>
        </p:spPr>
        <p:txBody>
          <a:bodyPr rtlCol="0" anchor="ctr"/>
          <a:lstStyle/>
          <a:p>
            <a:endParaRPr lang="de-DE"/>
          </a:p>
        </p:txBody>
      </p:sp>
      <p:sp>
        <p:nvSpPr>
          <p:cNvPr id="239" name="Hub &amp; Spoke Dim Lane Use Cases"/>
          <p:cNvSpPr/>
          <p:nvPr/>
        </p:nvSpPr>
        <p:spPr>
          <a:xfrm>
            <a:off x="6627114" y="5523897"/>
            <a:ext cx="1735074" cy="356156"/>
          </a:xfrm>
          <a:prstGeom prst="rect">
            <a:avLst/>
          </a:prstGeom>
          <a:solidFill>
            <a:srgbClr val="F0F3F6"/>
          </a:solidFill>
          <a:ln>
            <a:noFill/>
          </a:ln>
          <a:effectLst/>
        </p:spPr>
        <p:txBody>
          <a:bodyPr rtlCol="0" anchor="ctr"/>
          <a:lstStyle/>
          <a:p>
            <a:endParaRPr lang="de-DE"/>
          </a:p>
        </p:txBody>
      </p:sp>
      <p:sp>
        <p:nvSpPr>
          <p:cNvPr id="240" name="Hub &amp; Spoke Dim Use Cases Ring"/>
          <p:cNvSpPr/>
          <p:nvPr/>
        </p:nvSpPr>
        <p:spPr>
          <a:xfrm>
            <a:off x="6695694" y="5647111"/>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41" name="Hub &amp; Spoke Dim Technical Ring"/>
          <p:cNvSpPr/>
          <p:nvPr/>
        </p:nvSpPr>
        <p:spPr>
          <a:xfrm>
            <a:off x="6695694" y="6003266"/>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42" name="Legal &amp; Contracts Row Divider Dimensions"/>
          <p:cNvSpPr/>
          <p:nvPr/>
        </p:nvSpPr>
        <p:spPr>
          <a:xfrm>
            <a:off x="8471916" y="4564952"/>
            <a:ext cx="1597914" cy="6401"/>
          </a:xfrm>
          <a:prstGeom prst="rect">
            <a:avLst/>
          </a:prstGeom>
          <a:solidFill>
            <a:srgbClr val="E2E8EC"/>
          </a:solidFill>
          <a:ln>
            <a:noFill/>
          </a:ln>
          <a:effectLst/>
        </p:spPr>
        <p:txBody>
          <a:bodyPr rtlCol="0" anchor="ctr"/>
          <a:lstStyle/>
          <a:p>
            <a:endParaRPr lang="de-DE"/>
          </a:p>
        </p:txBody>
      </p:sp>
      <p:sp>
        <p:nvSpPr>
          <p:cNvPr id="243" name="Legal &amp; Contracts Dim Lane External · CX Association"/>
          <p:cNvSpPr/>
          <p:nvPr/>
        </p:nvSpPr>
        <p:spPr>
          <a:xfrm>
            <a:off x="8403336" y="4811586"/>
            <a:ext cx="1735074" cy="356156"/>
          </a:xfrm>
          <a:prstGeom prst="rect">
            <a:avLst/>
          </a:prstGeom>
          <a:solidFill>
            <a:srgbClr val="F0F3F6"/>
          </a:solidFill>
          <a:ln>
            <a:noFill/>
          </a:ln>
          <a:effectLst/>
        </p:spPr>
        <p:txBody>
          <a:bodyPr rtlCol="0" anchor="ctr"/>
          <a:lstStyle/>
          <a:p>
            <a:endParaRPr lang="de-DE"/>
          </a:p>
        </p:txBody>
      </p:sp>
      <p:sp>
        <p:nvSpPr>
          <p:cNvPr id="244" name="Legal &amp; Contracts Dim External · CX Association Dot"/>
          <p:cNvSpPr/>
          <p:nvPr/>
        </p:nvSpPr>
        <p:spPr>
          <a:xfrm>
            <a:off x="8471916" y="4934799"/>
            <a:ext cx="109728" cy="109728"/>
          </a:xfrm>
          <a:prstGeom prst="ellipse">
            <a:avLst/>
          </a:prstGeom>
          <a:solidFill>
            <a:srgbClr val="53BE70"/>
          </a:solidFill>
          <a:ln>
            <a:noFill/>
          </a:ln>
          <a:effectLst/>
        </p:spPr>
        <p:txBody>
          <a:bodyPr rtlCol="0" anchor="ctr"/>
          <a:lstStyle/>
          <a:p>
            <a:endParaRPr lang="de-DE"/>
          </a:p>
        </p:txBody>
      </p:sp>
      <p:sp>
        <p:nvSpPr>
          <p:cNvPr id="245" name="Legal &amp; Contracts Dim Business Dot"/>
          <p:cNvSpPr/>
          <p:nvPr/>
        </p:nvSpPr>
        <p:spPr>
          <a:xfrm>
            <a:off x="8471916" y="5290955"/>
            <a:ext cx="109728" cy="109728"/>
          </a:xfrm>
          <a:prstGeom prst="ellipse">
            <a:avLst/>
          </a:prstGeom>
          <a:solidFill>
            <a:srgbClr val="F0B135"/>
          </a:solidFill>
          <a:ln>
            <a:noFill/>
          </a:ln>
          <a:effectLst/>
        </p:spPr>
        <p:txBody>
          <a:bodyPr rtlCol="0" anchor="ctr"/>
          <a:lstStyle/>
          <a:p>
            <a:endParaRPr lang="de-DE"/>
          </a:p>
        </p:txBody>
      </p:sp>
      <p:sp>
        <p:nvSpPr>
          <p:cNvPr id="246" name="Legal &amp; Contracts Dim Lane Use Cases"/>
          <p:cNvSpPr/>
          <p:nvPr/>
        </p:nvSpPr>
        <p:spPr>
          <a:xfrm>
            <a:off x="8403336" y="5523897"/>
            <a:ext cx="1735074" cy="356156"/>
          </a:xfrm>
          <a:prstGeom prst="rect">
            <a:avLst/>
          </a:prstGeom>
          <a:solidFill>
            <a:srgbClr val="F0F3F6"/>
          </a:solidFill>
          <a:ln>
            <a:noFill/>
          </a:ln>
          <a:effectLst/>
        </p:spPr>
        <p:txBody>
          <a:bodyPr rtlCol="0" anchor="ctr"/>
          <a:lstStyle/>
          <a:p>
            <a:endParaRPr lang="de-DE"/>
          </a:p>
        </p:txBody>
      </p:sp>
      <p:sp>
        <p:nvSpPr>
          <p:cNvPr id="247" name="Legal &amp; Contracts Dim Use Cases Dot"/>
          <p:cNvSpPr/>
          <p:nvPr/>
        </p:nvSpPr>
        <p:spPr>
          <a:xfrm>
            <a:off x="8471916" y="5647111"/>
            <a:ext cx="109728" cy="109728"/>
          </a:xfrm>
          <a:prstGeom prst="ellipse">
            <a:avLst/>
          </a:prstGeom>
          <a:solidFill>
            <a:srgbClr val="53BE70"/>
          </a:solidFill>
          <a:ln>
            <a:noFill/>
          </a:ln>
          <a:effectLst/>
        </p:spPr>
        <p:txBody>
          <a:bodyPr rtlCol="0" anchor="ctr"/>
          <a:lstStyle/>
          <a:p>
            <a:endParaRPr lang="de-DE"/>
          </a:p>
        </p:txBody>
      </p:sp>
      <p:sp>
        <p:nvSpPr>
          <p:cNvPr id="248" name="Legal &amp; Contracts Dim Technical Dot"/>
          <p:cNvSpPr/>
          <p:nvPr/>
        </p:nvSpPr>
        <p:spPr>
          <a:xfrm>
            <a:off x="8471916" y="6003266"/>
            <a:ext cx="109728" cy="109728"/>
          </a:xfrm>
          <a:prstGeom prst="ellipse">
            <a:avLst/>
          </a:prstGeom>
          <a:solidFill>
            <a:srgbClr val="F0B135"/>
          </a:solidFill>
          <a:ln>
            <a:noFill/>
          </a:ln>
          <a:effectLst/>
        </p:spPr>
        <p:txBody>
          <a:bodyPr rtlCol="0" anchor="ctr"/>
          <a:lstStyle/>
          <a:p>
            <a:endParaRPr lang="de-DE"/>
          </a:p>
        </p:txBody>
      </p:sp>
      <p:sp>
        <p:nvSpPr>
          <p:cNvPr id="249" name="Architecture Row Divider Dimensions"/>
          <p:cNvSpPr/>
          <p:nvPr/>
        </p:nvSpPr>
        <p:spPr>
          <a:xfrm>
            <a:off x="10248138" y="4564952"/>
            <a:ext cx="1597914" cy="6401"/>
          </a:xfrm>
          <a:prstGeom prst="rect">
            <a:avLst/>
          </a:prstGeom>
          <a:solidFill>
            <a:srgbClr val="E2E8EC"/>
          </a:solidFill>
          <a:ln>
            <a:noFill/>
          </a:ln>
          <a:effectLst/>
        </p:spPr>
        <p:txBody>
          <a:bodyPr rtlCol="0" anchor="ctr"/>
          <a:lstStyle/>
          <a:p>
            <a:endParaRPr lang="de-DE"/>
          </a:p>
        </p:txBody>
      </p:sp>
      <p:sp>
        <p:nvSpPr>
          <p:cNvPr id="250" name="Architecture Dim Lane External · CX Association"/>
          <p:cNvSpPr/>
          <p:nvPr/>
        </p:nvSpPr>
        <p:spPr>
          <a:xfrm>
            <a:off x="10179558" y="4811586"/>
            <a:ext cx="1735074" cy="356156"/>
          </a:xfrm>
          <a:prstGeom prst="rect">
            <a:avLst/>
          </a:prstGeom>
          <a:solidFill>
            <a:srgbClr val="F0F3F6"/>
          </a:solidFill>
          <a:ln>
            <a:noFill/>
          </a:ln>
          <a:effectLst/>
        </p:spPr>
        <p:txBody>
          <a:bodyPr rtlCol="0" anchor="ctr"/>
          <a:lstStyle/>
          <a:p>
            <a:endParaRPr lang="de-DE"/>
          </a:p>
        </p:txBody>
      </p:sp>
      <p:sp>
        <p:nvSpPr>
          <p:cNvPr id="251" name="Architecture Dim External · CX Association Dot"/>
          <p:cNvSpPr/>
          <p:nvPr/>
        </p:nvSpPr>
        <p:spPr>
          <a:xfrm>
            <a:off x="10248138" y="4934799"/>
            <a:ext cx="109728" cy="109728"/>
          </a:xfrm>
          <a:prstGeom prst="ellipse">
            <a:avLst/>
          </a:prstGeom>
          <a:solidFill>
            <a:srgbClr val="53BE70"/>
          </a:solidFill>
          <a:ln>
            <a:noFill/>
          </a:ln>
          <a:effectLst/>
        </p:spPr>
        <p:txBody>
          <a:bodyPr rtlCol="0" anchor="ctr"/>
          <a:lstStyle/>
          <a:p>
            <a:endParaRPr lang="de-DE"/>
          </a:p>
        </p:txBody>
      </p:sp>
      <p:sp>
        <p:nvSpPr>
          <p:cNvPr id="252" name="Architecture Dim Business Dot"/>
          <p:cNvSpPr/>
          <p:nvPr/>
        </p:nvSpPr>
        <p:spPr>
          <a:xfrm>
            <a:off x="10248138" y="5290955"/>
            <a:ext cx="109728" cy="109728"/>
          </a:xfrm>
          <a:prstGeom prst="ellipse">
            <a:avLst/>
          </a:prstGeom>
          <a:solidFill>
            <a:srgbClr val="53BE70"/>
          </a:solidFill>
          <a:ln>
            <a:noFill/>
          </a:ln>
          <a:effectLst/>
        </p:spPr>
        <p:txBody>
          <a:bodyPr rtlCol="0" anchor="ctr"/>
          <a:lstStyle/>
          <a:p>
            <a:endParaRPr lang="de-DE"/>
          </a:p>
        </p:txBody>
      </p:sp>
      <p:sp>
        <p:nvSpPr>
          <p:cNvPr id="253" name="Architecture Dim Lane Use Cases"/>
          <p:cNvSpPr/>
          <p:nvPr/>
        </p:nvSpPr>
        <p:spPr>
          <a:xfrm>
            <a:off x="10179558" y="5523897"/>
            <a:ext cx="1735074" cy="356156"/>
          </a:xfrm>
          <a:prstGeom prst="rect">
            <a:avLst/>
          </a:prstGeom>
          <a:solidFill>
            <a:srgbClr val="F0F3F6"/>
          </a:solidFill>
          <a:ln>
            <a:noFill/>
          </a:ln>
          <a:effectLst/>
        </p:spPr>
        <p:txBody>
          <a:bodyPr rtlCol="0" anchor="ctr"/>
          <a:lstStyle/>
          <a:p>
            <a:endParaRPr lang="de-DE"/>
          </a:p>
        </p:txBody>
      </p:sp>
      <p:sp>
        <p:nvSpPr>
          <p:cNvPr id="254" name="Architecture Dim Use Cases Dot"/>
          <p:cNvSpPr/>
          <p:nvPr/>
        </p:nvSpPr>
        <p:spPr>
          <a:xfrm>
            <a:off x="10248138" y="5647111"/>
            <a:ext cx="109728" cy="109728"/>
          </a:xfrm>
          <a:prstGeom prst="ellipse">
            <a:avLst/>
          </a:prstGeom>
          <a:solidFill>
            <a:srgbClr val="53BE70"/>
          </a:solidFill>
          <a:ln>
            <a:noFill/>
          </a:ln>
          <a:effectLst/>
        </p:spPr>
        <p:txBody>
          <a:bodyPr rtlCol="0" anchor="ctr"/>
          <a:lstStyle/>
          <a:p>
            <a:endParaRPr lang="de-DE"/>
          </a:p>
        </p:txBody>
      </p:sp>
      <p:sp>
        <p:nvSpPr>
          <p:cNvPr id="255" name="Architecture Dim Technical Dot"/>
          <p:cNvSpPr/>
          <p:nvPr/>
        </p:nvSpPr>
        <p:spPr>
          <a:xfrm>
            <a:off x="10248138" y="6003266"/>
            <a:ext cx="109728" cy="109728"/>
          </a:xfrm>
          <a:prstGeom prst="ellipse">
            <a:avLst/>
          </a:prstGeom>
          <a:solidFill>
            <a:srgbClr val="F0B135"/>
          </a:solidFill>
          <a:ln>
            <a:noFill/>
          </a:ln>
          <a:effectLst/>
        </p:spPr>
        <p:txBody>
          <a:bodyPr rtlCol="0" anchor="ctr"/>
          <a:lstStyle/>
          <a:p>
            <a:endParaRPr lang="de-DE"/>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