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Case Pulse Management Overview CW 40 / 2026 – one column per use case, one KPI per row, sorted by overall status. Dimensions at risk show only Problem Solving / Escalation.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E7E6E6"/>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320040" y="237744"/>
            <a:ext cx="3657600" cy="109728"/>
          </a:xfrm>
          <a:prstGeom prst="rect">
            <a:avLst/>
          </a:prstGeom>
          <a:noFill/>
          <a:ln>
            <a:noFill/>
          </a:ln>
        </p:spPr>
        <p:txBody>
          <a:bodyPr wrap="square" lIns="0" tIns="0" rIns="0" bIns="0" rtlCol="0" anchor="ctr">
            <a:noAutofit/>
          </a:bodyPr>
          <a:lstStyle/>
          <a:p>
            <a:pPr marL="0" indent="0" algn="l">
              <a:buNone/>
            </a:pPr>
            <a:r>
              <a:rPr lang="de-DE" sz="750" b="1" kern="0" spc="75" dirty="0">
                <a:solidFill>
                  <a:srgbClr val="001E50"/>
                </a:solidFill>
                <a:latin typeface="Segoe UI" pitchFamily="34" charset="0"/>
                <a:ea typeface="Segoe UI" pitchFamily="34" charset="-122"/>
                <a:cs typeface="Segoe UI" pitchFamily="34" charset="-120"/>
              </a:rPr>
              <a:t>USE CASE PULSE · CATENA-X</a:t>
            </a:r>
          </a:p>
        </p:txBody>
      </p:sp>
      <p:sp>
        <p:nvSpPr>
          <p:cNvPr id="102" name="Headline"/>
          <p:cNvSpPr txBox="1"/>
          <p:nvPr/>
        </p:nvSpPr>
        <p:spPr>
          <a:xfrm>
            <a:off x="320040" y="384048"/>
            <a:ext cx="7306056" cy="347472"/>
          </a:xfrm>
          <a:prstGeom prst="rect">
            <a:avLst/>
          </a:prstGeom>
          <a:noFill/>
          <a:ln>
            <a:noFill/>
          </a:ln>
        </p:spPr>
        <p:txBody>
          <a:bodyPr wrap="square" lIns="0" tIns="0" rIns="0" bIns="0" rtlCol="0" anchor="ctr">
            <a:noAutofit/>
          </a:bodyPr>
          <a:lstStyle/>
          <a:p>
            <a:pPr marL="0" indent="0" algn="l">
              <a:buNone/>
            </a:pPr>
            <a:r>
              <a:rPr lang="de-DE" sz="2600" b="1" kern="0" spc="-26" dirty="0">
                <a:solidFill>
                  <a:srgbClr val="10151A"/>
                </a:solidFill>
                <a:latin typeface="Segoe UI" pitchFamily="34" charset="0"/>
                <a:ea typeface="Segoe UI" pitchFamily="34" charset="-122"/>
                <a:cs typeface="Segoe UI" pitchFamily="34" charset="-120"/>
              </a:rPr>
              <a:t>Management Overview</a:t>
            </a:r>
          </a:p>
        </p:txBody>
      </p:sp>
      <p:sp>
        <p:nvSpPr>
          <p:cNvPr id="103" name="Subline"/>
          <p:cNvSpPr txBox="1"/>
          <p:nvPr/>
        </p:nvSpPr>
        <p:spPr>
          <a:xfrm>
            <a:off x="320040" y="768096"/>
            <a:ext cx="5486400" cy="146304"/>
          </a:xfrm>
          <a:prstGeom prst="rect">
            <a:avLst/>
          </a:prstGeom>
          <a:noFill/>
          <a:ln>
            <a:noFill/>
          </a:ln>
        </p:spPr>
        <p:txBody>
          <a:bodyPr wrap="square" lIns="0" tIns="0" rIns="0" bIns="0" rtlCol="0" anchor="ctr">
            <a:noAutofit/>
          </a:bodyPr>
          <a:lstStyle/>
          <a:p>
            <a:pPr marL="0" indent="0" algn="l">
              <a:buNone/>
            </a:pPr>
            <a:r>
              <a:rPr lang="de-DE" sz="950" b="0" kern="0" dirty="0">
                <a:solidFill>
                  <a:srgbClr val="63707A"/>
                </a:solidFill>
                <a:latin typeface="Segoe UI" pitchFamily="34" charset="0"/>
                <a:ea typeface="Segoe UI" pitchFamily="34" charset="-122"/>
                <a:cs typeface="Segoe UI" pitchFamily="34" charset="-120"/>
              </a:rPr>
              <a:t>7 use cases · one KPI per row · sorted by overall status</a:t>
            </a:r>
          </a:p>
        </p:txBody>
      </p:sp>
      <p:sp>
        <p:nvSpPr>
          <p:cNvPr id="104" name="Legend Box"/>
          <p:cNvSpPr/>
          <p:nvPr/>
        </p:nvSpPr>
        <p:spPr>
          <a:xfrm>
            <a:off x="7479792" y="237744"/>
            <a:ext cx="3227832" cy="667512"/>
          </a:xfrm>
          <a:prstGeom prst="roundRect">
            <a:avLst>
              <a:gd name="adj" fmla="val 11363"/>
            </a:avLst>
          </a:prstGeom>
          <a:solidFill>
            <a:srgbClr val="FFFFFF"/>
          </a:solidFill>
          <a:ln w="9525">
            <a:solidFill>
              <a:srgbClr val="E2E8EC"/>
            </a:solidFill>
          </a:ln>
          <a:effectLst/>
        </p:spPr>
        <p:txBody>
          <a:bodyPr rtlCol="0" anchor="ctr"/>
          <a:lstStyle/>
          <a:p>
            <a:endParaRPr lang="de-DE"/>
          </a:p>
        </p:txBody>
      </p:sp>
      <p:sp>
        <p:nvSpPr>
          <p:cNvPr id="105" name="Legend Title"/>
          <p:cNvSpPr txBox="1"/>
          <p:nvPr/>
        </p:nvSpPr>
        <p:spPr>
          <a:xfrm>
            <a:off x="7589520" y="283464"/>
            <a:ext cx="3017520" cy="91440"/>
          </a:xfrm>
          <a:prstGeom prst="rect">
            <a:avLst/>
          </a:prstGeom>
          <a:noFill/>
          <a:ln>
            <a:noFill/>
          </a:ln>
        </p:spPr>
        <p:txBody>
          <a:bodyPr wrap="square" lIns="0" tIns="0" rIns="0" bIns="0" rtlCol="0" anchor="t">
            <a:noAutofit/>
          </a:bodyPr>
          <a:lstStyle/>
          <a:p>
            <a:pPr marL="0" indent="0" algn="l">
              <a:buNone/>
            </a:pPr>
            <a:r>
              <a:rPr lang="de-DE" sz="650" b="1" kern="0" dirty="0">
                <a:solidFill>
                  <a:srgbClr val="63707A"/>
                </a:solidFill>
                <a:latin typeface="Segoe UI" pitchFamily="34" charset="0"/>
                <a:ea typeface="Segoe UI" pitchFamily="34" charset="-122"/>
                <a:cs typeface="Segoe UI" pitchFamily="34" charset="-120"/>
              </a:rPr>
              <a:t>Status legend</a:t>
            </a:r>
          </a:p>
        </p:txBody>
      </p:sp>
      <p:sp>
        <p:nvSpPr>
          <p:cNvPr id="106" name="Legend Dot On Track"/>
          <p:cNvSpPr/>
          <p:nvPr/>
        </p:nvSpPr>
        <p:spPr>
          <a:xfrm>
            <a:off x="7589520" y="516636"/>
            <a:ext cx="82296" cy="82296"/>
          </a:xfrm>
          <a:prstGeom prst="ellipse">
            <a:avLst/>
          </a:prstGeom>
          <a:solidFill>
            <a:srgbClr val="53BE70"/>
          </a:solidFill>
          <a:ln>
            <a:noFill/>
          </a:ln>
          <a:effectLst/>
        </p:spPr>
        <p:txBody>
          <a:bodyPr rtlCol="0" anchor="ctr"/>
          <a:lstStyle/>
          <a:p>
            <a:endParaRPr lang="de-DE"/>
          </a:p>
        </p:txBody>
      </p:sp>
      <p:sp>
        <p:nvSpPr>
          <p:cNvPr id="107" name="Legend On Track"/>
          <p:cNvSpPr txBox="1"/>
          <p:nvPr/>
        </p:nvSpPr>
        <p:spPr>
          <a:xfrm>
            <a:off x="7717536"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On Track</a:t>
            </a:r>
          </a:p>
        </p:txBody>
      </p:sp>
      <p:sp>
        <p:nvSpPr>
          <p:cNvPr id="108" name="Legend Dot Problem Solving"/>
          <p:cNvSpPr/>
          <p:nvPr/>
        </p:nvSpPr>
        <p:spPr>
          <a:xfrm>
            <a:off x="8622792" y="516636"/>
            <a:ext cx="82296" cy="82296"/>
          </a:xfrm>
          <a:prstGeom prst="ellipse">
            <a:avLst/>
          </a:prstGeom>
          <a:solidFill>
            <a:srgbClr val="F0B135"/>
          </a:solidFill>
          <a:ln>
            <a:noFill/>
          </a:ln>
          <a:effectLst/>
        </p:spPr>
        <p:txBody>
          <a:bodyPr rtlCol="0" anchor="ctr"/>
          <a:lstStyle/>
          <a:p>
            <a:endParaRPr lang="de-DE"/>
          </a:p>
        </p:txBody>
      </p:sp>
      <p:sp>
        <p:nvSpPr>
          <p:cNvPr id="109" name="Legend Problem Solving"/>
          <p:cNvSpPr txBox="1"/>
          <p:nvPr/>
        </p:nvSpPr>
        <p:spPr>
          <a:xfrm>
            <a:off x="8750808"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Problem Solving</a:t>
            </a:r>
          </a:p>
        </p:txBody>
      </p:sp>
      <p:sp>
        <p:nvSpPr>
          <p:cNvPr id="110" name="Legend Dot Escalation needed"/>
          <p:cNvSpPr/>
          <p:nvPr/>
        </p:nvSpPr>
        <p:spPr>
          <a:xfrm>
            <a:off x="9656064" y="516636"/>
            <a:ext cx="82296" cy="82296"/>
          </a:xfrm>
          <a:prstGeom prst="ellipse">
            <a:avLst/>
          </a:prstGeom>
          <a:solidFill>
            <a:srgbClr val="E64343"/>
          </a:solidFill>
          <a:ln>
            <a:noFill/>
          </a:ln>
          <a:effectLst/>
        </p:spPr>
        <p:txBody>
          <a:bodyPr rtlCol="0" anchor="ctr"/>
          <a:lstStyle/>
          <a:p>
            <a:endParaRPr lang="de-DE"/>
          </a:p>
        </p:txBody>
      </p:sp>
      <p:sp>
        <p:nvSpPr>
          <p:cNvPr id="111" name="Legend Escalation needed"/>
          <p:cNvSpPr txBox="1"/>
          <p:nvPr/>
        </p:nvSpPr>
        <p:spPr>
          <a:xfrm>
            <a:off x="9784080"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Escalation needed</a:t>
            </a:r>
          </a:p>
        </p:txBody>
      </p:sp>
      <p:sp>
        <p:nvSpPr>
          <p:cNvPr id="112" name="Legend Dot Not Started"/>
          <p:cNvSpPr/>
          <p:nvPr/>
        </p:nvSpPr>
        <p:spPr>
          <a:xfrm>
            <a:off x="7589520" y="699516"/>
            <a:ext cx="82296" cy="82296"/>
          </a:xfrm>
          <a:prstGeom prst="ellipse">
            <a:avLst/>
          </a:prstGeom>
          <a:solidFill>
            <a:srgbClr val="CFD6DB"/>
          </a:solidFill>
          <a:ln>
            <a:noFill/>
          </a:ln>
          <a:effectLst/>
        </p:spPr>
        <p:txBody>
          <a:bodyPr rtlCol="0" anchor="ctr"/>
          <a:lstStyle/>
          <a:p>
            <a:endParaRPr lang="de-DE"/>
          </a:p>
        </p:txBody>
      </p:sp>
      <p:sp>
        <p:nvSpPr>
          <p:cNvPr id="113" name="Legend Not Started"/>
          <p:cNvSpPr txBox="1"/>
          <p:nvPr/>
        </p:nvSpPr>
        <p:spPr>
          <a:xfrm>
            <a:off x="7717536" y="68580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Not Started</a:t>
            </a:r>
          </a:p>
        </p:txBody>
      </p:sp>
      <p:sp>
        <p:nvSpPr>
          <p:cNvPr id="114" name="Legend Dot Completed"/>
          <p:cNvSpPr/>
          <p:nvPr/>
        </p:nvSpPr>
        <p:spPr>
          <a:xfrm>
            <a:off x="8622792" y="699516"/>
            <a:ext cx="82296" cy="82296"/>
          </a:xfrm>
          <a:prstGeom prst="ellipse">
            <a:avLst/>
          </a:prstGeom>
          <a:solidFill>
            <a:srgbClr val="001E50"/>
          </a:solidFill>
          <a:ln>
            <a:noFill/>
          </a:ln>
          <a:effectLst/>
        </p:spPr>
        <p:txBody>
          <a:bodyPr rtlCol="0" anchor="ctr"/>
          <a:lstStyle/>
          <a:p>
            <a:endParaRPr lang="de-DE"/>
          </a:p>
        </p:txBody>
      </p:sp>
      <p:sp>
        <p:nvSpPr>
          <p:cNvPr id="115" name="Legend Completed"/>
          <p:cNvSpPr txBox="1"/>
          <p:nvPr/>
        </p:nvSpPr>
        <p:spPr>
          <a:xfrm>
            <a:off x="8750808" y="68580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Completed</a:t>
            </a:r>
          </a:p>
        </p:txBody>
      </p:sp>
      <p:sp>
        <p:nvSpPr>
          <p:cNvPr id="116" name="Date Box"/>
          <p:cNvSpPr/>
          <p:nvPr/>
        </p:nvSpPr>
        <p:spPr>
          <a:xfrm>
            <a:off x="10780776" y="237744"/>
            <a:ext cx="1088136" cy="667512"/>
          </a:xfrm>
          <a:prstGeom prst="roundRect">
            <a:avLst>
              <a:gd name="adj" fmla="val 11363"/>
            </a:avLst>
          </a:prstGeom>
          <a:solidFill>
            <a:srgbClr val="FFFFFF"/>
          </a:solidFill>
          <a:ln w="9525">
            <a:solidFill>
              <a:srgbClr val="E2E8EC"/>
            </a:solidFill>
          </a:ln>
          <a:effectLst/>
        </p:spPr>
        <p:txBody>
          <a:bodyPr rtlCol="0" anchor="ctr"/>
          <a:lstStyle/>
          <a:p>
            <a:endParaRPr lang="de-DE"/>
          </a:p>
        </p:txBody>
      </p:sp>
      <p:sp>
        <p:nvSpPr>
          <p:cNvPr id="117" name="Date Label"/>
          <p:cNvSpPr txBox="1"/>
          <p:nvPr/>
        </p:nvSpPr>
        <p:spPr>
          <a:xfrm>
            <a:off x="10872216" y="420624"/>
            <a:ext cx="914400" cy="100584"/>
          </a:xfrm>
          <a:prstGeom prst="rect">
            <a:avLst/>
          </a:prstGeom>
          <a:noFill/>
          <a:ln>
            <a:noFill/>
          </a:ln>
        </p:spPr>
        <p:txBody>
          <a:bodyPr wrap="square" lIns="0" tIns="0" rIns="0" bIns="0" rtlCol="0" anchor="t">
            <a:noAutofit/>
          </a:bodyPr>
          <a:lstStyle/>
          <a:p>
            <a:pPr marL="0" indent="0" algn="l">
              <a:buNone/>
            </a:pPr>
            <a:r>
              <a:rPr lang="de-DE" sz="650" b="1" kern="0" dirty="0">
                <a:solidFill>
                  <a:srgbClr val="63707A"/>
                </a:solidFill>
                <a:latin typeface="Segoe UI" pitchFamily="34" charset="0"/>
                <a:ea typeface="Segoe UI" pitchFamily="34" charset="-122"/>
                <a:cs typeface="Segoe UI" pitchFamily="34" charset="-120"/>
              </a:rPr>
              <a:t>Date</a:t>
            </a:r>
          </a:p>
        </p:txBody>
      </p:sp>
      <p:sp>
        <p:nvSpPr>
          <p:cNvPr id="118" name="Date Value"/>
          <p:cNvSpPr txBox="1"/>
          <p:nvPr/>
        </p:nvSpPr>
        <p:spPr>
          <a:xfrm>
            <a:off x="10872216" y="548640"/>
            <a:ext cx="914400" cy="182880"/>
          </a:xfrm>
          <a:prstGeom prst="rect">
            <a:avLst/>
          </a:prstGeom>
          <a:noFill/>
          <a:ln>
            <a:noFill/>
          </a:ln>
        </p:spPr>
        <p:txBody>
          <a:bodyPr wrap="square" lIns="0" tIns="0" rIns="0" bIns="0" rtlCol="0" anchor="t">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CW 40 / 2026</a:t>
            </a:r>
          </a:p>
        </p:txBody>
      </p:sp>
      <p:sp>
        <p:nvSpPr>
          <p:cNvPr id="119" name="Matrix Card"/>
          <p:cNvSpPr/>
          <p:nvPr/>
        </p:nvSpPr>
        <p:spPr>
          <a:xfrm>
            <a:off x="320040" y="978408"/>
            <a:ext cx="11558016" cy="5641848"/>
          </a:xfrm>
          <a:prstGeom prst="roundRect">
            <a:avLst>
              <a:gd name="adj" fmla="val 2000"/>
            </a:avLst>
          </a:prstGeom>
          <a:solidFill>
            <a:srgbClr val="FFFFFF"/>
          </a:solidFill>
          <a:ln w="6350">
            <a:solidFill>
              <a:srgbClr val="E2E8EC"/>
            </a:solidFill>
          </a:ln>
          <a:effectLst/>
        </p:spPr>
        <p:txBody>
          <a:bodyPr rtlCol="0" anchor="ctr"/>
          <a:lstStyle/>
          <a:p>
            <a:endParaRPr lang="de-DE"/>
          </a:p>
        </p:txBody>
      </p:sp>
      <p:sp>
        <p:nvSpPr>
          <p:cNvPr id="120" name="Col Quality Name"/>
          <p:cNvSpPr txBox="1"/>
          <p:nvPr/>
        </p:nvSpPr>
        <p:spPr>
          <a:xfrm>
            <a:off x="1709928" y="1069848"/>
            <a:ext cx="1341555" cy="310896"/>
          </a:xfrm>
          <a:prstGeom prst="rect">
            <a:avLst/>
          </a:prstGeom>
          <a:noFill/>
          <a:ln>
            <a:noFill/>
          </a:ln>
        </p:spPr>
        <p:txBody>
          <a:bodyPr wrap="square" lIns="0" tIns="0" rIns="0" bIns="0" rtlCol="0" anchor="b">
            <a:noAutofit/>
          </a:bodyPr>
          <a:lstStyle/>
          <a:p>
            <a:pPr marL="0" indent="0" algn="l">
              <a:lnSpc>
                <a:spcPts val="1100"/>
              </a:lnSpc>
              <a:buNone/>
            </a:pPr>
            <a:r>
              <a:rPr lang="de-DE" sz="875" b="1" kern="0" dirty="0">
                <a:solidFill>
                  <a:srgbClr val="292D31"/>
                </a:solidFill>
                <a:latin typeface="Segoe UI" pitchFamily="34" charset="0"/>
                <a:ea typeface="Segoe UI" pitchFamily="34" charset="-122"/>
                <a:cs typeface="Segoe UI" pitchFamily="34" charset="-120"/>
              </a:rPr>
              <a:t>Quality</a:t>
            </a:r>
          </a:p>
        </p:txBody>
      </p:sp>
      <p:sp>
        <p:nvSpPr>
          <p:cNvPr id="121" name="Col Quality Abbr"/>
          <p:cNvSpPr txBox="1"/>
          <p:nvPr/>
        </p:nvSpPr>
        <p:spPr>
          <a:xfrm>
            <a:off x="1709928" y="1408176"/>
            <a:ext cx="1341555"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quality-cx</a:t>
            </a:r>
          </a:p>
        </p:txBody>
      </p:sp>
      <p:sp>
        <p:nvSpPr>
          <p:cNvPr id="122" name="Col Battery Passport Name"/>
          <p:cNvSpPr txBox="1"/>
          <p:nvPr/>
        </p:nvSpPr>
        <p:spPr>
          <a:xfrm>
            <a:off x="3142923" y="1069848"/>
            <a:ext cx="1341555" cy="310896"/>
          </a:xfrm>
          <a:prstGeom prst="rect">
            <a:avLst/>
          </a:prstGeom>
          <a:noFill/>
          <a:ln>
            <a:noFill/>
          </a:ln>
        </p:spPr>
        <p:txBody>
          <a:bodyPr wrap="square" lIns="0" tIns="0" rIns="0" bIns="0" rtlCol="0" anchor="b">
            <a:noAutofit/>
          </a:bodyPr>
          <a:lstStyle/>
          <a:p>
            <a:pPr marL="0" indent="0" algn="l">
              <a:lnSpc>
                <a:spcPts val="1100"/>
              </a:lnSpc>
              <a:buNone/>
            </a:pPr>
            <a:r>
              <a:rPr lang="de-DE" sz="875" b="1" kern="0" dirty="0">
                <a:solidFill>
                  <a:srgbClr val="292D31"/>
                </a:solidFill>
                <a:latin typeface="Segoe UI" pitchFamily="34" charset="0"/>
                <a:ea typeface="Segoe UI" pitchFamily="34" charset="-122"/>
                <a:cs typeface="Segoe UI" pitchFamily="34" charset="-120"/>
              </a:rPr>
              <a:t>Battery Passport</a:t>
            </a:r>
          </a:p>
        </p:txBody>
      </p:sp>
      <p:sp>
        <p:nvSpPr>
          <p:cNvPr id="123" name="Col Battery Passport Abbr"/>
          <p:cNvSpPr txBox="1"/>
          <p:nvPr/>
        </p:nvSpPr>
        <p:spPr>
          <a:xfrm>
            <a:off x="3142923" y="1408176"/>
            <a:ext cx="1341555"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Batt Pass</a:t>
            </a:r>
          </a:p>
        </p:txBody>
      </p:sp>
      <p:sp>
        <p:nvSpPr>
          <p:cNvPr id="124" name="Col Product Passes Name"/>
          <p:cNvSpPr txBox="1"/>
          <p:nvPr/>
        </p:nvSpPr>
        <p:spPr>
          <a:xfrm>
            <a:off x="4575919" y="1069848"/>
            <a:ext cx="1341555" cy="310896"/>
          </a:xfrm>
          <a:prstGeom prst="rect">
            <a:avLst/>
          </a:prstGeom>
          <a:noFill/>
          <a:ln>
            <a:noFill/>
          </a:ln>
        </p:spPr>
        <p:txBody>
          <a:bodyPr wrap="square" lIns="0" tIns="0" rIns="0" bIns="0" rtlCol="0" anchor="b">
            <a:noAutofit/>
          </a:bodyPr>
          <a:lstStyle/>
          <a:p>
            <a:pPr marL="0" indent="0" algn="l">
              <a:lnSpc>
                <a:spcPts val="1100"/>
              </a:lnSpc>
              <a:buNone/>
            </a:pPr>
            <a:r>
              <a:rPr lang="de-DE" sz="875" b="1" kern="0" dirty="0">
                <a:solidFill>
                  <a:srgbClr val="292D31"/>
                </a:solidFill>
                <a:latin typeface="Segoe UI" pitchFamily="34" charset="0"/>
                <a:ea typeface="Segoe UI" pitchFamily="34" charset="-122"/>
                <a:cs typeface="Segoe UI" pitchFamily="34" charset="-120"/>
              </a:rPr>
              <a:t>Product Passes</a:t>
            </a:r>
          </a:p>
        </p:txBody>
      </p:sp>
      <p:sp>
        <p:nvSpPr>
          <p:cNvPr id="125" name="Col Product Passes Abbr"/>
          <p:cNvSpPr txBox="1"/>
          <p:nvPr/>
        </p:nvSpPr>
        <p:spPr>
          <a:xfrm>
            <a:off x="4575919" y="1408176"/>
            <a:ext cx="1341555"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pass-cx</a:t>
            </a:r>
          </a:p>
        </p:txBody>
      </p:sp>
      <p:sp>
        <p:nvSpPr>
          <p:cNvPr id="126" name="Col PURIS Name"/>
          <p:cNvSpPr txBox="1"/>
          <p:nvPr/>
        </p:nvSpPr>
        <p:spPr>
          <a:xfrm>
            <a:off x="6008914" y="1069848"/>
            <a:ext cx="1341555" cy="310896"/>
          </a:xfrm>
          <a:prstGeom prst="rect">
            <a:avLst/>
          </a:prstGeom>
          <a:noFill/>
          <a:ln>
            <a:noFill/>
          </a:ln>
        </p:spPr>
        <p:txBody>
          <a:bodyPr wrap="square" lIns="0" tIns="0" rIns="0" bIns="0" rtlCol="0" anchor="b">
            <a:noAutofit/>
          </a:bodyPr>
          <a:lstStyle/>
          <a:p>
            <a:pPr marL="0" indent="0" algn="l">
              <a:lnSpc>
                <a:spcPts val="1100"/>
              </a:lnSpc>
              <a:buNone/>
            </a:pPr>
            <a:r>
              <a:rPr lang="de-DE" sz="875" b="1" kern="0" dirty="0">
                <a:solidFill>
                  <a:srgbClr val="292D31"/>
                </a:solidFill>
                <a:latin typeface="Segoe UI" pitchFamily="34" charset="0"/>
                <a:ea typeface="Segoe UI" pitchFamily="34" charset="-122"/>
                <a:cs typeface="Segoe UI" pitchFamily="34" charset="-120"/>
              </a:rPr>
              <a:t>PURIS</a:t>
            </a:r>
          </a:p>
        </p:txBody>
      </p:sp>
      <p:sp>
        <p:nvSpPr>
          <p:cNvPr id="127" name="Col PURIS Abbr"/>
          <p:cNvSpPr txBox="1"/>
          <p:nvPr/>
        </p:nvSpPr>
        <p:spPr>
          <a:xfrm>
            <a:off x="6008914" y="1408176"/>
            <a:ext cx="1341555"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PURIS</a:t>
            </a:r>
          </a:p>
        </p:txBody>
      </p:sp>
      <p:sp>
        <p:nvSpPr>
          <p:cNvPr id="128" name="Col Business Partner Data Mgmt Name"/>
          <p:cNvSpPr txBox="1"/>
          <p:nvPr/>
        </p:nvSpPr>
        <p:spPr>
          <a:xfrm>
            <a:off x="7441910" y="1069848"/>
            <a:ext cx="1341555" cy="310896"/>
          </a:xfrm>
          <a:prstGeom prst="rect">
            <a:avLst/>
          </a:prstGeom>
          <a:noFill/>
          <a:ln>
            <a:noFill/>
          </a:ln>
        </p:spPr>
        <p:txBody>
          <a:bodyPr wrap="square" lIns="0" tIns="0" rIns="0" bIns="0" rtlCol="0" anchor="b">
            <a:noAutofit/>
          </a:bodyPr>
          <a:lstStyle/>
          <a:p>
            <a:pPr marL="0" indent="0" algn="l">
              <a:lnSpc>
                <a:spcPts val="1100"/>
              </a:lnSpc>
              <a:buNone/>
            </a:pPr>
            <a:r>
              <a:rPr lang="de-DE" sz="875" b="1" kern="0" dirty="0">
                <a:solidFill>
                  <a:srgbClr val="292D31"/>
                </a:solidFill>
                <a:latin typeface="Segoe UI" pitchFamily="34" charset="0"/>
                <a:ea typeface="Segoe UI" pitchFamily="34" charset="-122"/>
                <a:cs typeface="Segoe UI" pitchFamily="34" charset="-120"/>
              </a:rPr>
              <a:t>Business Partner Data Mgmt</a:t>
            </a:r>
          </a:p>
        </p:txBody>
      </p:sp>
      <p:sp>
        <p:nvSpPr>
          <p:cNvPr id="129" name="Col Business Partner Data Mgmt Abbr"/>
          <p:cNvSpPr txBox="1"/>
          <p:nvPr/>
        </p:nvSpPr>
        <p:spPr>
          <a:xfrm>
            <a:off x="7441910" y="1408176"/>
            <a:ext cx="1341555"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BPDM</a:t>
            </a:r>
          </a:p>
        </p:txBody>
      </p:sp>
      <p:sp>
        <p:nvSpPr>
          <p:cNvPr id="130" name="Col Certificate Management Name"/>
          <p:cNvSpPr txBox="1"/>
          <p:nvPr/>
        </p:nvSpPr>
        <p:spPr>
          <a:xfrm>
            <a:off x="8874905" y="1069848"/>
            <a:ext cx="1341555" cy="310896"/>
          </a:xfrm>
          <a:prstGeom prst="rect">
            <a:avLst/>
          </a:prstGeom>
          <a:noFill/>
          <a:ln>
            <a:noFill/>
          </a:ln>
        </p:spPr>
        <p:txBody>
          <a:bodyPr wrap="square" lIns="0" tIns="0" rIns="0" bIns="0" rtlCol="0" anchor="b">
            <a:noAutofit/>
          </a:bodyPr>
          <a:lstStyle/>
          <a:p>
            <a:pPr marL="0" indent="0" algn="l">
              <a:lnSpc>
                <a:spcPts val="1100"/>
              </a:lnSpc>
              <a:buNone/>
            </a:pPr>
            <a:r>
              <a:rPr lang="de-DE" sz="875" b="1" kern="0" dirty="0">
                <a:solidFill>
                  <a:srgbClr val="292D31"/>
                </a:solidFill>
                <a:latin typeface="Segoe UI" pitchFamily="34" charset="0"/>
                <a:ea typeface="Segoe UI" pitchFamily="34" charset="-122"/>
                <a:cs typeface="Segoe UI" pitchFamily="34" charset="-120"/>
              </a:rPr>
              <a:t>Certificate Management</a:t>
            </a:r>
          </a:p>
        </p:txBody>
      </p:sp>
      <p:sp>
        <p:nvSpPr>
          <p:cNvPr id="131" name="Col Certificate Management Abbr"/>
          <p:cNvSpPr txBox="1"/>
          <p:nvPr/>
        </p:nvSpPr>
        <p:spPr>
          <a:xfrm>
            <a:off x="8874905" y="1408176"/>
            <a:ext cx="1341555"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cert-mgmt</a:t>
            </a:r>
          </a:p>
        </p:txBody>
      </p:sp>
      <p:sp>
        <p:nvSpPr>
          <p:cNvPr id="132" name="Col Product Carbon Footprint Name"/>
          <p:cNvSpPr txBox="1"/>
          <p:nvPr/>
        </p:nvSpPr>
        <p:spPr>
          <a:xfrm>
            <a:off x="10307901" y="1069848"/>
            <a:ext cx="1341555" cy="310896"/>
          </a:xfrm>
          <a:prstGeom prst="rect">
            <a:avLst/>
          </a:prstGeom>
          <a:noFill/>
          <a:ln>
            <a:noFill/>
          </a:ln>
        </p:spPr>
        <p:txBody>
          <a:bodyPr wrap="square" lIns="0" tIns="0" rIns="0" bIns="0" rtlCol="0" anchor="b">
            <a:noAutofit/>
          </a:bodyPr>
          <a:lstStyle/>
          <a:p>
            <a:pPr marL="0" indent="0" algn="l">
              <a:lnSpc>
                <a:spcPts val="1100"/>
              </a:lnSpc>
              <a:buNone/>
            </a:pPr>
            <a:r>
              <a:rPr lang="de-DE" sz="875" b="1" kern="0" dirty="0">
                <a:solidFill>
                  <a:srgbClr val="292D31"/>
                </a:solidFill>
                <a:latin typeface="Segoe UI" pitchFamily="34" charset="0"/>
                <a:ea typeface="Segoe UI" pitchFamily="34" charset="-122"/>
                <a:cs typeface="Segoe UI" pitchFamily="34" charset="-120"/>
              </a:rPr>
              <a:t>Product Carbon Footprint</a:t>
            </a:r>
          </a:p>
        </p:txBody>
      </p:sp>
      <p:sp>
        <p:nvSpPr>
          <p:cNvPr id="133" name="Col Product Carbon Footprint Abbr"/>
          <p:cNvSpPr txBox="1"/>
          <p:nvPr/>
        </p:nvSpPr>
        <p:spPr>
          <a:xfrm>
            <a:off x="10307901" y="1408176"/>
            <a:ext cx="1341555"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pcf-cx</a:t>
            </a:r>
          </a:p>
        </p:txBody>
      </p:sp>
      <p:sp>
        <p:nvSpPr>
          <p:cNvPr id="134" name="Col Divider 1"/>
          <p:cNvSpPr/>
          <p:nvPr/>
        </p:nvSpPr>
        <p:spPr>
          <a:xfrm>
            <a:off x="3097203" y="1106424"/>
            <a:ext cx="6401" cy="5404104"/>
          </a:xfrm>
          <a:prstGeom prst="rect">
            <a:avLst/>
          </a:prstGeom>
          <a:solidFill>
            <a:srgbClr val="E2E8EC"/>
          </a:solidFill>
          <a:ln>
            <a:noFill/>
          </a:ln>
          <a:effectLst/>
        </p:spPr>
        <p:txBody>
          <a:bodyPr rtlCol="0" anchor="ctr"/>
          <a:lstStyle/>
          <a:p>
            <a:endParaRPr lang="de-DE"/>
          </a:p>
        </p:txBody>
      </p:sp>
      <p:sp>
        <p:nvSpPr>
          <p:cNvPr id="135" name="Col Divider 2"/>
          <p:cNvSpPr/>
          <p:nvPr/>
        </p:nvSpPr>
        <p:spPr>
          <a:xfrm>
            <a:off x="4530199" y="1106424"/>
            <a:ext cx="6401" cy="5404104"/>
          </a:xfrm>
          <a:prstGeom prst="rect">
            <a:avLst/>
          </a:prstGeom>
          <a:solidFill>
            <a:srgbClr val="E2E8EC"/>
          </a:solidFill>
          <a:ln>
            <a:noFill/>
          </a:ln>
          <a:effectLst/>
        </p:spPr>
        <p:txBody>
          <a:bodyPr rtlCol="0" anchor="ctr"/>
          <a:lstStyle/>
          <a:p>
            <a:endParaRPr lang="de-DE"/>
          </a:p>
        </p:txBody>
      </p:sp>
      <p:sp>
        <p:nvSpPr>
          <p:cNvPr id="136" name="Col Divider 3"/>
          <p:cNvSpPr/>
          <p:nvPr/>
        </p:nvSpPr>
        <p:spPr>
          <a:xfrm>
            <a:off x="5963194" y="1106424"/>
            <a:ext cx="6401" cy="5404104"/>
          </a:xfrm>
          <a:prstGeom prst="rect">
            <a:avLst/>
          </a:prstGeom>
          <a:solidFill>
            <a:srgbClr val="E2E8EC"/>
          </a:solidFill>
          <a:ln>
            <a:noFill/>
          </a:ln>
          <a:effectLst/>
        </p:spPr>
        <p:txBody>
          <a:bodyPr rtlCol="0" anchor="ctr"/>
          <a:lstStyle/>
          <a:p>
            <a:endParaRPr lang="de-DE"/>
          </a:p>
        </p:txBody>
      </p:sp>
      <p:sp>
        <p:nvSpPr>
          <p:cNvPr id="137" name="Col Divider 4"/>
          <p:cNvSpPr/>
          <p:nvPr/>
        </p:nvSpPr>
        <p:spPr>
          <a:xfrm>
            <a:off x="7396190" y="1106424"/>
            <a:ext cx="6401" cy="5404104"/>
          </a:xfrm>
          <a:prstGeom prst="rect">
            <a:avLst/>
          </a:prstGeom>
          <a:solidFill>
            <a:srgbClr val="E2E8EC"/>
          </a:solidFill>
          <a:ln>
            <a:noFill/>
          </a:ln>
          <a:effectLst/>
        </p:spPr>
        <p:txBody>
          <a:bodyPr rtlCol="0" anchor="ctr"/>
          <a:lstStyle/>
          <a:p>
            <a:endParaRPr lang="de-DE"/>
          </a:p>
        </p:txBody>
      </p:sp>
      <p:sp>
        <p:nvSpPr>
          <p:cNvPr id="138" name="Col Divider 5"/>
          <p:cNvSpPr/>
          <p:nvPr/>
        </p:nvSpPr>
        <p:spPr>
          <a:xfrm>
            <a:off x="8829185" y="1106424"/>
            <a:ext cx="6401" cy="5404104"/>
          </a:xfrm>
          <a:prstGeom prst="rect">
            <a:avLst/>
          </a:prstGeom>
          <a:solidFill>
            <a:srgbClr val="E2E8EC"/>
          </a:solidFill>
          <a:ln>
            <a:noFill/>
          </a:ln>
          <a:effectLst/>
        </p:spPr>
        <p:txBody>
          <a:bodyPr rtlCol="0" anchor="ctr"/>
          <a:lstStyle/>
          <a:p>
            <a:endParaRPr lang="de-DE"/>
          </a:p>
        </p:txBody>
      </p:sp>
      <p:sp>
        <p:nvSpPr>
          <p:cNvPr id="139" name="Col Divider 6"/>
          <p:cNvSpPr/>
          <p:nvPr/>
        </p:nvSpPr>
        <p:spPr>
          <a:xfrm>
            <a:off x="10262181" y="1106424"/>
            <a:ext cx="6401" cy="5404104"/>
          </a:xfrm>
          <a:prstGeom prst="rect">
            <a:avLst/>
          </a:prstGeom>
          <a:solidFill>
            <a:srgbClr val="E2E8EC"/>
          </a:solidFill>
          <a:ln>
            <a:noFill/>
          </a:ln>
          <a:effectLst/>
        </p:spPr>
        <p:txBody>
          <a:bodyPr rtlCol="0" anchor="ctr"/>
          <a:lstStyle/>
          <a:p>
            <a:endParaRPr lang="de-DE"/>
          </a:p>
        </p:txBody>
      </p:sp>
      <p:sp>
        <p:nvSpPr>
          <p:cNvPr id="140" name="Row Divider Overall status"/>
          <p:cNvSpPr/>
          <p:nvPr/>
        </p:nvSpPr>
        <p:spPr>
          <a:xfrm>
            <a:off x="502920" y="1618488"/>
            <a:ext cx="11192256" cy="6401"/>
          </a:xfrm>
          <a:prstGeom prst="rect">
            <a:avLst/>
          </a:prstGeom>
          <a:solidFill>
            <a:srgbClr val="E2E8EC"/>
          </a:solidFill>
          <a:ln>
            <a:noFill/>
          </a:ln>
          <a:effectLst/>
        </p:spPr>
        <p:txBody>
          <a:bodyPr rtlCol="0" anchor="ctr"/>
          <a:lstStyle/>
          <a:p>
            <a:endParaRPr lang="de-DE"/>
          </a:p>
        </p:txBody>
      </p:sp>
      <p:sp>
        <p:nvSpPr>
          <p:cNvPr id="141" name="Row Label Overall status"/>
          <p:cNvSpPr txBox="1"/>
          <p:nvPr/>
        </p:nvSpPr>
        <p:spPr>
          <a:xfrm>
            <a:off x="502920" y="1728216"/>
            <a:ext cx="1051560" cy="274320"/>
          </a:xfrm>
          <a:prstGeom prst="rect">
            <a:avLst/>
          </a:prstGeom>
          <a:noFill/>
          <a:ln>
            <a:noFill/>
          </a:ln>
        </p:spPr>
        <p:txBody>
          <a:bodyPr wrap="square" lIns="0" tIns="0" rIns="0" bIns="0" rtlCol="0" anchor="t">
            <a:noAutofit/>
          </a:bodyPr>
          <a:lstStyle/>
          <a:p>
            <a:pPr marL="0" indent="0" algn="l">
              <a:lnSpc>
                <a:spcPts val="950"/>
              </a:lnSpc>
              <a:buNone/>
            </a:pPr>
            <a:r>
              <a:rPr lang="de-DE" sz="700" b="1" kern="0" spc="40" dirty="0">
                <a:solidFill>
                  <a:srgbClr val="151B21"/>
                </a:solidFill>
                <a:latin typeface="Segoe UI" pitchFamily="34" charset="0"/>
                <a:ea typeface="Segoe UI" pitchFamily="34" charset="-122"/>
                <a:cs typeface="Segoe UI" pitchFamily="34" charset="-120"/>
              </a:rPr>
              <a:t>OVERALL STATUS</a:t>
            </a:r>
          </a:p>
        </p:txBody>
      </p:sp>
      <p:sp>
        <p:nvSpPr>
          <p:cNvPr id="142" name="Quality Status Pill"/>
          <p:cNvSpPr/>
          <p:nvPr/>
        </p:nvSpPr>
        <p:spPr>
          <a:xfrm>
            <a:off x="1709928" y="1682496"/>
            <a:ext cx="1335024" cy="256032"/>
          </a:xfrm>
          <a:prstGeom prst="roundRect">
            <a:avLst>
              <a:gd name="adj" fmla="val 50000"/>
            </a:avLst>
          </a:prstGeom>
          <a:solidFill>
            <a:srgbClr val="E64343"/>
          </a:solidFill>
          <a:ln>
            <a:noFill/>
          </a:ln>
          <a:effectLst/>
        </p:spPr>
        <p:txBody>
          <a:bodyPr rtlCol="0" anchor="ctr"/>
          <a:lstStyle/>
          <a:p>
            <a:endParaRPr lang="de-DE"/>
          </a:p>
        </p:txBody>
      </p:sp>
      <p:sp>
        <p:nvSpPr>
          <p:cNvPr id="143" name="Quality Status Dot"/>
          <p:cNvSpPr/>
          <p:nvPr/>
        </p:nvSpPr>
        <p:spPr>
          <a:xfrm>
            <a:off x="1847088" y="1787652"/>
            <a:ext cx="45720" cy="45720"/>
          </a:xfrm>
          <a:prstGeom prst="ellipse">
            <a:avLst/>
          </a:prstGeom>
          <a:solidFill>
            <a:srgbClr val="FFFFFF"/>
          </a:solidFill>
          <a:ln>
            <a:noFill/>
          </a:ln>
          <a:effectLst/>
        </p:spPr>
        <p:txBody>
          <a:bodyPr rtlCol="0" anchor="ctr"/>
          <a:lstStyle/>
          <a:p>
            <a:endParaRPr lang="de-DE"/>
          </a:p>
        </p:txBody>
      </p:sp>
      <p:sp>
        <p:nvSpPr>
          <p:cNvPr id="144" name="Quality Status Text"/>
          <p:cNvSpPr txBox="1"/>
          <p:nvPr/>
        </p:nvSpPr>
        <p:spPr>
          <a:xfrm>
            <a:off x="1947672" y="1746504"/>
            <a:ext cx="1060704"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Escalation needed</a:t>
            </a:r>
          </a:p>
        </p:txBody>
      </p:sp>
      <p:sp>
        <p:nvSpPr>
          <p:cNvPr id="145" name="Battery Passport Status Pill"/>
          <p:cNvSpPr/>
          <p:nvPr/>
        </p:nvSpPr>
        <p:spPr>
          <a:xfrm>
            <a:off x="3142923" y="1682496"/>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146" name="Battery Passport Status Dot"/>
          <p:cNvSpPr/>
          <p:nvPr/>
        </p:nvSpPr>
        <p:spPr>
          <a:xfrm>
            <a:off x="3280083" y="1787652"/>
            <a:ext cx="45720" cy="45720"/>
          </a:xfrm>
          <a:prstGeom prst="ellipse">
            <a:avLst/>
          </a:prstGeom>
          <a:solidFill>
            <a:srgbClr val="FFFFFF"/>
          </a:solidFill>
          <a:ln>
            <a:noFill/>
          </a:ln>
          <a:effectLst/>
        </p:spPr>
        <p:txBody>
          <a:bodyPr rtlCol="0" anchor="ctr"/>
          <a:lstStyle/>
          <a:p>
            <a:endParaRPr lang="de-DE"/>
          </a:p>
        </p:txBody>
      </p:sp>
      <p:sp>
        <p:nvSpPr>
          <p:cNvPr id="147" name="Battery Passport Status Text"/>
          <p:cNvSpPr txBox="1"/>
          <p:nvPr/>
        </p:nvSpPr>
        <p:spPr>
          <a:xfrm>
            <a:off x="3380667" y="1746504"/>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148" name="Product Passes Status Pill"/>
          <p:cNvSpPr/>
          <p:nvPr/>
        </p:nvSpPr>
        <p:spPr>
          <a:xfrm>
            <a:off x="4575919" y="1682496"/>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149" name="Product Passes Status Dot"/>
          <p:cNvSpPr/>
          <p:nvPr/>
        </p:nvSpPr>
        <p:spPr>
          <a:xfrm>
            <a:off x="4713079" y="1787652"/>
            <a:ext cx="45720" cy="45720"/>
          </a:xfrm>
          <a:prstGeom prst="ellipse">
            <a:avLst/>
          </a:prstGeom>
          <a:solidFill>
            <a:srgbClr val="FFFFFF"/>
          </a:solidFill>
          <a:ln>
            <a:noFill/>
          </a:ln>
          <a:effectLst/>
        </p:spPr>
        <p:txBody>
          <a:bodyPr rtlCol="0" anchor="ctr"/>
          <a:lstStyle/>
          <a:p>
            <a:endParaRPr lang="de-DE"/>
          </a:p>
        </p:txBody>
      </p:sp>
      <p:sp>
        <p:nvSpPr>
          <p:cNvPr id="150" name="Product Passes Status Text"/>
          <p:cNvSpPr txBox="1"/>
          <p:nvPr/>
        </p:nvSpPr>
        <p:spPr>
          <a:xfrm>
            <a:off x="4813663" y="1746504"/>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151" name="PURIS Status Pill"/>
          <p:cNvSpPr/>
          <p:nvPr/>
        </p:nvSpPr>
        <p:spPr>
          <a:xfrm>
            <a:off x="6008914" y="1682496"/>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152" name="PURIS Status Dot"/>
          <p:cNvSpPr/>
          <p:nvPr/>
        </p:nvSpPr>
        <p:spPr>
          <a:xfrm>
            <a:off x="6146074" y="1787652"/>
            <a:ext cx="45720" cy="45720"/>
          </a:xfrm>
          <a:prstGeom prst="ellipse">
            <a:avLst/>
          </a:prstGeom>
          <a:solidFill>
            <a:srgbClr val="FFFFFF"/>
          </a:solidFill>
          <a:ln>
            <a:noFill/>
          </a:ln>
          <a:effectLst/>
        </p:spPr>
        <p:txBody>
          <a:bodyPr rtlCol="0" anchor="ctr"/>
          <a:lstStyle/>
          <a:p>
            <a:endParaRPr lang="de-DE"/>
          </a:p>
        </p:txBody>
      </p:sp>
      <p:sp>
        <p:nvSpPr>
          <p:cNvPr id="153" name="PURIS Status Text"/>
          <p:cNvSpPr txBox="1"/>
          <p:nvPr/>
        </p:nvSpPr>
        <p:spPr>
          <a:xfrm>
            <a:off x="6246658" y="1746504"/>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154" name="Business Partner Data Mgmt Status Pill"/>
          <p:cNvSpPr/>
          <p:nvPr/>
        </p:nvSpPr>
        <p:spPr>
          <a:xfrm>
            <a:off x="7441910" y="1682496"/>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155" name="Business Partner Data Mgmt Status Dot"/>
          <p:cNvSpPr/>
          <p:nvPr/>
        </p:nvSpPr>
        <p:spPr>
          <a:xfrm>
            <a:off x="7579070" y="1787652"/>
            <a:ext cx="45720" cy="45720"/>
          </a:xfrm>
          <a:prstGeom prst="ellipse">
            <a:avLst/>
          </a:prstGeom>
          <a:solidFill>
            <a:srgbClr val="FFFFFF"/>
          </a:solidFill>
          <a:ln>
            <a:noFill/>
          </a:ln>
          <a:effectLst/>
        </p:spPr>
        <p:txBody>
          <a:bodyPr rtlCol="0" anchor="ctr"/>
          <a:lstStyle/>
          <a:p>
            <a:endParaRPr lang="de-DE"/>
          </a:p>
        </p:txBody>
      </p:sp>
      <p:sp>
        <p:nvSpPr>
          <p:cNvPr id="156" name="Business Partner Data Mgmt Status Text"/>
          <p:cNvSpPr txBox="1"/>
          <p:nvPr/>
        </p:nvSpPr>
        <p:spPr>
          <a:xfrm>
            <a:off x="7679654" y="1746504"/>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157" name="Certificate Management Status Pill"/>
          <p:cNvSpPr/>
          <p:nvPr/>
        </p:nvSpPr>
        <p:spPr>
          <a:xfrm>
            <a:off x="8874905" y="1682496"/>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158" name="Certificate Management Status Dot"/>
          <p:cNvSpPr/>
          <p:nvPr/>
        </p:nvSpPr>
        <p:spPr>
          <a:xfrm>
            <a:off x="9012065" y="1787652"/>
            <a:ext cx="45720" cy="45720"/>
          </a:xfrm>
          <a:prstGeom prst="ellipse">
            <a:avLst/>
          </a:prstGeom>
          <a:solidFill>
            <a:srgbClr val="FFFFFF"/>
          </a:solidFill>
          <a:ln>
            <a:noFill/>
          </a:ln>
          <a:effectLst/>
        </p:spPr>
        <p:txBody>
          <a:bodyPr rtlCol="0" anchor="ctr"/>
          <a:lstStyle/>
          <a:p>
            <a:endParaRPr lang="de-DE"/>
          </a:p>
        </p:txBody>
      </p:sp>
      <p:sp>
        <p:nvSpPr>
          <p:cNvPr id="159" name="Certificate Management Status Text"/>
          <p:cNvSpPr txBox="1"/>
          <p:nvPr/>
        </p:nvSpPr>
        <p:spPr>
          <a:xfrm>
            <a:off x="9112649" y="1746504"/>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160" name="Product Carbon Footprint Status Pill"/>
          <p:cNvSpPr/>
          <p:nvPr/>
        </p:nvSpPr>
        <p:spPr>
          <a:xfrm>
            <a:off x="10307901" y="1682496"/>
            <a:ext cx="941832" cy="256032"/>
          </a:xfrm>
          <a:prstGeom prst="roundRect">
            <a:avLst>
              <a:gd name="adj" fmla="val 50000"/>
            </a:avLst>
          </a:prstGeom>
          <a:solidFill>
            <a:srgbClr val="53BE70"/>
          </a:solidFill>
          <a:ln>
            <a:noFill/>
          </a:ln>
          <a:effectLst/>
        </p:spPr>
        <p:txBody>
          <a:bodyPr rtlCol="0" anchor="ctr"/>
          <a:lstStyle/>
          <a:p>
            <a:endParaRPr lang="de-DE"/>
          </a:p>
        </p:txBody>
      </p:sp>
      <p:sp>
        <p:nvSpPr>
          <p:cNvPr id="161" name="Product Carbon Footprint Status Dot"/>
          <p:cNvSpPr/>
          <p:nvPr/>
        </p:nvSpPr>
        <p:spPr>
          <a:xfrm>
            <a:off x="10445061" y="1787652"/>
            <a:ext cx="45720" cy="45720"/>
          </a:xfrm>
          <a:prstGeom prst="ellipse">
            <a:avLst/>
          </a:prstGeom>
          <a:solidFill>
            <a:srgbClr val="FFFFFF"/>
          </a:solidFill>
          <a:ln>
            <a:noFill/>
          </a:ln>
          <a:effectLst/>
        </p:spPr>
        <p:txBody>
          <a:bodyPr rtlCol="0" anchor="ctr"/>
          <a:lstStyle/>
          <a:p>
            <a:endParaRPr lang="de-DE"/>
          </a:p>
        </p:txBody>
      </p:sp>
      <p:sp>
        <p:nvSpPr>
          <p:cNvPr id="162" name="Product Carbon Footprint Status Text"/>
          <p:cNvSpPr txBox="1"/>
          <p:nvPr/>
        </p:nvSpPr>
        <p:spPr>
          <a:xfrm>
            <a:off x="10545645" y="1746504"/>
            <a:ext cx="66751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On Track</a:t>
            </a:r>
          </a:p>
        </p:txBody>
      </p:sp>
      <p:sp>
        <p:nvSpPr>
          <p:cNvPr id="163" name="Row Divider Phase"/>
          <p:cNvSpPr/>
          <p:nvPr/>
        </p:nvSpPr>
        <p:spPr>
          <a:xfrm>
            <a:off x="502920" y="2085975"/>
            <a:ext cx="11192256" cy="6401"/>
          </a:xfrm>
          <a:prstGeom prst="rect">
            <a:avLst/>
          </a:prstGeom>
          <a:solidFill>
            <a:srgbClr val="E2E8EC"/>
          </a:solidFill>
          <a:ln>
            <a:noFill/>
          </a:ln>
          <a:effectLst/>
        </p:spPr>
        <p:txBody>
          <a:bodyPr rtlCol="0" anchor="ctr"/>
          <a:lstStyle/>
          <a:p>
            <a:endParaRPr lang="de-DE"/>
          </a:p>
        </p:txBody>
      </p:sp>
      <p:sp>
        <p:nvSpPr>
          <p:cNvPr id="164" name="Row Label Phase"/>
          <p:cNvSpPr txBox="1"/>
          <p:nvPr/>
        </p:nvSpPr>
        <p:spPr>
          <a:xfrm>
            <a:off x="502920" y="2195703"/>
            <a:ext cx="1051560" cy="274320"/>
          </a:xfrm>
          <a:prstGeom prst="rect">
            <a:avLst/>
          </a:prstGeom>
          <a:noFill/>
          <a:ln>
            <a:noFill/>
          </a:ln>
        </p:spPr>
        <p:txBody>
          <a:bodyPr wrap="square" lIns="0" tIns="0" rIns="0" bIns="0" rtlCol="0" anchor="t">
            <a:noAutofit/>
          </a:bodyPr>
          <a:lstStyle/>
          <a:p>
            <a:pPr marL="0" indent="0" algn="l">
              <a:lnSpc>
                <a:spcPts val="950"/>
              </a:lnSpc>
              <a:buNone/>
            </a:pPr>
            <a:r>
              <a:rPr lang="de-DE" sz="700" b="1" kern="0" spc="40" dirty="0">
                <a:solidFill>
                  <a:srgbClr val="151B21"/>
                </a:solidFill>
                <a:latin typeface="Segoe UI" pitchFamily="34" charset="0"/>
                <a:ea typeface="Segoe UI" pitchFamily="34" charset="-122"/>
                <a:cs typeface="Segoe UI" pitchFamily="34" charset="-120"/>
              </a:rPr>
              <a:t>PHASE</a:t>
            </a:r>
          </a:p>
        </p:txBody>
      </p:sp>
      <p:sp>
        <p:nvSpPr>
          <p:cNvPr id="165" name="Quality Phase"/>
          <p:cNvSpPr txBox="1"/>
          <p:nvPr/>
        </p:nvSpPr>
        <p:spPr>
          <a:xfrm>
            <a:off x="1709928" y="2195703"/>
            <a:ext cx="1341555" cy="155448"/>
          </a:xfrm>
          <a:prstGeom prst="rect">
            <a:avLst/>
          </a:prstGeom>
          <a:noFill/>
          <a:ln>
            <a:noFill/>
          </a:ln>
        </p:spPr>
        <p:txBody>
          <a:bodyPr wrap="square" lIns="0" tIns="0" rIns="0" bIns="0" rtlCol="0" anchor="t">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Piloting</a:t>
            </a:r>
          </a:p>
        </p:txBody>
      </p:sp>
      <p:sp>
        <p:nvSpPr>
          <p:cNvPr id="166" name="Battery Passport Phase"/>
          <p:cNvSpPr txBox="1"/>
          <p:nvPr/>
        </p:nvSpPr>
        <p:spPr>
          <a:xfrm>
            <a:off x="3142923" y="2195703"/>
            <a:ext cx="1341555" cy="155448"/>
          </a:xfrm>
          <a:prstGeom prst="rect">
            <a:avLst/>
          </a:prstGeom>
          <a:noFill/>
          <a:ln>
            <a:noFill/>
          </a:ln>
        </p:spPr>
        <p:txBody>
          <a:bodyPr wrap="square" lIns="0" tIns="0" rIns="0" bIns="0" rtlCol="0" anchor="t">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a:t>
            </a:r>
          </a:p>
        </p:txBody>
      </p:sp>
      <p:sp>
        <p:nvSpPr>
          <p:cNvPr id="167" name="Product Passes Phase"/>
          <p:cNvSpPr txBox="1"/>
          <p:nvPr/>
        </p:nvSpPr>
        <p:spPr>
          <a:xfrm>
            <a:off x="4575919" y="2195703"/>
            <a:ext cx="1341555" cy="155448"/>
          </a:xfrm>
          <a:prstGeom prst="rect">
            <a:avLst/>
          </a:prstGeom>
          <a:noFill/>
          <a:ln>
            <a:noFill/>
          </a:ln>
        </p:spPr>
        <p:txBody>
          <a:bodyPr wrap="square" lIns="0" tIns="0" rIns="0" bIns="0" rtlCol="0" anchor="t">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Definition</a:t>
            </a:r>
          </a:p>
        </p:txBody>
      </p:sp>
      <p:sp>
        <p:nvSpPr>
          <p:cNvPr id="168" name="PURIS Phase"/>
          <p:cNvSpPr txBox="1"/>
          <p:nvPr/>
        </p:nvSpPr>
        <p:spPr>
          <a:xfrm>
            <a:off x="6008914" y="2195703"/>
            <a:ext cx="1341555" cy="155448"/>
          </a:xfrm>
          <a:prstGeom prst="rect">
            <a:avLst/>
          </a:prstGeom>
          <a:noFill/>
          <a:ln>
            <a:noFill/>
          </a:ln>
        </p:spPr>
        <p:txBody>
          <a:bodyPr wrap="square" lIns="0" tIns="0" rIns="0" bIns="0" rtlCol="0" anchor="t">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Piloting</a:t>
            </a:r>
          </a:p>
        </p:txBody>
      </p:sp>
      <p:sp>
        <p:nvSpPr>
          <p:cNvPr id="169" name="Business Partner Data Mgmt Phase"/>
          <p:cNvSpPr txBox="1"/>
          <p:nvPr/>
        </p:nvSpPr>
        <p:spPr>
          <a:xfrm>
            <a:off x="7441910" y="2195703"/>
            <a:ext cx="1341555" cy="155448"/>
          </a:xfrm>
          <a:prstGeom prst="rect">
            <a:avLst/>
          </a:prstGeom>
          <a:noFill/>
          <a:ln>
            <a:noFill/>
          </a:ln>
        </p:spPr>
        <p:txBody>
          <a:bodyPr wrap="square" lIns="0" tIns="0" rIns="0" bIns="0" rtlCol="0" anchor="t">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Implementation</a:t>
            </a:r>
          </a:p>
        </p:txBody>
      </p:sp>
      <p:sp>
        <p:nvSpPr>
          <p:cNvPr id="170" name="Certificate Management Phase"/>
          <p:cNvSpPr txBox="1"/>
          <p:nvPr/>
        </p:nvSpPr>
        <p:spPr>
          <a:xfrm>
            <a:off x="8874905" y="2195703"/>
            <a:ext cx="1341555" cy="155448"/>
          </a:xfrm>
          <a:prstGeom prst="rect">
            <a:avLst/>
          </a:prstGeom>
          <a:noFill/>
          <a:ln>
            <a:noFill/>
          </a:ln>
        </p:spPr>
        <p:txBody>
          <a:bodyPr wrap="square" lIns="0" tIns="0" rIns="0" bIns="0" rtlCol="0" anchor="t">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Scaling</a:t>
            </a:r>
          </a:p>
        </p:txBody>
      </p:sp>
      <p:sp>
        <p:nvSpPr>
          <p:cNvPr id="171" name="Product Carbon Footprint Phase"/>
          <p:cNvSpPr txBox="1"/>
          <p:nvPr/>
        </p:nvSpPr>
        <p:spPr>
          <a:xfrm>
            <a:off x="10307901" y="2195703"/>
            <a:ext cx="1341555" cy="155448"/>
          </a:xfrm>
          <a:prstGeom prst="rect">
            <a:avLst/>
          </a:prstGeom>
          <a:noFill/>
          <a:ln>
            <a:noFill/>
          </a:ln>
        </p:spPr>
        <p:txBody>
          <a:bodyPr wrap="square" lIns="0" tIns="0" rIns="0" bIns="0" rtlCol="0" anchor="t">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Piloting</a:t>
            </a:r>
          </a:p>
        </p:txBody>
      </p:sp>
      <p:sp>
        <p:nvSpPr>
          <p:cNvPr id="172" name="Row Divider Next milestone"/>
          <p:cNvSpPr/>
          <p:nvPr/>
        </p:nvSpPr>
        <p:spPr>
          <a:xfrm>
            <a:off x="502920" y="2498598"/>
            <a:ext cx="11192256" cy="6401"/>
          </a:xfrm>
          <a:prstGeom prst="rect">
            <a:avLst/>
          </a:prstGeom>
          <a:solidFill>
            <a:srgbClr val="E2E8EC"/>
          </a:solidFill>
          <a:ln>
            <a:noFill/>
          </a:ln>
          <a:effectLst/>
        </p:spPr>
        <p:txBody>
          <a:bodyPr rtlCol="0" anchor="ctr"/>
          <a:lstStyle/>
          <a:p>
            <a:endParaRPr lang="de-DE"/>
          </a:p>
        </p:txBody>
      </p:sp>
      <p:sp>
        <p:nvSpPr>
          <p:cNvPr id="173" name="Row Label Next milestone"/>
          <p:cNvSpPr txBox="1"/>
          <p:nvPr/>
        </p:nvSpPr>
        <p:spPr>
          <a:xfrm>
            <a:off x="502920" y="2608326"/>
            <a:ext cx="1051560" cy="274320"/>
          </a:xfrm>
          <a:prstGeom prst="rect">
            <a:avLst/>
          </a:prstGeom>
          <a:noFill/>
          <a:ln>
            <a:noFill/>
          </a:ln>
        </p:spPr>
        <p:txBody>
          <a:bodyPr wrap="square" lIns="0" tIns="0" rIns="0" bIns="0" rtlCol="0" anchor="t">
            <a:noAutofit/>
          </a:bodyPr>
          <a:lstStyle/>
          <a:p>
            <a:pPr marL="0" indent="0" algn="l">
              <a:lnSpc>
                <a:spcPts val="950"/>
              </a:lnSpc>
              <a:buNone/>
            </a:pPr>
            <a:r>
              <a:rPr lang="de-DE" sz="700" b="1" kern="0" spc="40" dirty="0">
                <a:solidFill>
                  <a:srgbClr val="151B21"/>
                </a:solidFill>
                <a:latin typeface="Segoe UI" pitchFamily="34" charset="0"/>
                <a:ea typeface="Segoe UI" pitchFamily="34" charset="-122"/>
                <a:cs typeface="Segoe UI" pitchFamily="34" charset="-120"/>
              </a:rPr>
              <a:t>NEXT MILESTONE</a:t>
            </a:r>
          </a:p>
        </p:txBody>
      </p:sp>
      <p:sp>
        <p:nvSpPr>
          <p:cNvPr id="174" name="Quality Milestone Dot"/>
          <p:cNvSpPr/>
          <p:nvPr/>
        </p:nvSpPr>
        <p:spPr>
          <a:xfrm>
            <a:off x="1709928" y="2612898"/>
            <a:ext cx="118872" cy="118872"/>
          </a:xfrm>
          <a:prstGeom prst="ellipse">
            <a:avLst/>
          </a:prstGeom>
          <a:solidFill>
            <a:srgbClr val="F0B135"/>
          </a:solidFill>
          <a:ln w="19050">
            <a:solidFill>
              <a:srgbClr val="FFFFFF"/>
            </a:solidFill>
          </a:ln>
          <a:effectLst/>
        </p:spPr>
        <p:txBody>
          <a:bodyPr rtlCol="0" anchor="ctr"/>
          <a:lstStyle/>
          <a:p>
            <a:endParaRPr lang="de-DE"/>
          </a:p>
        </p:txBody>
      </p:sp>
      <p:sp>
        <p:nvSpPr>
          <p:cNvPr id="175" name="Quality Milestone"/>
          <p:cNvSpPr txBox="1"/>
          <p:nvPr/>
        </p:nvSpPr>
        <p:spPr>
          <a:xfrm>
            <a:off x="1883664" y="2599182"/>
            <a:ext cx="1167819" cy="522351"/>
          </a:xfrm>
          <a:prstGeom prst="rect">
            <a:avLst/>
          </a:prstGeom>
          <a:noFill/>
          <a:ln>
            <a:noFill/>
          </a:ln>
        </p:spPr>
        <p:txBody>
          <a:bodyPr wrap="square" lIns="0" tIns="0" rIns="0" bIns="0" rtlCol="0" anchor="t">
            <a:noAutofit/>
          </a:bodyPr>
          <a:lstStyle/>
          <a:p>
            <a:pPr marL="0" indent="0" algn="l">
              <a:lnSpc>
                <a:spcPts val="1100"/>
              </a:lnSpc>
              <a:buNone/>
            </a:pPr>
            <a:r>
              <a:rPr lang="de-DE" sz="800" b="1" kern="0" dirty="0">
                <a:solidFill>
                  <a:srgbClr val="151B21"/>
                </a:solidFill>
                <a:latin typeface="Segoe UI" pitchFamily="34" charset="0"/>
                <a:ea typeface="Segoe UI" pitchFamily="34" charset="-122"/>
                <a:cs typeface="Segoe UI" pitchFamily="34" charset="-120"/>
              </a:rPr>
              <a:t>Domain expertise aligned</a:t>
            </a:r>
          </a:p>
          <a:p>
            <a:pPr marL="0" indent="0" algn="l">
              <a:lnSpc>
                <a:spcPts val="1100"/>
              </a:lnSpc>
              <a:buNone/>
            </a:pPr>
            <a:r>
              <a:rPr lang="de-DE" sz="750" b="0" kern="0" dirty="0">
                <a:solidFill>
                  <a:srgbClr val="63707A"/>
                </a:solidFill>
                <a:latin typeface="Segoe UI" pitchFamily="34" charset="0"/>
                <a:ea typeface="Segoe UI" pitchFamily="34" charset="-122"/>
                <a:cs typeface="Segoe UI" pitchFamily="34" charset="-120"/>
              </a:rPr>
              <a:t>30 Sep 2026</a:t>
            </a:r>
          </a:p>
        </p:txBody>
      </p:sp>
      <p:sp>
        <p:nvSpPr>
          <p:cNvPr id="176" name="Battery Passport Milestone Dot"/>
          <p:cNvSpPr/>
          <p:nvPr/>
        </p:nvSpPr>
        <p:spPr>
          <a:xfrm>
            <a:off x="3142923" y="2612898"/>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177" name="Battery Passport Milestone"/>
          <p:cNvSpPr txBox="1"/>
          <p:nvPr/>
        </p:nvSpPr>
        <p:spPr>
          <a:xfrm>
            <a:off x="3316659" y="2599182"/>
            <a:ext cx="1167819" cy="522351"/>
          </a:xfrm>
          <a:prstGeom prst="rect">
            <a:avLst/>
          </a:prstGeom>
          <a:noFill/>
          <a:ln>
            <a:noFill/>
          </a:ln>
        </p:spPr>
        <p:txBody>
          <a:bodyPr wrap="square" lIns="0" tIns="0" rIns="0" bIns="0" rtlCol="0" anchor="t">
            <a:noAutofit/>
          </a:bodyPr>
          <a:lstStyle/>
          <a:p>
            <a:pPr marL="0" indent="0" algn="l">
              <a:lnSpc>
                <a:spcPts val="1100"/>
              </a:lnSpc>
              <a:buNone/>
            </a:pPr>
            <a:r>
              <a:rPr lang="de-DE" sz="800" b="1" kern="0" dirty="0">
                <a:solidFill>
                  <a:srgbClr val="151B21"/>
                </a:solidFill>
                <a:latin typeface="Segoe UI" pitchFamily="34" charset="0"/>
                <a:ea typeface="Segoe UI" pitchFamily="34" charset="-122"/>
                <a:cs typeface="Segoe UI" pitchFamily="34" charset="-120"/>
              </a:rPr>
              <a:t>Tech requirements done</a:t>
            </a:r>
          </a:p>
          <a:p>
            <a:pPr marL="0" indent="0" algn="l">
              <a:lnSpc>
                <a:spcPts val="1100"/>
              </a:lnSpc>
              <a:buNone/>
            </a:pPr>
            <a:r>
              <a:rPr lang="de-DE" sz="750" b="0" kern="0" dirty="0">
                <a:solidFill>
                  <a:srgbClr val="63707A"/>
                </a:solidFill>
                <a:latin typeface="Segoe UI" pitchFamily="34" charset="0"/>
                <a:ea typeface="Segoe UI" pitchFamily="34" charset="-122"/>
                <a:cs typeface="Segoe UI" pitchFamily="34" charset="-120"/>
              </a:rPr>
              <a:t>31 Oct 2026</a:t>
            </a:r>
          </a:p>
        </p:txBody>
      </p:sp>
      <p:sp>
        <p:nvSpPr>
          <p:cNvPr id="178" name="Product Passes Milestone Dot"/>
          <p:cNvSpPr/>
          <p:nvPr/>
        </p:nvSpPr>
        <p:spPr>
          <a:xfrm>
            <a:off x="4575919" y="2612898"/>
            <a:ext cx="118872" cy="118872"/>
          </a:xfrm>
          <a:prstGeom prst="ellipse">
            <a:avLst/>
          </a:prstGeom>
          <a:solidFill>
            <a:srgbClr val="F0B135"/>
          </a:solidFill>
          <a:ln w="19050">
            <a:solidFill>
              <a:srgbClr val="FFFFFF"/>
            </a:solidFill>
          </a:ln>
          <a:effectLst/>
        </p:spPr>
        <p:txBody>
          <a:bodyPr rtlCol="0" anchor="ctr"/>
          <a:lstStyle/>
          <a:p>
            <a:endParaRPr lang="de-DE"/>
          </a:p>
        </p:txBody>
      </p:sp>
      <p:sp>
        <p:nvSpPr>
          <p:cNvPr id="179" name="Product Passes Milestone"/>
          <p:cNvSpPr txBox="1"/>
          <p:nvPr/>
        </p:nvSpPr>
        <p:spPr>
          <a:xfrm>
            <a:off x="4749655" y="2599182"/>
            <a:ext cx="1167819" cy="522351"/>
          </a:xfrm>
          <a:prstGeom prst="rect">
            <a:avLst/>
          </a:prstGeom>
          <a:noFill/>
          <a:ln>
            <a:noFill/>
          </a:ln>
        </p:spPr>
        <p:txBody>
          <a:bodyPr wrap="square" lIns="0" tIns="0" rIns="0" bIns="0" rtlCol="0" anchor="t">
            <a:noAutofit/>
          </a:bodyPr>
          <a:lstStyle/>
          <a:p>
            <a:pPr marL="0" indent="0" algn="l">
              <a:lnSpc>
                <a:spcPts val="1100"/>
              </a:lnSpc>
              <a:buNone/>
            </a:pPr>
            <a:r>
              <a:rPr lang="de-DE" sz="800" b="1" kern="0" dirty="0">
                <a:solidFill>
                  <a:srgbClr val="151B21"/>
                </a:solidFill>
                <a:latin typeface="Segoe UI" pitchFamily="34" charset="0"/>
                <a:ea typeface="Segoe UI" pitchFamily="34" charset="-122"/>
                <a:cs typeface="Segoe UI" pitchFamily="34" charset="-120"/>
              </a:rPr>
              <a:t>Klärung &amp; Prio Produktpässe</a:t>
            </a:r>
          </a:p>
          <a:p>
            <a:pPr marL="0" indent="0" algn="l">
              <a:lnSpc>
                <a:spcPts val="1100"/>
              </a:lnSpc>
              <a:buNone/>
            </a:pPr>
            <a:r>
              <a:rPr lang="de-DE" sz="750" b="0" kern="0" dirty="0">
                <a:solidFill>
                  <a:srgbClr val="63707A"/>
                </a:solidFill>
                <a:latin typeface="Segoe UI" pitchFamily="34" charset="0"/>
                <a:ea typeface="Segoe UI" pitchFamily="34" charset="-122"/>
                <a:cs typeface="Segoe UI" pitchFamily="34" charset="-120"/>
              </a:rPr>
              <a:t>31 Oct 2026</a:t>
            </a:r>
          </a:p>
        </p:txBody>
      </p:sp>
      <p:sp>
        <p:nvSpPr>
          <p:cNvPr id="180" name="PURIS Milestone Dot"/>
          <p:cNvSpPr/>
          <p:nvPr/>
        </p:nvSpPr>
        <p:spPr>
          <a:xfrm>
            <a:off x="6008914" y="2612898"/>
            <a:ext cx="118872" cy="118872"/>
          </a:xfrm>
          <a:prstGeom prst="ellipse">
            <a:avLst/>
          </a:prstGeom>
          <a:solidFill>
            <a:srgbClr val="F0B135"/>
          </a:solidFill>
          <a:ln w="19050">
            <a:solidFill>
              <a:srgbClr val="FFFFFF"/>
            </a:solidFill>
          </a:ln>
          <a:effectLst/>
        </p:spPr>
        <p:txBody>
          <a:bodyPr rtlCol="0" anchor="ctr"/>
          <a:lstStyle/>
          <a:p>
            <a:endParaRPr lang="de-DE"/>
          </a:p>
        </p:txBody>
      </p:sp>
      <p:sp>
        <p:nvSpPr>
          <p:cNvPr id="181" name="PURIS Milestone"/>
          <p:cNvSpPr txBox="1"/>
          <p:nvPr/>
        </p:nvSpPr>
        <p:spPr>
          <a:xfrm>
            <a:off x="6182650" y="2599182"/>
            <a:ext cx="1167819" cy="522351"/>
          </a:xfrm>
          <a:prstGeom prst="rect">
            <a:avLst/>
          </a:prstGeom>
          <a:noFill/>
          <a:ln>
            <a:noFill/>
          </a:ln>
        </p:spPr>
        <p:txBody>
          <a:bodyPr wrap="square" lIns="0" tIns="0" rIns="0" bIns="0" rtlCol="0" anchor="t">
            <a:noAutofit/>
          </a:bodyPr>
          <a:lstStyle/>
          <a:p>
            <a:pPr marL="0" indent="0" algn="l">
              <a:lnSpc>
                <a:spcPts val="1100"/>
              </a:lnSpc>
              <a:buNone/>
            </a:pPr>
            <a:r>
              <a:rPr lang="de-DE" sz="800" b="1" kern="0" dirty="0">
                <a:solidFill>
                  <a:srgbClr val="151B21"/>
                </a:solidFill>
                <a:latin typeface="Segoe UI" pitchFamily="34" charset="0"/>
                <a:ea typeface="Segoe UI" pitchFamily="34" charset="-122"/>
                <a:cs typeface="Segoe UI" pitchFamily="34" charset="-120"/>
              </a:rPr>
              <a:t>Plan for existing challenges</a:t>
            </a:r>
          </a:p>
          <a:p>
            <a:pPr marL="0" indent="0" algn="l">
              <a:lnSpc>
                <a:spcPts val="1100"/>
              </a:lnSpc>
              <a:buNone/>
            </a:pPr>
            <a:r>
              <a:rPr lang="de-DE" sz="750" b="0" kern="0" dirty="0">
                <a:solidFill>
                  <a:srgbClr val="63707A"/>
                </a:solidFill>
                <a:latin typeface="Segoe UI" pitchFamily="34" charset="0"/>
                <a:ea typeface="Segoe UI" pitchFamily="34" charset="-122"/>
                <a:cs typeface="Segoe UI" pitchFamily="34" charset="-120"/>
              </a:rPr>
              <a:t>9 Oct 2026</a:t>
            </a:r>
          </a:p>
        </p:txBody>
      </p:sp>
      <p:sp>
        <p:nvSpPr>
          <p:cNvPr id="182" name="Business Partner Data Mgmt Milestone Dot"/>
          <p:cNvSpPr/>
          <p:nvPr/>
        </p:nvSpPr>
        <p:spPr>
          <a:xfrm>
            <a:off x="7441910" y="2612898"/>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183" name="Business Partner Data Mgmt Milestone"/>
          <p:cNvSpPr txBox="1"/>
          <p:nvPr/>
        </p:nvSpPr>
        <p:spPr>
          <a:xfrm>
            <a:off x="7615646" y="2599182"/>
            <a:ext cx="1167819" cy="522351"/>
          </a:xfrm>
          <a:prstGeom prst="rect">
            <a:avLst/>
          </a:prstGeom>
          <a:noFill/>
          <a:ln>
            <a:noFill/>
          </a:ln>
        </p:spPr>
        <p:txBody>
          <a:bodyPr wrap="square" lIns="0" tIns="0" rIns="0" bIns="0" rtlCol="0" anchor="t">
            <a:noAutofit/>
          </a:bodyPr>
          <a:lstStyle/>
          <a:p>
            <a:pPr marL="0" indent="0" algn="l">
              <a:lnSpc>
                <a:spcPts val="1100"/>
              </a:lnSpc>
              <a:buNone/>
            </a:pPr>
            <a:r>
              <a:rPr lang="de-DE" sz="800" b="1" kern="0" dirty="0">
                <a:solidFill>
                  <a:srgbClr val="151B21"/>
                </a:solidFill>
                <a:latin typeface="Segoe UI" pitchFamily="34" charset="0"/>
                <a:ea typeface="Segoe UI" pitchFamily="34" charset="-122"/>
                <a:cs typeface="Segoe UI" pitchFamily="34" charset="-120"/>
              </a:rPr>
              <a:t>Define BPDM target picture</a:t>
            </a:r>
          </a:p>
          <a:p>
            <a:pPr marL="0" indent="0" algn="l">
              <a:lnSpc>
                <a:spcPts val="1100"/>
              </a:lnSpc>
              <a:buNone/>
            </a:pPr>
            <a:r>
              <a:rPr lang="de-DE" sz="750" b="0" kern="0" dirty="0">
                <a:solidFill>
                  <a:srgbClr val="63707A"/>
                </a:solidFill>
                <a:latin typeface="Segoe UI" pitchFamily="34" charset="0"/>
                <a:ea typeface="Segoe UI" pitchFamily="34" charset="-122"/>
                <a:cs typeface="Segoe UI" pitchFamily="34" charset="-120"/>
              </a:rPr>
              <a:t>31 Oct 2026</a:t>
            </a:r>
          </a:p>
        </p:txBody>
      </p:sp>
      <p:sp>
        <p:nvSpPr>
          <p:cNvPr id="184" name="Certificate Management Milestone Dot"/>
          <p:cNvSpPr/>
          <p:nvPr/>
        </p:nvSpPr>
        <p:spPr>
          <a:xfrm>
            <a:off x="8874905" y="2612898"/>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185" name="Certificate Management Milestone"/>
          <p:cNvSpPr txBox="1"/>
          <p:nvPr/>
        </p:nvSpPr>
        <p:spPr>
          <a:xfrm>
            <a:off x="9048641" y="2599182"/>
            <a:ext cx="1167819" cy="522351"/>
          </a:xfrm>
          <a:prstGeom prst="rect">
            <a:avLst/>
          </a:prstGeom>
          <a:noFill/>
          <a:ln>
            <a:noFill/>
          </a:ln>
        </p:spPr>
        <p:txBody>
          <a:bodyPr wrap="square" lIns="0" tIns="0" rIns="0" bIns="0" rtlCol="0" anchor="t">
            <a:noAutofit/>
          </a:bodyPr>
          <a:lstStyle/>
          <a:p>
            <a:pPr marL="0" indent="0" algn="l">
              <a:lnSpc>
                <a:spcPts val="1100"/>
              </a:lnSpc>
              <a:buNone/>
            </a:pPr>
            <a:r>
              <a:rPr lang="de-DE" sz="800" b="1" kern="0" dirty="0">
                <a:solidFill>
                  <a:srgbClr val="151B21"/>
                </a:solidFill>
                <a:latin typeface="Segoe UI" pitchFamily="34" charset="0"/>
                <a:ea typeface="Segoe UI" pitchFamily="34" charset="-122"/>
                <a:cs typeface="Segoe UI" pitchFamily="34" charset="-120"/>
              </a:rPr>
              <a:t>Official CX CCM release</a:t>
            </a:r>
          </a:p>
          <a:p>
            <a:pPr marL="0" indent="0" algn="l">
              <a:lnSpc>
                <a:spcPts val="1100"/>
              </a:lnSpc>
              <a:buNone/>
            </a:pPr>
            <a:r>
              <a:rPr lang="de-DE" sz="750" b="0" kern="0" dirty="0">
                <a:solidFill>
                  <a:srgbClr val="63707A"/>
                </a:solidFill>
                <a:latin typeface="Segoe UI" pitchFamily="34" charset="0"/>
                <a:ea typeface="Segoe UI" pitchFamily="34" charset="-122"/>
                <a:cs typeface="Segoe UI" pitchFamily="34" charset="-120"/>
              </a:rPr>
              <a:t>Sep 2026</a:t>
            </a:r>
          </a:p>
        </p:txBody>
      </p:sp>
      <p:sp>
        <p:nvSpPr>
          <p:cNvPr id="186" name="Product Carbon Footprint Milestone Dot"/>
          <p:cNvSpPr/>
          <p:nvPr/>
        </p:nvSpPr>
        <p:spPr>
          <a:xfrm>
            <a:off x="10307901" y="2612898"/>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187" name="Product Carbon Footprint Milestone"/>
          <p:cNvSpPr txBox="1"/>
          <p:nvPr/>
        </p:nvSpPr>
        <p:spPr>
          <a:xfrm>
            <a:off x="10481637" y="2599182"/>
            <a:ext cx="1167819" cy="522351"/>
          </a:xfrm>
          <a:prstGeom prst="rect">
            <a:avLst/>
          </a:prstGeom>
          <a:noFill/>
          <a:ln>
            <a:noFill/>
          </a:ln>
        </p:spPr>
        <p:txBody>
          <a:bodyPr wrap="square" lIns="0" tIns="0" rIns="0" bIns="0" rtlCol="0" anchor="t">
            <a:noAutofit/>
          </a:bodyPr>
          <a:lstStyle/>
          <a:p>
            <a:pPr marL="0" indent="0" algn="l">
              <a:lnSpc>
                <a:spcPts val="1100"/>
              </a:lnSpc>
              <a:buNone/>
            </a:pPr>
            <a:r>
              <a:rPr lang="de-DE" sz="800" b="1" kern="0" dirty="0">
                <a:solidFill>
                  <a:srgbClr val="151B21"/>
                </a:solidFill>
                <a:latin typeface="Segoe UI" pitchFamily="34" charset="0"/>
                <a:ea typeface="Segoe UI" pitchFamily="34" charset="-122"/>
                <a:cs typeface="Segoe UI" pitchFamily="34" charset="-120"/>
              </a:rPr>
              <a:t>Supplier activation pilot 1</a:t>
            </a:r>
          </a:p>
          <a:p>
            <a:pPr marL="0" indent="0" algn="l">
              <a:lnSpc>
                <a:spcPts val="1100"/>
              </a:lnSpc>
              <a:buNone/>
            </a:pPr>
            <a:r>
              <a:rPr lang="de-DE" sz="750" b="0" kern="0" dirty="0">
                <a:solidFill>
                  <a:srgbClr val="63707A"/>
                </a:solidFill>
                <a:latin typeface="Segoe UI" pitchFamily="34" charset="0"/>
                <a:ea typeface="Segoe UI" pitchFamily="34" charset="-122"/>
                <a:cs typeface="Segoe UI" pitchFamily="34" charset="-120"/>
              </a:rPr>
              <a:t>15 Oct 2026</a:t>
            </a:r>
          </a:p>
        </p:txBody>
      </p:sp>
      <p:sp>
        <p:nvSpPr>
          <p:cNvPr id="188" name="Row Divider Dimensions at risk"/>
          <p:cNvSpPr/>
          <p:nvPr/>
        </p:nvSpPr>
        <p:spPr>
          <a:xfrm>
            <a:off x="502920" y="3148965"/>
            <a:ext cx="11192256" cy="6401"/>
          </a:xfrm>
          <a:prstGeom prst="rect">
            <a:avLst/>
          </a:prstGeom>
          <a:solidFill>
            <a:srgbClr val="E2E8EC"/>
          </a:solidFill>
          <a:ln>
            <a:noFill/>
          </a:ln>
          <a:effectLst/>
        </p:spPr>
        <p:txBody>
          <a:bodyPr rtlCol="0" anchor="ctr"/>
          <a:lstStyle/>
          <a:p>
            <a:endParaRPr lang="de-DE"/>
          </a:p>
        </p:txBody>
      </p:sp>
      <p:sp>
        <p:nvSpPr>
          <p:cNvPr id="189" name="Row Label Dimensions at risk"/>
          <p:cNvSpPr txBox="1"/>
          <p:nvPr/>
        </p:nvSpPr>
        <p:spPr>
          <a:xfrm>
            <a:off x="502920" y="3258693"/>
            <a:ext cx="1051560" cy="274320"/>
          </a:xfrm>
          <a:prstGeom prst="rect">
            <a:avLst/>
          </a:prstGeom>
          <a:noFill/>
          <a:ln>
            <a:noFill/>
          </a:ln>
        </p:spPr>
        <p:txBody>
          <a:bodyPr wrap="square" lIns="0" tIns="0" rIns="0" bIns="0" rtlCol="0" anchor="t">
            <a:noAutofit/>
          </a:bodyPr>
          <a:lstStyle/>
          <a:p>
            <a:pPr marL="0" indent="0" algn="l">
              <a:lnSpc>
                <a:spcPts val="950"/>
              </a:lnSpc>
              <a:buNone/>
            </a:pPr>
            <a:r>
              <a:rPr lang="de-DE" sz="700" b="1" kern="0" spc="40" dirty="0">
                <a:solidFill>
                  <a:srgbClr val="151B21"/>
                </a:solidFill>
                <a:latin typeface="Segoe UI" pitchFamily="34" charset="0"/>
                <a:ea typeface="Segoe UI" pitchFamily="34" charset="-122"/>
                <a:cs typeface="Segoe UI" pitchFamily="34" charset="-120"/>
              </a:rPr>
              <a:t>DIMENSIONS AT RISK</a:t>
            </a:r>
          </a:p>
        </p:txBody>
      </p:sp>
      <p:sp>
        <p:nvSpPr>
          <p:cNvPr id="190" name="Quality Risk Dot Business"/>
          <p:cNvSpPr/>
          <p:nvPr/>
        </p:nvSpPr>
        <p:spPr>
          <a:xfrm>
            <a:off x="1709928" y="3286125"/>
            <a:ext cx="82296" cy="82296"/>
          </a:xfrm>
          <a:prstGeom prst="ellipse">
            <a:avLst/>
          </a:prstGeom>
          <a:solidFill>
            <a:srgbClr val="F0B135"/>
          </a:solidFill>
          <a:ln>
            <a:noFill/>
          </a:ln>
          <a:effectLst/>
        </p:spPr>
        <p:txBody>
          <a:bodyPr rtlCol="0" anchor="ctr"/>
          <a:lstStyle/>
          <a:p>
            <a:endParaRPr lang="de-DE"/>
          </a:p>
        </p:txBody>
      </p:sp>
      <p:sp>
        <p:nvSpPr>
          <p:cNvPr id="191" name="Quality Risk Business"/>
          <p:cNvSpPr txBox="1"/>
          <p:nvPr/>
        </p:nvSpPr>
        <p:spPr>
          <a:xfrm>
            <a:off x="1837944" y="3258693"/>
            <a:ext cx="1213539" cy="146304"/>
          </a:xfrm>
          <a:prstGeom prst="rect">
            <a:avLst/>
          </a:prstGeom>
          <a:noFill/>
          <a:ln>
            <a:noFill/>
          </a:ln>
        </p:spPr>
        <p:txBody>
          <a:bodyPr wrap="square" lIns="0" tIns="0" rIns="0" bIns="0" rtlCol="0" anchor="t">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192" name="Quality Risk Dot Data Provisioning"/>
          <p:cNvSpPr/>
          <p:nvPr/>
        </p:nvSpPr>
        <p:spPr>
          <a:xfrm>
            <a:off x="1709928" y="3441573"/>
            <a:ext cx="82296" cy="82296"/>
          </a:xfrm>
          <a:prstGeom prst="ellipse">
            <a:avLst/>
          </a:prstGeom>
          <a:solidFill>
            <a:srgbClr val="F0B135"/>
          </a:solidFill>
          <a:ln>
            <a:noFill/>
          </a:ln>
          <a:effectLst/>
        </p:spPr>
        <p:txBody>
          <a:bodyPr rtlCol="0" anchor="ctr"/>
          <a:lstStyle/>
          <a:p>
            <a:endParaRPr lang="de-DE"/>
          </a:p>
        </p:txBody>
      </p:sp>
      <p:sp>
        <p:nvSpPr>
          <p:cNvPr id="193" name="Quality Risk Data Provisioning"/>
          <p:cNvSpPr txBox="1"/>
          <p:nvPr/>
        </p:nvSpPr>
        <p:spPr>
          <a:xfrm>
            <a:off x="1837944" y="3414141"/>
            <a:ext cx="1213539" cy="146304"/>
          </a:xfrm>
          <a:prstGeom prst="rect">
            <a:avLst/>
          </a:prstGeom>
          <a:noFill/>
          <a:ln>
            <a:noFill/>
          </a:ln>
        </p:spPr>
        <p:txBody>
          <a:bodyPr wrap="square" lIns="0" tIns="0" rIns="0" bIns="0" rtlCol="0" anchor="t">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194" name="Quality Risk Dot Technical"/>
          <p:cNvSpPr/>
          <p:nvPr/>
        </p:nvSpPr>
        <p:spPr>
          <a:xfrm>
            <a:off x="1709928" y="3597021"/>
            <a:ext cx="82296" cy="82296"/>
          </a:xfrm>
          <a:prstGeom prst="ellipse">
            <a:avLst/>
          </a:prstGeom>
          <a:solidFill>
            <a:srgbClr val="F0B135"/>
          </a:solidFill>
          <a:ln>
            <a:noFill/>
          </a:ln>
          <a:effectLst/>
        </p:spPr>
        <p:txBody>
          <a:bodyPr rtlCol="0" anchor="ctr"/>
          <a:lstStyle/>
          <a:p>
            <a:endParaRPr lang="de-DE"/>
          </a:p>
        </p:txBody>
      </p:sp>
      <p:sp>
        <p:nvSpPr>
          <p:cNvPr id="195" name="Quality Risk Technical"/>
          <p:cNvSpPr txBox="1"/>
          <p:nvPr/>
        </p:nvSpPr>
        <p:spPr>
          <a:xfrm>
            <a:off x="1837944" y="3569589"/>
            <a:ext cx="1213539" cy="146304"/>
          </a:xfrm>
          <a:prstGeom prst="rect">
            <a:avLst/>
          </a:prstGeom>
          <a:noFill/>
          <a:ln>
            <a:noFill/>
          </a:ln>
        </p:spPr>
        <p:txBody>
          <a:bodyPr wrap="square" lIns="0" tIns="0" rIns="0" bIns="0" rtlCol="0" anchor="t">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196" name="Quality Risk Dot Supplier Activation"/>
          <p:cNvSpPr/>
          <p:nvPr/>
        </p:nvSpPr>
        <p:spPr>
          <a:xfrm>
            <a:off x="1709928" y="3752469"/>
            <a:ext cx="82296" cy="82296"/>
          </a:xfrm>
          <a:prstGeom prst="ellipse">
            <a:avLst/>
          </a:prstGeom>
          <a:solidFill>
            <a:srgbClr val="F0B135"/>
          </a:solidFill>
          <a:ln>
            <a:noFill/>
          </a:ln>
          <a:effectLst/>
        </p:spPr>
        <p:txBody>
          <a:bodyPr rtlCol="0" anchor="ctr"/>
          <a:lstStyle/>
          <a:p>
            <a:endParaRPr lang="de-DE"/>
          </a:p>
        </p:txBody>
      </p:sp>
      <p:sp>
        <p:nvSpPr>
          <p:cNvPr id="197" name="Quality Risk Supplier Activation"/>
          <p:cNvSpPr txBox="1"/>
          <p:nvPr/>
        </p:nvSpPr>
        <p:spPr>
          <a:xfrm>
            <a:off x="1837944" y="3725037"/>
            <a:ext cx="1213539" cy="146304"/>
          </a:xfrm>
          <a:prstGeom prst="rect">
            <a:avLst/>
          </a:prstGeom>
          <a:noFill/>
          <a:ln>
            <a:noFill/>
          </a:ln>
        </p:spPr>
        <p:txBody>
          <a:bodyPr wrap="square" lIns="0" tIns="0" rIns="0" bIns="0" rtlCol="0" anchor="t">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Supplier Activation</a:t>
            </a:r>
          </a:p>
        </p:txBody>
      </p:sp>
      <p:sp>
        <p:nvSpPr>
          <p:cNvPr id="198" name="Battery Passport Risk Dot External · CX Association"/>
          <p:cNvSpPr/>
          <p:nvPr/>
        </p:nvSpPr>
        <p:spPr>
          <a:xfrm>
            <a:off x="3142923" y="3286125"/>
            <a:ext cx="82296" cy="82296"/>
          </a:xfrm>
          <a:prstGeom prst="ellipse">
            <a:avLst/>
          </a:prstGeom>
          <a:solidFill>
            <a:srgbClr val="F0B135"/>
          </a:solidFill>
          <a:ln>
            <a:noFill/>
          </a:ln>
          <a:effectLst/>
        </p:spPr>
        <p:txBody>
          <a:bodyPr rtlCol="0" anchor="ctr"/>
          <a:lstStyle/>
          <a:p>
            <a:endParaRPr lang="de-DE"/>
          </a:p>
        </p:txBody>
      </p:sp>
      <p:sp>
        <p:nvSpPr>
          <p:cNvPr id="199" name="Battery Passport Risk External · CX Association"/>
          <p:cNvSpPr txBox="1"/>
          <p:nvPr/>
        </p:nvSpPr>
        <p:spPr>
          <a:xfrm>
            <a:off x="3270939" y="3258693"/>
            <a:ext cx="1213539" cy="146304"/>
          </a:xfrm>
          <a:prstGeom prst="rect">
            <a:avLst/>
          </a:prstGeom>
          <a:noFill/>
          <a:ln>
            <a:noFill/>
          </a:ln>
        </p:spPr>
        <p:txBody>
          <a:bodyPr wrap="square" lIns="0" tIns="0" rIns="0" bIns="0" rtlCol="0" anchor="t">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00" name="Battery Passport Risk Dot Business"/>
          <p:cNvSpPr/>
          <p:nvPr/>
        </p:nvSpPr>
        <p:spPr>
          <a:xfrm>
            <a:off x="3142923" y="3441573"/>
            <a:ext cx="82296" cy="82296"/>
          </a:xfrm>
          <a:prstGeom prst="ellipse">
            <a:avLst/>
          </a:prstGeom>
          <a:solidFill>
            <a:srgbClr val="F0B135"/>
          </a:solidFill>
          <a:ln>
            <a:noFill/>
          </a:ln>
          <a:effectLst/>
        </p:spPr>
        <p:txBody>
          <a:bodyPr rtlCol="0" anchor="ctr"/>
          <a:lstStyle/>
          <a:p>
            <a:endParaRPr lang="de-DE"/>
          </a:p>
        </p:txBody>
      </p:sp>
      <p:sp>
        <p:nvSpPr>
          <p:cNvPr id="201" name="Battery Passport Risk Business"/>
          <p:cNvSpPr txBox="1"/>
          <p:nvPr/>
        </p:nvSpPr>
        <p:spPr>
          <a:xfrm>
            <a:off x="3270939" y="3414141"/>
            <a:ext cx="1213539" cy="146304"/>
          </a:xfrm>
          <a:prstGeom prst="rect">
            <a:avLst/>
          </a:prstGeom>
          <a:noFill/>
          <a:ln>
            <a:noFill/>
          </a:ln>
        </p:spPr>
        <p:txBody>
          <a:bodyPr wrap="square" lIns="0" tIns="0" rIns="0" bIns="0" rtlCol="0" anchor="t">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02" name="Product Passes Risk Dot External · CX Association"/>
          <p:cNvSpPr/>
          <p:nvPr/>
        </p:nvSpPr>
        <p:spPr>
          <a:xfrm>
            <a:off x="4575919" y="3286125"/>
            <a:ext cx="82296" cy="82296"/>
          </a:xfrm>
          <a:prstGeom prst="ellipse">
            <a:avLst/>
          </a:prstGeom>
          <a:solidFill>
            <a:srgbClr val="F0B135"/>
          </a:solidFill>
          <a:ln>
            <a:noFill/>
          </a:ln>
          <a:effectLst/>
        </p:spPr>
        <p:txBody>
          <a:bodyPr rtlCol="0" anchor="ctr"/>
          <a:lstStyle/>
          <a:p>
            <a:endParaRPr lang="de-DE"/>
          </a:p>
        </p:txBody>
      </p:sp>
      <p:sp>
        <p:nvSpPr>
          <p:cNvPr id="203" name="Product Passes Risk External · CX Association"/>
          <p:cNvSpPr txBox="1"/>
          <p:nvPr/>
        </p:nvSpPr>
        <p:spPr>
          <a:xfrm>
            <a:off x="4703935" y="3258693"/>
            <a:ext cx="1213539" cy="146304"/>
          </a:xfrm>
          <a:prstGeom prst="rect">
            <a:avLst/>
          </a:prstGeom>
          <a:noFill/>
          <a:ln>
            <a:noFill/>
          </a:ln>
        </p:spPr>
        <p:txBody>
          <a:bodyPr wrap="square" lIns="0" tIns="0" rIns="0" bIns="0" rtlCol="0" anchor="t">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04" name="Product Passes Risk Dot Business"/>
          <p:cNvSpPr/>
          <p:nvPr/>
        </p:nvSpPr>
        <p:spPr>
          <a:xfrm>
            <a:off x="4575919" y="3441573"/>
            <a:ext cx="82296" cy="82296"/>
          </a:xfrm>
          <a:prstGeom prst="ellipse">
            <a:avLst/>
          </a:prstGeom>
          <a:solidFill>
            <a:srgbClr val="F0B135"/>
          </a:solidFill>
          <a:ln>
            <a:noFill/>
          </a:ln>
          <a:effectLst/>
        </p:spPr>
        <p:txBody>
          <a:bodyPr rtlCol="0" anchor="ctr"/>
          <a:lstStyle/>
          <a:p>
            <a:endParaRPr lang="de-DE"/>
          </a:p>
        </p:txBody>
      </p:sp>
      <p:sp>
        <p:nvSpPr>
          <p:cNvPr id="205" name="Product Passes Risk Business"/>
          <p:cNvSpPr txBox="1"/>
          <p:nvPr/>
        </p:nvSpPr>
        <p:spPr>
          <a:xfrm>
            <a:off x="4703935" y="3414141"/>
            <a:ext cx="1213539" cy="146304"/>
          </a:xfrm>
          <a:prstGeom prst="rect">
            <a:avLst/>
          </a:prstGeom>
          <a:noFill/>
          <a:ln>
            <a:noFill/>
          </a:ln>
        </p:spPr>
        <p:txBody>
          <a:bodyPr wrap="square" lIns="0" tIns="0" rIns="0" bIns="0" rtlCol="0" anchor="t">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06" name="PURIS Risk Dot Business"/>
          <p:cNvSpPr/>
          <p:nvPr/>
        </p:nvSpPr>
        <p:spPr>
          <a:xfrm>
            <a:off x="6008914" y="3286125"/>
            <a:ext cx="82296" cy="82296"/>
          </a:xfrm>
          <a:prstGeom prst="ellipse">
            <a:avLst/>
          </a:prstGeom>
          <a:solidFill>
            <a:srgbClr val="F0B135"/>
          </a:solidFill>
          <a:ln>
            <a:noFill/>
          </a:ln>
          <a:effectLst/>
        </p:spPr>
        <p:txBody>
          <a:bodyPr rtlCol="0" anchor="ctr"/>
          <a:lstStyle/>
          <a:p>
            <a:endParaRPr lang="de-DE"/>
          </a:p>
        </p:txBody>
      </p:sp>
      <p:sp>
        <p:nvSpPr>
          <p:cNvPr id="207" name="PURIS Risk Business"/>
          <p:cNvSpPr txBox="1"/>
          <p:nvPr/>
        </p:nvSpPr>
        <p:spPr>
          <a:xfrm>
            <a:off x="6136930" y="3258693"/>
            <a:ext cx="1213539" cy="146304"/>
          </a:xfrm>
          <a:prstGeom prst="rect">
            <a:avLst/>
          </a:prstGeom>
          <a:noFill/>
          <a:ln>
            <a:noFill/>
          </a:ln>
        </p:spPr>
        <p:txBody>
          <a:bodyPr wrap="square" lIns="0" tIns="0" rIns="0" bIns="0" rtlCol="0" anchor="t">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08" name="PURIS Risk Dot Data Provisioning"/>
          <p:cNvSpPr/>
          <p:nvPr/>
        </p:nvSpPr>
        <p:spPr>
          <a:xfrm>
            <a:off x="6008914" y="3441573"/>
            <a:ext cx="82296" cy="82296"/>
          </a:xfrm>
          <a:prstGeom prst="ellipse">
            <a:avLst/>
          </a:prstGeom>
          <a:solidFill>
            <a:srgbClr val="F0B135"/>
          </a:solidFill>
          <a:ln>
            <a:noFill/>
          </a:ln>
          <a:effectLst/>
        </p:spPr>
        <p:txBody>
          <a:bodyPr rtlCol="0" anchor="ctr"/>
          <a:lstStyle/>
          <a:p>
            <a:endParaRPr lang="de-DE"/>
          </a:p>
        </p:txBody>
      </p:sp>
      <p:sp>
        <p:nvSpPr>
          <p:cNvPr id="209" name="PURIS Risk Data Provisioning"/>
          <p:cNvSpPr txBox="1"/>
          <p:nvPr/>
        </p:nvSpPr>
        <p:spPr>
          <a:xfrm>
            <a:off x="6136930" y="3414141"/>
            <a:ext cx="1213539" cy="146304"/>
          </a:xfrm>
          <a:prstGeom prst="rect">
            <a:avLst/>
          </a:prstGeom>
          <a:noFill/>
          <a:ln>
            <a:noFill/>
          </a:ln>
        </p:spPr>
        <p:txBody>
          <a:bodyPr wrap="square" lIns="0" tIns="0" rIns="0" bIns="0" rtlCol="0" anchor="t">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210" name="PURIS Risk Dot Technical"/>
          <p:cNvSpPr/>
          <p:nvPr/>
        </p:nvSpPr>
        <p:spPr>
          <a:xfrm>
            <a:off x="6008914" y="3597021"/>
            <a:ext cx="82296" cy="82296"/>
          </a:xfrm>
          <a:prstGeom prst="ellipse">
            <a:avLst/>
          </a:prstGeom>
          <a:solidFill>
            <a:srgbClr val="F0B135"/>
          </a:solidFill>
          <a:ln>
            <a:noFill/>
          </a:ln>
          <a:effectLst/>
        </p:spPr>
        <p:txBody>
          <a:bodyPr rtlCol="0" anchor="ctr"/>
          <a:lstStyle/>
          <a:p>
            <a:endParaRPr lang="de-DE"/>
          </a:p>
        </p:txBody>
      </p:sp>
      <p:sp>
        <p:nvSpPr>
          <p:cNvPr id="211" name="PURIS Risk Technical"/>
          <p:cNvSpPr txBox="1"/>
          <p:nvPr/>
        </p:nvSpPr>
        <p:spPr>
          <a:xfrm>
            <a:off x="6136930" y="3569589"/>
            <a:ext cx="1213539" cy="146304"/>
          </a:xfrm>
          <a:prstGeom prst="rect">
            <a:avLst/>
          </a:prstGeom>
          <a:noFill/>
          <a:ln>
            <a:noFill/>
          </a:ln>
        </p:spPr>
        <p:txBody>
          <a:bodyPr wrap="square" lIns="0" tIns="0" rIns="0" bIns="0" rtlCol="0" anchor="t">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212" name="PURIS Risk Dot Supplier Activation"/>
          <p:cNvSpPr/>
          <p:nvPr/>
        </p:nvSpPr>
        <p:spPr>
          <a:xfrm>
            <a:off x="6008914" y="3752469"/>
            <a:ext cx="82296" cy="82296"/>
          </a:xfrm>
          <a:prstGeom prst="ellipse">
            <a:avLst/>
          </a:prstGeom>
          <a:solidFill>
            <a:srgbClr val="F0B135"/>
          </a:solidFill>
          <a:ln>
            <a:noFill/>
          </a:ln>
          <a:effectLst/>
        </p:spPr>
        <p:txBody>
          <a:bodyPr rtlCol="0" anchor="ctr"/>
          <a:lstStyle/>
          <a:p>
            <a:endParaRPr lang="de-DE"/>
          </a:p>
        </p:txBody>
      </p:sp>
      <p:sp>
        <p:nvSpPr>
          <p:cNvPr id="213" name="PURIS Risk Supplier Activation"/>
          <p:cNvSpPr txBox="1"/>
          <p:nvPr/>
        </p:nvSpPr>
        <p:spPr>
          <a:xfrm>
            <a:off x="6136930" y="3725037"/>
            <a:ext cx="1213539" cy="146304"/>
          </a:xfrm>
          <a:prstGeom prst="rect">
            <a:avLst/>
          </a:prstGeom>
          <a:noFill/>
          <a:ln>
            <a:noFill/>
          </a:ln>
        </p:spPr>
        <p:txBody>
          <a:bodyPr wrap="square" lIns="0" tIns="0" rIns="0" bIns="0" rtlCol="0" anchor="t">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Supplier Activation</a:t>
            </a:r>
          </a:p>
        </p:txBody>
      </p:sp>
      <p:sp>
        <p:nvSpPr>
          <p:cNvPr id="214" name="Business Partner Data Mgmt Risk Dot External · CX Association"/>
          <p:cNvSpPr/>
          <p:nvPr/>
        </p:nvSpPr>
        <p:spPr>
          <a:xfrm>
            <a:off x="7441910" y="3286125"/>
            <a:ext cx="82296" cy="82296"/>
          </a:xfrm>
          <a:prstGeom prst="ellipse">
            <a:avLst/>
          </a:prstGeom>
          <a:solidFill>
            <a:srgbClr val="F0B135"/>
          </a:solidFill>
          <a:ln>
            <a:noFill/>
          </a:ln>
          <a:effectLst/>
        </p:spPr>
        <p:txBody>
          <a:bodyPr rtlCol="0" anchor="ctr"/>
          <a:lstStyle/>
          <a:p>
            <a:endParaRPr lang="de-DE"/>
          </a:p>
        </p:txBody>
      </p:sp>
      <p:sp>
        <p:nvSpPr>
          <p:cNvPr id="215" name="Business Partner Data Mgmt Risk External · CX Association"/>
          <p:cNvSpPr txBox="1"/>
          <p:nvPr/>
        </p:nvSpPr>
        <p:spPr>
          <a:xfrm>
            <a:off x="7569926" y="3258693"/>
            <a:ext cx="1213539" cy="146304"/>
          </a:xfrm>
          <a:prstGeom prst="rect">
            <a:avLst/>
          </a:prstGeom>
          <a:noFill/>
          <a:ln>
            <a:noFill/>
          </a:ln>
        </p:spPr>
        <p:txBody>
          <a:bodyPr wrap="square" lIns="0" tIns="0" rIns="0" bIns="0" rtlCol="0" anchor="t">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16" name="Business Partner Data Mgmt Risk Dot Business"/>
          <p:cNvSpPr/>
          <p:nvPr/>
        </p:nvSpPr>
        <p:spPr>
          <a:xfrm>
            <a:off x="7441910" y="3441573"/>
            <a:ext cx="82296" cy="82296"/>
          </a:xfrm>
          <a:prstGeom prst="ellipse">
            <a:avLst/>
          </a:prstGeom>
          <a:solidFill>
            <a:srgbClr val="F0B135"/>
          </a:solidFill>
          <a:ln>
            <a:noFill/>
          </a:ln>
          <a:effectLst/>
        </p:spPr>
        <p:txBody>
          <a:bodyPr rtlCol="0" anchor="ctr"/>
          <a:lstStyle/>
          <a:p>
            <a:endParaRPr lang="de-DE"/>
          </a:p>
        </p:txBody>
      </p:sp>
      <p:sp>
        <p:nvSpPr>
          <p:cNvPr id="217" name="Business Partner Data Mgmt Risk Business"/>
          <p:cNvSpPr txBox="1"/>
          <p:nvPr/>
        </p:nvSpPr>
        <p:spPr>
          <a:xfrm>
            <a:off x="7569926" y="3414141"/>
            <a:ext cx="1213539" cy="146304"/>
          </a:xfrm>
          <a:prstGeom prst="rect">
            <a:avLst/>
          </a:prstGeom>
          <a:noFill/>
          <a:ln>
            <a:noFill/>
          </a:ln>
        </p:spPr>
        <p:txBody>
          <a:bodyPr wrap="square" lIns="0" tIns="0" rIns="0" bIns="0" rtlCol="0" anchor="t">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18" name="Business Partner Data Mgmt Risk Dot Technical"/>
          <p:cNvSpPr/>
          <p:nvPr/>
        </p:nvSpPr>
        <p:spPr>
          <a:xfrm>
            <a:off x="7441910" y="3597021"/>
            <a:ext cx="82296" cy="82296"/>
          </a:xfrm>
          <a:prstGeom prst="ellipse">
            <a:avLst/>
          </a:prstGeom>
          <a:solidFill>
            <a:srgbClr val="F0B135"/>
          </a:solidFill>
          <a:ln>
            <a:noFill/>
          </a:ln>
          <a:effectLst/>
        </p:spPr>
        <p:txBody>
          <a:bodyPr rtlCol="0" anchor="ctr"/>
          <a:lstStyle/>
          <a:p>
            <a:endParaRPr lang="de-DE"/>
          </a:p>
        </p:txBody>
      </p:sp>
      <p:sp>
        <p:nvSpPr>
          <p:cNvPr id="219" name="Business Partner Data Mgmt Risk Technical"/>
          <p:cNvSpPr txBox="1"/>
          <p:nvPr/>
        </p:nvSpPr>
        <p:spPr>
          <a:xfrm>
            <a:off x="7569926" y="3569589"/>
            <a:ext cx="1213539" cy="146304"/>
          </a:xfrm>
          <a:prstGeom prst="rect">
            <a:avLst/>
          </a:prstGeom>
          <a:noFill/>
          <a:ln>
            <a:noFill/>
          </a:ln>
        </p:spPr>
        <p:txBody>
          <a:bodyPr wrap="square" lIns="0" tIns="0" rIns="0" bIns="0" rtlCol="0" anchor="t">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220" name="Certificate Management Risk Dot External · CX Association"/>
          <p:cNvSpPr/>
          <p:nvPr/>
        </p:nvSpPr>
        <p:spPr>
          <a:xfrm>
            <a:off x="8874905" y="3286125"/>
            <a:ext cx="82296" cy="82296"/>
          </a:xfrm>
          <a:prstGeom prst="ellipse">
            <a:avLst/>
          </a:prstGeom>
          <a:solidFill>
            <a:srgbClr val="F0B135"/>
          </a:solidFill>
          <a:ln>
            <a:noFill/>
          </a:ln>
          <a:effectLst/>
        </p:spPr>
        <p:txBody>
          <a:bodyPr rtlCol="0" anchor="ctr"/>
          <a:lstStyle/>
          <a:p>
            <a:endParaRPr lang="de-DE"/>
          </a:p>
        </p:txBody>
      </p:sp>
      <p:sp>
        <p:nvSpPr>
          <p:cNvPr id="221" name="Certificate Management Risk External · CX Association"/>
          <p:cNvSpPr txBox="1"/>
          <p:nvPr/>
        </p:nvSpPr>
        <p:spPr>
          <a:xfrm>
            <a:off x="9002921" y="3258693"/>
            <a:ext cx="1213539" cy="146304"/>
          </a:xfrm>
          <a:prstGeom prst="rect">
            <a:avLst/>
          </a:prstGeom>
          <a:noFill/>
          <a:ln>
            <a:noFill/>
          </a:ln>
        </p:spPr>
        <p:txBody>
          <a:bodyPr wrap="square" lIns="0" tIns="0" rIns="0" bIns="0" rtlCol="0" anchor="t">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22" name="Product Carbon Footprint No Dims"/>
          <p:cNvSpPr txBox="1"/>
          <p:nvPr/>
        </p:nvSpPr>
        <p:spPr>
          <a:xfrm>
            <a:off x="10307901" y="3258693"/>
            <a:ext cx="1341555" cy="146304"/>
          </a:xfrm>
          <a:prstGeom prst="rect">
            <a:avLst/>
          </a:prstGeom>
          <a:noFill/>
          <a:ln>
            <a:noFill/>
          </a:ln>
        </p:spPr>
        <p:txBody>
          <a:bodyPr wrap="square" lIns="0" tIns="0" rIns="0" bIns="0" rtlCol="0" anchor="t">
            <a:noAutofit/>
          </a:bodyPr>
          <a:lstStyle/>
          <a:p>
            <a:pPr marL="0" indent="0" algn="l">
              <a:buNone/>
            </a:pPr>
            <a:r>
              <a:rPr lang="de-DE" sz="750" b="0" i="1" kern="0" dirty="0">
                <a:solidFill>
                  <a:srgbClr val="9AA6AD"/>
                </a:solidFill>
                <a:latin typeface="Segoe UI" pitchFamily="34" charset="0"/>
                <a:ea typeface="Segoe UI" pitchFamily="34" charset="-122"/>
                <a:cs typeface="Segoe UI" pitchFamily="34" charset="-120"/>
              </a:rPr>
              <a:t>No dimensions at risk</a:t>
            </a:r>
          </a:p>
        </p:txBody>
      </p:sp>
      <p:sp>
        <p:nvSpPr>
          <p:cNvPr id="223" name="Row Divider Suppliers enabled 2026"/>
          <p:cNvSpPr/>
          <p:nvPr/>
        </p:nvSpPr>
        <p:spPr>
          <a:xfrm>
            <a:off x="502920" y="3982212"/>
            <a:ext cx="11192256" cy="6401"/>
          </a:xfrm>
          <a:prstGeom prst="rect">
            <a:avLst/>
          </a:prstGeom>
          <a:solidFill>
            <a:srgbClr val="E2E8EC"/>
          </a:solidFill>
          <a:ln>
            <a:noFill/>
          </a:ln>
          <a:effectLst/>
        </p:spPr>
        <p:txBody>
          <a:bodyPr rtlCol="0" anchor="ctr"/>
          <a:lstStyle/>
          <a:p>
            <a:endParaRPr lang="de-DE"/>
          </a:p>
        </p:txBody>
      </p:sp>
      <p:sp>
        <p:nvSpPr>
          <p:cNvPr id="224" name="Row Label Suppliers enabled 2026"/>
          <p:cNvSpPr txBox="1"/>
          <p:nvPr/>
        </p:nvSpPr>
        <p:spPr>
          <a:xfrm>
            <a:off x="502920" y="4091940"/>
            <a:ext cx="1051560" cy="274320"/>
          </a:xfrm>
          <a:prstGeom prst="rect">
            <a:avLst/>
          </a:prstGeom>
          <a:noFill/>
          <a:ln>
            <a:noFill/>
          </a:ln>
        </p:spPr>
        <p:txBody>
          <a:bodyPr wrap="square" lIns="0" tIns="0" rIns="0" bIns="0" rtlCol="0" anchor="t">
            <a:noAutofit/>
          </a:bodyPr>
          <a:lstStyle/>
          <a:p>
            <a:pPr marL="0" indent="0" algn="l">
              <a:lnSpc>
                <a:spcPts val="950"/>
              </a:lnSpc>
              <a:buNone/>
            </a:pPr>
            <a:r>
              <a:rPr lang="de-DE" sz="700" b="1" kern="0" spc="40" dirty="0">
                <a:solidFill>
                  <a:srgbClr val="151B21"/>
                </a:solidFill>
                <a:latin typeface="Segoe UI" pitchFamily="34" charset="0"/>
                <a:ea typeface="Segoe UI" pitchFamily="34" charset="-122"/>
                <a:cs typeface="Segoe UI" pitchFamily="34" charset="-120"/>
              </a:rPr>
              <a:t>SUPPLIERS ENABLED 2026</a:t>
            </a:r>
          </a:p>
        </p:txBody>
      </p:sp>
      <p:sp>
        <p:nvSpPr>
          <p:cNvPr id="225" name="Quality Suppliers"/>
          <p:cNvSpPr txBox="1"/>
          <p:nvPr/>
        </p:nvSpPr>
        <p:spPr>
          <a:xfrm>
            <a:off x="1709928" y="4055364"/>
            <a:ext cx="1341555" cy="467487"/>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a:p>
            <a:pPr marL="0" indent="0" algn="l">
              <a:lnSpc>
                <a:spcPts val="1300"/>
              </a:lnSpc>
              <a:buNone/>
            </a:pPr>
            <a:r>
              <a:rPr lang="de-DE" sz="700" b="0" kern="0" dirty="0">
                <a:solidFill>
                  <a:srgbClr val="63707A"/>
                </a:solidFill>
                <a:latin typeface="Segoe UI" pitchFamily="34" charset="0"/>
                <a:ea typeface="Segoe UI" pitchFamily="34" charset="-122"/>
                <a:cs typeface="Segoe UI" pitchFamily="34" charset="-120"/>
              </a:rPr>
              <a:t>rescoped from 15</a:t>
            </a:r>
          </a:p>
        </p:txBody>
      </p:sp>
      <p:sp>
        <p:nvSpPr>
          <p:cNvPr id="226" name="Battery Passport Suppliers"/>
          <p:cNvSpPr txBox="1"/>
          <p:nvPr/>
        </p:nvSpPr>
        <p:spPr>
          <a:xfrm>
            <a:off x="3142923" y="4055364"/>
            <a:ext cx="1341555" cy="467487"/>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227" name="Product Passes Suppliers"/>
          <p:cNvSpPr txBox="1"/>
          <p:nvPr/>
        </p:nvSpPr>
        <p:spPr>
          <a:xfrm>
            <a:off x="4575919" y="4055364"/>
            <a:ext cx="1341555" cy="467487"/>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228" name="PURIS Suppliers"/>
          <p:cNvSpPr txBox="1"/>
          <p:nvPr/>
        </p:nvSpPr>
        <p:spPr>
          <a:xfrm>
            <a:off x="6008914" y="4055364"/>
            <a:ext cx="1341555" cy="467487"/>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001E50"/>
                </a:solidFill>
                <a:latin typeface="Segoe UI" pitchFamily="34" charset="0"/>
                <a:ea typeface="Segoe UI" pitchFamily="34" charset="-122"/>
                <a:cs typeface="Segoe UI" pitchFamily="34" charset="-120"/>
              </a:rPr>
              <a:t>1 / 6</a:t>
            </a:r>
            <a:r>
              <a:rPr lang="de-DE" sz="750" b="0" kern="0" dirty="0">
                <a:solidFill>
                  <a:srgbClr val="63707A"/>
                </a:solidFill>
                <a:latin typeface="Segoe UI" pitchFamily="34" charset="0"/>
                <a:ea typeface="Segoe UI" pitchFamily="34" charset="-122"/>
                <a:cs typeface="Segoe UI" pitchFamily="34" charset="-120"/>
              </a:rPr>
              <a:t>  17%</a:t>
            </a:r>
          </a:p>
        </p:txBody>
      </p:sp>
      <p:sp>
        <p:nvSpPr>
          <p:cNvPr id="229" name="Business Partner Data Mgmt Suppliers"/>
          <p:cNvSpPr txBox="1"/>
          <p:nvPr/>
        </p:nvSpPr>
        <p:spPr>
          <a:xfrm>
            <a:off x="7441910" y="4055364"/>
            <a:ext cx="1341555" cy="467487"/>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230" name="Certificate Management Suppliers"/>
          <p:cNvSpPr txBox="1"/>
          <p:nvPr/>
        </p:nvSpPr>
        <p:spPr>
          <a:xfrm>
            <a:off x="8874905" y="4055364"/>
            <a:ext cx="1341555" cy="467487"/>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001E50"/>
                </a:solidFill>
                <a:latin typeface="Segoe UI" pitchFamily="34" charset="0"/>
                <a:ea typeface="Segoe UI" pitchFamily="34" charset="-122"/>
                <a:cs typeface="Segoe UI" pitchFamily="34" charset="-120"/>
              </a:rPr>
              <a:t>72 / 100</a:t>
            </a:r>
            <a:r>
              <a:rPr lang="de-DE" sz="750" b="0" kern="0" dirty="0">
                <a:solidFill>
                  <a:srgbClr val="63707A"/>
                </a:solidFill>
                <a:latin typeface="Segoe UI" pitchFamily="34" charset="0"/>
                <a:ea typeface="Segoe UI" pitchFamily="34" charset="-122"/>
                <a:cs typeface="Segoe UI" pitchFamily="34" charset="-120"/>
              </a:rPr>
              <a:t>  72%</a:t>
            </a:r>
          </a:p>
        </p:txBody>
      </p:sp>
      <p:sp>
        <p:nvSpPr>
          <p:cNvPr id="231" name="Product Carbon Footprint Suppliers"/>
          <p:cNvSpPr txBox="1"/>
          <p:nvPr/>
        </p:nvSpPr>
        <p:spPr>
          <a:xfrm>
            <a:off x="10307901" y="4055364"/>
            <a:ext cx="1341555" cy="467487"/>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232" name="Row Divider Goal: E2E go-live target"/>
          <p:cNvSpPr/>
          <p:nvPr/>
        </p:nvSpPr>
        <p:spPr>
          <a:xfrm>
            <a:off x="502920" y="4541139"/>
            <a:ext cx="11192256" cy="6401"/>
          </a:xfrm>
          <a:prstGeom prst="rect">
            <a:avLst/>
          </a:prstGeom>
          <a:solidFill>
            <a:srgbClr val="E2E8EC"/>
          </a:solidFill>
          <a:ln>
            <a:noFill/>
          </a:ln>
          <a:effectLst/>
        </p:spPr>
        <p:txBody>
          <a:bodyPr rtlCol="0" anchor="ctr"/>
          <a:lstStyle/>
          <a:p>
            <a:endParaRPr lang="de-DE"/>
          </a:p>
        </p:txBody>
      </p:sp>
      <p:sp>
        <p:nvSpPr>
          <p:cNvPr id="233" name="Row Label Goal: E2E go-live target"/>
          <p:cNvSpPr txBox="1"/>
          <p:nvPr/>
        </p:nvSpPr>
        <p:spPr>
          <a:xfrm>
            <a:off x="502920" y="4650867"/>
            <a:ext cx="1051560" cy="274320"/>
          </a:xfrm>
          <a:prstGeom prst="rect">
            <a:avLst/>
          </a:prstGeom>
          <a:noFill/>
          <a:ln>
            <a:noFill/>
          </a:ln>
        </p:spPr>
        <p:txBody>
          <a:bodyPr wrap="square" lIns="0" tIns="0" rIns="0" bIns="0" rtlCol="0" anchor="t">
            <a:noAutofit/>
          </a:bodyPr>
          <a:lstStyle/>
          <a:p>
            <a:pPr marL="0" indent="0" algn="l">
              <a:lnSpc>
                <a:spcPts val="950"/>
              </a:lnSpc>
              <a:buNone/>
            </a:pPr>
            <a:r>
              <a:rPr lang="de-DE" sz="700" b="1" kern="0" spc="40" dirty="0">
                <a:solidFill>
                  <a:srgbClr val="151B21"/>
                </a:solidFill>
                <a:latin typeface="Segoe UI" pitchFamily="34" charset="0"/>
                <a:ea typeface="Segoe UI" pitchFamily="34" charset="-122"/>
                <a:cs typeface="Segoe UI" pitchFamily="34" charset="-120"/>
              </a:rPr>
              <a:t>GOAL: E2E GO-LIVE TARGET</a:t>
            </a:r>
          </a:p>
        </p:txBody>
      </p:sp>
      <p:sp>
        <p:nvSpPr>
          <p:cNvPr id="234" name="Quality Go-live"/>
          <p:cNvSpPr txBox="1"/>
          <p:nvPr/>
        </p:nvSpPr>
        <p:spPr>
          <a:xfrm>
            <a:off x="1709928" y="4650867"/>
            <a:ext cx="1341555" cy="412623"/>
          </a:xfrm>
          <a:prstGeom prst="rect">
            <a:avLst/>
          </a:prstGeom>
          <a:noFill/>
          <a:ln>
            <a:noFill/>
          </a:ln>
        </p:spPr>
        <p:txBody>
          <a:bodyPr wrap="square" lIns="0" tIns="0" rIns="0" bIns="0" rtlCol="0" anchor="t">
            <a:noAutofit/>
          </a:bodyPr>
          <a:lstStyle/>
          <a:p>
            <a:pPr marL="0" indent="0" algn="l">
              <a:lnSpc>
                <a:spcPts val="1100"/>
              </a:lnSpc>
              <a:buNone/>
            </a:pPr>
            <a:r>
              <a:rPr lang="de-DE" sz="850" b="1" kern="0" dirty="0">
                <a:solidFill>
                  <a:srgbClr val="151B21"/>
                </a:solidFill>
                <a:latin typeface="Segoe UI" pitchFamily="34" charset="0"/>
                <a:ea typeface="Segoe UI" pitchFamily="34" charset="-122"/>
                <a:cs typeface="Segoe UI" pitchFamily="34" charset="-120"/>
              </a:rPr>
              <a:t>MVP Jan '27</a:t>
            </a:r>
          </a:p>
          <a:p>
            <a:pPr marL="0" indent="0" algn="l">
              <a:lnSpc>
                <a:spcPts val="1100"/>
              </a:lnSpc>
              <a:buNone/>
            </a:pPr>
            <a:r>
              <a:rPr lang="de-DE" sz="750" b="0" kern="0" dirty="0">
                <a:solidFill>
                  <a:srgbClr val="63707A"/>
                </a:solidFill>
                <a:latin typeface="Segoe UI" pitchFamily="34" charset="0"/>
                <a:ea typeface="Segoe UI" pitchFamily="34" charset="-122"/>
                <a:cs typeface="Segoe UI" pitchFamily="34" charset="-120"/>
              </a:rPr>
              <a:t>Scaling until 2030</a:t>
            </a:r>
          </a:p>
        </p:txBody>
      </p:sp>
      <p:sp>
        <p:nvSpPr>
          <p:cNvPr id="235" name="Battery Passport Go-live"/>
          <p:cNvSpPr txBox="1"/>
          <p:nvPr/>
        </p:nvSpPr>
        <p:spPr>
          <a:xfrm>
            <a:off x="3142923" y="4650867"/>
            <a:ext cx="1341555" cy="412623"/>
          </a:xfrm>
          <a:prstGeom prst="rect">
            <a:avLst/>
          </a:prstGeom>
          <a:noFill/>
          <a:ln>
            <a:noFill/>
          </a:ln>
        </p:spPr>
        <p:txBody>
          <a:bodyPr wrap="square" lIns="0" tIns="0" rIns="0" bIns="0" rtlCol="0" anchor="t">
            <a:noAutofit/>
          </a:bodyPr>
          <a:lstStyle/>
          <a:p>
            <a:pPr marL="0" indent="0" algn="l">
              <a:lnSpc>
                <a:spcPts val="1100"/>
              </a:lnSpc>
              <a:buNone/>
            </a:pPr>
            <a:r>
              <a:rPr lang="de-DE" sz="850" b="1" kern="0" dirty="0">
                <a:solidFill>
                  <a:srgbClr val="151B21"/>
                </a:solidFill>
                <a:latin typeface="Segoe UI" pitchFamily="34" charset="0"/>
                <a:ea typeface="Segoe UI" pitchFamily="34" charset="-122"/>
                <a:cs typeface="Segoe UI" pitchFamily="34" charset="-120"/>
              </a:rPr>
              <a:t>Feb 2027</a:t>
            </a:r>
          </a:p>
        </p:txBody>
      </p:sp>
      <p:sp>
        <p:nvSpPr>
          <p:cNvPr id="236" name="Product Passes Go-live"/>
          <p:cNvSpPr txBox="1"/>
          <p:nvPr/>
        </p:nvSpPr>
        <p:spPr>
          <a:xfrm>
            <a:off x="4575919" y="4650867"/>
            <a:ext cx="1341555" cy="412623"/>
          </a:xfrm>
          <a:prstGeom prst="rect">
            <a:avLst/>
          </a:prstGeom>
          <a:noFill/>
          <a:ln>
            <a:noFill/>
          </a:ln>
        </p:spPr>
        <p:txBody>
          <a:bodyPr wrap="square" lIns="0" tIns="0" rIns="0" bIns="0" rtlCol="0" anchor="t">
            <a:noAutofit/>
          </a:bodyPr>
          <a:lstStyle/>
          <a:p>
            <a:pPr marL="0" indent="0" algn="l">
              <a:lnSpc>
                <a:spcPts val="1100"/>
              </a:lnSpc>
              <a:buNone/>
            </a:pPr>
            <a:r>
              <a:rPr lang="de-DE" sz="850" b="0" kern="0" dirty="0">
                <a:solidFill>
                  <a:srgbClr val="9AA6AD"/>
                </a:solidFill>
                <a:latin typeface="Segoe UI" pitchFamily="34" charset="0"/>
                <a:ea typeface="Segoe UI" pitchFamily="34" charset="-122"/>
                <a:cs typeface="Segoe UI" pitchFamily="34" charset="-120"/>
              </a:rPr>
              <a:t>–  </a:t>
            </a:r>
            <a:r>
              <a:rPr lang="de-DE" sz="750" b="0" i="1" kern="0" dirty="0">
                <a:solidFill>
                  <a:srgbClr val="9AA6AD"/>
                </a:solidFill>
                <a:latin typeface="Segoe UI" pitchFamily="34" charset="0"/>
                <a:ea typeface="Segoe UI" pitchFamily="34" charset="-122"/>
                <a:cs typeface="Segoe UI" pitchFamily="34" charset="-120"/>
              </a:rPr>
              <a:t>not defined yet</a:t>
            </a:r>
          </a:p>
        </p:txBody>
      </p:sp>
      <p:sp>
        <p:nvSpPr>
          <p:cNvPr id="237" name="PURIS Go-live"/>
          <p:cNvSpPr txBox="1"/>
          <p:nvPr/>
        </p:nvSpPr>
        <p:spPr>
          <a:xfrm>
            <a:off x="6008914" y="4650867"/>
            <a:ext cx="1341555" cy="412623"/>
          </a:xfrm>
          <a:prstGeom prst="rect">
            <a:avLst/>
          </a:prstGeom>
          <a:noFill/>
          <a:ln>
            <a:noFill/>
          </a:ln>
        </p:spPr>
        <p:txBody>
          <a:bodyPr wrap="square" lIns="0" tIns="0" rIns="0" bIns="0" rtlCol="0" anchor="t">
            <a:noAutofit/>
          </a:bodyPr>
          <a:lstStyle/>
          <a:p>
            <a:pPr marL="0" indent="0" algn="l">
              <a:lnSpc>
                <a:spcPts val="1100"/>
              </a:lnSpc>
              <a:buNone/>
            </a:pPr>
            <a:r>
              <a:rPr lang="de-DE" sz="850" b="0" kern="0" dirty="0">
                <a:solidFill>
                  <a:srgbClr val="9AA6AD"/>
                </a:solidFill>
                <a:latin typeface="Segoe UI" pitchFamily="34" charset="0"/>
                <a:ea typeface="Segoe UI" pitchFamily="34" charset="-122"/>
                <a:cs typeface="Segoe UI" pitchFamily="34" charset="-120"/>
              </a:rPr>
              <a:t>–  </a:t>
            </a:r>
            <a:r>
              <a:rPr lang="de-DE" sz="750" b="0" i="1" kern="0" dirty="0">
                <a:solidFill>
                  <a:srgbClr val="9AA6AD"/>
                </a:solidFill>
                <a:latin typeface="Segoe UI" pitchFamily="34" charset="0"/>
                <a:ea typeface="Segoe UI" pitchFamily="34" charset="-122"/>
                <a:cs typeface="Segoe UI" pitchFamily="34" charset="-120"/>
              </a:rPr>
              <a:t>not specified</a:t>
            </a:r>
          </a:p>
        </p:txBody>
      </p:sp>
      <p:sp>
        <p:nvSpPr>
          <p:cNvPr id="238" name="Business Partner Data Mgmt Go-live"/>
          <p:cNvSpPr txBox="1"/>
          <p:nvPr/>
        </p:nvSpPr>
        <p:spPr>
          <a:xfrm>
            <a:off x="7441910" y="4650867"/>
            <a:ext cx="1341555" cy="412623"/>
          </a:xfrm>
          <a:prstGeom prst="rect">
            <a:avLst/>
          </a:prstGeom>
          <a:noFill/>
          <a:ln>
            <a:noFill/>
          </a:ln>
        </p:spPr>
        <p:txBody>
          <a:bodyPr wrap="square" lIns="0" tIns="0" rIns="0" bIns="0" rtlCol="0" anchor="t">
            <a:noAutofit/>
          </a:bodyPr>
          <a:lstStyle/>
          <a:p>
            <a:pPr marL="0" indent="0" algn="l">
              <a:lnSpc>
                <a:spcPts val="1100"/>
              </a:lnSpc>
              <a:buNone/>
            </a:pPr>
            <a:r>
              <a:rPr lang="de-DE" sz="850" b="1" kern="0" dirty="0">
                <a:solidFill>
                  <a:srgbClr val="151B21"/>
                </a:solidFill>
                <a:latin typeface="Segoe UI" pitchFamily="34" charset="0"/>
                <a:ea typeface="Segoe UI" pitchFamily="34" charset="-122"/>
                <a:cs typeface="Segoe UI" pitchFamily="34" charset="-120"/>
              </a:rPr>
              <a:t>Feb 2027</a:t>
            </a:r>
          </a:p>
        </p:txBody>
      </p:sp>
      <p:sp>
        <p:nvSpPr>
          <p:cNvPr id="239" name="Certificate Management Go-live"/>
          <p:cNvSpPr txBox="1"/>
          <p:nvPr/>
        </p:nvSpPr>
        <p:spPr>
          <a:xfrm>
            <a:off x="8874905" y="4650867"/>
            <a:ext cx="1341555" cy="412623"/>
          </a:xfrm>
          <a:prstGeom prst="rect">
            <a:avLst/>
          </a:prstGeom>
          <a:noFill/>
          <a:ln>
            <a:noFill/>
          </a:ln>
        </p:spPr>
        <p:txBody>
          <a:bodyPr wrap="square" lIns="0" tIns="0" rIns="0" bIns="0" rtlCol="0" anchor="t">
            <a:noAutofit/>
          </a:bodyPr>
          <a:lstStyle/>
          <a:p>
            <a:pPr marL="0" indent="0" algn="l">
              <a:lnSpc>
                <a:spcPts val="1100"/>
              </a:lnSpc>
              <a:buNone/>
            </a:pPr>
            <a:r>
              <a:rPr lang="de-DE" sz="850" b="1" kern="0" dirty="0">
                <a:solidFill>
                  <a:srgbClr val="151B21"/>
                </a:solidFill>
                <a:latin typeface="Segoe UI" pitchFamily="34" charset="0"/>
                <a:ea typeface="Segoe UI" pitchFamily="34" charset="-122"/>
                <a:cs typeface="Segoe UI" pitchFamily="34" charset="-120"/>
              </a:rPr>
              <a:t>May 2028</a:t>
            </a:r>
          </a:p>
        </p:txBody>
      </p:sp>
      <p:sp>
        <p:nvSpPr>
          <p:cNvPr id="240" name="Product Carbon Footprint Go-live"/>
          <p:cNvSpPr txBox="1"/>
          <p:nvPr/>
        </p:nvSpPr>
        <p:spPr>
          <a:xfrm>
            <a:off x="10307901" y="4650867"/>
            <a:ext cx="1341555" cy="412623"/>
          </a:xfrm>
          <a:prstGeom prst="rect">
            <a:avLst/>
          </a:prstGeom>
          <a:noFill/>
          <a:ln>
            <a:noFill/>
          </a:ln>
        </p:spPr>
        <p:txBody>
          <a:bodyPr wrap="square" lIns="0" tIns="0" rIns="0" bIns="0" rtlCol="0" anchor="t">
            <a:noAutofit/>
          </a:bodyPr>
          <a:lstStyle/>
          <a:p>
            <a:pPr marL="0" indent="0" algn="l">
              <a:lnSpc>
                <a:spcPts val="1100"/>
              </a:lnSpc>
              <a:buNone/>
            </a:pPr>
            <a:r>
              <a:rPr lang="de-DE" sz="850" b="1" kern="0" dirty="0">
                <a:solidFill>
                  <a:srgbClr val="151B21"/>
                </a:solidFill>
                <a:latin typeface="Segoe UI" pitchFamily="34" charset="0"/>
                <a:ea typeface="Segoe UI" pitchFamily="34" charset="-122"/>
                <a:cs typeface="Segoe UI" pitchFamily="34" charset="-120"/>
              </a:rPr>
              <a:t>01 Jan 2028</a:t>
            </a:r>
          </a:p>
        </p:txBody>
      </p:sp>
      <p:sp>
        <p:nvSpPr>
          <p:cNvPr id="241" name="Row Divider Goal: Final benefit"/>
          <p:cNvSpPr/>
          <p:nvPr/>
        </p:nvSpPr>
        <p:spPr>
          <a:xfrm>
            <a:off x="502920" y="5081778"/>
            <a:ext cx="11192256" cy="6401"/>
          </a:xfrm>
          <a:prstGeom prst="rect">
            <a:avLst/>
          </a:prstGeom>
          <a:solidFill>
            <a:srgbClr val="E2E8EC"/>
          </a:solidFill>
          <a:ln>
            <a:noFill/>
          </a:ln>
          <a:effectLst/>
        </p:spPr>
        <p:txBody>
          <a:bodyPr rtlCol="0" anchor="ctr"/>
          <a:lstStyle/>
          <a:p>
            <a:endParaRPr lang="de-DE"/>
          </a:p>
        </p:txBody>
      </p:sp>
      <p:sp>
        <p:nvSpPr>
          <p:cNvPr id="242" name="Row Label Goal: Final benefit"/>
          <p:cNvSpPr txBox="1"/>
          <p:nvPr/>
        </p:nvSpPr>
        <p:spPr>
          <a:xfrm>
            <a:off x="502920" y="5191506"/>
            <a:ext cx="1051560" cy="274320"/>
          </a:xfrm>
          <a:prstGeom prst="rect">
            <a:avLst/>
          </a:prstGeom>
          <a:noFill/>
          <a:ln>
            <a:noFill/>
          </a:ln>
        </p:spPr>
        <p:txBody>
          <a:bodyPr wrap="square" lIns="0" tIns="0" rIns="0" bIns="0" rtlCol="0" anchor="t">
            <a:noAutofit/>
          </a:bodyPr>
          <a:lstStyle/>
          <a:p>
            <a:pPr marL="0" indent="0" algn="l">
              <a:lnSpc>
                <a:spcPts val="950"/>
              </a:lnSpc>
              <a:buNone/>
            </a:pPr>
            <a:r>
              <a:rPr lang="de-DE" sz="700" b="1" kern="0" spc="40" dirty="0">
                <a:solidFill>
                  <a:srgbClr val="151B21"/>
                </a:solidFill>
                <a:latin typeface="Segoe UI" pitchFamily="34" charset="0"/>
                <a:ea typeface="Segoe UI" pitchFamily="34" charset="-122"/>
                <a:cs typeface="Segoe UI" pitchFamily="34" charset="-120"/>
              </a:rPr>
              <a:t>GOAL: FINAL BENEFIT</a:t>
            </a:r>
          </a:p>
        </p:txBody>
      </p:sp>
      <p:sp>
        <p:nvSpPr>
          <p:cNvPr id="243" name="Quality Benefit"/>
          <p:cNvSpPr txBox="1"/>
          <p:nvPr/>
        </p:nvSpPr>
        <p:spPr>
          <a:xfrm>
            <a:off x="1709928" y="5191506"/>
            <a:ext cx="1341555" cy="146304"/>
          </a:xfrm>
          <a:prstGeom prst="rect">
            <a:avLst/>
          </a:prstGeom>
          <a:noFill/>
          <a:ln>
            <a:noFill/>
          </a:ln>
        </p:spPr>
        <p:txBody>
          <a:bodyPr wrap="square" lIns="0" tIns="0" rIns="0" bIns="0" rtlCol="0" anchor="t">
            <a:noAutofit/>
          </a:bodyPr>
          <a:lstStyle/>
          <a:p>
            <a:pPr marL="0" indent="0" algn="l">
              <a:buNone/>
            </a:pPr>
            <a:r>
              <a:rPr lang="de-DE" sz="750" b="0" i="1" kern="0" dirty="0">
                <a:solidFill>
                  <a:srgbClr val="9AA6AD"/>
                </a:solidFill>
                <a:latin typeface="Segoe UI" pitchFamily="34" charset="0"/>
                <a:ea typeface="Segoe UI" pitchFamily="34" charset="-122"/>
                <a:cs typeface="Segoe UI" pitchFamily="34" charset="-120"/>
              </a:rPr>
              <a:t>Not yet quantified</a:t>
            </a:r>
          </a:p>
        </p:txBody>
      </p:sp>
      <p:sp>
        <p:nvSpPr>
          <p:cNvPr id="244" name="Battery Passport Benefit"/>
          <p:cNvSpPr txBox="1"/>
          <p:nvPr/>
        </p:nvSpPr>
        <p:spPr>
          <a:xfrm>
            <a:off x="3142923" y="5191506"/>
            <a:ext cx="1341555" cy="146304"/>
          </a:xfrm>
          <a:prstGeom prst="rect">
            <a:avLst/>
          </a:prstGeom>
          <a:noFill/>
          <a:ln>
            <a:noFill/>
          </a:ln>
        </p:spPr>
        <p:txBody>
          <a:bodyPr wrap="square" lIns="0" tIns="0" rIns="0" bIns="0" rtlCol="0" anchor="t">
            <a:noAutofit/>
          </a:bodyPr>
          <a:lstStyle/>
          <a:p>
            <a:pPr marL="0" indent="0" algn="l">
              <a:buNone/>
            </a:pPr>
            <a:r>
              <a:rPr lang="de-DE" sz="750" b="0" i="1" kern="0" dirty="0">
                <a:solidFill>
                  <a:srgbClr val="9AA6AD"/>
                </a:solidFill>
                <a:latin typeface="Segoe UI" pitchFamily="34" charset="0"/>
                <a:ea typeface="Segoe UI" pitchFamily="34" charset="-122"/>
                <a:cs typeface="Segoe UI" pitchFamily="34" charset="-120"/>
              </a:rPr>
              <a:t>Not yet quantified</a:t>
            </a:r>
          </a:p>
        </p:txBody>
      </p:sp>
      <p:sp>
        <p:nvSpPr>
          <p:cNvPr id="245" name="Product Passes Benefit"/>
          <p:cNvSpPr txBox="1"/>
          <p:nvPr/>
        </p:nvSpPr>
        <p:spPr>
          <a:xfrm>
            <a:off x="4575919" y="5191506"/>
            <a:ext cx="1341555" cy="146304"/>
          </a:xfrm>
          <a:prstGeom prst="rect">
            <a:avLst/>
          </a:prstGeom>
          <a:noFill/>
          <a:ln>
            <a:noFill/>
          </a:ln>
        </p:spPr>
        <p:txBody>
          <a:bodyPr wrap="square" lIns="0" tIns="0" rIns="0" bIns="0" rtlCol="0" anchor="t">
            <a:noAutofit/>
          </a:bodyPr>
          <a:lstStyle/>
          <a:p>
            <a:pPr marL="0" indent="0" algn="l">
              <a:buNone/>
            </a:pPr>
            <a:r>
              <a:rPr lang="de-DE" sz="750" b="0" i="1" kern="0" dirty="0">
                <a:solidFill>
                  <a:srgbClr val="9AA6AD"/>
                </a:solidFill>
                <a:latin typeface="Segoe UI" pitchFamily="34" charset="0"/>
                <a:ea typeface="Segoe UI" pitchFamily="34" charset="-122"/>
                <a:cs typeface="Segoe UI" pitchFamily="34" charset="-120"/>
              </a:rPr>
              <a:t>Not yet quantified</a:t>
            </a:r>
          </a:p>
        </p:txBody>
      </p:sp>
      <p:sp>
        <p:nvSpPr>
          <p:cNvPr id="246" name="PURIS Benefit"/>
          <p:cNvSpPr txBox="1"/>
          <p:nvPr/>
        </p:nvSpPr>
        <p:spPr>
          <a:xfrm>
            <a:off x="6008914" y="5154930"/>
            <a:ext cx="1341555" cy="201168"/>
          </a:xfrm>
          <a:prstGeom prst="rect">
            <a:avLst/>
          </a:prstGeom>
          <a:noFill/>
          <a:ln>
            <a:noFill/>
          </a:ln>
        </p:spPr>
        <p:txBody>
          <a:bodyPr wrap="square" lIns="0" tIns="0" rIns="0" bIns="0" rtlCol="0" anchor="t">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€32.4M</a:t>
            </a:r>
          </a:p>
        </p:txBody>
      </p:sp>
      <p:sp>
        <p:nvSpPr>
          <p:cNvPr id="247" name="Business Partner Data Mgmt Benefit"/>
          <p:cNvSpPr txBox="1"/>
          <p:nvPr/>
        </p:nvSpPr>
        <p:spPr>
          <a:xfrm>
            <a:off x="7441910" y="5191506"/>
            <a:ext cx="1341555" cy="146304"/>
          </a:xfrm>
          <a:prstGeom prst="rect">
            <a:avLst/>
          </a:prstGeom>
          <a:noFill/>
          <a:ln>
            <a:noFill/>
          </a:ln>
        </p:spPr>
        <p:txBody>
          <a:bodyPr wrap="square" lIns="0" tIns="0" rIns="0" bIns="0" rtlCol="0" anchor="t">
            <a:noAutofit/>
          </a:bodyPr>
          <a:lstStyle/>
          <a:p>
            <a:pPr marL="0" indent="0" algn="l">
              <a:buNone/>
            </a:pPr>
            <a:r>
              <a:rPr lang="de-DE" sz="750" b="0" i="1" kern="0" dirty="0">
                <a:solidFill>
                  <a:srgbClr val="9AA6AD"/>
                </a:solidFill>
                <a:latin typeface="Segoe UI" pitchFamily="34" charset="0"/>
                <a:ea typeface="Segoe UI" pitchFamily="34" charset="-122"/>
                <a:cs typeface="Segoe UI" pitchFamily="34" charset="-120"/>
              </a:rPr>
              <a:t>Not yet quantified</a:t>
            </a:r>
          </a:p>
        </p:txBody>
      </p:sp>
      <p:sp>
        <p:nvSpPr>
          <p:cNvPr id="248" name="Certificate Management Benefit"/>
          <p:cNvSpPr txBox="1"/>
          <p:nvPr/>
        </p:nvSpPr>
        <p:spPr>
          <a:xfrm>
            <a:off x="8874905" y="5191506"/>
            <a:ext cx="1341555" cy="146304"/>
          </a:xfrm>
          <a:prstGeom prst="rect">
            <a:avLst/>
          </a:prstGeom>
          <a:noFill/>
          <a:ln>
            <a:noFill/>
          </a:ln>
        </p:spPr>
        <p:txBody>
          <a:bodyPr wrap="square" lIns="0" tIns="0" rIns="0" bIns="0" rtlCol="0" anchor="t">
            <a:noAutofit/>
          </a:bodyPr>
          <a:lstStyle/>
          <a:p>
            <a:pPr marL="0" indent="0" algn="l">
              <a:buNone/>
            </a:pPr>
            <a:r>
              <a:rPr lang="de-DE" sz="750" b="0" i="1" kern="0" dirty="0">
                <a:solidFill>
                  <a:srgbClr val="9AA6AD"/>
                </a:solidFill>
                <a:latin typeface="Segoe UI" pitchFamily="34" charset="0"/>
                <a:ea typeface="Segoe UI" pitchFamily="34" charset="-122"/>
                <a:cs typeface="Segoe UI" pitchFamily="34" charset="-120"/>
              </a:rPr>
              <a:t>Not yet quantified</a:t>
            </a:r>
          </a:p>
        </p:txBody>
      </p:sp>
      <p:sp>
        <p:nvSpPr>
          <p:cNvPr id="249" name="Product Carbon Footprint Benefit"/>
          <p:cNvSpPr txBox="1"/>
          <p:nvPr/>
        </p:nvSpPr>
        <p:spPr>
          <a:xfrm>
            <a:off x="10307901" y="5191506"/>
            <a:ext cx="1341555" cy="146304"/>
          </a:xfrm>
          <a:prstGeom prst="rect">
            <a:avLst/>
          </a:prstGeom>
          <a:noFill/>
          <a:ln>
            <a:noFill/>
          </a:ln>
        </p:spPr>
        <p:txBody>
          <a:bodyPr wrap="square" lIns="0" tIns="0" rIns="0" bIns="0" rtlCol="0" anchor="t">
            <a:noAutofit/>
          </a:bodyPr>
          <a:lstStyle/>
          <a:p>
            <a:pPr marL="0" indent="0" algn="l">
              <a:buNone/>
            </a:pPr>
            <a:r>
              <a:rPr lang="de-DE" sz="750" b="0" i="1" kern="0" dirty="0">
                <a:solidFill>
                  <a:srgbClr val="9AA6AD"/>
                </a:solidFill>
                <a:latin typeface="Segoe UI" pitchFamily="34" charset="0"/>
                <a:ea typeface="Segoe UI" pitchFamily="34" charset="-122"/>
                <a:cs typeface="Segoe UI" pitchFamily="34" charset="-120"/>
              </a:rPr>
              <a:t>Not yet quantified</a:t>
            </a:r>
          </a:p>
        </p:txBody>
      </p:sp>
      <p:sp>
        <p:nvSpPr>
          <p:cNvPr id="250" name="Row Divider Decision required"/>
          <p:cNvSpPr/>
          <p:nvPr/>
        </p:nvSpPr>
        <p:spPr>
          <a:xfrm>
            <a:off x="502920" y="5549265"/>
            <a:ext cx="11192256" cy="6401"/>
          </a:xfrm>
          <a:prstGeom prst="rect">
            <a:avLst/>
          </a:prstGeom>
          <a:solidFill>
            <a:srgbClr val="E2E8EC"/>
          </a:solidFill>
          <a:ln>
            <a:noFill/>
          </a:ln>
          <a:effectLst/>
        </p:spPr>
        <p:txBody>
          <a:bodyPr rtlCol="0" anchor="ctr"/>
          <a:lstStyle/>
          <a:p>
            <a:endParaRPr lang="de-DE"/>
          </a:p>
        </p:txBody>
      </p:sp>
      <p:sp>
        <p:nvSpPr>
          <p:cNvPr id="251" name="Row Label Decision required"/>
          <p:cNvSpPr txBox="1"/>
          <p:nvPr/>
        </p:nvSpPr>
        <p:spPr>
          <a:xfrm>
            <a:off x="502920" y="5658993"/>
            <a:ext cx="1051560" cy="274320"/>
          </a:xfrm>
          <a:prstGeom prst="rect">
            <a:avLst/>
          </a:prstGeom>
          <a:noFill/>
          <a:ln>
            <a:noFill/>
          </a:ln>
        </p:spPr>
        <p:txBody>
          <a:bodyPr wrap="square" lIns="0" tIns="0" rIns="0" bIns="0" rtlCol="0" anchor="t">
            <a:noAutofit/>
          </a:bodyPr>
          <a:lstStyle/>
          <a:p>
            <a:pPr marL="0" indent="0" algn="l">
              <a:lnSpc>
                <a:spcPts val="950"/>
              </a:lnSpc>
              <a:buNone/>
            </a:pPr>
            <a:r>
              <a:rPr lang="de-DE" sz="700" b="1" kern="0" spc="40" dirty="0">
                <a:solidFill>
                  <a:srgbClr val="151B21"/>
                </a:solidFill>
                <a:latin typeface="Segoe UI" pitchFamily="34" charset="0"/>
                <a:ea typeface="Segoe UI" pitchFamily="34" charset="-122"/>
                <a:cs typeface="Segoe UI" pitchFamily="34" charset="-120"/>
              </a:rPr>
              <a:t>DECISION REQUIRED</a:t>
            </a:r>
          </a:p>
        </p:txBody>
      </p:sp>
      <p:sp>
        <p:nvSpPr>
          <p:cNvPr id="252" name="Quality Decision Flag"/>
          <p:cNvSpPr/>
          <p:nvPr/>
        </p:nvSpPr>
        <p:spPr>
          <a:xfrm>
            <a:off x="1709928" y="5649849"/>
            <a:ext cx="182880" cy="182880"/>
          </a:xfrm>
          <a:prstGeom prst="ellipse">
            <a:avLst/>
          </a:prstGeom>
          <a:solidFill>
            <a:srgbClr val="001E50"/>
          </a:solidFill>
          <a:ln>
            <a:noFill/>
          </a:ln>
          <a:effectLst/>
        </p:spPr>
        <p:txBody>
          <a:bodyPr rtlCol="0" anchor="ctr"/>
          <a:lstStyle/>
          <a:p>
            <a:endParaRPr lang="de-DE"/>
          </a:p>
        </p:txBody>
      </p:sp>
      <p:sp>
        <p:nvSpPr>
          <p:cNvPr id="253" name="Quality Decision No"/>
          <p:cNvSpPr txBox="1"/>
          <p:nvPr/>
        </p:nvSpPr>
        <p:spPr>
          <a:xfrm>
            <a:off x="1709928" y="5649849"/>
            <a:ext cx="182880" cy="182880"/>
          </a:xfrm>
          <a:prstGeom prst="rect">
            <a:avLst/>
          </a:prstGeom>
          <a:noFill/>
          <a:ln>
            <a:noFill/>
          </a:ln>
        </p:spPr>
        <p:txBody>
          <a:bodyPr wrap="square" lIns="0" tIns="0" rIns="0" bIns="0" rtlCol="0" anchor="ctr">
            <a:noAutofit/>
          </a:bodyPr>
          <a:lstStyle/>
          <a:p>
            <a:pPr marL="0" indent="0" algn="ctr">
              <a:buNone/>
            </a:pPr>
            <a:r>
              <a:rPr lang="de-DE" sz="700" b="1" kern="0" dirty="0">
                <a:solidFill>
                  <a:srgbClr val="FFFFFF"/>
                </a:solidFill>
                <a:latin typeface="Segoe UI" pitchFamily="34" charset="0"/>
                <a:ea typeface="Segoe UI" pitchFamily="34" charset="-122"/>
                <a:cs typeface="Segoe UI" pitchFamily="34" charset="-120"/>
              </a:rPr>
              <a:t>1</a:t>
            </a:r>
          </a:p>
        </p:txBody>
      </p:sp>
      <p:sp>
        <p:nvSpPr>
          <p:cNvPr id="254" name="Quality Decision"/>
          <p:cNvSpPr txBox="1"/>
          <p:nvPr/>
        </p:nvSpPr>
        <p:spPr>
          <a:xfrm>
            <a:off x="1947672" y="5658993"/>
            <a:ext cx="1103811" cy="851535"/>
          </a:xfrm>
          <a:prstGeom prst="rect">
            <a:avLst/>
          </a:prstGeom>
          <a:noFill/>
          <a:ln>
            <a:noFill/>
          </a:ln>
        </p:spPr>
        <p:txBody>
          <a:bodyPr wrap="square" lIns="0" tIns="0" rIns="0" bIns="0" rtlCol="0" anchor="t">
            <a:noAutofit/>
          </a:bodyPr>
          <a:lstStyle/>
          <a:p>
            <a:pPr marL="0" indent="0" algn="l">
              <a:lnSpc>
                <a:spcPts val="1050"/>
              </a:lnSpc>
              <a:buNone/>
            </a:pPr>
            <a:r>
              <a:rPr lang="de-DE" sz="750" b="0" kern="0" dirty="0">
                <a:solidFill>
                  <a:srgbClr val="292D31"/>
                </a:solidFill>
                <a:latin typeface="Segoe UI" pitchFamily="34" charset="0"/>
                <a:ea typeface="Segoe UI" pitchFamily="34" charset="-122"/>
                <a:cs typeface="Segoe UI" pitchFamily="34" charset="-120"/>
              </a:rPr>
              <a:t>Approve rescoping from 15 to 1 supplier until the Early Warning Production MVP is live?</a:t>
            </a:r>
          </a:p>
        </p:txBody>
      </p:sp>
      <p:sp>
        <p:nvSpPr>
          <p:cNvPr id="255" name="Battery Passport Decision None"/>
          <p:cNvSpPr txBox="1"/>
          <p:nvPr/>
        </p:nvSpPr>
        <p:spPr>
          <a:xfrm>
            <a:off x="3142923" y="5658993"/>
            <a:ext cx="1341555" cy="146304"/>
          </a:xfrm>
          <a:prstGeom prst="rect">
            <a:avLst/>
          </a:prstGeom>
          <a:noFill/>
          <a:ln>
            <a:noFill/>
          </a:ln>
        </p:spPr>
        <p:txBody>
          <a:bodyPr wrap="square" lIns="0" tIns="0" rIns="0" bIns="0" rtlCol="0" anchor="t">
            <a:noAutofit/>
          </a:bodyPr>
          <a:lstStyle/>
          <a:p>
            <a:pPr marL="0" indent="0" algn="l">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256" name="Product Passes Decision None"/>
          <p:cNvSpPr txBox="1"/>
          <p:nvPr/>
        </p:nvSpPr>
        <p:spPr>
          <a:xfrm>
            <a:off x="4575919" y="5658993"/>
            <a:ext cx="1341555" cy="146304"/>
          </a:xfrm>
          <a:prstGeom prst="rect">
            <a:avLst/>
          </a:prstGeom>
          <a:noFill/>
          <a:ln>
            <a:noFill/>
          </a:ln>
        </p:spPr>
        <p:txBody>
          <a:bodyPr wrap="square" lIns="0" tIns="0" rIns="0" bIns="0" rtlCol="0" anchor="t">
            <a:noAutofit/>
          </a:bodyPr>
          <a:lstStyle/>
          <a:p>
            <a:pPr marL="0" indent="0" algn="l">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257" name="PURIS Decision Flag"/>
          <p:cNvSpPr/>
          <p:nvPr/>
        </p:nvSpPr>
        <p:spPr>
          <a:xfrm>
            <a:off x="6008914" y="5649849"/>
            <a:ext cx="182880" cy="182880"/>
          </a:xfrm>
          <a:prstGeom prst="ellipse">
            <a:avLst/>
          </a:prstGeom>
          <a:solidFill>
            <a:srgbClr val="001E50"/>
          </a:solidFill>
          <a:ln>
            <a:noFill/>
          </a:ln>
          <a:effectLst/>
        </p:spPr>
        <p:txBody>
          <a:bodyPr rtlCol="0" anchor="ctr"/>
          <a:lstStyle/>
          <a:p>
            <a:endParaRPr lang="de-DE"/>
          </a:p>
        </p:txBody>
      </p:sp>
      <p:sp>
        <p:nvSpPr>
          <p:cNvPr id="258" name="PURIS Decision No"/>
          <p:cNvSpPr txBox="1"/>
          <p:nvPr/>
        </p:nvSpPr>
        <p:spPr>
          <a:xfrm>
            <a:off x="6008914" y="5649849"/>
            <a:ext cx="182880" cy="182880"/>
          </a:xfrm>
          <a:prstGeom prst="rect">
            <a:avLst/>
          </a:prstGeom>
          <a:noFill/>
          <a:ln>
            <a:noFill/>
          </a:ln>
        </p:spPr>
        <p:txBody>
          <a:bodyPr wrap="square" lIns="0" tIns="0" rIns="0" bIns="0" rtlCol="0" anchor="ctr">
            <a:noAutofit/>
          </a:bodyPr>
          <a:lstStyle/>
          <a:p>
            <a:pPr marL="0" indent="0" algn="ctr">
              <a:buNone/>
            </a:pPr>
            <a:r>
              <a:rPr lang="de-DE" sz="700" b="1" kern="0" dirty="0">
                <a:solidFill>
                  <a:srgbClr val="FFFFFF"/>
                </a:solidFill>
                <a:latin typeface="Segoe UI" pitchFamily="34" charset="0"/>
                <a:ea typeface="Segoe UI" pitchFamily="34" charset="-122"/>
                <a:cs typeface="Segoe UI" pitchFamily="34" charset="-120"/>
              </a:rPr>
              <a:t>2</a:t>
            </a:r>
          </a:p>
        </p:txBody>
      </p:sp>
      <p:sp>
        <p:nvSpPr>
          <p:cNvPr id="259" name="PURIS Decision"/>
          <p:cNvSpPr txBox="1"/>
          <p:nvPr/>
        </p:nvSpPr>
        <p:spPr>
          <a:xfrm>
            <a:off x="6246658" y="5658993"/>
            <a:ext cx="1103811" cy="851535"/>
          </a:xfrm>
          <a:prstGeom prst="rect">
            <a:avLst/>
          </a:prstGeom>
          <a:noFill/>
          <a:ln>
            <a:noFill/>
          </a:ln>
        </p:spPr>
        <p:txBody>
          <a:bodyPr wrap="square" lIns="0" tIns="0" rIns="0" bIns="0" rtlCol="0" anchor="t">
            <a:noAutofit/>
          </a:bodyPr>
          <a:lstStyle/>
          <a:p>
            <a:pPr marL="0" indent="0" algn="l">
              <a:lnSpc>
                <a:spcPts val="1050"/>
              </a:lnSpc>
              <a:buNone/>
            </a:pPr>
            <a:r>
              <a:rPr lang="de-DE" sz="750" b="0" kern="0" dirty="0">
                <a:solidFill>
                  <a:srgbClr val="292D31"/>
                </a:solidFill>
                <a:latin typeface="Segoe UI" pitchFamily="34" charset="0"/>
                <a:ea typeface="Segoe UI" pitchFamily="34" charset="-122"/>
                <a:cs typeface="Segoe UI" pitchFamily="34" charset="-120"/>
              </a:rPr>
              <a:t>When and how should the WINGS connectivity rollout roadmap be decided?</a:t>
            </a:r>
          </a:p>
        </p:txBody>
      </p:sp>
      <p:sp>
        <p:nvSpPr>
          <p:cNvPr id="260" name="Business Partner Data Mgmt Decision None"/>
          <p:cNvSpPr txBox="1"/>
          <p:nvPr/>
        </p:nvSpPr>
        <p:spPr>
          <a:xfrm>
            <a:off x="7441910" y="5658993"/>
            <a:ext cx="1341555" cy="146304"/>
          </a:xfrm>
          <a:prstGeom prst="rect">
            <a:avLst/>
          </a:prstGeom>
          <a:noFill/>
          <a:ln>
            <a:noFill/>
          </a:ln>
        </p:spPr>
        <p:txBody>
          <a:bodyPr wrap="square" lIns="0" tIns="0" rIns="0" bIns="0" rtlCol="0" anchor="t">
            <a:noAutofit/>
          </a:bodyPr>
          <a:lstStyle/>
          <a:p>
            <a:pPr marL="0" indent="0" algn="l">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261" name="Certificate Management Decision None"/>
          <p:cNvSpPr txBox="1"/>
          <p:nvPr/>
        </p:nvSpPr>
        <p:spPr>
          <a:xfrm>
            <a:off x="8874905" y="5658993"/>
            <a:ext cx="1341555" cy="146304"/>
          </a:xfrm>
          <a:prstGeom prst="rect">
            <a:avLst/>
          </a:prstGeom>
          <a:noFill/>
          <a:ln>
            <a:noFill/>
          </a:ln>
        </p:spPr>
        <p:txBody>
          <a:bodyPr wrap="square" lIns="0" tIns="0" rIns="0" bIns="0" rtlCol="0" anchor="t">
            <a:noAutofit/>
          </a:bodyPr>
          <a:lstStyle/>
          <a:p>
            <a:pPr marL="0" indent="0" algn="l">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262" name="Product Carbon Footprint Decision None"/>
          <p:cNvSpPr txBox="1"/>
          <p:nvPr/>
        </p:nvSpPr>
        <p:spPr>
          <a:xfrm>
            <a:off x="10307901" y="5658993"/>
            <a:ext cx="1341555" cy="146304"/>
          </a:xfrm>
          <a:prstGeom prst="rect">
            <a:avLst/>
          </a:prstGeom>
          <a:noFill/>
          <a:ln>
            <a:noFill/>
          </a:ln>
        </p:spPr>
        <p:txBody>
          <a:bodyPr wrap="square" lIns="0" tIns="0" rIns="0" bIns="0" rtlCol="0" anchor="t">
            <a:noAutofit/>
          </a:bodyPr>
          <a:lstStyle/>
          <a:p>
            <a:pPr marL="0" indent="0" algn="l">
              <a:buNone/>
            </a:pPr>
            <a:r>
              <a:rPr lang="de-DE" sz="85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1</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