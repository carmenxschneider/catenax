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41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Catena-X Use Cases</a:t>
            </a:r>
          </a:p>
        </p:txBody>
      </p:sp>
      <p:sp>
        <p:nvSpPr>
          <p:cNvPr id="103" name="Info Panel"/>
          <p:cNvSpPr/>
          <p:nvPr/>
        </p:nvSpPr>
        <p:spPr>
          <a:xfrm>
            <a:off x="7726680" y="219456"/>
            <a:ext cx="4187952" cy="603504"/>
          </a:xfrm>
          <a:prstGeom prst="roundRect">
            <a:avLst>
              <a:gd name="adj" fmla="val 14000"/>
            </a:avLst>
          </a:prstGeom>
          <a:solidFill>
            <a:srgbClr val="0B3A45"/>
          </a:solidFill>
          <a:ln w="9525">
            <a:solidFill>
              <a:srgbClr val="008C82"/>
            </a:solidFill>
          </a:ln>
          <a:effectLst/>
        </p:spPr>
        <p:txBody>
          <a:bodyPr rtlCol="0" anchor="ctr"/>
          <a:lstStyle/>
          <a:p>
            <a:endParaRPr lang="de-DE"/>
          </a:p>
        </p:txBody>
      </p:sp>
      <p:sp>
        <p:nvSpPr>
          <p:cNvPr id="104" name="Panel Label"/>
          <p:cNvSpPr txBox="1"/>
          <p:nvPr/>
        </p:nvSpPr>
        <p:spPr>
          <a:xfrm>
            <a:off x="7891272" y="320040"/>
            <a:ext cx="1143000" cy="146304"/>
          </a:xfrm>
          <a:prstGeom prst="rect">
            <a:avLst/>
          </a:prstGeom>
          <a:noFill/>
          <a:ln>
            <a:noFill/>
          </a:ln>
        </p:spPr>
        <p:txBody>
          <a:bodyPr wrap="square" lIns="0" tIns="0" rIns="0" bIns="0" rtlCol="0" anchor="t">
            <a:noAutofit/>
          </a:bodyPr>
          <a:lstStyle/>
          <a:p>
            <a:pPr marL="0" indent="0" algn="l">
              <a:buNone/>
            </a:pPr>
            <a:r>
              <a:rPr lang="de-DE" sz="90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7891272" y="493776"/>
            <a:ext cx="1143000" cy="219456"/>
          </a:xfrm>
          <a:prstGeom prst="rect">
            <a:avLst/>
          </a:prstGeom>
          <a:noFill/>
          <a:ln>
            <a:noFill/>
          </a:ln>
        </p:spPr>
        <p:txBody>
          <a:bodyPr wrap="square" lIns="0" tIns="0" rIns="0" bIns="0" rtlCol="0" anchor="t">
            <a:noAutofit/>
          </a:bodyPr>
          <a:lstStyle/>
          <a:p>
            <a:pPr marL="0" indent="0" algn="l">
              <a:buNone/>
            </a:pPr>
            <a:r>
              <a:rPr lang="de-DE" sz="12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025128" y="347472"/>
            <a:ext cx="7315" cy="347472"/>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208008" y="370332"/>
            <a:ext cx="82296" cy="82296"/>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354312" y="338328"/>
            <a:ext cx="1115568" cy="146304"/>
          </a:xfrm>
          <a:prstGeom prst="rect">
            <a:avLst/>
          </a:prstGeom>
          <a:noFill/>
          <a:ln>
            <a:noFill/>
          </a:ln>
        </p:spPr>
        <p:txBody>
          <a:bodyPr wrap="none" lIns="0" tIns="0" rIns="0" bIns="0" rtlCol="0" anchor="t">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208008" y="589788"/>
            <a:ext cx="82296" cy="82296"/>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354312" y="557784"/>
            <a:ext cx="1115568" cy="146304"/>
          </a:xfrm>
          <a:prstGeom prst="rect">
            <a:avLst/>
          </a:prstGeom>
          <a:noFill/>
          <a:ln>
            <a:noFill/>
          </a:ln>
        </p:spPr>
        <p:txBody>
          <a:bodyPr wrap="none" lIns="0" tIns="0" rIns="0" bIns="0" rtlCol="0" anchor="t">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488168" y="370332"/>
            <a:ext cx="82296" cy="82296"/>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634472" y="338328"/>
            <a:ext cx="1115568" cy="146304"/>
          </a:xfrm>
          <a:prstGeom prst="rect">
            <a:avLst/>
          </a:prstGeom>
          <a:noFill/>
          <a:ln>
            <a:noFill/>
          </a:ln>
        </p:spPr>
        <p:txBody>
          <a:bodyPr wrap="none" lIns="0" tIns="0" rIns="0" bIns="0" rtlCol="0" anchor="t">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488168" y="589788"/>
            <a:ext cx="82296" cy="82296"/>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634472" y="557784"/>
            <a:ext cx="1115568" cy="146304"/>
          </a:xfrm>
          <a:prstGeom prst="rect">
            <a:avLst/>
          </a:prstGeom>
          <a:noFill/>
          <a:ln>
            <a:noFill/>
          </a:ln>
        </p:spPr>
        <p:txBody>
          <a:bodyPr wrap="none" lIns="0" tIns="0" rIns="0" bIns="0" rtlCol="0" anchor="t">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5937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9"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81616"/>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417608"/>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417608"/>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417608"/>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417608"/>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417608"/>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417608"/>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417608"/>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417608"/>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932503"/>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868495"/>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93250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868495"/>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868495"/>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868495"/>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868495"/>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868495"/>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868495"/>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868495"/>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83389"/>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319381"/>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383389"/>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319381"/>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319381"/>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319381"/>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319381"/>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319381"/>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82 / 100</a:t>
            </a:r>
            <a:r>
              <a:rPr lang="de-DE" sz="900" b="0" kern="0" dirty="0">
                <a:solidFill>
                  <a:srgbClr val="63707A"/>
                </a:solidFill>
                <a:latin typeface="Segoe UI" pitchFamily="34" charset="0"/>
                <a:ea typeface="Segoe UI" pitchFamily="34" charset="-122"/>
                <a:cs typeface="Segoe UI" pitchFamily="34" charset="-120"/>
              </a:rPr>
              <a:t>  82%</a:t>
            </a:r>
          </a:p>
        </p:txBody>
      </p:sp>
      <p:sp>
        <p:nvSpPr>
          <p:cNvPr id="221" name="Product Carbon Footprint Row Divider Suppliers enabled 2026"/>
          <p:cNvSpPr/>
          <p:nvPr/>
        </p:nvSpPr>
        <p:spPr>
          <a:xfrm>
            <a:off x="9332595" y="3319381"/>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319381"/>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834275"/>
            <a:ext cx="868680" cy="53292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770267"/>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870851"/>
            <a:ext cx="73152" cy="73152"/>
          </a:xfrm>
          <a:prstGeom prst="ellipse">
            <a:avLst/>
          </a:prstGeom>
          <a:solidFill>
            <a:srgbClr val="E64343"/>
          </a:solidFill>
          <a:ln>
            <a:noFill/>
          </a:ln>
          <a:effectLst/>
        </p:spPr>
        <p:txBody>
          <a:bodyPr rtlCol="0" anchor="ctr"/>
          <a:lstStyle/>
          <a:p>
            <a:endParaRPr lang="de-DE"/>
          </a:p>
        </p:txBody>
      </p:sp>
      <p:sp>
        <p:nvSpPr>
          <p:cNvPr id="228" name="Quality Milestone"/>
          <p:cNvSpPr txBox="1"/>
          <p:nvPr/>
        </p:nvSpPr>
        <p:spPr>
          <a:xfrm>
            <a:off x="139446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SQA CX MVP scale-up</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Jan 2027</a:t>
            </a:r>
          </a:p>
        </p:txBody>
      </p:sp>
      <p:sp>
        <p:nvSpPr>
          <p:cNvPr id="229" name="Battery Passport Row Divider Next critical milestone"/>
          <p:cNvSpPr/>
          <p:nvPr/>
        </p:nvSpPr>
        <p:spPr>
          <a:xfrm>
            <a:off x="2603182" y="3770267"/>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770267"/>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870851"/>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770267"/>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870851"/>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770267"/>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770267"/>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870851"/>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770267"/>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p:cNvSpPr txBox="1"/>
          <p:nvPr/>
        </p:nvSpPr>
        <p:spPr>
          <a:xfrm>
            <a:off x="9332595"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4" name="N-Tier Row Divider Next critical milestone"/>
          <p:cNvSpPr/>
          <p:nvPr/>
        </p:nvSpPr>
        <p:spPr>
          <a:xfrm>
            <a:off x="10678477" y="3770267"/>
            <a:ext cx="1167574" cy="6401"/>
          </a:xfrm>
          <a:prstGeom prst="rect">
            <a:avLst/>
          </a:prstGeom>
          <a:solidFill>
            <a:srgbClr val="E2E8EC"/>
          </a:solidFill>
          <a:ln>
            <a:noFill/>
          </a:ln>
          <a:effectLst/>
        </p:spPr>
        <p:txBody>
          <a:bodyPr rtlCol="0" anchor="ctr"/>
          <a:lstStyle/>
          <a:p>
            <a:endParaRPr lang="de-DE"/>
          </a:p>
        </p:txBody>
      </p:sp>
      <p:sp>
        <p:nvSpPr>
          <p:cNvPr id="245" name="N-Tier Milestone"/>
          <p:cNvSpPr txBox="1"/>
          <p:nvPr/>
        </p:nvSpPr>
        <p:spPr>
          <a:xfrm>
            <a:off x="10678477"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6" name="Row Label Dimensions"/>
          <p:cNvSpPr txBox="1"/>
          <p:nvPr/>
        </p:nvSpPr>
        <p:spPr>
          <a:xfrm>
            <a:off x="274320" y="4431211"/>
            <a:ext cx="868680" cy="115395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7" name="Quality Row Divider Dimensions"/>
          <p:cNvSpPr/>
          <p:nvPr/>
        </p:nvSpPr>
        <p:spPr>
          <a:xfrm>
            <a:off x="1257300" y="4367203"/>
            <a:ext cx="1167574" cy="6401"/>
          </a:xfrm>
          <a:prstGeom prst="rect">
            <a:avLst/>
          </a:prstGeom>
          <a:solidFill>
            <a:srgbClr val="E2E8EC"/>
          </a:solidFill>
          <a:ln>
            <a:noFill/>
          </a:ln>
          <a:effectLst/>
        </p:spPr>
        <p:txBody>
          <a:bodyPr rtlCol="0" anchor="ctr"/>
          <a:lstStyle/>
          <a:p>
            <a:endParaRPr lang="de-DE"/>
          </a:p>
        </p:txBody>
      </p:sp>
      <p:sp>
        <p:nvSpPr>
          <p:cNvPr id="248" name="Quality Dim Dot External · CX Association"/>
          <p:cNvSpPr/>
          <p:nvPr/>
        </p:nvSpPr>
        <p:spPr>
          <a:xfrm>
            <a:off x="1257300" y="4467787"/>
            <a:ext cx="73152" cy="73152"/>
          </a:xfrm>
          <a:prstGeom prst="ellipse">
            <a:avLst/>
          </a:prstGeom>
          <a:solidFill>
            <a:srgbClr val="53BE70"/>
          </a:solidFill>
          <a:ln>
            <a:noFill/>
          </a:ln>
          <a:effectLst/>
        </p:spPr>
        <p:txBody>
          <a:bodyPr rtlCol="0" anchor="ctr"/>
          <a:lstStyle/>
          <a:p>
            <a:endParaRPr lang="de-DE"/>
          </a:p>
        </p:txBody>
      </p:sp>
      <p:sp>
        <p:nvSpPr>
          <p:cNvPr id="249" name="Quality Dim External · CX Association"/>
          <p:cNvSpPr txBox="1"/>
          <p:nvPr/>
        </p:nvSpPr>
        <p:spPr>
          <a:xfrm>
            <a:off x="139446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Quality Dim Dot Business"/>
          <p:cNvSpPr/>
          <p:nvPr/>
        </p:nvSpPr>
        <p:spPr>
          <a:xfrm>
            <a:off x="1257300" y="4805607"/>
            <a:ext cx="73152" cy="73152"/>
          </a:xfrm>
          <a:prstGeom prst="ellipse">
            <a:avLst/>
          </a:prstGeom>
          <a:solidFill>
            <a:srgbClr val="F0B135"/>
          </a:solidFill>
          <a:ln>
            <a:noFill/>
          </a:ln>
          <a:effectLst/>
        </p:spPr>
        <p:txBody>
          <a:bodyPr rtlCol="0" anchor="ctr"/>
          <a:lstStyle/>
          <a:p>
            <a:endParaRPr lang="de-DE"/>
          </a:p>
        </p:txBody>
      </p:sp>
      <p:sp>
        <p:nvSpPr>
          <p:cNvPr id="251" name="Quality Dim Business"/>
          <p:cNvSpPr txBox="1"/>
          <p:nvPr/>
        </p:nvSpPr>
        <p:spPr>
          <a:xfrm>
            <a:off x="139446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Quality Dim Dot Data Provisioning"/>
          <p:cNvSpPr/>
          <p:nvPr/>
        </p:nvSpPr>
        <p:spPr>
          <a:xfrm>
            <a:off x="1257300" y="4997377"/>
            <a:ext cx="73152" cy="73152"/>
          </a:xfrm>
          <a:prstGeom prst="ellipse">
            <a:avLst/>
          </a:prstGeom>
          <a:solidFill>
            <a:srgbClr val="F0B135"/>
          </a:solidFill>
          <a:ln>
            <a:noFill/>
          </a:ln>
          <a:effectLst/>
        </p:spPr>
        <p:txBody>
          <a:bodyPr rtlCol="0" anchor="ctr"/>
          <a:lstStyle/>
          <a:p>
            <a:endParaRPr lang="de-DE"/>
          </a:p>
        </p:txBody>
      </p:sp>
      <p:sp>
        <p:nvSpPr>
          <p:cNvPr id="253" name="Quality Dim Data Provisioning"/>
          <p:cNvSpPr txBox="1"/>
          <p:nvPr/>
        </p:nvSpPr>
        <p:spPr>
          <a:xfrm>
            <a:off x="139446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Quality Dim Dot Technical"/>
          <p:cNvSpPr/>
          <p:nvPr/>
        </p:nvSpPr>
        <p:spPr>
          <a:xfrm>
            <a:off x="1257300" y="5189147"/>
            <a:ext cx="73152" cy="73152"/>
          </a:xfrm>
          <a:prstGeom prst="ellipse">
            <a:avLst/>
          </a:prstGeom>
          <a:solidFill>
            <a:srgbClr val="F0B135"/>
          </a:solidFill>
          <a:ln>
            <a:noFill/>
          </a:ln>
          <a:effectLst/>
        </p:spPr>
        <p:txBody>
          <a:bodyPr rtlCol="0" anchor="ctr"/>
          <a:lstStyle/>
          <a:p>
            <a:endParaRPr lang="de-DE"/>
          </a:p>
        </p:txBody>
      </p:sp>
      <p:sp>
        <p:nvSpPr>
          <p:cNvPr id="255" name="Quality Dim Technical"/>
          <p:cNvSpPr txBox="1"/>
          <p:nvPr/>
        </p:nvSpPr>
        <p:spPr>
          <a:xfrm>
            <a:off x="139446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Quality Dim Dot Supplier Activation"/>
          <p:cNvSpPr/>
          <p:nvPr/>
        </p:nvSpPr>
        <p:spPr>
          <a:xfrm>
            <a:off x="1257300" y="5380917"/>
            <a:ext cx="73152" cy="73152"/>
          </a:xfrm>
          <a:prstGeom prst="ellipse">
            <a:avLst/>
          </a:prstGeom>
          <a:solidFill>
            <a:srgbClr val="F0B135"/>
          </a:solidFill>
          <a:ln>
            <a:noFill/>
          </a:ln>
          <a:effectLst/>
        </p:spPr>
        <p:txBody>
          <a:bodyPr rtlCol="0" anchor="ctr"/>
          <a:lstStyle/>
          <a:p>
            <a:endParaRPr lang="de-DE"/>
          </a:p>
        </p:txBody>
      </p:sp>
      <p:sp>
        <p:nvSpPr>
          <p:cNvPr id="257" name="Quality Dim Supplier Activation"/>
          <p:cNvSpPr txBox="1"/>
          <p:nvPr/>
        </p:nvSpPr>
        <p:spPr>
          <a:xfrm>
            <a:off x="139446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Battery Passport Row Divider Dimensions"/>
          <p:cNvSpPr/>
          <p:nvPr/>
        </p:nvSpPr>
        <p:spPr>
          <a:xfrm>
            <a:off x="2603182" y="4367203"/>
            <a:ext cx="1167574" cy="6401"/>
          </a:xfrm>
          <a:prstGeom prst="rect">
            <a:avLst/>
          </a:prstGeom>
          <a:solidFill>
            <a:srgbClr val="E2E8EC"/>
          </a:solidFill>
          <a:ln>
            <a:noFill/>
          </a:ln>
          <a:effectLst/>
        </p:spPr>
        <p:txBody>
          <a:bodyPr rtlCol="0" anchor="ctr"/>
          <a:lstStyle/>
          <a:p>
            <a:endParaRPr lang="de-DE"/>
          </a:p>
        </p:txBody>
      </p:sp>
      <p:sp>
        <p:nvSpPr>
          <p:cNvPr id="259" name="Battery Passport Dim Dot External · CX Association"/>
          <p:cNvSpPr/>
          <p:nvPr/>
        </p:nvSpPr>
        <p:spPr>
          <a:xfrm>
            <a:off x="2603182" y="4467787"/>
            <a:ext cx="73152" cy="73152"/>
          </a:xfrm>
          <a:prstGeom prst="ellipse">
            <a:avLst/>
          </a:prstGeom>
          <a:solidFill>
            <a:srgbClr val="F0B135"/>
          </a:solidFill>
          <a:ln>
            <a:noFill/>
          </a:ln>
          <a:effectLst/>
        </p:spPr>
        <p:txBody>
          <a:bodyPr rtlCol="0" anchor="ctr"/>
          <a:lstStyle/>
          <a:p>
            <a:endParaRPr lang="de-DE"/>
          </a:p>
        </p:txBody>
      </p:sp>
      <p:sp>
        <p:nvSpPr>
          <p:cNvPr id="260" name="Battery Passport Dim External · CX Association"/>
          <p:cNvSpPr txBox="1"/>
          <p:nvPr/>
        </p:nvSpPr>
        <p:spPr>
          <a:xfrm>
            <a:off x="274034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1" name="Battery Passport Dim Dot Business"/>
          <p:cNvSpPr/>
          <p:nvPr/>
        </p:nvSpPr>
        <p:spPr>
          <a:xfrm>
            <a:off x="2603182" y="4805607"/>
            <a:ext cx="73152" cy="73152"/>
          </a:xfrm>
          <a:prstGeom prst="ellipse">
            <a:avLst/>
          </a:prstGeom>
          <a:solidFill>
            <a:srgbClr val="F0B135"/>
          </a:solidFill>
          <a:ln>
            <a:noFill/>
          </a:ln>
          <a:effectLst/>
        </p:spPr>
        <p:txBody>
          <a:bodyPr rtlCol="0" anchor="ctr"/>
          <a:lstStyle/>
          <a:p>
            <a:endParaRPr lang="de-DE"/>
          </a:p>
        </p:txBody>
      </p:sp>
      <p:sp>
        <p:nvSpPr>
          <p:cNvPr id="262" name="Battery Passport Dim Business"/>
          <p:cNvSpPr txBox="1"/>
          <p:nvPr/>
        </p:nvSpPr>
        <p:spPr>
          <a:xfrm>
            <a:off x="274034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3" name="Battery Passport Dim Dot Data Provisioning"/>
          <p:cNvSpPr/>
          <p:nvPr/>
        </p:nvSpPr>
        <p:spPr>
          <a:xfrm>
            <a:off x="2603182" y="4997377"/>
            <a:ext cx="73152" cy="73152"/>
          </a:xfrm>
          <a:prstGeom prst="ellipse">
            <a:avLst/>
          </a:prstGeom>
          <a:solidFill>
            <a:srgbClr val="53BE70"/>
          </a:solidFill>
          <a:ln>
            <a:noFill/>
          </a:ln>
          <a:effectLst/>
        </p:spPr>
        <p:txBody>
          <a:bodyPr rtlCol="0" anchor="ctr"/>
          <a:lstStyle/>
          <a:p>
            <a:endParaRPr lang="de-DE"/>
          </a:p>
        </p:txBody>
      </p:sp>
      <p:sp>
        <p:nvSpPr>
          <p:cNvPr id="264" name="Battery Passport Dim Data Provisioning"/>
          <p:cNvSpPr txBox="1"/>
          <p:nvPr/>
        </p:nvSpPr>
        <p:spPr>
          <a:xfrm>
            <a:off x="274034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5" name="Battery Passport Dim Dot Technical"/>
          <p:cNvSpPr/>
          <p:nvPr/>
        </p:nvSpPr>
        <p:spPr>
          <a:xfrm>
            <a:off x="2603182" y="5189147"/>
            <a:ext cx="73152" cy="73152"/>
          </a:xfrm>
          <a:prstGeom prst="ellipse">
            <a:avLst/>
          </a:prstGeom>
          <a:solidFill>
            <a:srgbClr val="53BE70"/>
          </a:solidFill>
          <a:ln>
            <a:noFill/>
          </a:ln>
          <a:effectLst/>
        </p:spPr>
        <p:txBody>
          <a:bodyPr rtlCol="0" anchor="ctr"/>
          <a:lstStyle/>
          <a:p>
            <a:endParaRPr lang="de-DE"/>
          </a:p>
        </p:txBody>
      </p:sp>
      <p:sp>
        <p:nvSpPr>
          <p:cNvPr id="266" name="Battery Passport Dim Technical"/>
          <p:cNvSpPr txBox="1"/>
          <p:nvPr/>
        </p:nvSpPr>
        <p:spPr>
          <a:xfrm>
            <a:off x="274034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7" name="Battery Passport Dim Dot Supplier Activation"/>
          <p:cNvSpPr/>
          <p:nvPr/>
        </p:nvSpPr>
        <p:spPr>
          <a:xfrm>
            <a:off x="2603182" y="5380917"/>
            <a:ext cx="73152" cy="73152"/>
          </a:xfrm>
          <a:prstGeom prst="ellipse">
            <a:avLst/>
          </a:prstGeom>
          <a:solidFill>
            <a:srgbClr val="53BE70"/>
          </a:solidFill>
          <a:ln>
            <a:noFill/>
          </a:ln>
          <a:effectLst/>
        </p:spPr>
        <p:txBody>
          <a:bodyPr rtlCol="0" anchor="ctr"/>
          <a:lstStyle/>
          <a:p>
            <a:endParaRPr lang="de-DE"/>
          </a:p>
        </p:txBody>
      </p:sp>
      <p:sp>
        <p:nvSpPr>
          <p:cNvPr id="268" name="Battery Passport Dim Supplier Activation"/>
          <p:cNvSpPr txBox="1"/>
          <p:nvPr/>
        </p:nvSpPr>
        <p:spPr>
          <a:xfrm>
            <a:off x="274034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9" name="Product Passes Row Divider Dimensions"/>
          <p:cNvSpPr/>
          <p:nvPr/>
        </p:nvSpPr>
        <p:spPr>
          <a:xfrm>
            <a:off x="3949065" y="4367203"/>
            <a:ext cx="1167574" cy="6401"/>
          </a:xfrm>
          <a:prstGeom prst="rect">
            <a:avLst/>
          </a:prstGeom>
          <a:solidFill>
            <a:srgbClr val="E2E8EC"/>
          </a:solidFill>
          <a:ln>
            <a:noFill/>
          </a:ln>
          <a:effectLst/>
        </p:spPr>
        <p:txBody>
          <a:bodyPr rtlCol="0" anchor="ctr"/>
          <a:lstStyle/>
          <a:p>
            <a:endParaRPr lang="de-DE"/>
          </a:p>
        </p:txBody>
      </p:sp>
      <p:sp>
        <p:nvSpPr>
          <p:cNvPr id="270" name="Product Passes Dim Dot External · CX Association"/>
          <p:cNvSpPr/>
          <p:nvPr/>
        </p:nvSpPr>
        <p:spPr>
          <a:xfrm>
            <a:off x="3949065" y="4467787"/>
            <a:ext cx="73152" cy="73152"/>
          </a:xfrm>
          <a:prstGeom prst="ellipse">
            <a:avLst/>
          </a:prstGeom>
          <a:solidFill>
            <a:srgbClr val="F0B135"/>
          </a:solidFill>
          <a:ln>
            <a:noFill/>
          </a:ln>
          <a:effectLst/>
        </p:spPr>
        <p:txBody>
          <a:bodyPr rtlCol="0" anchor="ctr"/>
          <a:lstStyle/>
          <a:p>
            <a:endParaRPr lang="de-DE"/>
          </a:p>
        </p:txBody>
      </p:sp>
      <p:sp>
        <p:nvSpPr>
          <p:cNvPr id="271" name="Product Passes Dim External · CX Association"/>
          <p:cNvSpPr txBox="1"/>
          <p:nvPr/>
        </p:nvSpPr>
        <p:spPr>
          <a:xfrm>
            <a:off x="408622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2" name="Product Passes Dim Dot Business"/>
          <p:cNvSpPr/>
          <p:nvPr/>
        </p:nvSpPr>
        <p:spPr>
          <a:xfrm>
            <a:off x="3949065" y="4805607"/>
            <a:ext cx="73152" cy="73152"/>
          </a:xfrm>
          <a:prstGeom prst="ellipse">
            <a:avLst/>
          </a:prstGeom>
          <a:solidFill>
            <a:srgbClr val="F0B135"/>
          </a:solidFill>
          <a:ln>
            <a:noFill/>
          </a:ln>
          <a:effectLst/>
        </p:spPr>
        <p:txBody>
          <a:bodyPr rtlCol="0" anchor="ctr"/>
          <a:lstStyle/>
          <a:p>
            <a:endParaRPr lang="de-DE"/>
          </a:p>
        </p:txBody>
      </p:sp>
      <p:sp>
        <p:nvSpPr>
          <p:cNvPr id="273" name="Product Passes Dim Business"/>
          <p:cNvSpPr txBox="1"/>
          <p:nvPr/>
        </p:nvSpPr>
        <p:spPr>
          <a:xfrm>
            <a:off x="408622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4" name="Product Passes Dim Dot Data Provisioning"/>
          <p:cNvSpPr/>
          <p:nvPr/>
        </p:nvSpPr>
        <p:spPr>
          <a:xfrm>
            <a:off x="3949065" y="4997377"/>
            <a:ext cx="73152" cy="73152"/>
          </a:xfrm>
          <a:prstGeom prst="ellipse">
            <a:avLst/>
          </a:prstGeom>
          <a:solidFill>
            <a:srgbClr val="53BE70"/>
          </a:solidFill>
          <a:ln>
            <a:noFill/>
          </a:ln>
          <a:effectLst/>
        </p:spPr>
        <p:txBody>
          <a:bodyPr rtlCol="0" anchor="ctr"/>
          <a:lstStyle/>
          <a:p>
            <a:endParaRPr lang="de-DE"/>
          </a:p>
        </p:txBody>
      </p:sp>
      <p:sp>
        <p:nvSpPr>
          <p:cNvPr id="275" name="Product Passes Dim Data Provisioning"/>
          <p:cNvSpPr txBox="1"/>
          <p:nvPr/>
        </p:nvSpPr>
        <p:spPr>
          <a:xfrm>
            <a:off x="408622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6" name="Product Passes Dim Dot Technical"/>
          <p:cNvSpPr/>
          <p:nvPr/>
        </p:nvSpPr>
        <p:spPr>
          <a:xfrm>
            <a:off x="3949065" y="5189147"/>
            <a:ext cx="73152" cy="73152"/>
          </a:xfrm>
          <a:prstGeom prst="ellipse">
            <a:avLst/>
          </a:prstGeom>
          <a:solidFill>
            <a:srgbClr val="53BE70"/>
          </a:solidFill>
          <a:ln>
            <a:noFill/>
          </a:ln>
          <a:effectLst/>
        </p:spPr>
        <p:txBody>
          <a:bodyPr rtlCol="0" anchor="ctr"/>
          <a:lstStyle/>
          <a:p>
            <a:endParaRPr lang="de-DE"/>
          </a:p>
        </p:txBody>
      </p:sp>
      <p:sp>
        <p:nvSpPr>
          <p:cNvPr id="277" name="Product Passes Dim Technical"/>
          <p:cNvSpPr txBox="1"/>
          <p:nvPr/>
        </p:nvSpPr>
        <p:spPr>
          <a:xfrm>
            <a:off x="408622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8" name="Product Passes Dim Dot Supplier Activation"/>
          <p:cNvSpPr/>
          <p:nvPr/>
        </p:nvSpPr>
        <p:spPr>
          <a:xfrm>
            <a:off x="3949065" y="5380917"/>
            <a:ext cx="73152" cy="73152"/>
          </a:xfrm>
          <a:prstGeom prst="ellipse">
            <a:avLst/>
          </a:prstGeom>
          <a:solidFill>
            <a:srgbClr val="53BE70"/>
          </a:solidFill>
          <a:ln>
            <a:noFill/>
          </a:ln>
          <a:effectLst/>
        </p:spPr>
        <p:txBody>
          <a:bodyPr rtlCol="0" anchor="ctr"/>
          <a:lstStyle/>
          <a:p>
            <a:endParaRPr lang="de-DE"/>
          </a:p>
        </p:txBody>
      </p:sp>
      <p:sp>
        <p:nvSpPr>
          <p:cNvPr id="279" name="Product Passes Dim Supplier Activation"/>
          <p:cNvSpPr txBox="1"/>
          <p:nvPr/>
        </p:nvSpPr>
        <p:spPr>
          <a:xfrm>
            <a:off x="408622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0" name="PURIS Row Divider Dimensions"/>
          <p:cNvSpPr/>
          <p:nvPr/>
        </p:nvSpPr>
        <p:spPr>
          <a:xfrm>
            <a:off x="5294947" y="4367203"/>
            <a:ext cx="1167574" cy="6401"/>
          </a:xfrm>
          <a:prstGeom prst="rect">
            <a:avLst/>
          </a:prstGeom>
          <a:solidFill>
            <a:srgbClr val="E2E8EC"/>
          </a:solidFill>
          <a:ln>
            <a:noFill/>
          </a:ln>
          <a:effectLst/>
        </p:spPr>
        <p:txBody>
          <a:bodyPr rtlCol="0" anchor="ctr"/>
          <a:lstStyle/>
          <a:p>
            <a:endParaRPr lang="de-DE"/>
          </a:p>
        </p:txBody>
      </p:sp>
      <p:sp>
        <p:nvSpPr>
          <p:cNvPr id="281" name="PURIS Dim Dot External · CX Association"/>
          <p:cNvSpPr/>
          <p:nvPr/>
        </p:nvSpPr>
        <p:spPr>
          <a:xfrm>
            <a:off x="5294947" y="4467787"/>
            <a:ext cx="73152" cy="73152"/>
          </a:xfrm>
          <a:prstGeom prst="ellipse">
            <a:avLst/>
          </a:prstGeom>
          <a:solidFill>
            <a:srgbClr val="53BE70"/>
          </a:solidFill>
          <a:ln>
            <a:noFill/>
          </a:ln>
          <a:effectLst/>
        </p:spPr>
        <p:txBody>
          <a:bodyPr rtlCol="0" anchor="ctr"/>
          <a:lstStyle/>
          <a:p>
            <a:endParaRPr lang="de-DE"/>
          </a:p>
        </p:txBody>
      </p:sp>
      <p:sp>
        <p:nvSpPr>
          <p:cNvPr id="282" name="PURIS Dim External · CX Association"/>
          <p:cNvSpPr txBox="1"/>
          <p:nvPr/>
        </p:nvSpPr>
        <p:spPr>
          <a:xfrm>
            <a:off x="5432108"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3" name="PURIS Dim Dot Business"/>
          <p:cNvSpPr/>
          <p:nvPr/>
        </p:nvSpPr>
        <p:spPr>
          <a:xfrm>
            <a:off x="5294947" y="4805607"/>
            <a:ext cx="73152" cy="73152"/>
          </a:xfrm>
          <a:prstGeom prst="ellipse">
            <a:avLst/>
          </a:prstGeom>
          <a:solidFill>
            <a:srgbClr val="F0B135"/>
          </a:solidFill>
          <a:ln>
            <a:noFill/>
          </a:ln>
          <a:effectLst/>
        </p:spPr>
        <p:txBody>
          <a:bodyPr rtlCol="0" anchor="ctr"/>
          <a:lstStyle/>
          <a:p>
            <a:endParaRPr lang="de-DE"/>
          </a:p>
        </p:txBody>
      </p:sp>
      <p:sp>
        <p:nvSpPr>
          <p:cNvPr id="284" name="PURIS Dim Business"/>
          <p:cNvSpPr txBox="1"/>
          <p:nvPr/>
        </p:nvSpPr>
        <p:spPr>
          <a:xfrm>
            <a:off x="5432108"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5" name="PURIS Dim Dot Data Provisioning"/>
          <p:cNvSpPr/>
          <p:nvPr/>
        </p:nvSpPr>
        <p:spPr>
          <a:xfrm>
            <a:off x="5294947" y="4997377"/>
            <a:ext cx="73152" cy="73152"/>
          </a:xfrm>
          <a:prstGeom prst="ellipse">
            <a:avLst/>
          </a:prstGeom>
          <a:solidFill>
            <a:srgbClr val="F0B135"/>
          </a:solidFill>
          <a:ln>
            <a:noFill/>
          </a:ln>
          <a:effectLst/>
        </p:spPr>
        <p:txBody>
          <a:bodyPr rtlCol="0" anchor="ctr"/>
          <a:lstStyle/>
          <a:p>
            <a:endParaRPr lang="de-DE"/>
          </a:p>
        </p:txBody>
      </p:sp>
      <p:sp>
        <p:nvSpPr>
          <p:cNvPr id="286" name="PURIS Dim Data Provisioning"/>
          <p:cNvSpPr txBox="1"/>
          <p:nvPr/>
        </p:nvSpPr>
        <p:spPr>
          <a:xfrm>
            <a:off x="5432108"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7" name="PURIS Dim Dot Technical"/>
          <p:cNvSpPr/>
          <p:nvPr/>
        </p:nvSpPr>
        <p:spPr>
          <a:xfrm>
            <a:off x="5294947" y="5189147"/>
            <a:ext cx="73152" cy="73152"/>
          </a:xfrm>
          <a:prstGeom prst="ellipse">
            <a:avLst/>
          </a:prstGeom>
          <a:solidFill>
            <a:srgbClr val="F0B135"/>
          </a:solidFill>
          <a:ln>
            <a:noFill/>
          </a:ln>
          <a:effectLst/>
        </p:spPr>
        <p:txBody>
          <a:bodyPr rtlCol="0" anchor="ctr"/>
          <a:lstStyle/>
          <a:p>
            <a:endParaRPr lang="de-DE"/>
          </a:p>
        </p:txBody>
      </p:sp>
      <p:sp>
        <p:nvSpPr>
          <p:cNvPr id="288" name="PURIS Dim Technical"/>
          <p:cNvSpPr txBox="1"/>
          <p:nvPr/>
        </p:nvSpPr>
        <p:spPr>
          <a:xfrm>
            <a:off x="5432108"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9" name="PURIS Dim Dot Supplier Activation"/>
          <p:cNvSpPr/>
          <p:nvPr/>
        </p:nvSpPr>
        <p:spPr>
          <a:xfrm>
            <a:off x="5294947" y="5380917"/>
            <a:ext cx="73152" cy="73152"/>
          </a:xfrm>
          <a:prstGeom prst="ellipse">
            <a:avLst/>
          </a:prstGeom>
          <a:solidFill>
            <a:srgbClr val="F0B135"/>
          </a:solidFill>
          <a:ln>
            <a:noFill/>
          </a:ln>
          <a:effectLst/>
        </p:spPr>
        <p:txBody>
          <a:bodyPr rtlCol="0" anchor="ctr"/>
          <a:lstStyle/>
          <a:p>
            <a:endParaRPr lang="de-DE"/>
          </a:p>
        </p:txBody>
      </p:sp>
      <p:sp>
        <p:nvSpPr>
          <p:cNvPr id="290" name="PURIS Dim Supplier Activation"/>
          <p:cNvSpPr txBox="1"/>
          <p:nvPr/>
        </p:nvSpPr>
        <p:spPr>
          <a:xfrm>
            <a:off x="5432108"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1" name="Business Partner Data Mgmt Row Divider Dimensions"/>
          <p:cNvSpPr/>
          <p:nvPr/>
        </p:nvSpPr>
        <p:spPr>
          <a:xfrm>
            <a:off x="6640830" y="4367203"/>
            <a:ext cx="1167574" cy="6401"/>
          </a:xfrm>
          <a:prstGeom prst="rect">
            <a:avLst/>
          </a:prstGeom>
          <a:solidFill>
            <a:srgbClr val="E2E8EC"/>
          </a:solidFill>
          <a:ln>
            <a:noFill/>
          </a:ln>
          <a:effectLst/>
        </p:spPr>
        <p:txBody>
          <a:bodyPr rtlCol="0" anchor="ctr"/>
          <a:lstStyle/>
          <a:p>
            <a:endParaRPr lang="de-DE"/>
          </a:p>
        </p:txBody>
      </p:sp>
      <p:sp>
        <p:nvSpPr>
          <p:cNvPr id="292" name="Business Partner Data Mgmt Dim Dot External · CX Association"/>
          <p:cNvSpPr/>
          <p:nvPr/>
        </p:nvSpPr>
        <p:spPr>
          <a:xfrm>
            <a:off x="6640830" y="4467787"/>
            <a:ext cx="73152" cy="73152"/>
          </a:xfrm>
          <a:prstGeom prst="ellipse">
            <a:avLst/>
          </a:prstGeom>
          <a:solidFill>
            <a:srgbClr val="F0B135"/>
          </a:solidFill>
          <a:ln>
            <a:noFill/>
          </a:ln>
          <a:effectLst/>
        </p:spPr>
        <p:txBody>
          <a:bodyPr rtlCol="0" anchor="ctr"/>
          <a:lstStyle/>
          <a:p>
            <a:endParaRPr lang="de-DE"/>
          </a:p>
        </p:txBody>
      </p:sp>
      <p:sp>
        <p:nvSpPr>
          <p:cNvPr id="293" name="Business Partner Data Mgmt Dim External · CX Association"/>
          <p:cNvSpPr txBox="1"/>
          <p:nvPr/>
        </p:nvSpPr>
        <p:spPr>
          <a:xfrm>
            <a:off x="677799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4" name="Business Partner Data Mgmt Dim Dot Business"/>
          <p:cNvSpPr/>
          <p:nvPr/>
        </p:nvSpPr>
        <p:spPr>
          <a:xfrm>
            <a:off x="6640830" y="4805607"/>
            <a:ext cx="73152" cy="73152"/>
          </a:xfrm>
          <a:prstGeom prst="ellipse">
            <a:avLst/>
          </a:prstGeom>
          <a:solidFill>
            <a:srgbClr val="F0B135"/>
          </a:solidFill>
          <a:ln>
            <a:noFill/>
          </a:ln>
          <a:effectLst/>
        </p:spPr>
        <p:txBody>
          <a:bodyPr rtlCol="0" anchor="ctr"/>
          <a:lstStyle/>
          <a:p>
            <a:endParaRPr lang="de-DE"/>
          </a:p>
        </p:txBody>
      </p:sp>
      <p:sp>
        <p:nvSpPr>
          <p:cNvPr id="295" name="Business Partner Data Mgmt Dim Business"/>
          <p:cNvSpPr txBox="1"/>
          <p:nvPr/>
        </p:nvSpPr>
        <p:spPr>
          <a:xfrm>
            <a:off x="677799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6" name="Business Partner Data Mgmt Dim Dot Data Provisioning"/>
          <p:cNvSpPr/>
          <p:nvPr/>
        </p:nvSpPr>
        <p:spPr>
          <a:xfrm>
            <a:off x="6640830" y="4997377"/>
            <a:ext cx="73152" cy="73152"/>
          </a:xfrm>
          <a:prstGeom prst="ellipse">
            <a:avLst/>
          </a:prstGeom>
          <a:solidFill>
            <a:srgbClr val="53BE70"/>
          </a:solidFill>
          <a:ln>
            <a:noFill/>
          </a:ln>
          <a:effectLst/>
        </p:spPr>
        <p:txBody>
          <a:bodyPr rtlCol="0" anchor="ctr"/>
          <a:lstStyle/>
          <a:p>
            <a:endParaRPr lang="de-DE"/>
          </a:p>
        </p:txBody>
      </p:sp>
      <p:sp>
        <p:nvSpPr>
          <p:cNvPr id="297" name="Business Partner Data Mgmt Dim Data Provisioning"/>
          <p:cNvSpPr txBox="1"/>
          <p:nvPr/>
        </p:nvSpPr>
        <p:spPr>
          <a:xfrm>
            <a:off x="677799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8" name="Business Partner Data Mgmt Dim Dot Technical"/>
          <p:cNvSpPr/>
          <p:nvPr/>
        </p:nvSpPr>
        <p:spPr>
          <a:xfrm>
            <a:off x="6640830" y="5189147"/>
            <a:ext cx="73152" cy="73152"/>
          </a:xfrm>
          <a:prstGeom prst="ellipse">
            <a:avLst/>
          </a:prstGeom>
          <a:solidFill>
            <a:srgbClr val="F0B135"/>
          </a:solidFill>
          <a:ln>
            <a:noFill/>
          </a:ln>
          <a:effectLst/>
        </p:spPr>
        <p:txBody>
          <a:bodyPr rtlCol="0" anchor="ctr"/>
          <a:lstStyle/>
          <a:p>
            <a:endParaRPr lang="de-DE"/>
          </a:p>
        </p:txBody>
      </p:sp>
      <p:sp>
        <p:nvSpPr>
          <p:cNvPr id="299" name="Business Partner Data Mgmt Dim Technical"/>
          <p:cNvSpPr txBox="1"/>
          <p:nvPr/>
        </p:nvSpPr>
        <p:spPr>
          <a:xfrm>
            <a:off x="677799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0" name="Business Partner Data Mgmt Dim Dot Supplier Activation"/>
          <p:cNvSpPr/>
          <p:nvPr/>
        </p:nvSpPr>
        <p:spPr>
          <a:xfrm>
            <a:off x="6640830" y="5380917"/>
            <a:ext cx="73152" cy="73152"/>
          </a:xfrm>
          <a:prstGeom prst="ellipse">
            <a:avLst/>
          </a:prstGeom>
          <a:solidFill>
            <a:srgbClr val="CFD6DB"/>
          </a:solidFill>
          <a:ln>
            <a:noFill/>
          </a:ln>
          <a:effectLst/>
        </p:spPr>
        <p:txBody>
          <a:bodyPr rtlCol="0" anchor="ctr"/>
          <a:lstStyle/>
          <a:p>
            <a:endParaRPr lang="de-DE"/>
          </a:p>
        </p:txBody>
      </p:sp>
      <p:sp>
        <p:nvSpPr>
          <p:cNvPr id="301" name="Business Partner Data Mgmt Dim Supplier Activation"/>
          <p:cNvSpPr txBox="1"/>
          <p:nvPr/>
        </p:nvSpPr>
        <p:spPr>
          <a:xfrm>
            <a:off x="677799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2" name="Certificate Management Row Divider Dimensions"/>
          <p:cNvSpPr/>
          <p:nvPr/>
        </p:nvSpPr>
        <p:spPr>
          <a:xfrm>
            <a:off x="7986712" y="4367203"/>
            <a:ext cx="1167574" cy="6401"/>
          </a:xfrm>
          <a:prstGeom prst="rect">
            <a:avLst/>
          </a:prstGeom>
          <a:solidFill>
            <a:srgbClr val="E2E8EC"/>
          </a:solidFill>
          <a:ln>
            <a:noFill/>
          </a:ln>
          <a:effectLst/>
        </p:spPr>
        <p:txBody>
          <a:bodyPr rtlCol="0" anchor="ctr"/>
          <a:lstStyle/>
          <a:p>
            <a:endParaRPr lang="de-DE"/>
          </a:p>
        </p:txBody>
      </p:sp>
      <p:sp>
        <p:nvSpPr>
          <p:cNvPr id="303" name="Certificate Management Dim Dot External · CX Association"/>
          <p:cNvSpPr/>
          <p:nvPr/>
        </p:nvSpPr>
        <p:spPr>
          <a:xfrm>
            <a:off x="7986712" y="4467787"/>
            <a:ext cx="73152" cy="73152"/>
          </a:xfrm>
          <a:prstGeom prst="ellipse">
            <a:avLst/>
          </a:prstGeom>
          <a:solidFill>
            <a:srgbClr val="F0B135"/>
          </a:solidFill>
          <a:ln>
            <a:noFill/>
          </a:ln>
          <a:effectLst/>
        </p:spPr>
        <p:txBody>
          <a:bodyPr rtlCol="0" anchor="ctr"/>
          <a:lstStyle/>
          <a:p>
            <a:endParaRPr lang="de-DE"/>
          </a:p>
        </p:txBody>
      </p:sp>
      <p:sp>
        <p:nvSpPr>
          <p:cNvPr id="304" name="Certificate Management Dim External · CX Association"/>
          <p:cNvSpPr txBox="1"/>
          <p:nvPr/>
        </p:nvSpPr>
        <p:spPr>
          <a:xfrm>
            <a:off x="812387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5" name="Certificate Management Dim Dot Business"/>
          <p:cNvSpPr/>
          <p:nvPr/>
        </p:nvSpPr>
        <p:spPr>
          <a:xfrm>
            <a:off x="7986712" y="4805607"/>
            <a:ext cx="73152" cy="73152"/>
          </a:xfrm>
          <a:prstGeom prst="ellipse">
            <a:avLst/>
          </a:prstGeom>
          <a:solidFill>
            <a:srgbClr val="53BE70"/>
          </a:solidFill>
          <a:ln>
            <a:noFill/>
          </a:ln>
          <a:effectLst/>
        </p:spPr>
        <p:txBody>
          <a:bodyPr rtlCol="0" anchor="ctr"/>
          <a:lstStyle/>
          <a:p>
            <a:endParaRPr lang="de-DE"/>
          </a:p>
        </p:txBody>
      </p:sp>
      <p:sp>
        <p:nvSpPr>
          <p:cNvPr id="306" name="Certificate Management Dim Business"/>
          <p:cNvSpPr txBox="1"/>
          <p:nvPr/>
        </p:nvSpPr>
        <p:spPr>
          <a:xfrm>
            <a:off x="812387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7" name="Certificate Management Dim Dot Data Provisioning"/>
          <p:cNvSpPr/>
          <p:nvPr/>
        </p:nvSpPr>
        <p:spPr>
          <a:xfrm>
            <a:off x="7986712" y="4997377"/>
            <a:ext cx="73152" cy="73152"/>
          </a:xfrm>
          <a:prstGeom prst="ellipse">
            <a:avLst/>
          </a:prstGeom>
          <a:solidFill>
            <a:srgbClr val="53BE70"/>
          </a:solidFill>
          <a:ln>
            <a:noFill/>
          </a:ln>
          <a:effectLst/>
        </p:spPr>
        <p:txBody>
          <a:bodyPr rtlCol="0" anchor="ctr"/>
          <a:lstStyle/>
          <a:p>
            <a:endParaRPr lang="de-DE"/>
          </a:p>
        </p:txBody>
      </p:sp>
      <p:sp>
        <p:nvSpPr>
          <p:cNvPr id="308" name="Certificate Management Dim Data Provisioning"/>
          <p:cNvSpPr txBox="1"/>
          <p:nvPr/>
        </p:nvSpPr>
        <p:spPr>
          <a:xfrm>
            <a:off x="812387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9" name="Certificate Management Dim Dot Technical"/>
          <p:cNvSpPr/>
          <p:nvPr/>
        </p:nvSpPr>
        <p:spPr>
          <a:xfrm>
            <a:off x="7986712" y="5189147"/>
            <a:ext cx="73152" cy="73152"/>
          </a:xfrm>
          <a:prstGeom prst="ellipse">
            <a:avLst/>
          </a:prstGeom>
          <a:solidFill>
            <a:srgbClr val="53BE70"/>
          </a:solidFill>
          <a:ln>
            <a:noFill/>
          </a:ln>
          <a:effectLst/>
        </p:spPr>
        <p:txBody>
          <a:bodyPr rtlCol="0" anchor="ctr"/>
          <a:lstStyle/>
          <a:p>
            <a:endParaRPr lang="de-DE"/>
          </a:p>
        </p:txBody>
      </p:sp>
      <p:sp>
        <p:nvSpPr>
          <p:cNvPr id="310" name="Certificate Management Dim Technical"/>
          <p:cNvSpPr txBox="1"/>
          <p:nvPr/>
        </p:nvSpPr>
        <p:spPr>
          <a:xfrm>
            <a:off x="812387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1" name="Certificate Management Dim Dot Supplier Activation"/>
          <p:cNvSpPr/>
          <p:nvPr/>
        </p:nvSpPr>
        <p:spPr>
          <a:xfrm>
            <a:off x="7986712" y="5380917"/>
            <a:ext cx="73152" cy="73152"/>
          </a:xfrm>
          <a:prstGeom prst="ellipse">
            <a:avLst/>
          </a:prstGeom>
          <a:solidFill>
            <a:srgbClr val="53BE70"/>
          </a:solidFill>
          <a:ln>
            <a:noFill/>
          </a:ln>
          <a:effectLst/>
        </p:spPr>
        <p:txBody>
          <a:bodyPr rtlCol="0" anchor="ctr"/>
          <a:lstStyle/>
          <a:p>
            <a:endParaRPr lang="de-DE"/>
          </a:p>
        </p:txBody>
      </p:sp>
      <p:sp>
        <p:nvSpPr>
          <p:cNvPr id="312" name="Certificate Management Dim Supplier Activation"/>
          <p:cNvSpPr txBox="1"/>
          <p:nvPr/>
        </p:nvSpPr>
        <p:spPr>
          <a:xfrm>
            <a:off x="812387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3" name="Product Carbon Footprint Row Divider Dimensions"/>
          <p:cNvSpPr/>
          <p:nvPr/>
        </p:nvSpPr>
        <p:spPr>
          <a:xfrm>
            <a:off x="9332595" y="4367203"/>
            <a:ext cx="1167574" cy="6401"/>
          </a:xfrm>
          <a:prstGeom prst="rect">
            <a:avLst/>
          </a:prstGeom>
          <a:solidFill>
            <a:srgbClr val="E2E8EC"/>
          </a:solidFill>
          <a:ln>
            <a:noFill/>
          </a:ln>
          <a:effectLst/>
        </p:spPr>
        <p:txBody>
          <a:bodyPr rtlCol="0" anchor="ctr"/>
          <a:lstStyle/>
          <a:p>
            <a:endParaRPr lang="de-DE"/>
          </a:p>
        </p:txBody>
      </p:sp>
      <p:sp>
        <p:nvSpPr>
          <p:cNvPr id="314" name="Product Carbon Footprint Dim Dot External · CX Association"/>
          <p:cNvSpPr/>
          <p:nvPr/>
        </p:nvSpPr>
        <p:spPr>
          <a:xfrm>
            <a:off x="9332595" y="4467787"/>
            <a:ext cx="73152" cy="73152"/>
          </a:xfrm>
          <a:prstGeom prst="ellipse">
            <a:avLst/>
          </a:prstGeom>
          <a:solidFill>
            <a:srgbClr val="53BE70"/>
          </a:solidFill>
          <a:ln>
            <a:noFill/>
          </a:ln>
          <a:effectLst/>
        </p:spPr>
        <p:txBody>
          <a:bodyPr rtlCol="0" anchor="ctr"/>
          <a:lstStyle/>
          <a:p>
            <a:endParaRPr lang="de-DE"/>
          </a:p>
        </p:txBody>
      </p:sp>
      <p:sp>
        <p:nvSpPr>
          <p:cNvPr id="315" name="Product Carbon Footprint Dim External · CX Association"/>
          <p:cNvSpPr txBox="1"/>
          <p:nvPr/>
        </p:nvSpPr>
        <p:spPr>
          <a:xfrm>
            <a:off x="946975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6" name="Product Carbon Footprint Dim Dot Business"/>
          <p:cNvSpPr/>
          <p:nvPr/>
        </p:nvSpPr>
        <p:spPr>
          <a:xfrm>
            <a:off x="9332595" y="4805607"/>
            <a:ext cx="73152" cy="73152"/>
          </a:xfrm>
          <a:prstGeom prst="ellipse">
            <a:avLst/>
          </a:prstGeom>
          <a:solidFill>
            <a:srgbClr val="53BE70"/>
          </a:solidFill>
          <a:ln>
            <a:noFill/>
          </a:ln>
          <a:effectLst/>
        </p:spPr>
        <p:txBody>
          <a:bodyPr rtlCol="0" anchor="ctr"/>
          <a:lstStyle/>
          <a:p>
            <a:endParaRPr lang="de-DE"/>
          </a:p>
        </p:txBody>
      </p:sp>
      <p:sp>
        <p:nvSpPr>
          <p:cNvPr id="317" name="Product Carbon Footprint Dim Business"/>
          <p:cNvSpPr txBox="1"/>
          <p:nvPr/>
        </p:nvSpPr>
        <p:spPr>
          <a:xfrm>
            <a:off x="946975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8" name="Product Carbon Footprint Dim Dot Data Provisioning"/>
          <p:cNvSpPr/>
          <p:nvPr/>
        </p:nvSpPr>
        <p:spPr>
          <a:xfrm>
            <a:off x="9332595" y="4997377"/>
            <a:ext cx="73152" cy="73152"/>
          </a:xfrm>
          <a:prstGeom prst="ellipse">
            <a:avLst/>
          </a:prstGeom>
          <a:solidFill>
            <a:srgbClr val="53BE70"/>
          </a:solidFill>
          <a:ln>
            <a:noFill/>
          </a:ln>
          <a:effectLst/>
        </p:spPr>
        <p:txBody>
          <a:bodyPr rtlCol="0" anchor="ctr"/>
          <a:lstStyle/>
          <a:p>
            <a:endParaRPr lang="de-DE"/>
          </a:p>
        </p:txBody>
      </p:sp>
      <p:sp>
        <p:nvSpPr>
          <p:cNvPr id="319" name="Product Carbon Footprint Dim Data Provisioning"/>
          <p:cNvSpPr txBox="1"/>
          <p:nvPr/>
        </p:nvSpPr>
        <p:spPr>
          <a:xfrm>
            <a:off x="946975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0" name="Product Carbon Footprint Dim Dot Technical"/>
          <p:cNvSpPr/>
          <p:nvPr/>
        </p:nvSpPr>
        <p:spPr>
          <a:xfrm>
            <a:off x="9332595" y="5189147"/>
            <a:ext cx="73152" cy="73152"/>
          </a:xfrm>
          <a:prstGeom prst="ellipse">
            <a:avLst/>
          </a:prstGeom>
          <a:solidFill>
            <a:srgbClr val="53BE70"/>
          </a:solidFill>
          <a:ln>
            <a:noFill/>
          </a:ln>
          <a:effectLst/>
        </p:spPr>
        <p:txBody>
          <a:bodyPr rtlCol="0" anchor="ctr"/>
          <a:lstStyle/>
          <a:p>
            <a:endParaRPr lang="de-DE"/>
          </a:p>
        </p:txBody>
      </p:sp>
      <p:sp>
        <p:nvSpPr>
          <p:cNvPr id="321" name="Product Carbon Footprint Dim Technical"/>
          <p:cNvSpPr txBox="1"/>
          <p:nvPr/>
        </p:nvSpPr>
        <p:spPr>
          <a:xfrm>
            <a:off x="946975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2" name="Product Carbon Footprint Dim Dot Supplier Activation"/>
          <p:cNvSpPr/>
          <p:nvPr/>
        </p:nvSpPr>
        <p:spPr>
          <a:xfrm>
            <a:off x="9332595" y="5380917"/>
            <a:ext cx="73152" cy="73152"/>
          </a:xfrm>
          <a:prstGeom prst="ellipse">
            <a:avLst/>
          </a:prstGeom>
          <a:solidFill>
            <a:srgbClr val="53BE70"/>
          </a:solidFill>
          <a:ln>
            <a:noFill/>
          </a:ln>
          <a:effectLst/>
        </p:spPr>
        <p:txBody>
          <a:bodyPr rtlCol="0" anchor="ctr"/>
          <a:lstStyle/>
          <a:p>
            <a:endParaRPr lang="de-DE"/>
          </a:p>
        </p:txBody>
      </p:sp>
      <p:sp>
        <p:nvSpPr>
          <p:cNvPr id="323" name="Product Carbon Footprint Dim Supplier Activation"/>
          <p:cNvSpPr txBox="1"/>
          <p:nvPr/>
        </p:nvSpPr>
        <p:spPr>
          <a:xfrm>
            <a:off x="946975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4" name="N-Tier Row Divider Dimensions"/>
          <p:cNvSpPr/>
          <p:nvPr/>
        </p:nvSpPr>
        <p:spPr>
          <a:xfrm>
            <a:off x="10678477" y="4367203"/>
            <a:ext cx="1167574" cy="6401"/>
          </a:xfrm>
          <a:prstGeom prst="rect">
            <a:avLst/>
          </a:prstGeom>
          <a:solidFill>
            <a:srgbClr val="E2E8EC"/>
          </a:solidFill>
          <a:ln>
            <a:noFill/>
          </a:ln>
          <a:effectLst/>
        </p:spPr>
        <p:txBody>
          <a:bodyPr rtlCol="0" anchor="ctr"/>
          <a:lstStyle/>
          <a:p>
            <a:endParaRPr lang="de-DE"/>
          </a:p>
        </p:txBody>
      </p:sp>
      <p:sp>
        <p:nvSpPr>
          <p:cNvPr id="325" name="N-Tier Dim Dot External · CX Association"/>
          <p:cNvSpPr/>
          <p:nvPr/>
        </p:nvSpPr>
        <p:spPr>
          <a:xfrm>
            <a:off x="10678477" y="4467787"/>
            <a:ext cx="73152" cy="73152"/>
          </a:xfrm>
          <a:prstGeom prst="ellipse">
            <a:avLst/>
          </a:prstGeom>
          <a:solidFill>
            <a:srgbClr val="53BE70"/>
          </a:solidFill>
          <a:ln>
            <a:noFill/>
          </a:ln>
          <a:effectLst/>
        </p:spPr>
        <p:txBody>
          <a:bodyPr rtlCol="0" anchor="ctr"/>
          <a:lstStyle/>
          <a:p>
            <a:endParaRPr lang="de-DE"/>
          </a:p>
        </p:txBody>
      </p:sp>
      <p:sp>
        <p:nvSpPr>
          <p:cNvPr id="326" name="N-Tier Dim External · CX Association"/>
          <p:cNvSpPr txBox="1"/>
          <p:nvPr/>
        </p:nvSpPr>
        <p:spPr>
          <a:xfrm>
            <a:off x="10815637"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7" name="N-Tier Dim Dot Business"/>
          <p:cNvSpPr/>
          <p:nvPr/>
        </p:nvSpPr>
        <p:spPr>
          <a:xfrm>
            <a:off x="10678477" y="4805607"/>
            <a:ext cx="73152" cy="73152"/>
          </a:xfrm>
          <a:prstGeom prst="ellipse">
            <a:avLst/>
          </a:prstGeom>
          <a:solidFill>
            <a:srgbClr val="CFD6DB"/>
          </a:solidFill>
          <a:ln>
            <a:noFill/>
          </a:ln>
          <a:effectLst/>
        </p:spPr>
        <p:txBody>
          <a:bodyPr rtlCol="0" anchor="ctr"/>
          <a:lstStyle/>
          <a:p>
            <a:endParaRPr lang="de-DE"/>
          </a:p>
        </p:txBody>
      </p:sp>
      <p:sp>
        <p:nvSpPr>
          <p:cNvPr id="328" name="N-Tier Dim Business"/>
          <p:cNvSpPr txBox="1"/>
          <p:nvPr/>
        </p:nvSpPr>
        <p:spPr>
          <a:xfrm>
            <a:off x="10815637"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9" name="N-Tier Dim Dot Data Provisioning"/>
          <p:cNvSpPr/>
          <p:nvPr/>
        </p:nvSpPr>
        <p:spPr>
          <a:xfrm>
            <a:off x="10678477" y="4997377"/>
            <a:ext cx="73152" cy="73152"/>
          </a:xfrm>
          <a:prstGeom prst="ellipse">
            <a:avLst/>
          </a:prstGeom>
          <a:solidFill>
            <a:srgbClr val="CFD6DB"/>
          </a:solidFill>
          <a:ln>
            <a:noFill/>
          </a:ln>
          <a:effectLst/>
        </p:spPr>
        <p:txBody>
          <a:bodyPr rtlCol="0" anchor="ctr"/>
          <a:lstStyle/>
          <a:p>
            <a:endParaRPr lang="de-DE"/>
          </a:p>
        </p:txBody>
      </p:sp>
      <p:sp>
        <p:nvSpPr>
          <p:cNvPr id="330" name="N-Tier Dim Data Provisioning"/>
          <p:cNvSpPr txBox="1"/>
          <p:nvPr/>
        </p:nvSpPr>
        <p:spPr>
          <a:xfrm>
            <a:off x="10815637"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1" name="N-Tier Dim Dot Technical"/>
          <p:cNvSpPr/>
          <p:nvPr/>
        </p:nvSpPr>
        <p:spPr>
          <a:xfrm>
            <a:off x="10678477" y="5189147"/>
            <a:ext cx="73152" cy="73152"/>
          </a:xfrm>
          <a:prstGeom prst="ellipse">
            <a:avLst/>
          </a:prstGeom>
          <a:solidFill>
            <a:srgbClr val="CFD6DB"/>
          </a:solidFill>
          <a:ln>
            <a:noFill/>
          </a:ln>
          <a:effectLst/>
        </p:spPr>
        <p:txBody>
          <a:bodyPr rtlCol="0" anchor="ctr"/>
          <a:lstStyle/>
          <a:p>
            <a:endParaRPr lang="de-DE"/>
          </a:p>
        </p:txBody>
      </p:sp>
      <p:sp>
        <p:nvSpPr>
          <p:cNvPr id="332" name="N-Tier Dim Technical"/>
          <p:cNvSpPr txBox="1"/>
          <p:nvPr/>
        </p:nvSpPr>
        <p:spPr>
          <a:xfrm>
            <a:off x="10815637"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3" name="N-Tier Dim Dot Supplier Activation"/>
          <p:cNvSpPr/>
          <p:nvPr/>
        </p:nvSpPr>
        <p:spPr>
          <a:xfrm>
            <a:off x="10678477" y="5380917"/>
            <a:ext cx="73152" cy="73152"/>
          </a:xfrm>
          <a:prstGeom prst="ellipse">
            <a:avLst/>
          </a:prstGeom>
          <a:solidFill>
            <a:srgbClr val="CFD6DB"/>
          </a:solidFill>
          <a:ln>
            <a:noFill/>
          </a:ln>
          <a:effectLst/>
        </p:spPr>
        <p:txBody>
          <a:bodyPr rtlCol="0" anchor="ctr"/>
          <a:lstStyle/>
          <a:p>
            <a:endParaRPr lang="de-DE"/>
          </a:p>
        </p:txBody>
      </p:sp>
      <p:sp>
        <p:nvSpPr>
          <p:cNvPr id="334" name="N-Tier Dim Supplier Activation"/>
          <p:cNvSpPr txBox="1"/>
          <p:nvPr/>
        </p:nvSpPr>
        <p:spPr>
          <a:xfrm>
            <a:off x="10815637"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5" name="Row Label Decision required"/>
          <p:cNvSpPr txBox="1"/>
          <p:nvPr/>
        </p:nvSpPr>
        <p:spPr>
          <a:xfrm>
            <a:off x="274320" y="5649178"/>
            <a:ext cx="868680" cy="9710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6" name="Quality Row Divider Decision required"/>
          <p:cNvSpPr/>
          <p:nvPr/>
        </p:nvSpPr>
        <p:spPr>
          <a:xfrm>
            <a:off x="1257300" y="5585170"/>
            <a:ext cx="1167574" cy="6401"/>
          </a:xfrm>
          <a:prstGeom prst="rect">
            <a:avLst/>
          </a:prstGeom>
          <a:solidFill>
            <a:srgbClr val="E2E8EC"/>
          </a:solidFill>
          <a:ln>
            <a:noFill/>
          </a:ln>
          <a:effectLst/>
        </p:spPr>
        <p:txBody>
          <a:bodyPr rtlCol="0" anchor="ctr"/>
          <a:lstStyle/>
          <a:p>
            <a:endParaRPr lang="de-DE"/>
          </a:p>
        </p:txBody>
      </p:sp>
      <p:sp>
        <p:nvSpPr>
          <p:cNvPr id="337" name="Quality Decision Flag"/>
          <p:cNvSpPr/>
          <p:nvPr/>
        </p:nvSpPr>
        <p:spPr>
          <a:xfrm>
            <a:off x="1257300" y="5649178"/>
            <a:ext cx="146304" cy="146304"/>
          </a:xfrm>
          <a:prstGeom prst="ellipse">
            <a:avLst/>
          </a:prstGeom>
          <a:solidFill>
            <a:srgbClr val="001E50"/>
          </a:solidFill>
          <a:ln>
            <a:noFill/>
          </a:ln>
          <a:effectLst/>
        </p:spPr>
        <p:txBody>
          <a:bodyPr rtlCol="0" anchor="ctr"/>
          <a:lstStyle/>
          <a:p>
            <a:endParaRPr lang="de-DE"/>
          </a:p>
        </p:txBody>
      </p:sp>
      <p:sp>
        <p:nvSpPr>
          <p:cNvPr id="338" name="Quality Decision No"/>
          <p:cNvSpPr txBox="1"/>
          <p:nvPr/>
        </p:nvSpPr>
        <p:spPr>
          <a:xfrm>
            <a:off x="1257300"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39" name="Quality Decision"/>
          <p:cNvSpPr txBox="1"/>
          <p:nvPr/>
        </p:nvSpPr>
        <p:spPr>
          <a:xfrm>
            <a:off x="1257300" y="5649178"/>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2 suppliers until the Early Warning Production MVP is live?</a:t>
            </a:r>
          </a:p>
        </p:txBody>
      </p:sp>
      <p:sp>
        <p:nvSpPr>
          <p:cNvPr id="340" name="Battery Passport Row Divider Decision required"/>
          <p:cNvSpPr/>
          <p:nvPr/>
        </p:nvSpPr>
        <p:spPr>
          <a:xfrm>
            <a:off x="2603182" y="5585170"/>
            <a:ext cx="1167574" cy="6401"/>
          </a:xfrm>
          <a:prstGeom prst="rect">
            <a:avLst/>
          </a:prstGeom>
          <a:solidFill>
            <a:srgbClr val="E2E8EC"/>
          </a:solidFill>
          <a:ln>
            <a:noFill/>
          </a:ln>
          <a:effectLst/>
        </p:spPr>
        <p:txBody>
          <a:bodyPr rtlCol="0" anchor="ctr"/>
          <a:lstStyle/>
          <a:p>
            <a:endParaRPr lang="de-DE"/>
          </a:p>
        </p:txBody>
      </p:sp>
      <p:sp>
        <p:nvSpPr>
          <p:cNvPr id="341" name="Battery Passport Decision None"/>
          <p:cNvSpPr txBox="1"/>
          <p:nvPr/>
        </p:nvSpPr>
        <p:spPr>
          <a:xfrm>
            <a:off x="260318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2" name="Product Passes Row Divider Decision required"/>
          <p:cNvSpPr/>
          <p:nvPr/>
        </p:nvSpPr>
        <p:spPr>
          <a:xfrm>
            <a:off x="3949065" y="5585170"/>
            <a:ext cx="1167574" cy="6401"/>
          </a:xfrm>
          <a:prstGeom prst="rect">
            <a:avLst/>
          </a:prstGeom>
          <a:solidFill>
            <a:srgbClr val="E2E8EC"/>
          </a:solidFill>
          <a:ln>
            <a:noFill/>
          </a:ln>
          <a:effectLst/>
        </p:spPr>
        <p:txBody>
          <a:bodyPr rtlCol="0" anchor="ctr"/>
          <a:lstStyle/>
          <a:p>
            <a:endParaRPr lang="de-DE"/>
          </a:p>
        </p:txBody>
      </p:sp>
      <p:sp>
        <p:nvSpPr>
          <p:cNvPr id="343" name="Product Passes Decision None"/>
          <p:cNvSpPr txBox="1"/>
          <p:nvPr/>
        </p:nvSpPr>
        <p:spPr>
          <a:xfrm>
            <a:off x="394906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4" name="PURIS Row Divider Decision required"/>
          <p:cNvSpPr/>
          <p:nvPr/>
        </p:nvSpPr>
        <p:spPr>
          <a:xfrm>
            <a:off x="5294947" y="5585170"/>
            <a:ext cx="1167574" cy="6401"/>
          </a:xfrm>
          <a:prstGeom prst="rect">
            <a:avLst/>
          </a:prstGeom>
          <a:solidFill>
            <a:srgbClr val="E2E8EC"/>
          </a:solidFill>
          <a:ln>
            <a:noFill/>
          </a:ln>
          <a:effectLst/>
        </p:spPr>
        <p:txBody>
          <a:bodyPr rtlCol="0" anchor="ctr"/>
          <a:lstStyle/>
          <a:p>
            <a:endParaRPr lang="de-DE"/>
          </a:p>
        </p:txBody>
      </p:sp>
      <p:sp>
        <p:nvSpPr>
          <p:cNvPr id="345" name="PURIS Decision Flag"/>
          <p:cNvSpPr/>
          <p:nvPr/>
        </p:nvSpPr>
        <p:spPr>
          <a:xfrm>
            <a:off x="5294947" y="5649178"/>
            <a:ext cx="146304" cy="146304"/>
          </a:xfrm>
          <a:prstGeom prst="ellipse">
            <a:avLst/>
          </a:prstGeom>
          <a:solidFill>
            <a:srgbClr val="001E50"/>
          </a:solidFill>
          <a:ln>
            <a:noFill/>
          </a:ln>
          <a:effectLst/>
        </p:spPr>
        <p:txBody>
          <a:bodyPr rtlCol="0" anchor="ctr"/>
          <a:lstStyle/>
          <a:p>
            <a:endParaRPr lang="de-DE"/>
          </a:p>
        </p:txBody>
      </p:sp>
      <p:sp>
        <p:nvSpPr>
          <p:cNvPr id="346" name="PURIS Decision No"/>
          <p:cNvSpPr txBox="1"/>
          <p:nvPr/>
        </p:nvSpPr>
        <p:spPr>
          <a:xfrm>
            <a:off x="5294947"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47" name="PURIS Decision"/>
          <p:cNvSpPr txBox="1"/>
          <p:nvPr/>
        </p:nvSpPr>
        <p:spPr>
          <a:xfrm>
            <a:off x="5294947" y="5649178"/>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8" name="Business Partner Data Mgmt Row Divider Decision required"/>
          <p:cNvSpPr/>
          <p:nvPr/>
        </p:nvSpPr>
        <p:spPr>
          <a:xfrm>
            <a:off x="6640830" y="5585170"/>
            <a:ext cx="1167574" cy="6401"/>
          </a:xfrm>
          <a:prstGeom prst="rect">
            <a:avLst/>
          </a:prstGeom>
          <a:solidFill>
            <a:srgbClr val="E2E8EC"/>
          </a:solidFill>
          <a:ln>
            <a:noFill/>
          </a:ln>
          <a:effectLst/>
        </p:spPr>
        <p:txBody>
          <a:bodyPr rtlCol="0" anchor="ctr"/>
          <a:lstStyle/>
          <a:p>
            <a:endParaRPr lang="de-DE"/>
          </a:p>
        </p:txBody>
      </p:sp>
      <p:sp>
        <p:nvSpPr>
          <p:cNvPr id="349" name="Business Partner Data Mgmt Decision None"/>
          <p:cNvSpPr txBox="1"/>
          <p:nvPr/>
        </p:nvSpPr>
        <p:spPr>
          <a:xfrm>
            <a:off x="6640830"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Certificate Management Row Divider Decision required"/>
          <p:cNvSpPr/>
          <p:nvPr/>
        </p:nvSpPr>
        <p:spPr>
          <a:xfrm>
            <a:off x="7986712" y="5585170"/>
            <a:ext cx="1167574" cy="6401"/>
          </a:xfrm>
          <a:prstGeom prst="rect">
            <a:avLst/>
          </a:prstGeom>
          <a:solidFill>
            <a:srgbClr val="E2E8EC"/>
          </a:solidFill>
          <a:ln>
            <a:noFill/>
          </a:ln>
          <a:effectLst/>
        </p:spPr>
        <p:txBody>
          <a:bodyPr rtlCol="0" anchor="ctr"/>
          <a:lstStyle/>
          <a:p>
            <a:endParaRPr lang="de-DE"/>
          </a:p>
        </p:txBody>
      </p:sp>
      <p:sp>
        <p:nvSpPr>
          <p:cNvPr id="351" name="Certificate Management Decision None"/>
          <p:cNvSpPr txBox="1"/>
          <p:nvPr/>
        </p:nvSpPr>
        <p:spPr>
          <a:xfrm>
            <a:off x="798671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2" name="Product Carbon Footprint Row Divider Decision required"/>
          <p:cNvSpPr/>
          <p:nvPr/>
        </p:nvSpPr>
        <p:spPr>
          <a:xfrm>
            <a:off x="9332595" y="5585170"/>
            <a:ext cx="1167574" cy="6401"/>
          </a:xfrm>
          <a:prstGeom prst="rect">
            <a:avLst/>
          </a:prstGeom>
          <a:solidFill>
            <a:srgbClr val="E2E8EC"/>
          </a:solidFill>
          <a:ln>
            <a:noFill/>
          </a:ln>
          <a:effectLst/>
        </p:spPr>
        <p:txBody>
          <a:bodyPr rtlCol="0" anchor="ctr"/>
          <a:lstStyle/>
          <a:p>
            <a:endParaRPr lang="de-DE"/>
          </a:p>
        </p:txBody>
      </p:sp>
      <p:sp>
        <p:nvSpPr>
          <p:cNvPr id="353" name="Product Carbon Footprint Decision None"/>
          <p:cNvSpPr txBox="1"/>
          <p:nvPr/>
        </p:nvSpPr>
        <p:spPr>
          <a:xfrm>
            <a:off x="933259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4" name="N-Tier Row Divider Decision required"/>
          <p:cNvSpPr/>
          <p:nvPr/>
        </p:nvSpPr>
        <p:spPr>
          <a:xfrm>
            <a:off x="10678477" y="5585170"/>
            <a:ext cx="1167574" cy="6401"/>
          </a:xfrm>
          <a:prstGeom prst="rect">
            <a:avLst/>
          </a:prstGeom>
          <a:solidFill>
            <a:srgbClr val="E2E8EC"/>
          </a:solidFill>
          <a:ln>
            <a:noFill/>
          </a:ln>
          <a:effectLst/>
        </p:spPr>
        <p:txBody>
          <a:bodyPr rtlCol="0" anchor="ctr"/>
          <a:lstStyle/>
          <a:p>
            <a:endParaRPr lang="de-DE"/>
          </a:p>
        </p:txBody>
      </p:sp>
      <p:sp>
        <p:nvSpPr>
          <p:cNvPr id="355" name="N-Tier Decision None"/>
          <p:cNvSpPr txBox="1"/>
          <p:nvPr/>
        </p:nvSpPr>
        <p:spPr>
          <a:xfrm>
            <a:off x="10678477"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