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41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20846"/>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Quality Status Text"/>
          <p:cNvSpPr txBox="1"/>
          <p:nvPr/>
        </p:nvSpPr>
        <p:spPr>
          <a:xfrm>
            <a:off x="125730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43092"/>
            <a:ext cx="868680" cy="34974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379084"/>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379084"/>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379084"/>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379084"/>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379084"/>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379084"/>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379084"/>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379084"/>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56843"/>
            <a:ext cx="868680" cy="3525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792835"/>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85684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792835"/>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792835"/>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792835"/>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792835"/>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792835"/>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792835"/>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792835"/>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85684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273373"/>
            <a:ext cx="868680" cy="3525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209365"/>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27337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209365"/>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209365"/>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209365"/>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209365"/>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209365"/>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82 / 100</a:t>
            </a:r>
            <a:r>
              <a:rPr lang="de-DE" sz="900" b="0" kern="0" dirty="0">
                <a:solidFill>
                  <a:srgbClr val="63707A"/>
                </a:solidFill>
                <a:latin typeface="Segoe UI" pitchFamily="34" charset="0"/>
                <a:ea typeface="Segoe UI" pitchFamily="34" charset="-122"/>
                <a:cs typeface="Segoe UI" pitchFamily="34" charset="-120"/>
              </a:rPr>
              <a:t>  82%</a:t>
            </a:r>
          </a:p>
        </p:txBody>
      </p:sp>
      <p:sp>
        <p:nvSpPr>
          <p:cNvPr id="221" name="Product Carbon Footprint Row Divider Suppliers enabled 2026"/>
          <p:cNvSpPr/>
          <p:nvPr/>
        </p:nvSpPr>
        <p:spPr>
          <a:xfrm>
            <a:off x="9332595" y="3209365"/>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209365"/>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27337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689903"/>
            <a:ext cx="868680" cy="64462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625895"/>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726479"/>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394460" y="3689903"/>
            <a:ext cx="1030415" cy="6024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&amp; ownership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03182" y="3625895"/>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625895"/>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726479"/>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625895"/>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726479"/>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625895"/>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625895"/>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726479"/>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68990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625895"/>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p:cNvSpPr txBox="1"/>
          <p:nvPr/>
        </p:nvSpPr>
        <p:spPr>
          <a:xfrm>
            <a:off x="9332595"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4" name="N-Tier Row Divider Next critical milestone"/>
          <p:cNvSpPr/>
          <p:nvPr/>
        </p:nvSpPr>
        <p:spPr>
          <a:xfrm>
            <a:off x="10678477" y="3625895"/>
            <a:ext cx="1167574" cy="6401"/>
          </a:xfrm>
          <a:prstGeom prst="rect">
            <a:avLst/>
          </a:prstGeom>
          <a:solidFill>
            <a:srgbClr val="E2E8EC"/>
          </a:solidFill>
          <a:ln>
            <a:noFill/>
          </a:ln>
          <a:effectLst/>
        </p:spPr>
        <p:txBody>
          <a:bodyPr rtlCol="0" anchor="ctr"/>
          <a:lstStyle/>
          <a:p>
            <a:endParaRPr lang="de-DE"/>
          </a:p>
        </p:txBody>
      </p:sp>
      <p:sp>
        <p:nvSpPr>
          <p:cNvPr id="245" name="N-Tier Milestone"/>
          <p:cNvSpPr txBox="1"/>
          <p:nvPr/>
        </p:nvSpPr>
        <p:spPr>
          <a:xfrm>
            <a:off x="10678477" y="36899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6" name="Row Label Dimensions"/>
          <p:cNvSpPr txBox="1"/>
          <p:nvPr/>
        </p:nvSpPr>
        <p:spPr>
          <a:xfrm>
            <a:off x="274320" y="4398533"/>
            <a:ext cx="868680" cy="111682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7" name="Quality Row Divider Dimensions"/>
          <p:cNvSpPr/>
          <p:nvPr/>
        </p:nvSpPr>
        <p:spPr>
          <a:xfrm>
            <a:off x="1257300" y="4334525"/>
            <a:ext cx="1167574" cy="6401"/>
          </a:xfrm>
          <a:prstGeom prst="rect">
            <a:avLst/>
          </a:prstGeom>
          <a:solidFill>
            <a:srgbClr val="E2E8EC"/>
          </a:solidFill>
          <a:ln>
            <a:noFill/>
          </a:ln>
          <a:effectLst/>
        </p:spPr>
        <p:txBody>
          <a:bodyPr rtlCol="0" anchor="ctr"/>
          <a:lstStyle/>
          <a:p>
            <a:endParaRPr lang="de-DE"/>
          </a:p>
        </p:txBody>
      </p:sp>
      <p:sp>
        <p:nvSpPr>
          <p:cNvPr id="248" name="Quality Dim Dot External · CX Association"/>
          <p:cNvSpPr/>
          <p:nvPr/>
        </p:nvSpPr>
        <p:spPr>
          <a:xfrm>
            <a:off x="1257300" y="4435109"/>
            <a:ext cx="73152" cy="73152"/>
          </a:xfrm>
          <a:prstGeom prst="ellipse">
            <a:avLst/>
          </a:prstGeom>
          <a:solidFill>
            <a:srgbClr val="53BE70"/>
          </a:solidFill>
          <a:ln>
            <a:noFill/>
          </a:ln>
          <a:effectLst/>
        </p:spPr>
        <p:txBody>
          <a:bodyPr rtlCol="0" anchor="ctr"/>
          <a:lstStyle/>
          <a:p>
            <a:endParaRPr lang="de-DE"/>
          </a:p>
        </p:txBody>
      </p:sp>
      <p:sp>
        <p:nvSpPr>
          <p:cNvPr id="249" name="Quality Dim External · CX Association"/>
          <p:cNvSpPr txBox="1"/>
          <p:nvPr/>
        </p:nvSpPr>
        <p:spPr>
          <a:xfrm>
            <a:off x="1394460"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Quality Dim Dot Business"/>
          <p:cNvSpPr/>
          <p:nvPr/>
        </p:nvSpPr>
        <p:spPr>
          <a:xfrm>
            <a:off x="1257300" y="4772929"/>
            <a:ext cx="73152" cy="73152"/>
          </a:xfrm>
          <a:prstGeom prst="ellipse">
            <a:avLst/>
          </a:prstGeom>
          <a:solidFill>
            <a:srgbClr val="F0B135"/>
          </a:solidFill>
          <a:ln>
            <a:noFill/>
          </a:ln>
          <a:effectLst/>
        </p:spPr>
        <p:txBody>
          <a:bodyPr rtlCol="0" anchor="ctr"/>
          <a:lstStyle/>
          <a:p>
            <a:endParaRPr lang="de-DE"/>
          </a:p>
        </p:txBody>
      </p:sp>
      <p:sp>
        <p:nvSpPr>
          <p:cNvPr id="251" name="Quality Dim Business"/>
          <p:cNvSpPr txBox="1"/>
          <p:nvPr/>
        </p:nvSpPr>
        <p:spPr>
          <a:xfrm>
            <a:off x="1394460"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Quality Dim Dot Data Provisioning"/>
          <p:cNvSpPr/>
          <p:nvPr/>
        </p:nvSpPr>
        <p:spPr>
          <a:xfrm>
            <a:off x="1257300" y="4964699"/>
            <a:ext cx="73152" cy="73152"/>
          </a:xfrm>
          <a:prstGeom prst="ellipse">
            <a:avLst/>
          </a:prstGeom>
          <a:solidFill>
            <a:srgbClr val="F0B135"/>
          </a:solidFill>
          <a:ln>
            <a:noFill/>
          </a:ln>
          <a:effectLst/>
        </p:spPr>
        <p:txBody>
          <a:bodyPr rtlCol="0" anchor="ctr"/>
          <a:lstStyle/>
          <a:p>
            <a:endParaRPr lang="de-DE"/>
          </a:p>
        </p:txBody>
      </p:sp>
      <p:sp>
        <p:nvSpPr>
          <p:cNvPr id="253" name="Quality Dim Data Provisioning"/>
          <p:cNvSpPr txBox="1"/>
          <p:nvPr/>
        </p:nvSpPr>
        <p:spPr>
          <a:xfrm>
            <a:off x="1394460"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Quality Dim Dot Technical"/>
          <p:cNvSpPr/>
          <p:nvPr/>
        </p:nvSpPr>
        <p:spPr>
          <a:xfrm>
            <a:off x="1257300" y="5156469"/>
            <a:ext cx="73152" cy="73152"/>
          </a:xfrm>
          <a:prstGeom prst="ellipse">
            <a:avLst/>
          </a:prstGeom>
          <a:solidFill>
            <a:srgbClr val="F0B135"/>
          </a:solidFill>
          <a:ln>
            <a:noFill/>
          </a:ln>
          <a:effectLst/>
        </p:spPr>
        <p:txBody>
          <a:bodyPr rtlCol="0" anchor="ctr"/>
          <a:lstStyle/>
          <a:p>
            <a:endParaRPr lang="de-DE"/>
          </a:p>
        </p:txBody>
      </p:sp>
      <p:sp>
        <p:nvSpPr>
          <p:cNvPr id="255" name="Quality Dim Technical"/>
          <p:cNvSpPr txBox="1"/>
          <p:nvPr/>
        </p:nvSpPr>
        <p:spPr>
          <a:xfrm>
            <a:off x="1394460"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Quality Dim Dot Supplier Activation"/>
          <p:cNvSpPr/>
          <p:nvPr/>
        </p:nvSpPr>
        <p:spPr>
          <a:xfrm>
            <a:off x="1257300" y="5348239"/>
            <a:ext cx="73152" cy="73152"/>
          </a:xfrm>
          <a:prstGeom prst="ellipse">
            <a:avLst/>
          </a:prstGeom>
          <a:solidFill>
            <a:srgbClr val="F0B135"/>
          </a:solidFill>
          <a:ln>
            <a:noFill/>
          </a:ln>
          <a:effectLst/>
        </p:spPr>
        <p:txBody>
          <a:bodyPr rtlCol="0" anchor="ctr"/>
          <a:lstStyle/>
          <a:p>
            <a:endParaRPr lang="de-DE"/>
          </a:p>
        </p:txBody>
      </p:sp>
      <p:sp>
        <p:nvSpPr>
          <p:cNvPr id="257" name="Quality Dim Supplier Activation"/>
          <p:cNvSpPr txBox="1"/>
          <p:nvPr/>
        </p:nvSpPr>
        <p:spPr>
          <a:xfrm>
            <a:off x="1394460"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Battery Passport Row Divider Dimensions"/>
          <p:cNvSpPr/>
          <p:nvPr/>
        </p:nvSpPr>
        <p:spPr>
          <a:xfrm>
            <a:off x="2603182" y="4334525"/>
            <a:ext cx="1167574" cy="6401"/>
          </a:xfrm>
          <a:prstGeom prst="rect">
            <a:avLst/>
          </a:prstGeom>
          <a:solidFill>
            <a:srgbClr val="E2E8EC"/>
          </a:solidFill>
          <a:ln>
            <a:noFill/>
          </a:ln>
          <a:effectLst/>
        </p:spPr>
        <p:txBody>
          <a:bodyPr rtlCol="0" anchor="ctr"/>
          <a:lstStyle/>
          <a:p>
            <a:endParaRPr lang="de-DE"/>
          </a:p>
        </p:txBody>
      </p:sp>
      <p:sp>
        <p:nvSpPr>
          <p:cNvPr id="259" name="Battery Passport Dim Dot External · CX Association"/>
          <p:cNvSpPr/>
          <p:nvPr/>
        </p:nvSpPr>
        <p:spPr>
          <a:xfrm>
            <a:off x="2603182" y="4435109"/>
            <a:ext cx="73152" cy="73152"/>
          </a:xfrm>
          <a:prstGeom prst="ellipse">
            <a:avLst/>
          </a:prstGeom>
          <a:solidFill>
            <a:srgbClr val="F0B135"/>
          </a:solidFill>
          <a:ln>
            <a:noFill/>
          </a:ln>
          <a:effectLst/>
        </p:spPr>
        <p:txBody>
          <a:bodyPr rtlCol="0" anchor="ctr"/>
          <a:lstStyle/>
          <a:p>
            <a:endParaRPr lang="de-DE"/>
          </a:p>
        </p:txBody>
      </p:sp>
      <p:sp>
        <p:nvSpPr>
          <p:cNvPr id="260" name="Battery Passport Dim External · CX Association"/>
          <p:cNvSpPr txBox="1"/>
          <p:nvPr/>
        </p:nvSpPr>
        <p:spPr>
          <a:xfrm>
            <a:off x="2740342"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1" name="Battery Passport Dim Dot Business"/>
          <p:cNvSpPr/>
          <p:nvPr/>
        </p:nvSpPr>
        <p:spPr>
          <a:xfrm>
            <a:off x="2603182" y="4772929"/>
            <a:ext cx="73152" cy="73152"/>
          </a:xfrm>
          <a:prstGeom prst="ellipse">
            <a:avLst/>
          </a:prstGeom>
          <a:solidFill>
            <a:srgbClr val="F0B135"/>
          </a:solidFill>
          <a:ln>
            <a:noFill/>
          </a:ln>
          <a:effectLst/>
        </p:spPr>
        <p:txBody>
          <a:bodyPr rtlCol="0" anchor="ctr"/>
          <a:lstStyle/>
          <a:p>
            <a:endParaRPr lang="de-DE"/>
          </a:p>
        </p:txBody>
      </p:sp>
      <p:sp>
        <p:nvSpPr>
          <p:cNvPr id="262" name="Battery Passport Dim Business"/>
          <p:cNvSpPr txBox="1"/>
          <p:nvPr/>
        </p:nvSpPr>
        <p:spPr>
          <a:xfrm>
            <a:off x="2740342"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3" name="Battery Passport Dim Dot Data Provisioning"/>
          <p:cNvSpPr/>
          <p:nvPr/>
        </p:nvSpPr>
        <p:spPr>
          <a:xfrm>
            <a:off x="2603182" y="4964699"/>
            <a:ext cx="73152" cy="73152"/>
          </a:xfrm>
          <a:prstGeom prst="ellipse">
            <a:avLst/>
          </a:prstGeom>
          <a:solidFill>
            <a:srgbClr val="53BE70"/>
          </a:solidFill>
          <a:ln>
            <a:noFill/>
          </a:ln>
          <a:effectLst/>
        </p:spPr>
        <p:txBody>
          <a:bodyPr rtlCol="0" anchor="ctr"/>
          <a:lstStyle/>
          <a:p>
            <a:endParaRPr lang="de-DE"/>
          </a:p>
        </p:txBody>
      </p:sp>
      <p:sp>
        <p:nvSpPr>
          <p:cNvPr id="264" name="Battery Passport Dim Data Provisioning"/>
          <p:cNvSpPr txBox="1"/>
          <p:nvPr/>
        </p:nvSpPr>
        <p:spPr>
          <a:xfrm>
            <a:off x="2740342"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5" name="Battery Passport Dim Dot Technical"/>
          <p:cNvSpPr/>
          <p:nvPr/>
        </p:nvSpPr>
        <p:spPr>
          <a:xfrm>
            <a:off x="2603182" y="5156469"/>
            <a:ext cx="73152" cy="73152"/>
          </a:xfrm>
          <a:prstGeom prst="ellipse">
            <a:avLst/>
          </a:prstGeom>
          <a:solidFill>
            <a:srgbClr val="53BE70"/>
          </a:solidFill>
          <a:ln>
            <a:noFill/>
          </a:ln>
          <a:effectLst/>
        </p:spPr>
        <p:txBody>
          <a:bodyPr rtlCol="0" anchor="ctr"/>
          <a:lstStyle/>
          <a:p>
            <a:endParaRPr lang="de-DE"/>
          </a:p>
        </p:txBody>
      </p:sp>
      <p:sp>
        <p:nvSpPr>
          <p:cNvPr id="266" name="Battery Passport Dim Technical"/>
          <p:cNvSpPr txBox="1"/>
          <p:nvPr/>
        </p:nvSpPr>
        <p:spPr>
          <a:xfrm>
            <a:off x="2740342"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7" name="Battery Passport Dim Dot Supplier Activation"/>
          <p:cNvSpPr/>
          <p:nvPr/>
        </p:nvSpPr>
        <p:spPr>
          <a:xfrm>
            <a:off x="2603182" y="5348239"/>
            <a:ext cx="73152" cy="73152"/>
          </a:xfrm>
          <a:prstGeom prst="ellipse">
            <a:avLst/>
          </a:prstGeom>
          <a:solidFill>
            <a:srgbClr val="53BE70"/>
          </a:solidFill>
          <a:ln>
            <a:noFill/>
          </a:ln>
          <a:effectLst/>
        </p:spPr>
        <p:txBody>
          <a:bodyPr rtlCol="0" anchor="ctr"/>
          <a:lstStyle/>
          <a:p>
            <a:endParaRPr lang="de-DE"/>
          </a:p>
        </p:txBody>
      </p:sp>
      <p:sp>
        <p:nvSpPr>
          <p:cNvPr id="268" name="Battery Passport Dim Supplier Activation"/>
          <p:cNvSpPr txBox="1"/>
          <p:nvPr/>
        </p:nvSpPr>
        <p:spPr>
          <a:xfrm>
            <a:off x="2740342"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9" name="Product Passes Row Divider Dimensions"/>
          <p:cNvSpPr/>
          <p:nvPr/>
        </p:nvSpPr>
        <p:spPr>
          <a:xfrm>
            <a:off x="3949065" y="4334525"/>
            <a:ext cx="1167574" cy="6401"/>
          </a:xfrm>
          <a:prstGeom prst="rect">
            <a:avLst/>
          </a:prstGeom>
          <a:solidFill>
            <a:srgbClr val="E2E8EC"/>
          </a:solidFill>
          <a:ln>
            <a:noFill/>
          </a:ln>
          <a:effectLst/>
        </p:spPr>
        <p:txBody>
          <a:bodyPr rtlCol="0" anchor="ctr"/>
          <a:lstStyle/>
          <a:p>
            <a:endParaRPr lang="de-DE"/>
          </a:p>
        </p:txBody>
      </p:sp>
      <p:sp>
        <p:nvSpPr>
          <p:cNvPr id="270" name="Product Passes Dim Dot External · CX Association"/>
          <p:cNvSpPr/>
          <p:nvPr/>
        </p:nvSpPr>
        <p:spPr>
          <a:xfrm>
            <a:off x="3949065" y="4435109"/>
            <a:ext cx="73152" cy="73152"/>
          </a:xfrm>
          <a:prstGeom prst="ellipse">
            <a:avLst/>
          </a:prstGeom>
          <a:solidFill>
            <a:srgbClr val="F0B135"/>
          </a:solidFill>
          <a:ln>
            <a:noFill/>
          </a:ln>
          <a:effectLst/>
        </p:spPr>
        <p:txBody>
          <a:bodyPr rtlCol="0" anchor="ctr"/>
          <a:lstStyle/>
          <a:p>
            <a:endParaRPr lang="de-DE"/>
          </a:p>
        </p:txBody>
      </p:sp>
      <p:sp>
        <p:nvSpPr>
          <p:cNvPr id="271" name="Product Passes Dim External · CX Association"/>
          <p:cNvSpPr txBox="1"/>
          <p:nvPr/>
        </p:nvSpPr>
        <p:spPr>
          <a:xfrm>
            <a:off x="4086225"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2" name="Product Passes Dim Dot Business"/>
          <p:cNvSpPr/>
          <p:nvPr/>
        </p:nvSpPr>
        <p:spPr>
          <a:xfrm>
            <a:off x="3949065" y="4772929"/>
            <a:ext cx="73152" cy="73152"/>
          </a:xfrm>
          <a:prstGeom prst="ellipse">
            <a:avLst/>
          </a:prstGeom>
          <a:solidFill>
            <a:srgbClr val="F0B135"/>
          </a:solidFill>
          <a:ln>
            <a:noFill/>
          </a:ln>
          <a:effectLst/>
        </p:spPr>
        <p:txBody>
          <a:bodyPr rtlCol="0" anchor="ctr"/>
          <a:lstStyle/>
          <a:p>
            <a:endParaRPr lang="de-DE"/>
          </a:p>
        </p:txBody>
      </p:sp>
      <p:sp>
        <p:nvSpPr>
          <p:cNvPr id="273" name="Product Passes Dim Business"/>
          <p:cNvSpPr txBox="1"/>
          <p:nvPr/>
        </p:nvSpPr>
        <p:spPr>
          <a:xfrm>
            <a:off x="4086225"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4" name="Product Passes Dim Dot Data Provisioning"/>
          <p:cNvSpPr/>
          <p:nvPr/>
        </p:nvSpPr>
        <p:spPr>
          <a:xfrm>
            <a:off x="3949065" y="4964699"/>
            <a:ext cx="73152" cy="73152"/>
          </a:xfrm>
          <a:prstGeom prst="ellipse">
            <a:avLst/>
          </a:prstGeom>
          <a:solidFill>
            <a:srgbClr val="53BE70"/>
          </a:solidFill>
          <a:ln>
            <a:noFill/>
          </a:ln>
          <a:effectLst/>
        </p:spPr>
        <p:txBody>
          <a:bodyPr rtlCol="0" anchor="ctr"/>
          <a:lstStyle/>
          <a:p>
            <a:endParaRPr lang="de-DE"/>
          </a:p>
        </p:txBody>
      </p:sp>
      <p:sp>
        <p:nvSpPr>
          <p:cNvPr id="275" name="Product Passes Dim Data Provisioning"/>
          <p:cNvSpPr txBox="1"/>
          <p:nvPr/>
        </p:nvSpPr>
        <p:spPr>
          <a:xfrm>
            <a:off x="4086225"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6" name="Product Passes Dim Dot Technical"/>
          <p:cNvSpPr/>
          <p:nvPr/>
        </p:nvSpPr>
        <p:spPr>
          <a:xfrm>
            <a:off x="3949065" y="5156469"/>
            <a:ext cx="73152" cy="73152"/>
          </a:xfrm>
          <a:prstGeom prst="ellipse">
            <a:avLst/>
          </a:prstGeom>
          <a:solidFill>
            <a:srgbClr val="53BE70"/>
          </a:solidFill>
          <a:ln>
            <a:noFill/>
          </a:ln>
          <a:effectLst/>
        </p:spPr>
        <p:txBody>
          <a:bodyPr rtlCol="0" anchor="ctr"/>
          <a:lstStyle/>
          <a:p>
            <a:endParaRPr lang="de-DE"/>
          </a:p>
        </p:txBody>
      </p:sp>
      <p:sp>
        <p:nvSpPr>
          <p:cNvPr id="277" name="Product Passes Dim Technical"/>
          <p:cNvSpPr txBox="1"/>
          <p:nvPr/>
        </p:nvSpPr>
        <p:spPr>
          <a:xfrm>
            <a:off x="4086225"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8" name="Product Passes Dim Dot Supplier Activation"/>
          <p:cNvSpPr/>
          <p:nvPr/>
        </p:nvSpPr>
        <p:spPr>
          <a:xfrm>
            <a:off x="3949065" y="5348239"/>
            <a:ext cx="73152" cy="73152"/>
          </a:xfrm>
          <a:prstGeom prst="ellipse">
            <a:avLst/>
          </a:prstGeom>
          <a:solidFill>
            <a:srgbClr val="53BE70"/>
          </a:solidFill>
          <a:ln>
            <a:noFill/>
          </a:ln>
          <a:effectLst/>
        </p:spPr>
        <p:txBody>
          <a:bodyPr rtlCol="0" anchor="ctr"/>
          <a:lstStyle/>
          <a:p>
            <a:endParaRPr lang="de-DE"/>
          </a:p>
        </p:txBody>
      </p:sp>
      <p:sp>
        <p:nvSpPr>
          <p:cNvPr id="279" name="Product Passes Dim Supplier Activation"/>
          <p:cNvSpPr txBox="1"/>
          <p:nvPr/>
        </p:nvSpPr>
        <p:spPr>
          <a:xfrm>
            <a:off x="4086225"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0" name="PURIS Row Divider Dimensions"/>
          <p:cNvSpPr/>
          <p:nvPr/>
        </p:nvSpPr>
        <p:spPr>
          <a:xfrm>
            <a:off x="5294947" y="4334525"/>
            <a:ext cx="1167574" cy="6401"/>
          </a:xfrm>
          <a:prstGeom prst="rect">
            <a:avLst/>
          </a:prstGeom>
          <a:solidFill>
            <a:srgbClr val="E2E8EC"/>
          </a:solidFill>
          <a:ln>
            <a:noFill/>
          </a:ln>
          <a:effectLst/>
        </p:spPr>
        <p:txBody>
          <a:bodyPr rtlCol="0" anchor="ctr"/>
          <a:lstStyle/>
          <a:p>
            <a:endParaRPr lang="de-DE"/>
          </a:p>
        </p:txBody>
      </p:sp>
      <p:sp>
        <p:nvSpPr>
          <p:cNvPr id="281" name="PURIS Dim Dot External · CX Association"/>
          <p:cNvSpPr/>
          <p:nvPr/>
        </p:nvSpPr>
        <p:spPr>
          <a:xfrm>
            <a:off x="5294947" y="4435109"/>
            <a:ext cx="73152" cy="73152"/>
          </a:xfrm>
          <a:prstGeom prst="ellipse">
            <a:avLst/>
          </a:prstGeom>
          <a:solidFill>
            <a:srgbClr val="53BE70"/>
          </a:solidFill>
          <a:ln>
            <a:noFill/>
          </a:ln>
          <a:effectLst/>
        </p:spPr>
        <p:txBody>
          <a:bodyPr rtlCol="0" anchor="ctr"/>
          <a:lstStyle/>
          <a:p>
            <a:endParaRPr lang="de-DE"/>
          </a:p>
        </p:txBody>
      </p:sp>
      <p:sp>
        <p:nvSpPr>
          <p:cNvPr id="282" name="PURIS Dim External · CX Association"/>
          <p:cNvSpPr txBox="1"/>
          <p:nvPr/>
        </p:nvSpPr>
        <p:spPr>
          <a:xfrm>
            <a:off x="5432108"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3" name="PURIS Dim Dot Business"/>
          <p:cNvSpPr/>
          <p:nvPr/>
        </p:nvSpPr>
        <p:spPr>
          <a:xfrm>
            <a:off x="5294947" y="4772929"/>
            <a:ext cx="73152" cy="73152"/>
          </a:xfrm>
          <a:prstGeom prst="ellipse">
            <a:avLst/>
          </a:prstGeom>
          <a:solidFill>
            <a:srgbClr val="F0B135"/>
          </a:solidFill>
          <a:ln>
            <a:noFill/>
          </a:ln>
          <a:effectLst/>
        </p:spPr>
        <p:txBody>
          <a:bodyPr rtlCol="0" anchor="ctr"/>
          <a:lstStyle/>
          <a:p>
            <a:endParaRPr lang="de-DE"/>
          </a:p>
        </p:txBody>
      </p:sp>
      <p:sp>
        <p:nvSpPr>
          <p:cNvPr id="284" name="PURIS Dim Business"/>
          <p:cNvSpPr txBox="1"/>
          <p:nvPr/>
        </p:nvSpPr>
        <p:spPr>
          <a:xfrm>
            <a:off x="5432108"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5" name="PURIS Dim Dot Data Provisioning"/>
          <p:cNvSpPr/>
          <p:nvPr/>
        </p:nvSpPr>
        <p:spPr>
          <a:xfrm>
            <a:off x="5294947" y="4964699"/>
            <a:ext cx="73152" cy="73152"/>
          </a:xfrm>
          <a:prstGeom prst="ellipse">
            <a:avLst/>
          </a:prstGeom>
          <a:solidFill>
            <a:srgbClr val="F0B135"/>
          </a:solidFill>
          <a:ln>
            <a:noFill/>
          </a:ln>
          <a:effectLst/>
        </p:spPr>
        <p:txBody>
          <a:bodyPr rtlCol="0" anchor="ctr"/>
          <a:lstStyle/>
          <a:p>
            <a:endParaRPr lang="de-DE"/>
          </a:p>
        </p:txBody>
      </p:sp>
      <p:sp>
        <p:nvSpPr>
          <p:cNvPr id="286" name="PURIS Dim Data Provisioning"/>
          <p:cNvSpPr txBox="1"/>
          <p:nvPr/>
        </p:nvSpPr>
        <p:spPr>
          <a:xfrm>
            <a:off x="5432108"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7" name="PURIS Dim Dot Technical"/>
          <p:cNvSpPr/>
          <p:nvPr/>
        </p:nvSpPr>
        <p:spPr>
          <a:xfrm>
            <a:off x="5294947" y="5156469"/>
            <a:ext cx="73152" cy="73152"/>
          </a:xfrm>
          <a:prstGeom prst="ellipse">
            <a:avLst/>
          </a:prstGeom>
          <a:solidFill>
            <a:srgbClr val="F0B135"/>
          </a:solidFill>
          <a:ln>
            <a:noFill/>
          </a:ln>
          <a:effectLst/>
        </p:spPr>
        <p:txBody>
          <a:bodyPr rtlCol="0" anchor="ctr"/>
          <a:lstStyle/>
          <a:p>
            <a:endParaRPr lang="de-DE"/>
          </a:p>
        </p:txBody>
      </p:sp>
      <p:sp>
        <p:nvSpPr>
          <p:cNvPr id="288" name="PURIS Dim Technical"/>
          <p:cNvSpPr txBox="1"/>
          <p:nvPr/>
        </p:nvSpPr>
        <p:spPr>
          <a:xfrm>
            <a:off x="5432108"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9" name="PURIS Dim Dot Supplier Activation"/>
          <p:cNvSpPr/>
          <p:nvPr/>
        </p:nvSpPr>
        <p:spPr>
          <a:xfrm>
            <a:off x="5294947" y="5348239"/>
            <a:ext cx="73152" cy="73152"/>
          </a:xfrm>
          <a:prstGeom prst="ellipse">
            <a:avLst/>
          </a:prstGeom>
          <a:solidFill>
            <a:srgbClr val="F0B135"/>
          </a:solidFill>
          <a:ln>
            <a:noFill/>
          </a:ln>
          <a:effectLst/>
        </p:spPr>
        <p:txBody>
          <a:bodyPr rtlCol="0" anchor="ctr"/>
          <a:lstStyle/>
          <a:p>
            <a:endParaRPr lang="de-DE"/>
          </a:p>
        </p:txBody>
      </p:sp>
      <p:sp>
        <p:nvSpPr>
          <p:cNvPr id="290" name="PURIS Dim Supplier Activation"/>
          <p:cNvSpPr txBox="1"/>
          <p:nvPr/>
        </p:nvSpPr>
        <p:spPr>
          <a:xfrm>
            <a:off x="5432108"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1" name="Business Partner Data Mgmt Row Divider Dimensions"/>
          <p:cNvSpPr/>
          <p:nvPr/>
        </p:nvSpPr>
        <p:spPr>
          <a:xfrm>
            <a:off x="6640830" y="4334525"/>
            <a:ext cx="1167574" cy="6401"/>
          </a:xfrm>
          <a:prstGeom prst="rect">
            <a:avLst/>
          </a:prstGeom>
          <a:solidFill>
            <a:srgbClr val="E2E8EC"/>
          </a:solidFill>
          <a:ln>
            <a:noFill/>
          </a:ln>
          <a:effectLst/>
        </p:spPr>
        <p:txBody>
          <a:bodyPr rtlCol="0" anchor="ctr"/>
          <a:lstStyle/>
          <a:p>
            <a:endParaRPr lang="de-DE"/>
          </a:p>
        </p:txBody>
      </p:sp>
      <p:sp>
        <p:nvSpPr>
          <p:cNvPr id="292" name="Business Partner Data Mgmt Dim Dot External · CX Association"/>
          <p:cNvSpPr/>
          <p:nvPr/>
        </p:nvSpPr>
        <p:spPr>
          <a:xfrm>
            <a:off x="6640830" y="4435109"/>
            <a:ext cx="73152" cy="73152"/>
          </a:xfrm>
          <a:prstGeom prst="ellipse">
            <a:avLst/>
          </a:prstGeom>
          <a:solidFill>
            <a:srgbClr val="F0B135"/>
          </a:solidFill>
          <a:ln>
            <a:noFill/>
          </a:ln>
          <a:effectLst/>
        </p:spPr>
        <p:txBody>
          <a:bodyPr rtlCol="0" anchor="ctr"/>
          <a:lstStyle/>
          <a:p>
            <a:endParaRPr lang="de-DE"/>
          </a:p>
        </p:txBody>
      </p:sp>
      <p:sp>
        <p:nvSpPr>
          <p:cNvPr id="293" name="Business Partner Data Mgmt Dim External · CX Association"/>
          <p:cNvSpPr txBox="1"/>
          <p:nvPr/>
        </p:nvSpPr>
        <p:spPr>
          <a:xfrm>
            <a:off x="6777990"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4" name="Business Partner Data Mgmt Dim Dot Business"/>
          <p:cNvSpPr/>
          <p:nvPr/>
        </p:nvSpPr>
        <p:spPr>
          <a:xfrm>
            <a:off x="6640830" y="4772929"/>
            <a:ext cx="73152" cy="73152"/>
          </a:xfrm>
          <a:prstGeom prst="ellipse">
            <a:avLst/>
          </a:prstGeom>
          <a:solidFill>
            <a:srgbClr val="F0B135"/>
          </a:solidFill>
          <a:ln>
            <a:noFill/>
          </a:ln>
          <a:effectLst/>
        </p:spPr>
        <p:txBody>
          <a:bodyPr rtlCol="0" anchor="ctr"/>
          <a:lstStyle/>
          <a:p>
            <a:endParaRPr lang="de-DE"/>
          </a:p>
        </p:txBody>
      </p:sp>
      <p:sp>
        <p:nvSpPr>
          <p:cNvPr id="295" name="Business Partner Data Mgmt Dim Business"/>
          <p:cNvSpPr txBox="1"/>
          <p:nvPr/>
        </p:nvSpPr>
        <p:spPr>
          <a:xfrm>
            <a:off x="6777990"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6" name="Business Partner Data Mgmt Dim Dot Data Provisioning"/>
          <p:cNvSpPr/>
          <p:nvPr/>
        </p:nvSpPr>
        <p:spPr>
          <a:xfrm>
            <a:off x="6640830" y="4964699"/>
            <a:ext cx="73152" cy="73152"/>
          </a:xfrm>
          <a:prstGeom prst="ellipse">
            <a:avLst/>
          </a:prstGeom>
          <a:solidFill>
            <a:srgbClr val="53BE70"/>
          </a:solidFill>
          <a:ln>
            <a:noFill/>
          </a:ln>
          <a:effectLst/>
        </p:spPr>
        <p:txBody>
          <a:bodyPr rtlCol="0" anchor="ctr"/>
          <a:lstStyle/>
          <a:p>
            <a:endParaRPr lang="de-DE"/>
          </a:p>
        </p:txBody>
      </p:sp>
      <p:sp>
        <p:nvSpPr>
          <p:cNvPr id="297" name="Business Partner Data Mgmt Dim Data Provisioning"/>
          <p:cNvSpPr txBox="1"/>
          <p:nvPr/>
        </p:nvSpPr>
        <p:spPr>
          <a:xfrm>
            <a:off x="6777990"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8" name="Business Partner Data Mgmt Dim Dot Technical"/>
          <p:cNvSpPr/>
          <p:nvPr/>
        </p:nvSpPr>
        <p:spPr>
          <a:xfrm>
            <a:off x="6640830" y="5156469"/>
            <a:ext cx="73152" cy="73152"/>
          </a:xfrm>
          <a:prstGeom prst="ellipse">
            <a:avLst/>
          </a:prstGeom>
          <a:solidFill>
            <a:srgbClr val="F0B135"/>
          </a:solidFill>
          <a:ln>
            <a:noFill/>
          </a:ln>
          <a:effectLst/>
        </p:spPr>
        <p:txBody>
          <a:bodyPr rtlCol="0" anchor="ctr"/>
          <a:lstStyle/>
          <a:p>
            <a:endParaRPr lang="de-DE"/>
          </a:p>
        </p:txBody>
      </p:sp>
      <p:sp>
        <p:nvSpPr>
          <p:cNvPr id="299" name="Business Partner Data Mgmt Dim Technical"/>
          <p:cNvSpPr txBox="1"/>
          <p:nvPr/>
        </p:nvSpPr>
        <p:spPr>
          <a:xfrm>
            <a:off x="6777990"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0" name="Business Partner Data Mgmt Dim Dot Supplier Activation"/>
          <p:cNvSpPr/>
          <p:nvPr/>
        </p:nvSpPr>
        <p:spPr>
          <a:xfrm>
            <a:off x="6640830" y="5348239"/>
            <a:ext cx="73152" cy="73152"/>
          </a:xfrm>
          <a:prstGeom prst="ellipse">
            <a:avLst/>
          </a:prstGeom>
          <a:solidFill>
            <a:srgbClr val="CFD6DB"/>
          </a:solidFill>
          <a:ln>
            <a:noFill/>
          </a:ln>
          <a:effectLst/>
        </p:spPr>
        <p:txBody>
          <a:bodyPr rtlCol="0" anchor="ctr"/>
          <a:lstStyle/>
          <a:p>
            <a:endParaRPr lang="de-DE"/>
          </a:p>
        </p:txBody>
      </p:sp>
      <p:sp>
        <p:nvSpPr>
          <p:cNvPr id="301" name="Business Partner Data Mgmt Dim Supplier Activation"/>
          <p:cNvSpPr txBox="1"/>
          <p:nvPr/>
        </p:nvSpPr>
        <p:spPr>
          <a:xfrm>
            <a:off x="6777990"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2" name="Certificate Management Row Divider Dimensions"/>
          <p:cNvSpPr/>
          <p:nvPr/>
        </p:nvSpPr>
        <p:spPr>
          <a:xfrm>
            <a:off x="7986712" y="4334525"/>
            <a:ext cx="1167574" cy="6401"/>
          </a:xfrm>
          <a:prstGeom prst="rect">
            <a:avLst/>
          </a:prstGeom>
          <a:solidFill>
            <a:srgbClr val="E2E8EC"/>
          </a:solidFill>
          <a:ln>
            <a:noFill/>
          </a:ln>
          <a:effectLst/>
        </p:spPr>
        <p:txBody>
          <a:bodyPr rtlCol="0" anchor="ctr"/>
          <a:lstStyle/>
          <a:p>
            <a:endParaRPr lang="de-DE"/>
          </a:p>
        </p:txBody>
      </p:sp>
      <p:sp>
        <p:nvSpPr>
          <p:cNvPr id="303" name="Certificate Management Dim Dot External · CX Association"/>
          <p:cNvSpPr/>
          <p:nvPr/>
        </p:nvSpPr>
        <p:spPr>
          <a:xfrm>
            <a:off x="7986712" y="4435109"/>
            <a:ext cx="73152" cy="73152"/>
          </a:xfrm>
          <a:prstGeom prst="ellipse">
            <a:avLst/>
          </a:prstGeom>
          <a:solidFill>
            <a:srgbClr val="F0B135"/>
          </a:solidFill>
          <a:ln>
            <a:noFill/>
          </a:ln>
          <a:effectLst/>
        </p:spPr>
        <p:txBody>
          <a:bodyPr rtlCol="0" anchor="ctr"/>
          <a:lstStyle/>
          <a:p>
            <a:endParaRPr lang="de-DE"/>
          </a:p>
        </p:txBody>
      </p:sp>
      <p:sp>
        <p:nvSpPr>
          <p:cNvPr id="304" name="Certificate Management Dim External · CX Association"/>
          <p:cNvSpPr txBox="1"/>
          <p:nvPr/>
        </p:nvSpPr>
        <p:spPr>
          <a:xfrm>
            <a:off x="8123872"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5" name="Certificate Management Dim Dot Business"/>
          <p:cNvSpPr/>
          <p:nvPr/>
        </p:nvSpPr>
        <p:spPr>
          <a:xfrm>
            <a:off x="7986712" y="4772929"/>
            <a:ext cx="73152" cy="73152"/>
          </a:xfrm>
          <a:prstGeom prst="ellipse">
            <a:avLst/>
          </a:prstGeom>
          <a:solidFill>
            <a:srgbClr val="53BE70"/>
          </a:solidFill>
          <a:ln>
            <a:noFill/>
          </a:ln>
          <a:effectLst/>
        </p:spPr>
        <p:txBody>
          <a:bodyPr rtlCol="0" anchor="ctr"/>
          <a:lstStyle/>
          <a:p>
            <a:endParaRPr lang="de-DE"/>
          </a:p>
        </p:txBody>
      </p:sp>
      <p:sp>
        <p:nvSpPr>
          <p:cNvPr id="306" name="Certificate Management Dim Business"/>
          <p:cNvSpPr txBox="1"/>
          <p:nvPr/>
        </p:nvSpPr>
        <p:spPr>
          <a:xfrm>
            <a:off x="8123872"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7" name="Certificate Management Dim Dot Data Provisioning"/>
          <p:cNvSpPr/>
          <p:nvPr/>
        </p:nvSpPr>
        <p:spPr>
          <a:xfrm>
            <a:off x="7986712" y="4964699"/>
            <a:ext cx="73152" cy="73152"/>
          </a:xfrm>
          <a:prstGeom prst="ellipse">
            <a:avLst/>
          </a:prstGeom>
          <a:solidFill>
            <a:srgbClr val="53BE70"/>
          </a:solidFill>
          <a:ln>
            <a:noFill/>
          </a:ln>
          <a:effectLst/>
        </p:spPr>
        <p:txBody>
          <a:bodyPr rtlCol="0" anchor="ctr"/>
          <a:lstStyle/>
          <a:p>
            <a:endParaRPr lang="de-DE"/>
          </a:p>
        </p:txBody>
      </p:sp>
      <p:sp>
        <p:nvSpPr>
          <p:cNvPr id="308" name="Certificate Management Dim Data Provisioning"/>
          <p:cNvSpPr txBox="1"/>
          <p:nvPr/>
        </p:nvSpPr>
        <p:spPr>
          <a:xfrm>
            <a:off x="8123872"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9" name="Certificate Management Dim Dot Technical"/>
          <p:cNvSpPr/>
          <p:nvPr/>
        </p:nvSpPr>
        <p:spPr>
          <a:xfrm>
            <a:off x="7986712" y="5156469"/>
            <a:ext cx="73152" cy="73152"/>
          </a:xfrm>
          <a:prstGeom prst="ellipse">
            <a:avLst/>
          </a:prstGeom>
          <a:solidFill>
            <a:srgbClr val="53BE70"/>
          </a:solidFill>
          <a:ln>
            <a:noFill/>
          </a:ln>
          <a:effectLst/>
        </p:spPr>
        <p:txBody>
          <a:bodyPr rtlCol="0" anchor="ctr"/>
          <a:lstStyle/>
          <a:p>
            <a:endParaRPr lang="de-DE"/>
          </a:p>
        </p:txBody>
      </p:sp>
      <p:sp>
        <p:nvSpPr>
          <p:cNvPr id="310" name="Certificate Management Dim Technical"/>
          <p:cNvSpPr txBox="1"/>
          <p:nvPr/>
        </p:nvSpPr>
        <p:spPr>
          <a:xfrm>
            <a:off x="8123872"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1" name="Certificate Management Dim Dot Supplier Activation"/>
          <p:cNvSpPr/>
          <p:nvPr/>
        </p:nvSpPr>
        <p:spPr>
          <a:xfrm>
            <a:off x="7986712" y="5348239"/>
            <a:ext cx="73152" cy="73152"/>
          </a:xfrm>
          <a:prstGeom prst="ellipse">
            <a:avLst/>
          </a:prstGeom>
          <a:solidFill>
            <a:srgbClr val="53BE70"/>
          </a:solidFill>
          <a:ln>
            <a:noFill/>
          </a:ln>
          <a:effectLst/>
        </p:spPr>
        <p:txBody>
          <a:bodyPr rtlCol="0" anchor="ctr"/>
          <a:lstStyle/>
          <a:p>
            <a:endParaRPr lang="de-DE"/>
          </a:p>
        </p:txBody>
      </p:sp>
      <p:sp>
        <p:nvSpPr>
          <p:cNvPr id="312" name="Certificate Management Dim Supplier Activation"/>
          <p:cNvSpPr txBox="1"/>
          <p:nvPr/>
        </p:nvSpPr>
        <p:spPr>
          <a:xfrm>
            <a:off x="8123872"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3" name="Product Carbon Footprint Row Divider Dimensions"/>
          <p:cNvSpPr/>
          <p:nvPr/>
        </p:nvSpPr>
        <p:spPr>
          <a:xfrm>
            <a:off x="9332595" y="4334525"/>
            <a:ext cx="1167574" cy="6401"/>
          </a:xfrm>
          <a:prstGeom prst="rect">
            <a:avLst/>
          </a:prstGeom>
          <a:solidFill>
            <a:srgbClr val="E2E8EC"/>
          </a:solidFill>
          <a:ln>
            <a:noFill/>
          </a:ln>
          <a:effectLst/>
        </p:spPr>
        <p:txBody>
          <a:bodyPr rtlCol="0" anchor="ctr"/>
          <a:lstStyle/>
          <a:p>
            <a:endParaRPr lang="de-DE"/>
          </a:p>
        </p:txBody>
      </p:sp>
      <p:sp>
        <p:nvSpPr>
          <p:cNvPr id="314" name="Product Carbon Footprint Dim Dot External · CX Association"/>
          <p:cNvSpPr/>
          <p:nvPr/>
        </p:nvSpPr>
        <p:spPr>
          <a:xfrm>
            <a:off x="9332595" y="4435109"/>
            <a:ext cx="73152" cy="73152"/>
          </a:xfrm>
          <a:prstGeom prst="ellipse">
            <a:avLst/>
          </a:prstGeom>
          <a:solidFill>
            <a:srgbClr val="53BE70"/>
          </a:solidFill>
          <a:ln>
            <a:noFill/>
          </a:ln>
          <a:effectLst/>
        </p:spPr>
        <p:txBody>
          <a:bodyPr rtlCol="0" anchor="ctr"/>
          <a:lstStyle/>
          <a:p>
            <a:endParaRPr lang="de-DE"/>
          </a:p>
        </p:txBody>
      </p:sp>
      <p:sp>
        <p:nvSpPr>
          <p:cNvPr id="315" name="Product Carbon Footprint Dim External · CX Association"/>
          <p:cNvSpPr txBox="1"/>
          <p:nvPr/>
        </p:nvSpPr>
        <p:spPr>
          <a:xfrm>
            <a:off x="9469755"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6" name="Product Carbon Footprint Dim Dot Business"/>
          <p:cNvSpPr/>
          <p:nvPr/>
        </p:nvSpPr>
        <p:spPr>
          <a:xfrm>
            <a:off x="9332595" y="4772929"/>
            <a:ext cx="73152" cy="73152"/>
          </a:xfrm>
          <a:prstGeom prst="ellipse">
            <a:avLst/>
          </a:prstGeom>
          <a:solidFill>
            <a:srgbClr val="53BE70"/>
          </a:solidFill>
          <a:ln>
            <a:noFill/>
          </a:ln>
          <a:effectLst/>
        </p:spPr>
        <p:txBody>
          <a:bodyPr rtlCol="0" anchor="ctr"/>
          <a:lstStyle/>
          <a:p>
            <a:endParaRPr lang="de-DE"/>
          </a:p>
        </p:txBody>
      </p:sp>
      <p:sp>
        <p:nvSpPr>
          <p:cNvPr id="317" name="Product Carbon Footprint Dim Business"/>
          <p:cNvSpPr txBox="1"/>
          <p:nvPr/>
        </p:nvSpPr>
        <p:spPr>
          <a:xfrm>
            <a:off x="9469755"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8" name="Product Carbon Footprint Dim Dot Data Provisioning"/>
          <p:cNvSpPr/>
          <p:nvPr/>
        </p:nvSpPr>
        <p:spPr>
          <a:xfrm>
            <a:off x="9332595" y="4964699"/>
            <a:ext cx="73152" cy="73152"/>
          </a:xfrm>
          <a:prstGeom prst="ellipse">
            <a:avLst/>
          </a:prstGeom>
          <a:solidFill>
            <a:srgbClr val="53BE70"/>
          </a:solidFill>
          <a:ln>
            <a:noFill/>
          </a:ln>
          <a:effectLst/>
        </p:spPr>
        <p:txBody>
          <a:bodyPr rtlCol="0" anchor="ctr"/>
          <a:lstStyle/>
          <a:p>
            <a:endParaRPr lang="de-DE"/>
          </a:p>
        </p:txBody>
      </p:sp>
      <p:sp>
        <p:nvSpPr>
          <p:cNvPr id="319" name="Product Carbon Footprint Dim Data Provisioning"/>
          <p:cNvSpPr txBox="1"/>
          <p:nvPr/>
        </p:nvSpPr>
        <p:spPr>
          <a:xfrm>
            <a:off x="9469755"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0" name="Product Carbon Footprint Dim Dot Technical"/>
          <p:cNvSpPr/>
          <p:nvPr/>
        </p:nvSpPr>
        <p:spPr>
          <a:xfrm>
            <a:off x="9332595" y="5156469"/>
            <a:ext cx="73152" cy="73152"/>
          </a:xfrm>
          <a:prstGeom prst="ellipse">
            <a:avLst/>
          </a:prstGeom>
          <a:solidFill>
            <a:srgbClr val="53BE70"/>
          </a:solidFill>
          <a:ln>
            <a:noFill/>
          </a:ln>
          <a:effectLst/>
        </p:spPr>
        <p:txBody>
          <a:bodyPr rtlCol="0" anchor="ctr"/>
          <a:lstStyle/>
          <a:p>
            <a:endParaRPr lang="de-DE"/>
          </a:p>
        </p:txBody>
      </p:sp>
      <p:sp>
        <p:nvSpPr>
          <p:cNvPr id="321" name="Product Carbon Footprint Dim Technical"/>
          <p:cNvSpPr txBox="1"/>
          <p:nvPr/>
        </p:nvSpPr>
        <p:spPr>
          <a:xfrm>
            <a:off x="9469755"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2" name="Product Carbon Footprint Dim Dot Supplier Activation"/>
          <p:cNvSpPr/>
          <p:nvPr/>
        </p:nvSpPr>
        <p:spPr>
          <a:xfrm>
            <a:off x="9332595" y="5348239"/>
            <a:ext cx="73152" cy="73152"/>
          </a:xfrm>
          <a:prstGeom prst="ellipse">
            <a:avLst/>
          </a:prstGeom>
          <a:solidFill>
            <a:srgbClr val="53BE70"/>
          </a:solidFill>
          <a:ln>
            <a:noFill/>
          </a:ln>
          <a:effectLst/>
        </p:spPr>
        <p:txBody>
          <a:bodyPr rtlCol="0" anchor="ctr"/>
          <a:lstStyle/>
          <a:p>
            <a:endParaRPr lang="de-DE"/>
          </a:p>
        </p:txBody>
      </p:sp>
      <p:sp>
        <p:nvSpPr>
          <p:cNvPr id="323" name="Product Carbon Footprint Dim Supplier Activation"/>
          <p:cNvSpPr txBox="1"/>
          <p:nvPr/>
        </p:nvSpPr>
        <p:spPr>
          <a:xfrm>
            <a:off x="9469755"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4" name="N-Tier Row Divider Dimensions"/>
          <p:cNvSpPr/>
          <p:nvPr/>
        </p:nvSpPr>
        <p:spPr>
          <a:xfrm>
            <a:off x="10678477" y="4334525"/>
            <a:ext cx="1167574" cy="6401"/>
          </a:xfrm>
          <a:prstGeom prst="rect">
            <a:avLst/>
          </a:prstGeom>
          <a:solidFill>
            <a:srgbClr val="E2E8EC"/>
          </a:solidFill>
          <a:ln>
            <a:noFill/>
          </a:ln>
          <a:effectLst/>
        </p:spPr>
        <p:txBody>
          <a:bodyPr rtlCol="0" anchor="ctr"/>
          <a:lstStyle/>
          <a:p>
            <a:endParaRPr lang="de-DE"/>
          </a:p>
        </p:txBody>
      </p:sp>
      <p:sp>
        <p:nvSpPr>
          <p:cNvPr id="325" name="N-Tier Dim Dot External · CX Association"/>
          <p:cNvSpPr/>
          <p:nvPr/>
        </p:nvSpPr>
        <p:spPr>
          <a:xfrm>
            <a:off x="10678477" y="4435109"/>
            <a:ext cx="73152" cy="73152"/>
          </a:xfrm>
          <a:prstGeom prst="ellipse">
            <a:avLst/>
          </a:prstGeom>
          <a:solidFill>
            <a:srgbClr val="53BE70"/>
          </a:solidFill>
          <a:ln>
            <a:noFill/>
          </a:ln>
          <a:effectLst/>
        </p:spPr>
        <p:txBody>
          <a:bodyPr rtlCol="0" anchor="ctr"/>
          <a:lstStyle/>
          <a:p>
            <a:endParaRPr lang="de-DE"/>
          </a:p>
        </p:txBody>
      </p:sp>
      <p:sp>
        <p:nvSpPr>
          <p:cNvPr id="326" name="N-Tier Dim External · CX Association"/>
          <p:cNvSpPr txBox="1"/>
          <p:nvPr/>
        </p:nvSpPr>
        <p:spPr>
          <a:xfrm>
            <a:off x="10815637" y="4398533"/>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7" name="N-Tier Dim Dot Business"/>
          <p:cNvSpPr/>
          <p:nvPr/>
        </p:nvSpPr>
        <p:spPr>
          <a:xfrm>
            <a:off x="10678477" y="4772929"/>
            <a:ext cx="73152" cy="73152"/>
          </a:xfrm>
          <a:prstGeom prst="ellipse">
            <a:avLst/>
          </a:prstGeom>
          <a:solidFill>
            <a:srgbClr val="CFD6DB"/>
          </a:solidFill>
          <a:ln>
            <a:noFill/>
          </a:ln>
          <a:effectLst/>
        </p:spPr>
        <p:txBody>
          <a:bodyPr rtlCol="0" anchor="ctr"/>
          <a:lstStyle/>
          <a:p>
            <a:endParaRPr lang="de-DE"/>
          </a:p>
        </p:txBody>
      </p:sp>
      <p:sp>
        <p:nvSpPr>
          <p:cNvPr id="328" name="N-Tier Dim Business"/>
          <p:cNvSpPr txBox="1"/>
          <p:nvPr/>
        </p:nvSpPr>
        <p:spPr>
          <a:xfrm>
            <a:off x="10815637" y="473635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9" name="N-Tier Dim Dot Data Provisioning"/>
          <p:cNvSpPr/>
          <p:nvPr/>
        </p:nvSpPr>
        <p:spPr>
          <a:xfrm>
            <a:off x="10678477" y="4964699"/>
            <a:ext cx="73152" cy="73152"/>
          </a:xfrm>
          <a:prstGeom prst="ellipse">
            <a:avLst/>
          </a:prstGeom>
          <a:solidFill>
            <a:srgbClr val="CFD6DB"/>
          </a:solidFill>
          <a:ln>
            <a:noFill/>
          </a:ln>
          <a:effectLst/>
        </p:spPr>
        <p:txBody>
          <a:bodyPr rtlCol="0" anchor="ctr"/>
          <a:lstStyle/>
          <a:p>
            <a:endParaRPr lang="de-DE"/>
          </a:p>
        </p:txBody>
      </p:sp>
      <p:sp>
        <p:nvSpPr>
          <p:cNvPr id="330" name="N-Tier Dim Data Provisioning"/>
          <p:cNvSpPr txBox="1"/>
          <p:nvPr/>
        </p:nvSpPr>
        <p:spPr>
          <a:xfrm>
            <a:off x="10815637" y="492812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1" name="N-Tier Dim Dot Technical"/>
          <p:cNvSpPr/>
          <p:nvPr/>
        </p:nvSpPr>
        <p:spPr>
          <a:xfrm>
            <a:off x="10678477" y="5156469"/>
            <a:ext cx="73152" cy="73152"/>
          </a:xfrm>
          <a:prstGeom prst="ellipse">
            <a:avLst/>
          </a:prstGeom>
          <a:solidFill>
            <a:srgbClr val="CFD6DB"/>
          </a:solidFill>
          <a:ln>
            <a:noFill/>
          </a:ln>
          <a:effectLst/>
        </p:spPr>
        <p:txBody>
          <a:bodyPr rtlCol="0" anchor="ctr"/>
          <a:lstStyle/>
          <a:p>
            <a:endParaRPr lang="de-DE"/>
          </a:p>
        </p:txBody>
      </p:sp>
      <p:sp>
        <p:nvSpPr>
          <p:cNvPr id="332" name="N-Tier Dim Technical"/>
          <p:cNvSpPr txBox="1"/>
          <p:nvPr/>
        </p:nvSpPr>
        <p:spPr>
          <a:xfrm>
            <a:off x="10815637" y="511989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3" name="N-Tier Dim Dot Supplier Activation"/>
          <p:cNvSpPr/>
          <p:nvPr/>
        </p:nvSpPr>
        <p:spPr>
          <a:xfrm>
            <a:off x="10678477" y="5348239"/>
            <a:ext cx="73152" cy="73152"/>
          </a:xfrm>
          <a:prstGeom prst="ellipse">
            <a:avLst/>
          </a:prstGeom>
          <a:solidFill>
            <a:srgbClr val="CFD6DB"/>
          </a:solidFill>
          <a:ln>
            <a:noFill/>
          </a:ln>
          <a:effectLst/>
        </p:spPr>
        <p:txBody>
          <a:bodyPr rtlCol="0" anchor="ctr"/>
          <a:lstStyle/>
          <a:p>
            <a:endParaRPr lang="de-DE"/>
          </a:p>
        </p:txBody>
      </p:sp>
      <p:sp>
        <p:nvSpPr>
          <p:cNvPr id="334" name="N-Tier Dim Supplier Activation"/>
          <p:cNvSpPr txBox="1"/>
          <p:nvPr/>
        </p:nvSpPr>
        <p:spPr>
          <a:xfrm>
            <a:off x="10815637" y="531166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5"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6" name="Quality Row Divider Decision required"/>
          <p:cNvSpPr/>
          <p:nvPr/>
        </p:nvSpPr>
        <p:spPr>
          <a:xfrm>
            <a:off x="1257300" y="5515356"/>
            <a:ext cx="1167574" cy="6401"/>
          </a:xfrm>
          <a:prstGeom prst="rect">
            <a:avLst/>
          </a:prstGeom>
          <a:solidFill>
            <a:srgbClr val="E2E8EC"/>
          </a:solidFill>
          <a:ln>
            <a:noFill/>
          </a:ln>
          <a:effectLst/>
        </p:spPr>
        <p:txBody>
          <a:bodyPr rtlCol="0" anchor="ctr"/>
          <a:lstStyle/>
          <a:p>
            <a:endParaRPr lang="de-DE"/>
          </a:p>
        </p:txBody>
      </p:sp>
      <p:sp>
        <p:nvSpPr>
          <p:cNvPr id="337" name="Quality Decision None"/>
          <p:cNvSpPr txBox="1"/>
          <p:nvPr/>
        </p:nvSpPr>
        <p:spPr>
          <a:xfrm>
            <a:off x="125730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38" name="Battery Passport Row Divider Decision required"/>
          <p:cNvSpPr/>
          <p:nvPr/>
        </p:nvSpPr>
        <p:spPr>
          <a:xfrm>
            <a:off x="2603182" y="5515356"/>
            <a:ext cx="1167574" cy="6401"/>
          </a:xfrm>
          <a:prstGeom prst="rect">
            <a:avLst/>
          </a:prstGeom>
          <a:solidFill>
            <a:srgbClr val="E2E8EC"/>
          </a:solidFill>
          <a:ln>
            <a:noFill/>
          </a:ln>
          <a:effectLst/>
        </p:spPr>
        <p:txBody>
          <a:bodyPr rtlCol="0" anchor="ctr"/>
          <a:lstStyle/>
          <a:p>
            <a:endParaRPr lang="de-DE"/>
          </a:p>
        </p:txBody>
      </p:sp>
      <p:sp>
        <p:nvSpPr>
          <p:cNvPr id="339" name="Battery Passport Decision None"/>
          <p:cNvSpPr txBox="1"/>
          <p:nvPr/>
        </p:nvSpPr>
        <p:spPr>
          <a:xfrm>
            <a:off x="260318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0" name="Product Passes Row Divider Decision required"/>
          <p:cNvSpPr/>
          <p:nvPr/>
        </p:nvSpPr>
        <p:spPr>
          <a:xfrm>
            <a:off x="3949065" y="5515356"/>
            <a:ext cx="1167574" cy="6401"/>
          </a:xfrm>
          <a:prstGeom prst="rect">
            <a:avLst/>
          </a:prstGeom>
          <a:solidFill>
            <a:srgbClr val="E2E8EC"/>
          </a:solidFill>
          <a:ln>
            <a:noFill/>
          </a:ln>
          <a:effectLst/>
        </p:spPr>
        <p:txBody>
          <a:bodyPr rtlCol="0" anchor="ctr"/>
          <a:lstStyle/>
          <a:p>
            <a:endParaRPr lang="de-DE"/>
          </a:p>
        </p:txBody>
      </p:sp>
      <p:sp>
        <p:nvSpPr>
          <p:cNvPr id="341" name="Product Passes Decision None"/>
          <p:cNvSpPr txBox="1"/>
          <p:nvPr/>
        </p:nvSpPr>
        <p:spPr>
          <a:xfrm>
            <a:off x="394906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2" name="PURIS Row Divider Decision required"/>
          <p:cNvSpPr/>
          <p:nvPr/>
        </p:nvSpPr>
        <p:spPr>
          <a:xfrm>
            <a:off x="5294947" y="5515356"/>
            <a:ext cx="1167574" cy="6401"/>
          </a:xfrm>
          <a:prstGeom prst="rect">
            <a:avLst/>
          </a:prstGeom>
          <a:solidFill>
            <a:srgbClr val="E2E8EC"/>
          </a:solidFill>
          <a:ln>
            <a:noFill/>
          </a:ln>
          <a:effectLst/>
        </p:spPr>
        <p:txBody>
          <a:bodyPr rtlCol="0" anchor="ctr"/>
          <a:lstStyle/>
          <a:p>
            <a:endParaRPr lang="de-DE"/>
          </a:p>
        </p:txBody>
      </p:sp>
      <p:sp>
        <p:nvSpPr>
          <p:cNvPr id="343" name="PURIS Decision 1 Flag"/>
          <p:cNvSpPr/>
          <p:nvPr/>
        </p:nvSpPr>
        <p:spPr>
          <a:xfrm>
            <a:off x="5294947" y="5579364"/>
            <a:ext cx="146304" cy="146304"/>
          </a:xfrm>
          <a:prstGeom prst="ellipse">
            <a:avLst/>
          </a:prstGeom>
          <a:solidFill>
            <a:srgbClr val="001E50"/>
          </a:solidFill>
          <a:ln>
            <a:noFill/>
          </a:ln>
          <a:effectLst/>
        </p:spPr>
        <p:txBody>
          <a:bodyPr rtlCol="0" anchor="ctr"/>
          <a:lstStyle/>
          <a:p>
            <a:endParaRPr lang="de-DE"/>
          </a:p>
        </p:txBody>
      </p:sp>
      <p:sp>
        <p:nvSpPr>
          <p:cNvPr id="344" name="PURIS Decision 1 No"/>
          <p:cNvSpPr txBox="1"/>
          <p:nvPr/>
        </p:nvSpPr>
        <p:spPr>
          <a:xfrm>
            <a:off x="5294947"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5" name="PURIS Decision 1"/>
          <p:cNvSpPr txBox="1"/>
          <p:nvPr/>
        </p:nvSpPr>
        <p:spPr>
          <a:xfrm>
            <a:off x="5294947" y="5579364"/>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6" name="Business Partner Data Mgmt Row Divider Decision required"/>
          <p:cNvSpPr/>
          <p:nvPr/>
        </p:nvSpPr>
        <p:spPr>
          <a:xfrm>
            <a:off x="6640830" y="5515356"/>
            <a:ext cx="1167574" cy="6401"/>
          </a:xfrm>
          <a:prstGeom prst="rect">
            <a:avLst/>
          </a:prstGeom>
          <a:solidFill>
            <a:srgbClr val="E2E8EC"/>
          </a:solidFill>
          <a:ln>
            <a:noFill/>
          </a:ln>
          <a:effectLst/>
        </p:spPr>
        <p:txBody>
          <a:bodyPr rtlCol="0" anchor="ctr"/>
          <a:lstStyle/>
          <a:p>
            <a:endParaRPr lang="de-DE"/>
          </a:p>
        </p:txBody>
      </p:sp>
      <p:sp>
        <p:nvSpPr>
          <p:cNvPr id="347" name="Business Partner Data Mgmt Decision None"/>
          <p:cNvSpPr txBox="1"/>
          <p:nvPr/>
        </p:nvSpPr>
        <p:spPr>
          <a:xfrm>
            <a:off x="664083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8" name="Certificate Management Row Divider Decision required"/>
          <p:cNvSpPr/>
          <p:nvPr/>
        </p:nvSpPr>
        <p:spPr>
          <a:xfrm>
            <a:off x="7986712" y="5515356"/>
            <a:ext cx="1167574" cy="6401"/>
          </a:xfrm>
          <a:prstGeom prst="rect">
            <a:avLst/>
          </a:prstGeom>
          <a:solidFill>
            <a:srgbClr val="E2E8EC"/>
          </a:solidFill>
          <a:ln>
            <a:noFill/>
          </a:ln>
          <a:effectLst/>
        </p:spPr>
        <p:txBody>
          <a:bodyPr rtlCol="0" anchor="ctr"/>
          <a:lstStyle/>
          <a:p>
            <a:endParaRPr lang="de-DE"/>
          </a:p>
        </p:txBody>
      </p:sp>
      <p:sp>
        <p:nvSpPr>
          <p:cNvPr id="349" name="Certificate Management Decision None"/>
          <p:cNvSpPr txBox="1"/>
          <p:nvPr/>
        </p:nvSpPr>
        <p:spPr>
          <a:xfrm>
            <a:off x="798671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Product Carbon Footprint Row Divider Decision required"/>
          <p:cNvSpPr/>
          <p:nvPr/>
        </p:nvSpPr>
        <p:spPr>
          <a:xfrm>
            <a:off x="9332595" y="5515356"/>
            <a:ext cx="1167574" cy="6401"/>
          </a:xfrm>
          <a:prstGeom prst="rect">
            <a:avLst/>
          </a:prstGeom>
          <a:solidFill>
            <a:srgbClr val="E2E8EC"/>
          </a:solidFill>
          <a:ln>
            <a:noFill/>
          </a:ln>
          <a:effectLst/>
        </p:spPr>
        <p:txBody>
          <a:bodyPr rtlCol="0" anchor="ctr"/>
          <a:lstStyle/>
          <a:p>
            <a:endParaRPr lang="de-DE"/>
          </a:p>
        </p:txBody>
      </p:sp>
      <p:sp>
        <p:nvSpPr>
          <p:cNvPr id="351" name="Product Carbon Footprint Decision None"/>
          <p:cNvSpPr txBox="1"/>
          <p:nvPr/>
        </p:nvSpPr>
        <p:spPr>
          <a:xfrm>
            <a:off x="933259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2" name="N-Tier Row Divider Decision required"/>
          <p:cNvSpPr/>
          <p:nvPr/>
        </p:nvSpPr>
        <p:spPr>
          <a:xfrm>
            <a:off x="10678477" y="5515356"/>
            <a:ext cx="1167574" cy="6401"/>
          </a:xfrm>
          <a:prstGeom prst="rect">
            <a:avLst/>
          </a:prstGeom>
          <a:solidFill>
            <a:srgbClr val="E2E8EC"/>
          </a:solidFill>
          <a:ln>
            <a:noFill/>
          </a:ln>
          <a:effectLst/>
        </p:spPr>
        <p:txBody>
          <a:bodyPr rtlCol="0" anchor="ctr"/>
          <a:lstStyle/>
          <a:p>
            <a:endParaRPr lang="de-DE"/>
          </a:p>
        </p:txBody>
      </p:sp>
      <p:sp>
        <p:nvSpPr>
          <p:cNvPr id="353" name="N-Tier Decision None"/>
          <p:cNvSpPr txBox="1"/>
          <p:nvPr/>
        </p:nvSpPr>
        <p:spPr>
          <a:xfrm>
            <a:off x="10678477"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Supplier Activation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Supplier Activation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17" name="Col Supplier Activation Abbr"/>
          <p:cNvSpPr txBox="1"/>
          <p:nvPr/>
        </p:nvSpPr>
        <p:spPr>
          <a:xfrm>
            <a:off x="125730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18" name="Col Supplier Activation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19" name="Col Supplier Activation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Portfolio, AI+, C-X NEXT, DigiTrace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Portfolio, AI+, C-X NEXT, DigiTrace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22" name="Col Portfolio, AI+, C-X NEXT, DigiTrace Abbr"/>
          <p:cNvSpPr txBox="1"/>
          <p:nvPr/>
        </p:nvSpPr>
        <p:spPr>
          <a:xfrm>
            <a:off x="305181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23" name="Col Portfolio, AI+, C-X NEXT, DigiTrace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4" name="Col Portfolio, AI+, C-X NEXT, DigiTrace Status Bar"/>
          <p:cNvSpPr/>
          <p:nvPr/>
        </p:nvSpPr>
        <p:spPr>
          <a:xfrm>
            <a:off x="305181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Brunke (K-ILX-6), Schiffelbaum (A-IIED-EJ)</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Workstream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7" name="Row Label Overall status"/>
          <p:cNvSpPr txBox="1"/>
          <p:nvPr/>
        </p:nvSpPr>
        <p:spPr>
          <a:xfrm>
            <a:off x="274320" y="2158238"/>
            <a:ext cx="868680" cy="220846"/>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Supplier Activation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Supplier Activation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Portfolio, AI+, C-X NEXT, DigiTrace Status Pill"/>
          <p:cNvSpPr/>
          <p:nvPr/>
        </p:nvSpPr>
        <p:spPr>
          <a:xfrm>
            <a:off x="305181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305181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43092"/>
            <a:ext cx="868680" cy="46225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Supplier Activation Row Divider Goal"/>
          <p:cNvSpPr/>
          <p:nvPr/>
        </p:nvSpPr>
        <p:spPr>
          <a:xfrm>
            <a:off x="1257300" y="2379084"/>
            <a:ext cx="1616202" cy="6401"/>
          </a:xfrm>
          <a:prstGeom prst="rect">
            <a:avLst/>
          </a:prstGeom>
          <a:solidFill>
            <a:srgbClr val="E2E8EC"/>
          </a:solidFill>
          <a:ln>
            <a:noFill/>
          </a:ln>
          <a:effectLst/>
        </p:spPr>
        <p:txBody>
          <a:bodyPr rtlCol="0" anchor="ctr"/>
          <a:lstStyle/>
          <a:p>
            <a:endParaRPr lang="de-DE"/>
          </a:p>
        </p:txBody>
      </p:sp>
      <p:sp>
        <p:nvSpPr>
          <p:cNvPr id="162" name="Supplier Activation Goal"/>
          <p:cNvSpPr txBox="1"/>
          <p:nvPr/>
        </p:nvSpPr>
        <p:spPr>
          <a:xfrm>
            <a:off x="125730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3" name="Portfolio, AI+, C-X NEXT, DigiTrace Row Divider Goal"/>
          <p:cNvSpPr/>
          <p:nvPr/>
        </p:nvSpPr>
        <p:spPr>
          <a:xfrm>
            <a:off x="3051810" y="2379084"/>
            <a:ext cx="1616202"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305181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Data Provisioning Row Divider Goal"/>
          <p:cNvSpPr/>
          <p:nvPr/>
        </p:nvSpPr>
        <p:spPr>
          <a:xfrm>
            <a:off x="4846320" y="2379084"/>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40830" y="2379084"/>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79084"/>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29850" y="2379084"/>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969359"/>
            <a:ext cx="868680" cy="57755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Supplier Activation Row Divider Key KPI"/>
          <p:cNvSpPr/>
          <p:nvPr/>
        </p:nvSpPr>
        <p:spPr>
          <a:xfrm>
            <a:off x="1257300" y="2905351"/>
            <a:ext cx="1616202" cy="6401"/>
          </a:xfrm>
          <a:prstGeom prst="rect">
            <a:avLst/>
          </a:prstGeom>
          <a:solidFill>
            <a:srgbClr val="E2E8EC"/>
          </a:solidFill>
          <a:ln>
            <a:noFill/>
          </a:ln>
          <a:effectLst/>
        </p:spPr>
        <p:txBody>
          <a:bodyPr rtlCol="0" anchor="ctr"/>
          <a:lstStyle/>
          <a:p>
            <a:endParaRPr lang="de-DE"/>
          </a:p>
        </p:txBody>
      </p:sp>
      <p:sp>
        <p:nvSpPr>
          <p:cNvPr id="175" name="Supplier Activation KPI"/>
          <p:cNvSpPr txBox="1"/>
          <p:nvPr/>
        </p:nvSpPr>
        <p:spPr>
          <a:xfrm>
            <a:off x="1257300" y="2969359"/>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6" name="Portfolio, AI+, C-X NEXT, DigiTrace Row Divider Key KPI"/>
          <p:cNvSpPr/>
          <p:nvPr/>
        </p:nvSpPr>
        <p:spPr>
          <a:xfrm>
            <a:off x="3051810" y="2905351"/>
            <a:ext cx="1616202"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3051810" y="2969359"/>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8" name="Data Provisioning Row Divider Key KPI"/>
          <p:cNvSpPr/>
          <p:nvPr/>
        </p:nvSpPr>
        <p:spPr>
          <a:xfrm>
            <a:off x="4846320" y="2905351"/>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2969359"/>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40830" y="2905351"/>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2969359"/>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35340" y="2905351"/>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2969359"/>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29850" y="2905351"/>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2969359"/>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Next critical milestone"/>
          <p:cNvSpPr txBox="1"/>
          <p:nvPr/>
        </p:nvSpPr>
        <p:spPr>
          <a:xfrm>
            <a:off x="274320" y="3610921"/>
            <a:ext cx="868680" cy="72360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7" name="Supplier Activation Row Divider Next critical milestone"/>
          <p:cNvSpPr/>
          <p:nvPr/>
        </p:nvSpPr>
        <p:spPr>
          <a:xfrm>
            <a:off x="1257300" y="3546913"/>
            <a:ext cx="1616202" cy="6401"/>
          </a:xfrm>
          <a:prstGeom prst="rect">
            <a:avLst/>
          </a:prstGeom>
          <a:solidFill>
            <a:srgbClr val="E2E8EC"/>
          </a:solidFill>
          <a:ln>
            <a:noFill/>
          </a:ln>
          <a:effectLst/>
        </p:spPr>
        <p:txBody>
          <a:bodyPr rtlCol="0" anchor="ctr"/>
          <a:lstStyle/>
          <a:p>
            <a:endParaRPr lang="de-DE"/>
          </a:p>
        </p:txBody>
      </p:sp>
      <p:sp>
        <p:nvSpPr>
          <p:cNvPr id="188" name="Supplier Activation Milestone Dot"/>
          <p:cNvSpPr/>
          <p:nvPr/>
        </p:nvSpPr>
        <p:spPr>
          <a:xfrm>
            <a:off x="1257300" y="3647497"/>
            <a:ext cx="73152" cy="73152"/>
          </a:xfrm>
          <a:prstGeom prst="ellipse">
            <a:avLst/>
          </a:prstGeom>
          <a:solidFill>
            <a:srgbClr val="E64343"/>
          </a:solidFill>
          <a:ln>
            <a:noFill/>
          </a:ln>
          <a:effectLst/>
        </p:spPr>
        <p:txBody>
          <a:bodyPr rtlCol="0" anchor="ctr"/>
          <a:lstStyle/>
          <a:p>
            <a:endParaRPr lang="de-DE"/>
          </a:p>
        </p:txBody>
      </p:sp>
      <p:sp>
        <p:nvSpPr>
          <p:cNvPr id="189" name="Supplier Activation Milestone"/>
          <p:cNvSpPr txBox="1"/>
          <p:nvPr/>
        </p:nvSpPr>
        <p:spPr>
          <a:xfrm>
            <a:off x="1394460" y="361092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190" name="Portfolio, AI+, C-X NEXT, DigiTrace Row Divider Next critical milestone"/>
          <p:cNvSpPr/>
          <p:nvPr/>
        </p:nvSpPr>
        <p:spPr>
          <a:xfrm>
            <a:off x="3051810" y="3546913"/>
            <a:ext cx="1616202" cy="6401"/>
          </a:xfrm>
          <a:prstGeom prst="rect">
            <a:avLst/>
          </a:prstGeom>
          <a:solidFill>
            <a:srgbClr val="E2E8EC"/>
          </a:solidFill>
          <a:ln>
            <a:noFill/>
          </a:ln>
          <a:effectLst/>
        </p:spPr>
        <p:txBody>
          <a:bodyPr rtlCol="0" anchor="ctr"/>
          <a:lstStyle/>
          <a:p>
            <a:endParaRPr lang="de-DE"/>
          </a:p>
        </p:txBody>
      </p:sp>
      <p:sp>
        <p:nvSpPr>
          <p:cNvPr id="191" name="Portfolio, AI+, C-X NEXT, DigiTrace Milestone Dot"/>
          <p:cNvSpPr/>
          <p:nvPr/>
        </p:nvSpPr>
        <p:spPr>
          <a:xfrm>
            <a:off x="3051810" y="3647497"/>
            <a:ext cx="73152" cy="73152"/>
          </a:xfrm>
          <a:prstGeom prst="ellipse">
            <a:avLst/>
          </a:prstGeom>
          <a:solidFill>
            <a:srgbClr val="E64343"/>
          </a:solidFill>
          <a:ln>
            <a:noFill/>
          </a:ln>
          <a:effectLst/>
        </p:spPr>
        <p:txBody>
          <a:bodyPr rtlCol="0" anchor="ctr"/>
          <a:lstStyle/>
          <a:p>
            <a:endParaRPr lang="de-DE"/>
          </a:p>
        </p:txBody>
      </p:sp>
      <p:sp>
        <p:nvSpPr>
          <p:cNvPr id="192" name="Portfolio, AI+, C-X NEXT, DigiTrace Milestone"/>
          <p:cNvSpPr txBox="1"/>
          <p:nvPr/>
        </p:nvSpPr>
        <p:spPr>
          <a:xfrm>
            <a:off x="3188970" y="361092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PR74</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Nov 2026</a:t>
            </a:r>
          </a:p>
        </p:txBody>
      </p:sp>
      <p:sp>
        <p:nvSpPr>
          <p:cNvPr id="193" name="Data Provisioning Row Divider Next critical milestone"/>
          <p:cNvSpPr/>
          <p:nvPr/>
        </p:nvSpPr>
        <p:spPr>
          <a:xfrm>
            <a:off x="4846320" y="3546913"/>
            <a:ext cx="1616202" cy="6401"/>
          </a:xfrm>
          <a:prstGeom prst="rect">
            <a:avLst/>
          </a:prstGeom>
          <a:solidFill>
            <a:srgbClr val="E2E8EC"/>
          </a:solidFill>
          <a:ln>
            <a:noFill/>
          </a:ln>
          <a:effectLst/>
        </p:spPr>
        <p:txBody>
          <a:bodyPr rtlCol="0" anchor="ctr"/>
          <a:lstStyle/>
          <a:p>
            <a:endParaRPr lang="de-DE"/>
          </a:p>
        </p:txBody>
      </p:sp>
      <p:sp>
        <p:nvSpPr>
          <p:cNvPr id="194" name="Data Provisioning Milestone"/>
          <p:cNvSpPr txBox="1"/>
          <p:nvPr/>
        </p:nvSpPr>
        <p:spPr>
          <a:xfrm>
            <a:off x="4846320" y="361092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195" name="Hub &amp; Spoke Row Divider Next critical milestone"/>
          <p:cNvSpPr/>
          <p:nvPr/>
        </p:nvSpPr>
        <p:spPr>
          <a:xfrm>
            <a:off x="6640830" y="3546913"/>
            <a:ext cx="1616202" cy="6401"/>
          </a:xfrm>
          <a:prstGeom prst="rect">
            <a:avLst/>
          </a:prstGeom>
          <a:solidFill>
            <a:srgbClr val="E2E8EC"/>
          </a:solidFill>
          <a:ln>
            <a:noFill/>
          </a:ln>
          <a:effectLst/>
        </p:spPr>
        <p:txBody>
          <a:bodyPr rtlCol="0" anchor="ctr"/>
          <a:lstStyle/>
          <a:p>
            <a:endParaRPr lang="de-DE"/>
          </a:p>
        </p:txBody>
      </p:sp>
      <p:sp>
        <p:nvSpPr>
          <p:cNvPr id="196" name="Hub &amp; Spoke Milestone Dot"/>
          <p:cNvSpPr/>
          <p:nvPr/>
        </p:nvSpPr>
        <p:spPr>
          <a:xfrm>
            <a:off x="6640830" y="3647497"/>
            <a:ext cx="73152" cy="73152"/>
          </a:xfrm>
          <a:prstGeom prst="ellipse">
            <a:avLst/>
          </a:prstGeom>
          <a:solidFill>
            <a:srgbClr val="F0B135"/>
          </a:solidFill>
          <a:ln>
            <a:noFill/>
          </a:ln>
          <a:effectLst/>
        </p:spPr>
        <p:txBody>
          <a:bodyPr rtlCol="0" anchor="ctr"/>
          <a:lstStyle/>
          <a:p>
            <a:endParaRPr lang="de-DE"/>
          </a:p>
        </p:txBody>
      </p:sp>
      <p:sp>
        <p:nvSpPr>
          <p:cNvPr id="197" name="Hub &amp; Spoke Milestone"/>
          <p:cNvSpPr txBox="1"/>
          <p:nvPr/>
        </p:nvSpPr>
        <p:spPr>
          <a:xfrm>
            <a:off x="6777990" y="3610921"/>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8" name="Legal &amp; Contracts Row Divider Next critical milestone"/>
          <p:cNvSpPr/>
          <p:nvPr/>
        </p:nvSpPr>
        <p:spPr>
          <a:xfrm>
            <a:off x="8435340" y="3546913"/>
            <a:ext cx="1616202" cy="6401"/>
          </a:xfrm>
          <a:prstGeom prst="rect">
            <a:avLst/>
          </a:prstGeom>
          <a:solidFill>
            <a:srgbClr val="E2E8EC"/>
          </a:solidFill>
          <a:ln>
            <a:noFill/>
          </a:ln>
          <a:effectLst/>
        </p:spPr>
        <p:txBody>
          <a:bodyPr rtlCol="0" anchor="ctr"/>
          <a:lstStyle/>
          <a:p>
            <a:endParaRPr lang="de-DE"/>
          </a:p>
        </p:txBody>
      </p:sp>
      <p:sp>
        <p:nvSpPr>
          <p:cNvPr id="199" name="Legal &amp; Contracts Milestone Dot"/>
          <p:cNvSpPr/>
          <p:nvPr/>
        </p:nvSpPr>
        <p:spPr>
          <a:xfrm>
            <a:off x="8435340" y="3647497"/>
            <a:ext cx="73152" cy="73152"/>
          </a:xfrm>
          <a:prstGeom prst="ellipse">
            <a:avLst/>
          </a:prstGeom>
          <a:solidFill>
            <a:srgbClr val="F0B135"/>
          </a:solidFill>
          <a:ln>
            <a:noFill/>
          </a:ln>
          <a:effectLst/>
        </p:spPr>
        <p:txBody>
          <a:bodyPr rtlCol="0" anchor="ctr"/>
          <a:lstStyle/>
          <a:p>
            <a:endParaRPr lang="de-DE"/>
          </a:p>
        </p:txBody>
      </p:sp>
      <p:sp>
        <p:nvSpPr>
          <p:cNvPr id="200" name="Legal &amp; Contracts Milestone"/>
          <p:cNvSpPr txBox="1"/>
          <p:nvPr/>
        </p:nvSpPr>
        <p:spPr>
          <a:xfrm>
            <a:off x="8572500" y="361092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1" name="Architecture Row Divider Next critical milestone"/>
          <p:cNvSpPr/>
          <p:nvPr/>
        </p:nvSpPr>
        <p:spPr>
          <a:xfrm>
            <a:off x="10229850" y="3546913"/>
            <a:ext cx="1616202" cy="6401"/>
          </a:xfrm>
          <a:prstGeom prst="rect">
            <a:avLst/>
          </a:prstGeom>
          <a:solidFill>
            <a:srgbClr val="E2E8EC"/>
          </a:solidFill>
          <a:ln>
            <a:noFill/>
          </a:ln>
          <a:effectLst/>
        </p:spPr>
        <p:txBody>
          <a:bodyPr rtlCol="0" anchor="ctr"/>
          <a:lstStyle/>
          <a:p>
            <a:endParaRPr lang="de-DE"/>
          </a:p>
        </p:txBody>
      </p:sp>
      <p:sp>
        <p:nvSpPr>
          <p:cNvPr id="202" name="Architecture Milestone"/>
          <p:cNvSpPr txBox="1"/>
          <p:nvPr/>
        </p:nvSpPr>
        <p:spPr>
          <a:xfrm>
            <a:off x="10229850" y="361092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3" name="Row Label Dimensions"/>
          <p:cNvSpPr txBox="1"/>
          <p:nvPr/>
        </p:nvSpPr>
        <p:spPr>
          <a:xfrm>
            <a:off x="274320" y="4398533"/>
            <a:ext cx="868680" cy="111682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4" name="Supplier Activation Row Divider Dimensions"/>
          <p:cNvSpPr/>
          <p:nvPr/>
        </p:nvSpPr>
        <p:spPr>
          <a:xfrm>
            <a:off x="1257300" y="4334525"/>
            <a:ext cx="1616202" cy="6401"/>
          </a:xfrm>
          <a:prstGeom prst="rect">
            <a:avLst/>
          </a:prstGeom>
          <a:solidFill>
            <a:srgbClr val="E2E8EC"/>
          </a:solidFill>
          <a:ln>
            <a:noFill/>
          </a:ln>
          <a:effectLst/>
        </p:spPr>
        <p:txBody>
          <a:bodyPr rtlCol="0" anchor="ctr"/>
          <a:lstStyle/>
          <a:p>
            <a:endParaRPr lang="de-DE"/>
          </a:p>
        </p:txBody>
      </p:sp>
      <p:sp>
        <p:nvSpPr>
          <p:cNvPr id="205" name="Supplier Activation Dim Dot External · CX Association"/>
          <p:cNvSpPr/>
          <p:nvPr/>
        </p:nvSpPr>
        <p:spPr>
          <a:xfrm>
            <a:off x="1257300" y="4435109"/>
            <a:ext cx="73152" cy="73152"/>
          </a:xfrm>
          <a:prstGeom prst="ellipse">
            <a:avLst/>
          </a:prstGeom>
          <a:solidFill>
            <a:srgbClr val="E64343"/>
          </a:solidFill>
          <a:ln>
            <a:noFill/>
          </a:ln>
          <a:effectLst/>
        </p:spPr>
        <p:txBody>
          <a:bodyPr rtlCol="0" anchor="ctr"/>
          <a:lstStyle/>
          <a:p>
            <a:endParaRPr lang="de-DE"/>
          </a:p>
        </p:txBody>
      </p:sp>
      <p:sp>
        <p:nvSpPr>
          <p:cNvPr id="206" name="Supplier Activation Dim External · CX Association"/>
          <p:cNvSpPr txBox="1"/>
          <p:nvPr/>
        </p:nvSpPr>
        <p:spPr>
          <a:xfrm>
            <a:off x="1394460" y="43985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07" name="Supplier Activation Dim Dot Business"/>
          <p:cNvSpPr/>
          <p:nvPr/>
        </p:nvSpPr>
        <p:spPr>
          <a:xfrm>
            <a:off x="1257300" y="4800361"/>
            <a:ext cx="73152" cy="73152"/>
          </a:xfrm>
          <a:prstGeom prst="ellipse">
            <a:avLst/>
          </a:prstGeom>
          <a:solidFill>
            <a:srgbClr val="F0B135"/>
          </a:solidFill>
          <a:ln>
            <a:noFill/>
          </a:ln>
          <a:effectLst/>
        </p:spPr>
        <p:txBody>
          <a:bodyPr rtlCol="0" anchor="ctr"/>
          <a:lstStyle/>
          <a:p>
            <a:endParaRPr lang="de-DE"/>
          </a:p>
        </p:txBody>
      </p:sp>
      <p:sp>
        <p:nvSpPr>
          <p:cNvPr id="208" name="Supplier Activation Dim Business"/>
          <p:cNvSpPr txBox="1"/>
          <p:nvPr/>
        </p:nvSpPr>
        <p:spPr>
          <a:xfrm>
            <a:off x="1394460" y="47637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09" name="Supplier Activation Dim Dot Use Cases"/>
          <p:cNvSpPr/>
          <p:nvPr/>
        </p:nvSpPr>
        <p:spPr>
          <a:xfrm>
            <a:off x="1257300" y="5019563"/>
            <a:ext cx="73152" cy="73152"/>
          </a:xfrm>
          <a:prstGeom prst="ellipse">
            <a:avLst/>
          </a:prstGeom>
          <a:solidFill>
            <a:srgbClr val="CFD6DB"/>
          </a:solidFill>
          <a:ln>
            <a:noFill/>
          </a:ln>
          <a:effectLst/>
        </p:spPr>
        <p:txBody>
          <a:bodyPr rtlCol="0" anchor="ctr"/>
          <a:lstStyle/>
          <a:p>
            <a:endParaRPr lang="de-DE"/>
          </a:p>
        </p:txBody>
      </p:sp>
      <p:sp>
        <p:nvSpPr>
          <p:cNvPr id="210" name="Supplier Activation Dim Use Cases"/>
          <p:cNvSpPr txBox="1"/>
          <p:nvPr/>
        </p:nvSpPr>
        <p:spPr>
          <a:xfrm>
            <a:off x="1394460" y="49829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11" name="Supplier Activation Dim Dot Technical"/>
          <p:cNvSpPr/>
          <p:nvPr/>
        </p:nvSpPr>
        <p:spPr>
          <a:xfrm>
            <a:off x="1257300" y="5238765"/>
            <a:ext cx="73152" cy="73152"/>
          </a:xfrm>
          <a:prstGeom prst="ellipse">
            <a:avLst/>
          </a:prstGeom>
          <a:solidFill>
            <a:srgbClr val="CFD6DB"/>
          </a:solidFill>
          <a:ln>
            <a:noFill/>
          </a:ln>
          <a:effectLst/>
        </p:spPr>
        <p:txBody>
          <a:bodyPr rtlCol="0" anchor="ctr"/>
          <a:lstStyle/>
          <a:p>
            <a:endParaRPr lang="de-DE"/>
          </a:p>
        </p:txBody>
      </p:sp>
      <p:sp>
        <p:nvSpPr>
          <p:cNvPr id="212" name="Supplier Activation Dim Technical"/>
          <p:cNvSpPr txBox="1"/>
          <p:nvPr/>
        </p:nvSpPr>
        <p:spPr>
          <a:xfrm>
            <a:off x="1394460" y="52021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13" name="Portfolio, AI+, C-X NEXT, DigiTrace Row Divider Dimensions"/>
          <p:cNvSpPr/>
          <p:nvPr/>
        </p:nvSpPr>
        <p:spPr>
          <a:xfrm>
            <a:off x="3051810" y="4334525"/>
            <a:ext cx="1616202" cy="6401"/>
          </a:xfrm>
          <a:prstGeom prst="rect">
            <a:avLst/>
          </a:prstGeom>
          <a:solidFill>
            <a:srgbClr val="E2E8EC"/>
          </a:solidFill>
          <a:ln>
            <a:noFill/>
          </a:ln>
          <a:effectLst/>
        </p:spPr>
        <p:txBody>
          <a:bodyPr rtlCol="0" anchor="ctr"/>
          <a:lstStyle/>
          <a:p>
            <a:endParaRPr lang="de-DE"/>
          </a:p>
        </p:txBody>
      </p:sp>
      <p:sp>
        <p:nvSpPr>
          <p:cNvPr id="214" name="Portfolio, AI+, C-X NEXT, DigiTrace Dim Dot External · CX Association"/>
          <p:cNvSpPr/>
          <p:nvPr/>
        </p:nvSpPr>
        <p:spPr>
          <a:xfrm>
            <a:off x="3051810" y="4435109"/>
            <a:ext cx="73152" cy="73152"/>
          </a:xfrm>
          <a:prstGeom prst="ellipse">
            <a:avLst/>
          </a:prstGeom>
          <a:solidFill>
            <a:srgbClr val="53BE70"/>
          </a:solidFill>
          <a:ln>
            <a:noFill/>
          </a:ln>
          <a:effectLst/>
        </p:spPr>
        <p:txBody>
          <a:bodyPr rtlCol="0" anchor="ctr"/>
          <a:lstStyle/>
          <a:p>
            <a:endParaRPr lang="de-DE"/>
          </a:p>
        </p:txBody>
      </p:sp>
      <p:sp>
        <p:nvSpPr>
          <p:cNvPr id="215" name="Portfolio, AI+, C-X NEXT, DigiTrace Dim External · CX Association"/>
          <p:cNvSpPr txBox="1"/>
          <p:nvPr/>
        </p:nvSpPr>
        <p:spPr>
          <a:xfrm>
            <a:off x="3188970" y="43985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16" name="Portfolio, AI+, C-X NEXT, DigiTrace Dim Dot Business"/>
          <p:cNvSpPr/>
          <p:nvPr/>
        </p:nvSpPr>
        <p:spPr>
          <a:xfrm>
            <a:off x="3051810" y="4800361"/>
            <a:ext cx="73152" cy="73152"/>
          </a:xfrm>
          <a:prstGeom prst="ellipse">
            <a:avLst/>
          </a:prstGeom>
          <a:solidFill>
            <a:srgbClr val="F0B135"/>
          </a:solidFill>
          <a:ln>
            <a:noFill/>
          </a:ln>
          <a:effectLst/>
        </p:spPr>
        <p:txBody>
          <a:bodyPr rtlCol="0" anchor="ctr"/>
          <a:lstStyle/>
          <a:p>
            <a:endParaRPr lang="de-DE"/>
          </a:p>
        </p:txBody>
      </p:sp>
      <p:sp>
        <p:nvSpPr>
          <p:cNvPr id="217" name="Portfolio, AI+, C-X NEXT, DigiTrace Dim Business"/>
          <p:cNvSpPr txBox="1"/>
          <p:nvPr/>
        </p:nvSpPr>
        <p:spPr>
          <a:xfrm>
            <a:off x="3188970" y="47637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18" name="Portfolio, AI+, C-X NEXT, DigiTrace Dim Dot Use Cases"/>
          <p:cNvSpPr/>
          <p:nvPr/>
        </p:nvSpPr>
        <p:spPr>
          <a:xfrm>
            <a:off x="3051810" y="5019563"/>
            <a:ext cx="73152" cy="73152"/>
          </a:xfrm>
          <a:prstGeom prst="ellipse">
            <a:avLst/>
          </a:prstGeom>
          <a:solidFill>
            <a:srgbClr val="F0B135"/>
          </a:solidFill>
          <a:ln>
            <a:noFill/>
          </a:ln>
          <a:effectLst/>
        </p:spPr>
        <p:txBody>
          <a:bodyPr rtlCol="0" anchor="ctr"/>
          <a:lstStyle/>
          <a:p>
            <a:endParaRPr lang="de-DE"/>
          </a:p>
        </p:txBody>
      </p:sp>
      <p:sp>
        <p:nvSpPr>
          <p:cNvPr id="219" name="Portfolio, AI+, C-X NEXT, DigiTrace Dim Use Cases"/>
          <p:cNvSpPr txBox="1"/>
          <p:nvPr/>
        </p:nvSpPr>
        <p:spPr>
          <a:xfrm>
            <a:off x="3188970" y="49829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0" name="Portfolio, AI+, C-X NEXT, DigiTrace Dim Dot Technical"/>
          <p:cNvSpPr/>
          <p:nvPr/>
        </p:nvSpPr>
        <p:spPr>
          <a:xfrm>
            <a:off x="3051810" y="5238765"/>
            <a:ext cx="73152" cy="73152"/>
          </a:xfrm>
          <a:prstGeom prst="ellipse">
            <a:avLst/>
          </a:prstGeom>
          <a:solidFill>
            <a:srgbClr val="53BE70"/>
          </a:solidFill>
          <a:ln>
            <a:noFill/>
          </a:ln>
          <a:effectLst/>
        </p:spPr>
        <p:txBody>
          <a:bodyPr rtlCol="0" anchor="ctr"/>
          <a:lstStyle/>
          <a:p>
            <a:endParaRPr lang="de-DE"/>
          </a:p>
        </p:txBody>
      </p:sp>
      <p:sp>
        <p:nvSpPr>
          <p:cNvPr id="221" name="Portfolio, AI+, C-X NEXT, DigiTrace Dim Technical"/>
          <p:cNvSpPr txBox="1"/>
          <p:nvPr/>
        </p:nvSpPr>
        <p:spPr>
          <a:xfrm>
            <a:off x="3188970" y="52021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2" name="Data Provisioning Row Divider Dimensions"/>
          <p:cNvSpPr/>
          <p:nvPr/>
        </p:nvSpPr>
        <p:spPr>
          <a:xfrm>
            <a:off x="4846320" y="4334525"/>
            <a:ext cx="1616202" cy="6401"/>
          </a:xfrm>
          <a:prstGeom prst="rect">
            <a:avLst/>
          </a:prstGeom>
          <a:solidFill>
            <a:srgbClr val="E2E8EC"/>
          </a:solidFill>
          <a:ln>
            <a:noFill/>
          </a:ln>
          <a:effectLst/>
        </p:spPr>
        <p:txBody>
          <a:bodyPr rtlCol="0" anchor="ctr"/>
          <a:lstStyle/>
          <a:p>
            <a:endParaRPr lang="de-DE"/>
          </a:p>
        </p:txBody>
      </p:sp>
      <p:sp>
        <p:nvSpPr>
          <p:cNvPr id="223" name="Data Provisioning Dim Dot External · CX Association"/>
          <p:cNvSpPr/>
          <p:nvPr/>
        </p:nvSpPr>
        <p:spPr>
          <a:xfrm>
            <a:off x="4846320" y="4435109"/>
            <a:ext cx="73152" cy="73152"/>
          </a:xfrm>
          <a:prstGeom prst="ellipse">
            <a:avLst/>
          </a:prstGeom>
          <a:solidFill>
            <a:srgbClr val="53BE70"/>
          </a:solidFill>
          <a:ln>
            <a:noFill/>
          </a:ln>
          <a:effectLst/>
        </p:spPr>
        <p:txBody>
          <a:bodyPr rtlCol="0" anchor="ctr"/>
          <a:lstStyle/>
          <a:p>
            <a:endParaRPr lang="de-DE"/>
          </a:p>
        </p:txBody>
      </p:sp>
      <p:sp>
        <p:nvSpPr>
          <p:cNvPr id="224" name="Data Provisioning Dim External · CX Association"/>
          <p:cNvSpPr txBox="1"/>
          <p:nvPr/>
        </p:nvSpPr>
        <p:spPr>
          <a:xfrm>
            <a:off x="4983480" y="43985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5" name="Data Provisioning Dim Dot Business"/>
          <p:cNvSpPr/>
          <p:nvPr/>
        </p:nvSpPr>
        <p:spPr>
          <a:xfrm>
            <a:off x="4846320" y="4800361"/>
            <a:ext cx="73152" cy="73152"/>
          </a:xfrm>
          <a:prstGeom prst="ellipse">
            <a:avLst/>
          </a:prstGeom>
          <a:solidFill>
            <a:srgbClr val="53BE70"/>
          </a:solidFill>
          <a:ln>
            <a:noFill/>
          </a:ln>
          <a:effectLst/>
        </p:spPr>
        <p:txBody>
          <a:bodyPr rtlCol="0" anchor="ctr"/>
          <a:lstStyle/>
          <a:p>
            <a:endParaRPr lang="de-DE"/>
          </a:p>
        </p:txBody>
      </p:sp>
      <p:sp>
        <p:nvSpPr>
          <p:cNvPr id="226" name="Data Provisioning Dim Business"/>
          <p:cNvSpPr txBox="1"/>
          <p:nvPr/>
        </p:nvSpPr>
        <p:spPr>
          <a:xfrm>
            <a:off x="4983480" y="47637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7" name="Data Provisioning Dim Dot Use Cases"/>
          <p:cNvSpPr/>
          <p:nvPr/>
        </p:nvSpPr>
        <p:spPr>
          <a:xfrm>
            <a:off x="4846320" y="5019563"/>
            <a:ext cx="73152" cy="73152"/>
          </a:xfrm>
          <a:prstGeom prst="ellipse">
            <a:avLst/>
          </a:prstGeom>
          <a:solidFill>
            <a:srgbClr val="F0B135"/>
          </a:solidFill>
          <a:ln>
            <a:noFill/>
          </a:ln>
          <a:effectLst/>
        </p:spPr>
        <p:txBody>
          <a:bodyPr rtlCol="0" anchor="ctr"/>
          <a:lstStyle/>
          <a:p>
            <a:endParaRPr lang="de-DE"/>
          </a:p>
        </p:txBody>
      </p:sp>
      <p:sp>
        <p:nvSpPr>
          <p:cNvPr id="228" name="Data Provisioning Dim Use Cases"/>
          <p:cNvSpPr txBox="1"/>
          <p:nvPr/>
        </p:nvSpPr>
        <p:spPr>
          <a:xfrm>
            <a:off x="4983480" y="49829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9" name="Data Provisioning Dim Dot Technical"/>
          <p:cNvSpPr/>
          <p:nvPr/>
        </p:nvSpPr>
        <p:spPr>
          <a:xfrm>
            <a:off x="4846320" y="5238765"/>
            <a:ext cx="73152" cy="73152"/>
          </a:xfrm>
          <a:prstGeom prst="ellipse">
            <a:avLst/>
          </a:prstGeom>
          <a:solidFill>
            <a:srgbClr val="CFD6DB"/>
          </a:solidFill>
          <a:ln>
            <a:noFill/>
          </a:ln>
          <a:effectLst/>
        </p:spPr>
        <p:txBody>
          <a:bodyPr rtlCol="0" anchor="ctr"/>
          <a:lstStyle/>
          <a:p>
            <a:endParaRPr lang="de-DE"/>
          </a:p>
        </p:txBody>
      </p:sp>
      <p:sp>
        <p:nvSpPr>
          <p:cNvPr id="230" name="Data Provisioning Dim Technical"/>
          <p:cNvSpPr txBox="1"/>
          <p:nvPr/>
        </p:nvSpPr>
        <p:spPr>
          <a:xfrm>
            <a:off x="4983480" y="52021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1" name="Hub &amp; Spoke Row Divider Dimensions"/>
          <p:cNvSpPr/>
          <p:nvPr/>
        </p:nvSpPr>
        <p:spPr>
          <a:xfrm>
            <a:off x="6640830" y="4334525"/>
            <a:ext cx="1616202" cy="6401"/>
          </a:xfrm>
          <a:prstGeom prst="rect">
            <a:avLst/>
          </a:prstGeom>
          <a:solidFill>
            <a:srgbClr val="E2E8EC"/>
          </a:solidFill>
          <a:ln>
            <a:noFill/>
          </a:ln>
          <a:effectLst/>
        </p:spPr>
        <p:txBody>
          <a:bodyPr rtlCol="0" anchor="ctr"/>
          <a:lstStyle/>
          <a:p>
            <a:endParaRPr lang="de-DE"/>
          </a:p>
        </p:txBody>
      </p:sp>
      <p:sp>
        <p:nvSpPr>
          <p:cNvPr id="232" name="Hub &amp; Spoke Dim Dot External · CX Association"/>
          <p:cNvSpPr/>
          <p:nvPr/>
        </p:nvSpPr>
        <p:spPr>
          <a:xfrm>
            <a:off x="6640830" y="4435109"/>
            <a:ext cx="73152" cy="73152"/>
          </a:xfrm>
          <a:prstGeom prst="ellipse">
            <a:avLst/>
          </a:prstGeom>
          <a:solidFill>
            <a:srgbClr val="53BE70"/>
          </a:solidFill>
          <a:ln>
            <a:noFill/>
          </a:ln>
          <a:effectLst/>
        </p:spPr>
        <p:txBody>
          <a:bodyPr rtlCol="0" anchor="ctr"/>
          <a:lstStyle/>
          <a:p>
            <a:endParaRPr lang="de-DE"/>
          </a:p>
        </p:txBody>
      </p:sp>
      <p:sp>
        <p:nvSpPr>
          <p:cNvPr id="233" name="Hub &amp; Spoke Dim External · CX Association"/>
          <p:cNvSpPr txBox="1"/>
          <p:nvPr/>
        </p:nvSpPr>
        <p:spPr>
          <a:xfrm>
            <a:off x="6777990" y="43985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4" name="Hub &amp; Spoke Dim Dot Business"/>
          <p:cNvSpPr/>
          <p:nvPr/>
        </p:nvSpPr>
        <p:spPr>
          <a:xfrm>
            <a:off x="6640830" y="4800361"/>
            <a:ext cx="73152" cy="73152"/>
          </a:xfrm>
          <a:prstGeom prst="ellipse">
            <a:avLst/>
          </a:prstGeom>
          <a:solidFill>
            <a:srgbClr val="F0B135"/>
          </a:solidFill>
          <a:ln>
            <a:noFill/>
          </a:ln>
          <a:effectLst/>
        </p:spPr>
        <p:txBody>
          <a:bodyPr rtlCol="0" anchor="ctr"/>
          <a:lstStyle/>
          <a:p>
            <a:endParaRPr lang="de-DE"/>
          </a:p>
        </p:txBody>
      </p:sp>
      <p:sp>
        <p:nvSpPr>
          <p:cNvPr id="235" name="Hub &amp; Spoke Dim Business"/>
          <p:cNvSpPr txBox="1"/>
          <p:nvPr/>
        </p:nvSpPr>
        <p:spPr>
          <a:xfrm>
            <a:off x="6777990" y="47637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6" name="Hub &amp; Spoke Dim Dot Use Cases"/>
          <p:cNvSpPr/>
          <p:nvPr/>
        </p:nvSpPr>
        <p:spPr>
          <a:xfrm>
            <a:off x="6640830" y="5019563"/>
            <a:ext cx="73152" cy="73152"/>
          </a:xfrm>
          <a:prstGeom prst="ellipse">
            <a:avLst/>
          </a:prstGeom>
          <a:solidFill>
            <a:srgbClr val="CFD6DB"/>
          </a:solidFill>
          <a:ln>
            <a:noFill/>
          </a:ln>
          <a:effectLst/>
        </p:spPr>
        <p:txBody>
          <a:bodyPr rtlCol="0" anchor="ctr"/>
          <a:lstStyle/>
          <a:p>
            <a:endParaRPr lang="de-DE"/>
          </a:p>
        </p:txBody>
      </p:sp>
      <p:sp>
        <p:nvSpPr>
          <p:cNvPr id="237" name="Hub &amp; Spoke Dim Use Cases"/>
          <p:cNvSpPr txBox="1"/>
          <p:nvPr/>
        </p:nvSpPr>
        <p:spPr>
          <a:xfrm>
            <a:off x="6777990" y="49829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8" name="Hub &amp; Spoke Dim Dot Technical"/>
          <p:cNvSpPr/>
          <p:nvPr/>
        </p:nvSpPr>
        <p:spPr>
          <a:xfrm>
            <a:off x="6640830" y="5238765"/>
            <a:ext cx="73152" cy="73152"/>
          </a:xfrm>
          <a:prstGeom prst="ellipse">
            <a:avLst/>
          </a:prstGeom>
          <a:solidFill>
            <a:srgbClr val="CFD6DB"/>
          </a:solidFill>
          <a:ln>
            <a:noFill/>
          </a:ln>
          <a:effectLst/>
        </p:spPr>
        <p:txBody>
          <a:bodyPr rtlCol="0" anchor="ctr"/>
          <a:lstStyle/>
          <a:p>
            <a:endParaRPr lang="de-DE"/>
          </a:p>
        </p:txBody>
      </p:sp>
      <p:sp>
        <p:nvSpPr>
          <p:cNvPr id="239" name="Hub &amp; Spoke Dim Technical"/>
          <p:cNvSpPr txBox="1"/>
          <p:nvPr/>
        </p:nvSpPr>
        <p:spPr>
          <a:xfrm>
            <a:off x="6777990" y="52021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0" name="Legal &amp; Contracts Row Divider Dimensions"/>
          <p:cNvSpPr/>
          <p:nvPr/>
        </p:nvSpPr>
        <p:spPr>
          <a:xfrm>
            <a:off x="8435340" y="4334525"/>
            <a:ext cx="1616202" cy="6401"/>
          </a:xfrm>
          <a:prstGeom prst="rect">
            <a:avLst/>
          </a:prstGeom>
          <a:solidFill>
            <a:srgbClr val="E2E8EC"/>
          </a:solidFill>
          <a:ln>
            <a:noFill/>
          </a:ln>
          <a:effectLst/>
        </p:spPr>
        <p:txBody>
          <a:bodyPr rtlCol="0" anchor="ctr"/>
          <a:lstStyle/>
          <a:p>
            <a:endParaRPr lang="de-DE"/>
          </a:p>
        </p:txBody>
      </p:sp>
      <p:sp>
        <p:nvSpPr>
          <p:cNvPr id="241" name="Legal &amp; Contracts Dim Dot External · CX Association"/>
          <p:cNvSpPr/>
          <p:nvPr/>
        </p:nvSpPr>
        <p:spPr>
          <a:xfrm>
            <a:off x="8435340" y="4435109"/>
            <a:ext cx="73152" cy="73152"/>
          </a:xfrm>
          <a:prstGeom prst="ellipse">
            <a:avLst/>
          </a:prstGeom>
          <a:solidFill>
            <a:srgbClr val="53BE70"/>
          </a:solidFill>
          <a:ln>
            <a:noFill/>
          </a:ln>
          <a:effectLst/>
        </p:spPr>
        <p:txBody>
          <a:bodyPr rtlCol="0" anchor="ctr"/>
          <a:lstStyle/>
          <a:p>
            <a:endParaRPr lang="de-DE"/>
          </a:p>
        </p:txBody>
      </p:sp>
      <p:sp>
        <p:nvSpPr>
          <p:cNvPr id="242" name="Legal &amp; Contracts Dim External · CX Association"/>
          <p:cNvSpPr txBox="1"/>
          <p:nvPr/>
        </p:nvSpPr>
        <p:spPr>
          <a:xfrm>
            <a:off x="8572500" y="43985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3" name="Legal &amp; Contracts Dim Dot Business"/>
          <p:cNvSpPr/>
          <p:nvPr/>
        </p:nvSpPr>
        <p:spPr>
          <a:xfrm>
            <a:off x="8435340" y="4800361"/>
            <a:ext cx="73152" cy="73152"/>
          </a:xfrm>
          <a:prstGeom prst="ellipse">
            <a:avLst/>
          </a:prstGeom>
          <a:solidFill>
            <a:srgbClr val="F0B135"/>
          </a:solidFill>
          <a:ln>
            <a:noFill/>
          </a:ln>
          <a:effectLst/>
        </p:spPr>
        <p:txBody>
          <a:bodyPr rtlCol="0" anchor="ctr"/>
          <a:lstStyle/>
          <a:p>
            <a:endParaRPr lang="de-DE"/>
          </a:p>
        </p:txBody>
      </p:sp>
      <p:sp>
        <p:nvSpPr>
          <p:cNvPr id="244" name="Legal &amp; Contracts Dim Business"/>
          <p:cNvSpPr txBox="1"/>
          <p:nvPr/>
        </p:nvSpPr>
        <p:spPr>
          <a:xfrm>
            <a:off x="8572500" y="47637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5" name="Legal &amp; Contracts Dim Dot Use Cases"/>
          <p:cNvSpPr/>
          <p:nvPr/>
        </p:nvSpPr>
        <p:spPr>
          <a:xfrm>
            <a:off x="8435340" y="5019563"/>
            <a:ext cx="73152" cy="73152"/>
          </a:xfrm>
          <a:prstGeom prst="ellipse">
            <a:avLst/>
          </a:prstGeom>
          <a:solidFill>
            <a:srgbClr val="53BE70"/>
          </a:solidFill>
          <a:ln>
            <a:noFill/>
          </a:ln>
          <a:effectLst/>
        </p:spPr>
        <p:txBody>
          <a:bodyPr rtlCol="0" anchor="ctr"/>
          <a:lstStyle/>
          <a:p>
            <a:endParaRPr lang="de-DE"/>
          </a:p>
        </p:txBody>
      </p:sp>
      <p:sp>
        <p:nvSpPr>
          <p:cNvPr id="246" name="Legal &amp; Contracts Dim Use Cases"/>
          <p:cNvSpPr txBox="1"/>
          <p:nvPr/>
        </p:nvSpPr>
        <p:spPr>
          <a:xfrm>
            <a:off x="8572500" y="49829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7" name="Legal &amp; Contracts Dim Dot Technical"/>
          <p:cNvSpPr/>
          <p:nvPr/>
        </p:nvSpPr>
        <p:spPr>
          <a:xfrm>
            <a:off x="8435340" y="5238765"/>
            <a:ext cx="73152" cy="73152"/>
          </a:xfrm>
          <a:prstGeom prst="ellipse">
            <a:avLst/>
          </a:prstGeom>
          <a:solidFill>
            <a:srgbClr val="F0B135"/>
          </a:solidFill>
          <a:ln>
            <a:noFill/>
          </a:ln>
          <a:effectLst/>
        </p:spPr>
        <p:txBody>
          <a:bodyPr rtlCol="0" anchor="ctr"/>
          <a:lstStyle/>
          <a:p>
            <a:endParaRPr lang="de-DE"/>
          </a:p>
        </p:txBody>
      </p:sp>
      <p:sp>
        <p:nvSpPr>
          <p:cNvPr id="248" name="Legal &amp; Contracts Dim Technical"/>
          <p:cNvSpPr txBox="1"/>
          <p:nvPr/>
        </p:nvSpPr>
        <p:spPr>
          <a:xfrm>
            <a:off x="8572500" y="52021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9" name="Architecture Row Divider Dimensions"/>
          <p:cNvSpPr/>
          <p:nvPr/>
        </p:nvSpPr>
        <p:spPr>
          <a:xfrm>
            <a:off x="10229850" y="4334525"/>
            <a:ext cx="1616202" cy="6401"/>
          </a:xfrm>
          <a:prstGeom prst="rect">
            <a:avLst/>
          </a:prstGeom>
          <a:solidFill>
            <a:srgbClr val="E2E8EC"/>
          </a:solidFill>
          <a:ln>
            <a:noFill/>
          </a:ln>
          <a:effectLst/>
        </p:spPr>
        <p:txBody>
          <a:bodyPr rtlCol="0" anchor="ctr"/>
          <a:lstStyle/>
          <a:p>
            <a:endParaRPr lang="de-DE"/>
          </a:p>
        </p:txBody>
      </p:sp>
      <p:sp>
        <p:nvSpPr>
          <p:cNvPr id="250" name="Architecture Dim Dot External · CX Association"/>
          <p:cNvSpPr/>
          <p:nvPr/>
        </p:nvSpPr>
        <p:spPr>
          <a:xfrm>
            <a:off x="10229850" y="4435109"/>
            <a:ext cx="73152" cy="73152"/>
          </a:xfrm>
          <a:prstGeom prst="ellipse">
            <a:avLst/>
          </a:prstGeom>
          <a:solidFill>
            <a:srgbClr val="53BE70"/>
          </a:solidFill>
          <a:ln>
            <a:noFill/>
          </a:ln>
          <a:effectLst/>
        </p:spPr>
        <p:txBody>
          <a:bodyPr rtlCol="0" anchor="ctr"/>
          <a:lstStyle/>
          <a:p>
            <a:endParaRPr lang="de-DE"/>
          </a:p>
        </p:txBody>
      </p:sp>
      <p:sp>
        <p:nvSpPr>
          <p:cNvPr id="251" name="Architecture Dim External · CX Association"/>
          <p:cNvSpPr txBox="1"/>
          <p:nvPr/>
        </p:nvSpPr>
        <p:spPr>
          <a:xfrm>
            <a:off x="10367010" y="4398533"/>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2" name="Architecture Dim Dot Business"/>
          <p:cNvSpPr/>
          <p:nvPr/>
        </p:nvSpPr>
        <p:spPr>
          <a:xfrm>
            <a:off x="10229850" y="4800361"/>
            <a:ext cx="73152" cy="73152"/>
          </a:xfrm>
          <a:prstGeom prst="ellipse">
            <a:avLst/>
          </a:prstGeom>
          <a:solidFill>
            <a:srgbClr val="53BE70"/>
          </a:solidFill>
          <a:ln>
            <a:noFill/>
          </a:ln>
          <a:effectLst/>
        </p:spPr>
        <p:txBody>
          <a:bodyPr rtlCol="0" anchor="ctr"/>
          <a:lstStyle/>
          <a:p>
            <a:endParaRPr lang="de-DE"/>
          </a:p>
        </p:txBody>
      </p:sp>
      <p:sp>
        <p:nvSpPr>
          <p:cNvPr id="253" name="Architecture Dim Business"/>
          <p:cNvSpPr txBox="1"/>
          <p:nvPr/>
        </p:nvSpPr>
        <p:spPr>
          <a:xfrm>
            <a:off x="10367010" y="476378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4" name="Architecture Dim Dot Use Cases"/>
          <p:cNvSpPr/>
          <p:nvPr/>
        </p:nvSpPr>
        <p:spPr>
          <a:xfrm>
            <a:off x="10229850" y="5019563"/>
            <a:ext cx="73152" cy="73152"/>
          </a:xfrm>
          <a:prstGeom prst="ellipse">
            <a:avLst/>
          </a:prstGeom>
          <a:solidFill>
            <a:srgbClr val="53BE70"/>
          </a:solidFill>
          <a:ln>
            <a:noFill/>
          </a:ln>
          <a:effectLst/>
        </p:spPr>
        <p:txBody>
          <a:bodyPr rtlCol="0" anchor="ctr"/>
          <a:lstStyle/>
          <a:p>
            <a:endParaRPr lang="de-DE"/>
          </a:p>
        </p:txBody>
      </p:sp>
      <p:sp>
        <p:nvSpPr>
          <p:cNvPr id="255" name="Architecture Dim Use Cases"/>
          <p:cNvSpPr txBox="1"/>
          <p:nvPr/>
        </p:nvSpPr>
        <p:spPr>
          <a:xfrm>
            <a:off x="10367010" y="498298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6" name="Architecture Dim Dot Technical"/>
          <p:cNvSpPr/>
          <p:nvPr/>
        </p:nvSpPr>
        <p:spPr>
          <a:xfrm>
            <a:off x="10229850" y="5238765"/>
            <a:ext cx="73152" cy="73152"/>
          </a:xfrm>
          <a:prstGeom prst="ellipse">
            <a:avLst/>
          </a:prstGeom>
          <a:solidFill>
            <a:srgbClr val="F0B135"/>
          </a:solidFill>
          <a:ln>
            <a:noFill/>
          </a:ln>
          <a:effectLst/>
        </p:spPr>
        <p:txBody>
          <a:bodyPr rtlCol="0" anchor="ctr"/>
          <a:lstStyle/>
          <a:p>
            <a:endParaRPr lang="de-DE"/>
          </a:p>
        </p:txBody>
      </p:sp>
      <p:sp>
        <p:nvSpPr>
          <p:cNvPr id="257" name="Architecture Dim Technical"/>
          <p:cNvSpPr txBox="1"/>
          <p:nvPr/>
        </p:nvSpPr>
        <p:spPr>
          <a:xfrm>
            <a:off x="10367010" y="5202189"/>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8"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59" name="Supplier Activation Row Divider Decision required"/>
          <p:cNvSpPr/>
          <p:nvPr/>
        </p:nvSpPr>
        <p:spPr>
          <a:xfrm>
            <a:off x="1257300" y="5515356"/>
            <a:ext cx="1616202" cy="6401"/>
          </a:xfrm>
          <a:prstGeom prst="rect">
            <a:avLst/>
          </a:prstGeom>
          <a:solidFill>
            <a:srgbClr val="E2E8EC"/>
          </a:solidFill>
          <a:ln>
            <a:noFill/>
          </a:ln>
          <a:effectLst/>
        </p:spPr>
        <p:txBody>
          <a:bodyPr rtlCol="0" anchor="ctr"/>
          <a:lstStyle/>
          <a:p>
            <a:endParaRPr lang="de-DE"/>
          </a:p>
        </p:txBody>
      </p:sp>
      <p:sp>
        <p:nvSpPr>
          <p:cNvPr id="260" name="Supplier Activation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261" name="Supplier Activation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62" name="Supplier Activation Decision 1"/>
          <p:cNvSpPr txBox="1"/>
          <p:nvPr/>
        </p:nvSpPr>
        <p:spPr>
          <a:xfrm>
            <a:off x="1257300" y="5579364"/>
            <a:ext cx="1616202"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How do we make Cofinity-X onboarding clear for suppliers, and who covers the data sharing agreement (DSA) costs per use case?</a:t>
            </a:r>
          </a:p>
        </p:txBody>
      </p:sp>
      <p:sp>
        <p:nvSpPr>
          <p:cNvPr id="263" name="Portfolio, AI+, C-X NEXT, DigiTrace Row Divider Decision required"/>
          <p:cNvSpPr/>
          <p:nvPr/>
        </p:nvSpPr>
        <p:spPr>
          <a:xfrm>
            <a:off x="3051810" y="5515356"/>
            <a:ext cx="1616202" cy="6401"/>
          </a:xfrm>
          <a:prstGeom prst="rect">
            <a:avLst/>
          </a:prstGeom>
          <a:solidFill>
            <a:srgbClr val="E2E8EC"/>
          </a:solidFill>
          <a:ln>
            <a:noFill/>
          </a:ln>
          <a:effectLst/>
        </p:spPr>
        <p:txBody>
          <a:bodyPr rtlCol="0" anchor="ctr"/>
          <a:lstStyle/>
          <a:p>
            <a:endParaRPr lang="de-DE"/>
          </a:p>
        </p:txBody>
      </p:sp>
      <p:sp>
        <p:nvSpPr>
          <p:cNvPr id="264" name="Portfolio, AI+, C-X NEXT, DigiTrace Decision 2 Flag"/>
          <p:cNvSpPr/>
          <p:nvPr/>
        </p:nvSpPr>
        <p:spPr>
          <a:xfrm>
            <a:off x="3051810" y="5579364"/>
            <a:ext cx="146304" cy="146304"/>
          </a:xfrm>
          <a:prstGeom prst="ellipse">
            <a:avLst/>
          </a:prstGeom>
          <a:solidFill>
            <a:srgbClr val="001E50"/>
          </a:solidFill>
          <a:ln>
            <a:noFill/>
          </a:ln>
          <a:effectLst/>
        </p:spPr>
        <p:txBody>
          <a:bodyPr rtlCol="0" anchor="ctr"/>
          <a:lstStyle/>
          <a:p>
            <a:endParaRPr lang="de-DE"/>
          </a:p>
        </p:txBody>
      </p:sp>
      <p:sp>
        <p:nvSpPr>
          <p:cNvPr id="265" name="Portfolio, AI+, C-X NEXT, DigiTrace Decision 2 No"/>
          <p:cNvSpPr txBox="1"/>
          <p:nvPr/>
        </p:nvSpPr>
        <p:spPr>
          <a:xfrm>
            <a:off x="305181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66" name="Portfolio, AI+, C-X NEXT, DigiTrace Decision 2"/>
          <p:cNvSpPr txBox="1"/>
          <p:nvPr/>
        </p:nvSpPr>
        <p:spPr>
          <a:xfrm>
            <a:off x="3051810" y="5579364"/>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67" name="Portfolio, AI+, C-X NEXT, DigiTrace Decision 3 Flag"/>
          <p:cNvSpPr/>
          <p:nvPr/>
        </p:nvSpPr>
        <p:spPr>
          <a:xfrm>
            <a:off x="3051810" y="5926328"/>
            <a:ext cx="146304" cy="146304"/>
          </a:xfrm>
          <a:prstGeom prst="ellipse">
            <a:avLst/>
          </a:prstGeom>
          <a:solidFill>
            <a:srgbClr val="001E50"/>
          </a:solidFill>
          <a:ln>
            <a:noFill/>
          </a:ln>
          <a:effectLst/>
        </p:spPr>
        <p:txBody>
          <a:bodyPr rtlCol="0" anchor="ctr"/>
          <a:lstStyle/>
          <a:p>
            <a:endParaRPr lang="de-DE"/>
          </a:p>
        </p:txBody>
      </p:sp>
      <p:sp>
        <p:nvSpPr>
          <p:cNvPr id="268" name="Portfolio, AI+, C-X NEXT, DigiTrace Decision 3 No"/>
          <p:cNvSpPr txBox="1"/>
          <p:nvPr/>
        </p:nvSpPr>
        <p:spPr>
          <a:xfrm>
            <a:off x="3051810"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69" name="Portfolio, AI+, C-X NEXT, DigiTrace Decision 3"/>
          <p:cNvSpPr txBox="1"/>
          <p:nvPr/>
        </p:nvSpPr>
        <p:spPr>
          <a:xfrm>
            <a:off x="3051810" y="5926328"/>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70" name="Portfolio, AI+, C-X NEXT, DigiTrace Decision 4 Flag"/>
          <p:cNvSpPr/>
          <p:nvPr/>
        </p:nvSpPr>
        <p:spPr>
          <a:xfrm>
            <a:off x="3051810" y="6273292"/>
            <a:ext cx="146304" cy="146304"/>
          </a:xfrm>
          <a:prstGeom prst="ellipse">
            <a:avLst/>
          </a:prstGeom>
          <a:solidFill>
            <a:srgbClr val="001E50"/>
          </a:solidFill>
          <a:ln>
            <a:noFill/>
          </a:ln>
          <a:effectLst/>
        </p:spPr>
        <p:txBody>
          <a:bodyPr rtlCol="0" anchor="ctr"/>
          <a:lstStyle/>
          <a:p>
            <a:endParaRPr lang="de-DE"/>
          </a:p>
        </p:txBody>
      </p:sp>
      <p:sp>
        <p:nvSpPr>
          <p:cNvPr id="271" name="Portfolio, AI+, C-X NEXT, DigiTrace Decision 4 No"/>
          <p:cNvSpPr txBox="1"/>
          <p:nvPr/>
        </p:nvSpPr>
        <p:spPr>
          <a:xfrm>
            <a:off x="3051810"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4</a:t>
            </a:r>
          </a:p>
        </p:txBody>
      </p:sp>
      <p:sp>
        <p:nvSpPr>
          <p:cNvPr id="272" name="Portfolio, AI+, C-X NEXT, DigiTrace Decision 4"/>
          <p:cNvSpPr txBox="1"/>
          <p:nvPr/>
        </p:nvSpPr>
        <p:spPr>
          <a:xfrm>
            <a:off x="3051810" y="6273292"/>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73" name="Data Provisioning Row Divider Decision required"/>
          <p:cNvSpPr/>
          <p:nvPr/>
        </p:nvSpPr>
        <p:spPr>
          <a:xfrm>
            <a:off x="4846320" y="5515356"/>
            <a:ext cx="1616202" cy="6401"/>
          </a:xfrm>
          <a:prstGeom prst="rect">
            <a:avLst/>
          </a:prstGeom>
          <a:solidFill>
            <a:srgbClr val="E2E8EC"/>
          </a:solidFill>
          <a:ln>
            <a:noFill/>
          </a:ln>
          <a:effectLst/>
        </p:spPr>
        <p:txBody>
          <a:bodyPr rtlCol="0" anchor="ctr"/>
          <a:lstStyle/>
          <a:p>
            <a:endParaRPr lang="de-DE"/>
          </a:p>
        </p:txBody>
      </p:sp>
      <p:sp>
        <p:nvSpPr>
          <p:cNvPr id="274" name="Data Provisioning Decision None"/>
          <p:cNvSpPr txBox="1"/>
          <p:nvPr/>
        </p:nvSpPr>
        <p:spPr>
          <a:xfrm>
            <a:off x="484632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5" name="Hub &amp; Spoke Row Divider Decision required"/>
          <p:cNvSpPr/>
          <p:nvPr/>
        </p:nvSpPr>
        <p:spPr>
          <a:xfrm>
            <a:off x="6640830" y="5515356"/>
            <a:ext cx="1616202" cy="6401"/>
          </a:xfrm>
          <a:prstGeom prst="rect">
            <a:avLst/>
          </a:prstGeom>
          <a:solidFill>
            <a:srgbClr val="E2E8EC"/>
          </a:solidFill>
          <a:ln>
            <a:noFill/>
          </a:ln>
          <a:effectLst/>
        </p:spPr>
        <p:txBody>
          <a:bodyPr rtlCol="0" anchor="ctr"/>
          <a:lstStyle/>
          <a:p>
            <a:endParaRPr lang="de-DE"/>
          </a:p>
        </p:txBody>
      </p:sp>
      <p:sp>
        <p:nvSpPr>
          <p:cNvPr id="276" name="Hub &amp; Spoke Decision None"/>
          <p:cNvSpPr txBox="1"/>
          <p:nvPr/>
        </p:nvSpPr>
        <p:spPr>
          <a:xfrm>
            <a:off x="664083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7" name="Legal &amp; Contracts Row Divider Decision required"/>
          <p:cNvSpPr/>
          <p:nvPr/>
        </p:nvSpPr>
        <p:spPr>
          <a:xfrm>
            <a:off x="8435340" y="5515356"/>
            <a:ext cx="1616202" cy="6401"/>
          </a:xfrm>
          <a:prstGeom prst="rect">
            <a:avLst/>
          </a:prstGeom>
          <a:solidFill>
            <a:srgbClr val="E2E8EC"/>
          </a:solidFill>
          <a:ln>
            <a:noFill/>
          </a:ln>
          <a:effectLst/>
        </p:spPr>
        <p:txBody>
          <a:bodyPr rtlCol="0" anchor="ctr"/>
          <a:lstStyle/>
          <a:p>
            <a:endParaRPr lang="de-DE"/>
          </a:p>
        </p:txBody>
      </p:sp>
      <p:sp>
        <p:nvSpPr>
          <p:cNvPr id="278" name="Legal &amp; Contracts Decision None"/>
          <p:cNvSpPr txBox="1"/>
          <p:nvPr/>
        </p:nvSpPr>
        <p:spPr>
          <a:xfrm>
            <a:off x="843534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9" name="Architecture Row Divider Decision required"/>
          <p:cNvSpPr/>
          <p:nvPr/>
        </p:nvSpPr>
        <p:spPr>
          <a:xfrm>
            <a:off x="10229850" y="5515356"/>
            <a:ext cx="1616202" cy="6401"/>
          </a:xfrm>
          <a:prstGeom prst="rect">
            <a:avLst/>
          </a:prstGeom>
          <a:solidFill>
            <a:srgbClr val="E2E8EC"/>
          </a:solidFill>
          <a:ln>
            <a:noFill/>
          </a:ln>
          <a:effectLst/>
        </p:spPr>
        <p:txBody>
          <a:bodyPr rtlCol="0" anchor="ctr"/>
          <a:lstStyle/>
          <a:p>
            <a:endParaRPr lang="de-DE"/>
          </a:p>
        </p:txBody>
      </p:sp>
      <p:sp>
        <p:nvSpPr>
          <p:cNvPr id="280" name="Architecture Decision None"/>
          <p:cNvSpPr txBox="1"/>
          <p:nvPr/>
        </p:nvSpPr>
        <p:spPr>
          <a:xfrm>
            <a:off x="1022985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