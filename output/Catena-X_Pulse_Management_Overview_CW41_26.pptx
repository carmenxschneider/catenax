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51683"/>
            <a:ext cx="868680" cy="36692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87675"/>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87675"/>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87675"/>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5168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87675"/>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87675"/>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87675"/>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87675"/>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87675"/>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5168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82616"/>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18608"/>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82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18608"/>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18608"/>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18608"/>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818608"/>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18608"/>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18608"/>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18608"/>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33511"/>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69503"/>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33511"/>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69503"/>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69503"/>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69503"/>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69503"/>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69503"/>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269503"/>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69503"/>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784406"/>
            <a:ext cx="868680" cy="5329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20398"/>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20982"/>
            <a:ext cx="73152" cy="73152"/>
          </a:xfrm>
          <a:prstGeom prst="ellipse">
            <a:avLst/>
          </a:prstGeom>
          <a:solidFill>
            <a:srgbClr val="E64343"/>
          </a:solidFill>
          <a:ln>
            <a:noFill/>
          </a:ln>
          <a:effectLst/>
        </p:spPr>
        <p:txBody>
          <a:bodyPr rtlCol="0" anchor="ctr"/>
          <a:lstStyle/>
          <a:p>
            <a:endParaRPr lang="de-DE"/>
          </a:p>
        </p:txBody>
      </p:sp>
      <p:sp>
        <p:nvSpPr>
          <p:cNvPr id="228" name="Quality Milestone"/>
          <p:cNvSpPr txBox="1"/>
          <p:nvPr/>
        </p:nvSpPr>
        <p:spPr>
          <a:xfrm>
            <a:off x="1394460"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SQA CX MVP scale-up</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Jan 2027</a:t>
            </a:r>
          </a:p>
        </p:txBody>
      </p:sp>
      <p:sp>
        <p:nvSpPr>
          <p:cNvPr id="229" name="Battery Passport Row Divider Next critical milestone"/>
          <p:cNvSpPr/>
          <p:nvPr/>
        </p:nvSpPr>
        <p:spPr>
          <a:xfrm>
            <a:off x="2603182" y="3720398"/>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720398"/>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820982"/>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720398"/>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820982"/>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720398"/>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720398"/>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20982"/>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20398"/>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720398"/>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17343"/>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17927"/>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755747"/>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47517"/>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39287"/>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31057"/>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17343"/>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17927"/>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755747"/>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47517"/>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39287"/>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31057"/>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17343"/>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17927"/>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755747"/>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47517"/>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39287"/>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31057"/>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17343"/>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17927"/>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755747"/>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47517"/>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39287"/>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31057"/>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17343"/>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17927"/>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755747"/>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47517"/>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39287"/>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31057"/>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17343"/>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17927"/>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755747"/>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47517"/>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39287"/>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31057"/>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17343"/>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17927"/>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755747"/>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47517"/>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39287"/>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31057"/>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17343"/>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17927"/>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755747"/>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47517"/>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39287"/>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31057"/>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7" name="Quality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338" name="Quality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39" name="Quality Decision 1"/>
          <p:cNvSpPr txBox="1"/>
          <p:nvPr/>
        </p:nvSpPr>
        <p:spPr>
          <a:xfrm>
            <a:off x="1257300" y="5579364"/>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2 suppliers until the Early Warning Production MVP is live?</a:t>
            </a:r>
          </a:p>
        </p:txBody>
      </p:sp>
      <p:sp>
        <p:nvSpPr>
          <p:cNvPr id="340"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41"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3"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4"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5" name="PURIS Decision 2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6" name="PURIS Decision 2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7" name="PURIS Decision 2"/>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8"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9"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51"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3"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4"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5"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1683"/>
            <a:ext cx="868680" cy="45710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87675"/>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87675"/>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87675"/>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87675"/>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87675"/>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87675"/>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72795"/>
            <a:ext cx="868680" cy="56724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Supplier Activation Row Divider Key KPI"/>
          <p:cNvSpPr/>
          <p:nvPr/>
        </p:nvSpPr>
        <p:spPr>
          <a:xfrm>
            <a:off x="1257300" y="2908787"/>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6" name="Portfolio, AI+, C-X NEXT, DigiTrace Row Divider Key KPI"/>
          <p:cNvSpPr/>
          <p:nvPr/>
        </p:nvSpPr>
        <p:spPr>
          <a:xfrm>
            <a:off x="3051810" y="2908787"/>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Data Provisioning Row Divider Key KPI"/>
          <p:cNvSpPr/>
          <p:nvPr/>
        </p:nvSpPr>
        <p:spPr>
          <a:xfrm>
            <a:off x="4846320" y="2908787"/>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908787"/>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908787"/>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908787"/>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972795"/>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04048"/>
            <a:ext cx="868680" cy="71329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Supplier Activation Row Divider Next critical milestone"/>
          <p:cNvSpPr/>
          <p:nvPr/>
        </p:nvSpPr>
        <p:spPr>
          <a:xfrm>
            <a:off x="1257300" y="3540040"/>
            <a:ext cx="1616202" cy="6401"/>
          </a:xfrm>
          <a:prstGeom prst="rect">
            <a:avLst/>
          </a:prstGeom>
          <a:solidFill>
            <a:srgbClr val="E2E8EC"/>
          </a:solidFill>
          <a:ln>
            <a:noFill/>
          </a:ln>
          <a:effectLst/>
        </p:spPr>
        <p:txBody>
          <a:bodyPr rtlCol="0" anchor="ctr"/>
          <a:lstStyle/>
          <a:p>
            <a:endParaRPr lang="de-DE"/>
          </a:p>
        </p:txBody>
      </p:sp>
      <p:sp>
        <p:nvSpPr>
          <p:cNvPr id="188" name="Supplier Activation Milestone Dot"/>
          <p:cNvSpPr/>
          <p:nvPr/>
        </p:nvSpPr>
        <p:spPr>
          <a:xfrm>
            <a:off x="1257300" y="3640624"/>
            <a:ext cx="73152" cy="73152"/>
          </a:xfrm>
          <a:prstGeom prst="ellipse">
            <a:avLst/>
          </a:prstGeom>
          <a:solidFill>
            <a:srgbClr val="E64343"/>
          </a:solidFill>
          <a:ln>
            <a:noFill/>
          </a:ln>
          <a:effectLst/>
        </p:spPr>
        <p:txBody>
          <a:bodyPr rtlCol="0" anchor="ctr"/>
          <a:lstStyle/>
          <a:p>
            <a:endParaRPr lang="de-DE"/>
          </a:p>
        </p:txBody>
      </p:sp>
      <p:sp>
        <p:nvSpPr>
          <p:cNvPr id="189" name="Supplier Activation Milestone"/>
          <p:cNvSpPr txBox="1"/>
          <p:nvPr/>
        </p:nvSpPr>
        <p:spPr>
          <a:xfrm>
            <a:off x="1394460" y="3604048"/>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190" name="Portfolio, AI+, C-X NEXT, DigiTrace Row Divider Next critical milestone"/>
          <p:cNvSpPr/>
          <p:nvPr/>
        </p:nvSpPr>
        <p:spPr>
          <a:xfrm>
            <a:off x="3051810" y="3540040"/>
            <a:ext cx="1616202" cy="6401"/>
          </a:xfrm>
          <a:prstGeom prst="rect">
            <a:avLst/>
          </a:prstGeom>
          <a:solidFill>
            <a:srgbClr val="E2E8EC"/>
          </a:solidFill>
          <a:ln>
            <a:noFill/>
          </a:ln>
          <a:effectLst/>
        </p:spPr>
        <p:txBody>
          <a:bodyPr rtlCol="0" anchor="ctr"/>
          <a:lstStyle/>
          <a:p>
            <a:endParaRPr lang="de-DE"/>
          </a:p>
        </p:txBody>
      </p:sp>
      <p:sp>
        <p:nvSpPr>
          <p:cNvPr id="191" name="Portfolio, AI+, C-X NEXT, DigiTrace Milestone Dot"/>
          <p:cNvSpPr/>
          <p:nvPr/>
        </p:nvSpPr>
        <p:spPr>
          <a:xfrm>
            <a:off x="3051810" y="3640624"/>
            <a:ext cx="73152" cy="73152"/>
          </a:xfrm>
          <a:prstGeom prst="ellipse">
            <a:avLst/>
          </a:prstGeom>
          <a:solidFill>
            <a:srgbClr val="E64343"/>
          </a:solidFill>
          <a:ln>
            <a:noFill/>
          </a:ln>
          <a:effectLst/>
        </p:spPr>
        <p:txBody>
          <a:bodyPr rtlCol="0" anchor="ctr"/>
          <a:lstStyle/>
          <a:p>
            <a:endParaRPr lang="de-DE"/>
          </a:p>
        </p:txBody>
      </p:sp>
      <p:sp>
        <p:nvSpPr>
          <p:cNvPr id="192" name="Portfolio, AI+, C-X NEXT, DigiTrace Milestone"/>
          <p:cNvSpPr txBox="1"/>
          <p:nvPr/>
        </p:nvSpPr>
        <p:spPr>
          <a:xfrm>
            <a:off x="3188970" y="3604048"/>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193" name="Data Provisioning Row Divider Next critical milestone"/>
          <p:cNvSpPr/>
          <p:nvPr/>
        </p:nvSpPr>
        <p:spPr>
          <a:xfrm>
            <a:off x="4846320" y="3540040"/>
            <a:ext cx="1616202"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846320" y="3604048"/>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40830" y="3540040"/>
            <a:ext cx="1616202"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40830" y="3640624"/>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777990" y="3604048"/>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35340" y="3540040"/>
            <a:ext cx="1616202"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35340" y="3640624"/>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572500" y="3604048"/>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29850" y="3540040"/>
            <a:ext cx="1616202"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29850" y="3604048"/>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Supplier Activation Row Divider Dimensions"/>
          <p:cNvSpPr/>
          <p:nvPr/>
        </p:nvSpPr>
        <p:spPr>
          <a:xfrm>
            <a:off x="1257300" y="4317343"/>
            <a:ext cx="1616202" cy="6401"/>
          </a:xfrm>
          <a:prstGeom prst="rect">
            <a:avLst/>
          </a:prstGeom>
          <a:solidFill>
            <a:srgbClr val="E2E8EC"/>
          </a:solidFill>
          <a:ln>
            <a:noFill/>
          </a:ln>
          <a:effectLst/>
        </p:spPr>
        <p:txBody>
          <a:bodyPr rtlCol="0" anchor="ctr"/>
          <a:lstStyle/>
          <a:p>
            <a:endParaRPr lang="de-DE"/>
          </a:p>
        </p:txBody>
      </p:sp>
      <p:sp>
        <p:nvSpPr>
          <p:cNvPr id="205" name="Supplier Activation Dim Dot External · CX Association"/>
          <p:cNvSpPr/>
          <p:nvPr/>
        </p:nvSpPr>
        <p:spPr>
          <a:xfrm>
            <a:off x="1257300" y="4417927"/>
            <a:ext cx="73152" cy="73152"/>
          </a:xfrm>
          <a:prstGeom prst="ellipse">
            <a:avLst/>
          </a:prstGeom>
          <a:solidFill>
            <a:srgbClr val="E64343"/>
          </a:solidFill>
          <a:ln>
            <a:noFill/>
          </a:ln>
          <a:effectLst/>
        </p:spPr>
        <p:txBody>
          <a:bodyPr rtlCol="0" anchor="ctr"/>
          <a:lstStyle/>
          <a:p>
            <a:endParaRPr lang="de-DE"/>
          </a:p>
        </p:txBody>
      </p:sp>
      <p:sp>
        <p:nvSpPr>
          <p:cNvPr id="206" name="Supplier Activation Dim External · CX Association"/>
          <p:cNvSpPr txBox="1"/>
          <p:nvPr/>
        </p:nvSpPr>
        <p:spPr>
          <a:xfrm>
            <a:off x="139446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07" name="Supplier Activation Dim Dot Business"/>
          <p:cNvSpPr/>
          <p:nvPr/>
        </p:nvSpPr>
        <p:spPr>
          <a:xfrm>
            <a:off x="1257300" y="4783179"/>
            <a:ext cx="73152" cy="73152"/>
          </a:xfrm>
          <a:prstGeom prst="ellipse">
            <a:avLst/>
          </a:prstGeom>
          <a:solidFill>
            <a:srgbClr val="F0B135"/>
          </a:solidFill>
          <a:ln>
            <a:noFill/>
          </a:ln>
          <a:effectLst/>
        </p:spPr>
        <p:txBody>
          <a:bodyPr rtlCol="0" anchor="ctr"/>
          <a:lstStyle/>
          <a:p>
            <a:endParaRPr lang="de-DE"/>
          </a:p>
        </p:txBody>
      </p:sp>
      <p:sp>
        <p:nvSpPr>
          <p:cNvPr id="208" name="Supplier Activation Dim Business"/>
          <p:cNvSpPr txBox="1"/>
          <p:nvPr/>
        </p:nvSpPr>
        <p:spPr>
          <a:xfrm>
            <a:off x="139446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09" name="Supplier Activation Dim Dot Use Cases"/>
          <p:cNvSpPr/>
          <p:nvPr/>
        </p:nvSpPr>
        <p:spPr>
          <a:xfrm>
            <a:off x="1257300" y="5002381"/>
            <a:ext cx="73152" cy="73152"/>
          </a:xfrm>
          <a:prstGeom prst="ellipse">
            <a:avLst/>
          </a:prstGeom>
          <a:solidFill>
            <a:srgbClr val="CFD6DB"/>
          </a:solidFill>
          <a:ln>
            <a:noFill/>
          </a:ln>
          <a:effectLst/>
        </p:spPr>
        <p:txBody>
          <a:bodyPr rtlCol="0" anchor="ctr"/>
          <a:lstStyle/>
          <a:p>
            <a:endParaRPr lang="de-DE"/>
          </a:p>
        </p:txBody>
      </p:sp>
      <p:sp>
        <p:nvSpPr>
          <p:cNvPr id="210" name="Supplier Activation Dim Use Cases"/>
          <p:cNvSpPr txBox="1"/>
          <p:nvPr/>
        </p:nvSpPr>
        <p:spPr>
          <a:xfrm>
            <a:off x="139446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11" name="Supplier Activation Dim Dot Technical"/>
          <p:cNvSpPr/>
          <p:nvPr/>
        </p:nvSpPr>
        <p:spPr>
          <a:xfrm>
            <a:off x="1257300" y="5221583"/>
            <a:ext cx="73152" cy="73152"/>
          </a:xfrm>
          <a:prstGeom prst="ellipse">
            <a:avLst/>
          </a:prstGeom>
          <a:solidFill>
            <a:srgbClr val="CFD6DB"/>
          </a:solidFill>
          <a:ln>
            <a:noFill/>
          </a:ln>
          <a:effectLst/>
        </p:spPr>
        <p:txBody>
          <a:bodyPr rtlCol="0" anchor="ctr"/>
          <a:lstStyle/>
          <a:p>
            <a:endParaRPr lang="de-DE"/>
          </a:p>
        </p:txBody>
      </p:sp>
      <p:sp>
        <p:nvSpPr>
          <p:cNvPr id="212" name="Supplier Activation Dim Technical"/>
          <p:cNvSpPr txBox="1"/>
          <p:nvPr/>
        </p:nvSpPr>
        <p:spPr>
          <a:xfrm>
            <a:off x="139446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3" name="Portfolio, AI+, C-X NEXT, DigiTrace Row Divider Dimensions"/>
          <p:cNvSpPr/>
          <p:nvPr/>
        </p:nvSpPr>
        <p:spPr>
          <a:xfrm>
            <a:off x="3051810" y="4317343"/>
            <a:ext cx="1616202" cy="6401"/>
          </a:xfrm>
          <a:prstGeom prst="rect">
            <a:avLst/>
          </a:prstGeom>
          <a:solidFill>
            <a:srgbClr val="E2E8EC"/>
          </a:solidFill>
          <a:ln>
            <a:noFill/>
          </a:ln>
          <a:effectLst/>
        </p:spPr>
        <p:txBody>
          <a:bodyPr rtlCol="0" anchor="ctr"/>
          <a:lstStyle/>
          <a:p>
            <a:endParaRPr lang="de-DE"/>
          </a:p>
        </p:txBody>
      </p:sp>
      <p:sp>
        <p:nvSpPr>
          <p:cNvPr id="214" name="Portfolio, AI+, C-X NEXT, DigiTrace Dim Dot External · CX Association"/>
          <p:cNvSpPr/>
          <p:nvPr/>
        </p:nvSpPr>
        <p:spPr>
          <a:xfrm>
            <a:off x="3051810" y="4417927"/>
            <a:ext cx="73152" cy="73152"/>
          </a:xfrm>
          <a:prstGeom prst="ellipse">
            <a:avLst/>
          </a:prstGeom>
          <a:solidFill>
            <a:srgbClr val="53BE70"/>
          </a:solidFill>
          <a:ln>
            <a:noFill/>
          </a:ln>
          <a:effectLst/>
        </p:spPr>
        <p:txBody>
          <a:bodyPr rtlCol="0" anchor="ctr"/>
          <a:lstStyle/>
          <a:p>
            <a:endParaRPr lang="de-DE"/>
          </a:p>
        </p:txBody>
      </p:sp>
      <p:sp>
        <p:nvSpPr>
          <p:cNvPr id="215" name="Portfolio, AI+, C-X NEXT, DigiTrace Dim External · CX Association"/>
          <p:cNvSpPr txBox="1"/>
          <p:nvPr/>
        </p:nvSpPr>
        <p:spPr>
          <a:xfrm>
            <a:off x="318897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6" name="Portfolio, AI+, C-X NEXT, DigiTrace Dim Dot Business"/>
          <p:cNvSpPr/>
          <p:nvPr/>
        </p:nvSpPr>
        <p:spPr>
          <a:xfrm>
            <a:off x="3051810" y="4783179"/>
            <a:ext cx="73152" cy="73152"/>
          </a:xfrm>
          <a:prstGeom prst="ellipse">
            <a:avLst/>
          </a:prstGeom>
          <a:solidFill>
            <a:srgbClr val="F0B135"/>
          </a:solidFill>
          <a:ln>
            <a:noFill/>
          </a:ln>
          <a:effectLst/>
        </p:spPr>
        <p:txBody>
          <a:bodyPr rtlCol="0" anchor="ctr"/>
          <a:lstStyle/>
          <a:p>
            <a:endParaRPr lang="de-DE"/>
          </a:p>
        </p:txBody>
      </p:sp>
      <p:sp>
        <p:nvSpPr>
          <p:cNvPr id="217" name="Portfolio, AI+, C-X NEXT, DigiTrace Dim Business"/>
          <p:cNvSpPr txBox="1"/>
          <p:nvPr/>
        </p:nvSpPr>
        <p:spPr>
          <a:xfrm>
            <a:off x="318897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8" name="Portfolio, AI+, C-X NEXT, DigiTrace Dim Dot Use Cases"/>
          <p:cNvSpPr/>
          <p:nvPr/>
        </p:nvSpPr>
        <p:spPr>
          <a:xfrm>
            <a:off x="3051810" y="5002381"/>
            <a:ext cx="73152" cy="73152"/>
          </a:xfrm>
          <a:prstGeom prst="ellipse">
            <a:avLst/>
          </a:prstGeom>
          <a:solidFill>
            <a:srgbClr val="F0B135"/>
          </a:solidFill>
          <a:ln>
            <a:noFill/>
          </a:ln>
          <a:effectLst/>
        </p:spPr>
        <p:txBody>
          <a:bodyPr rtlCol="0" anchor="ctr"/>
          <a:lstStyle/>
          <a:p>
            <a:endParaRPr lang="de-DE"/>
          </a:p>
        </p:txBody>
      </p:sp>
      <p:sp>
        <p:nvSpPr>
          <p:cNvPr id="219" name="Portfolio, AI+, C-X NEXT, DigiTrace Dim Use Cases"/>
          <p:cNvSpPr txBox="1"/>
          <p:nvPr/>
        </p:nvSpPr>
        <p:spPr>
          <a:xfrm>
            <a:off x="318897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0" name="Portfolio, AI+, C-X NEXT, DigiTrace Dim Dot Technical"/>
          <p:cNvSpPr/>
          <p:nvPr/>
        </p:nvSpPr>
        <p:spPr>
          <a:xfrm>
            <a:off x="3051810" y="5221583"/>
            <a:ext cx="73152" cy="73152"/>
          </a:xfrm>
          <a:prstGeom prst="ellipse">
            <a:avLst/>
          </a:prstGeom>
          <a:solidFill>
            <a:srgbClr val="53BE70"/>
          </a:solidFill>
          <a:ln>
            <a:noFill/>
          </a:ln>
          <a:effectLst/>
        </p:spPr>
        <p:txBody>
          <a:bodyPr rtlCol="0" anchor="ctr"/>
          <a:lstStyle/>
          <a:p>
            <a:endParaRPr lang="de-DE"/>
          </a:p>
        </p:txBody>
      </p:sp>
      <p:sp>
        <p:nvSpPr>
          <p:cNvPr id="221" name="Portfolio, AI+, C-X NEXT, DigiTrace Dim Technical"/>
          <p:cNvSpPr txBox="1"/>
          <p:nvPr/>
        </p:nvSpPr>
        <p:spPr>
          <a:xfrm>
            <a:off x="318897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2" name="Data Provisioning Row Divider Dimensions"/>
          <p:cNvSpPr/>
          <p:nvPr/>
        </p:nvSpPr>
        <p:spPr>
          <a:xfrm>
            <a:off x="4846320" y="4317343"/>
            <a:ext cx="1616202" cy="6401"/>
          </a:xfrm>
          <a:prstGeom prst="rect">
            <a:avLst/>
          </a:prstGeom>
          <a:solidFill>
            <a:srgbClr val="E2E8EC"/>
          </a:solidFill>
          <a:ln>
            <a:noFill/>
          </a:ln>
          <a:effectLst/>
        </p:spPr>
        <p:txBody>
          <a:bodyPr rtlCol="0" anchor="ctr"/>
          <a:lstStyle/>
          <a:p>
            <a:endParaRPr lang="de-DE"/>
          </a:p>
        </p:txBody>
      </p:sp>
      <p:sp>
        <p:nvSpPr>
          <p:cNvPr id="223" name="Data Provisioning Dim Dot External · CX Association"/>
          <p:cNvSpPr/>
          <p:nvPr/>
        </p:nvSpPr>
        <p:spPr>
          <a:xfrm>
            <a:off x="4846320" y="4417927"/>
            <a:ext cx="73152" cy="73152"/>
          </a:xfrm>
          <a:prstGeom prst="ellipse">
            <a:avLst/>
          </a:prstGeom>
          <a:solidFill>
            <a:srgbClr val="53BE70"/>
          </a:solidFill>
          <a:ln>
            <a:noFill/>
          </a:ln>
          <a:effectLst/>
        </p:spPr>
        <p:txBody>
          <a:bodyPr rtlCol="0" anchor="ctr"/>
          <a:lstStyle/>
          <a:p>
            <a:endParaRPr lang="de-DE"/>
          </a:p>
        </p:txBody>
      </p:sp>
      <p:sp>
        <p:nvSpPr>
          <p:cNvPr id="224" name="Data Provisioning Dim External · CX Association"/>
          <p:cNvSpPr txBox="1"/>
          <p:nvPr/>
        </p:nvSpPr>
        <p:spPr>
          <a:xfrm>
            <a:off x="498348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5" name="Data Provisioning Dim Dot Business"/>
          <p:cNvSpPr/>
          <p:nvPr/>
        </p:nvSpPr>
        <p:spPr>
          <a:xfrm>
            <a:off x="4846320" y="4783179"/>
            <a:ext cx="73152" cy="73152"/>
          </a:xfrm>
          <a:prstGeom prst="ellipse">
            <a:avLst/>
          </a:prstGeom>
          <a:solidFill>
            <a:srgbClr val="53BE70"/>
          </a:solidFill>
          <a:ln>
            <a:noFill/>
          </a:ln>
          <a:effectLst/>
        </p:spPr>
        <p:txBody>
          <a:bodyPr rtlCol="0" anchor="ctr"/>
          <a:lstStyle/>
          <a:p>
            <a:endParaRPr lang="de-DE"/>
          </a:p>
        </p:txBody>
      </p:sp>
      <p:sp>
        <p:nvSpPr>
          <p:cNvPr id="226" name="Data Provisioning Dim Business"/>
          <p:cNvSpPr txBox="1"/>
          <p:nvPr/>
        </p:nvSpPr>
        <p:spPr>
          <a:xfrm>
            <a:off x="498348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7" name="Data Provisioning Dim Dot Use Cases"/>
          <p:cNvSpPr/>
          <p:nvPr/>
        </p:nvSpPr>
        <p:spPr>
          <a:xfrm>
            <a:off x="4846320" y="5002381"/>
            <a:ext cx="73152" cy="73152"/>
          </a:xfrm>
          <a:prstGeom prst="ellipse">
            <a:avLst/>
          </a:prstGeom>
          <a:solidFill>
            <a:srgbClr val="F0B135"/>
          </a:solidFill>
          <a:ln>
            <a:noFill/>
          </a:ln>
          <a:effectLst/>
        </p:spPr>
        <p:txBody>
          <a:bodyPr rtlCol="0" anchor="ctr"/>
          <a:lstStyle/>
          <a:p>
            <a:endParaRPr lang="de-DE"/>
          </a:p>
        </p:txBody>
      </p:sp>
      <p:sp>
        <p:nvSpPr>
          <p:cNvPr id="228" name="Data Provisioning Dim Use Cases"/>
          <p:cNvSpPr txBox="1"/>
          <p:nvPr/>
        </p:nvSpPr>
        <p:spPr>
          <a:xfrm>
            <a:off x="498348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9" name="Data Provisioning Dim Dot Technical"/>
          <p:cNvSpPr/>
          <p:nvPr/>
        </p:nvSpPr>
        <p:spPr>
          <a:xfrm>
            <a:off x="4846320" y="5221583"/>
            <a:ext cx="73152" cy="73152"/>
          </a:xfrm>
          <a:prstGeom prst="ellipse">
            <a:avLst/>
          </a:prstGeom>
          <a:solidFill>
            <a:srgbClr val="CFD6DB"/>
          </a:solidFill>
          <a:ln>
            <a:noFill/>
          </a:ln>
          <a:effectLst/>
        </p:spPr>
        <p:txBody>
          <a:bodyPr rtlCol="0" anchor="ctr"/>
          <a:lstStyle/>
          <a:p>
            <a:endParaRPr lang="de-DE"/>
          </a:p>
        </p:txBody>
      </p:sp>
      <p:sp>
        <p:nvSpPr>
          <p:cNvPr id="230" name="Data Provisioning Dim Technical"/>
          <p:cNvSpPr txBox="1"/>
          <p:nvPr/>
        </p:nvSpPr>
        <p:spPr>
          <a:xfrm>
            <a:off x="498348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1" name="Hub &amp; Spoke Row Divider Dimensions"/>
          <p:cNvSpPr/>
          <p:nvPr/>
        </p:nvSpPr>
        <p:spPr>
          <a:xfrm>
            <a:off x="6640830" y="4317343"/>
            <a:ext cx="1616202" cy="6401"/>
          </a:xfrm>
          <a:prstGeom prst="rect">
            <a:avLst/>
          </a:prstGeom>
          <a:solidFill>
            <a:srgbClr val="E2E8EC"/>
          </a:solidFill>
          <a:ln>
            <a:noFill/>
          </a:ln>
          <a:effectLst/>
        </p:spPr>
        <p:txBody>
          <a:bodyPr rtlCol="0" anchor="ctr"/>
          <a:lstStyle/>
          <a:p>
            <a:endParaRPr lang="de-DE"/>
          </a:p>
        </p:txBody>
      </p:sp>
      <p:sp>
        <p:nvSpPr>
          <p:cNvPr id="232" name="Hub &amp; Spoke Dim Dot External · CX Association"/>
          <p:cNvSpPr/>
          <p:nvPr/>
        </p:nvSpPr>
        <p:spPr>
          <a:xfrm>
            <a:off x="6640830" y="4417927"/>
            <a:ext cx="73152" cy="73152"/>
          </a:xfrm>
          <a:prstGeom prst="ellipse">
            <a:avLst/>
          </a:prstGeom>
          <a:solidFill>
            <a:srgbClr val="53BE70"/>
          </a:solidFill>
          <a:ln>
            <a:noFill/>
          </a:ln>
          <a:effectLst/>
        </p:spPr>
        <p:txBody>
          <a:bodyPr rtlCol="0" anchor="ctr"/>
          <a:lstStyle/>
          <a:p>
            <a:endParaRPr lang="de-DE"/>
          </a:p>
        </p:txBody>
      </p:sp>
      <p:sp>
        <p:nvSpPr>
          <p:cNvPr id="233" name="Hub &amp; Spoke Dim External · CX Association"/>
          <p:cNvSpPr txBox="1"/>
          <p:nvPr/>
        </p:nvSpPr>
        <p:spPr>
          <a:xfrm>
            <a:off x="677799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4" name="Hub &amp; Spoke Dim Dot Business"/>
          <p:cNvSpPr/>
          <p:nvPr/>
        </p:nvSpPr>
        <p:spPr>
          <a:xfrm>
            <a:off x="6640830" y="4783179"/>
            <a:ext cx="73152" cy="73152"/>
          </a:xfrm>
          <a:prstGeom prst="ellipse">
            <a:avLst/>
          </a:prstGeom>
          <a:solidFill>
            <a:srgbClr val="F0B135"/>
          </a:solidFill>
          <a:ln>
            <a:noFill/>
          </a:ln>
          <a:effectLst/>
        </p:spPr>
        <p:txBody>
          <a:bodyPr rtlCol="0" anchor="ctr"/>
          <a:lstStyle/>
          <a:p>
            <a:endParaRPr lang="de-DE"/>
          </a:p>
        </p:txBody>
      </p:sp>
      <p:sp>
        <p:nvSpPr>
          <p:cNvPr id="235" name="Hub &amp; Spoke Dim Business"/>
          <p:cNvSpPr txBox="1"/>
          <p:nvPr/>
        </p:nvSpPr>
        <p:spPr>
          <a:xfrm>
            <a:off x="677799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6" name="Hub &amp; Spoke Dim Dot Use Cases"/>
          <p:cNvSpPr/>
          <p:nvPr/>
        </p:nvSpPr>
        <p:spPr>
          <a:xfrm>
            <a:off x="6640830" y="5002381"/>
            <a:ext cx="73152" cy="73152"/>
          </a:xfrm>
          <a:prstGeom prst="ellipse">
            <a:avLst/>
          </a:prstGeom>
          <a:solidFill>
            <a:srgbClr val="CFD6DB"/>
          </a:solidFill>
          <a:ln>
            <a:noFill/>
          </a:ln>
          <a:effectLst/>
        </p:spPr>
        <p:txBody>
          <a:bodyPr rtlCol="0" anchor="ctr"/>
          <a:lstStyle/>
          <a:p>
            <a:endParaRPr lang="de-DE"/>
          </a:p>
        </p:txBody>
      </p:sp>
      <p:sp>
        <p:nvSpPr>
          <p:cNvPr id="237" name="Hub &amp; Spoke Dim Use Cases"/>
          <p:cNvSpPr txBox="1"/>
          <p:nvPr/>
        </p:nvSpPr>
        <p:spPr>
          <a:xfrm>
            <a:off x="677799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8" name="Hub &amp; Spoke Dim Dot Technical"/>
          <p:cNvSpPr/>
          <p:nvPr/>
        </p:nvSpPr>
        <p:spPr>
          <a:xfrm>
            <a:off x="6640830" y="5221583"/>
            <a:ext cx="73152" cy="73152"/>
          </a:xfrm>
          <a:prstGeom prst="ellipse">
            <a:avLst/>
          </a:prstGeom>
          <a:solidFill>
            <a:srgbClr val="CFD6DB"/>
          </a:solidFill>
          <a:ln>
            <a:noFill/>
          </a:ln>
          <a:effectLst/>
        </p:spPr>
        <p:txBody>
          <a:bodyPr rtlCol="0" anchor="ctr"/>
          <a:lstStyle/>
          <a:p>
            <a:endParaRPr lang="de-DE"/>
          </a:p>
        </p:txBody>
      </p:sp>
      <p:sp>
        <p:nvSpPr>
          <p:cNvPr id="239" name="Hub &amp; Spoke Dim Technical"/>
          <p:cNvSpPr txBox="1"/>
          <p:nvPr/>
        </p:nvSpPr>
        <p:spPr>
          <a:xfrm>
            <a:off x="677799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0" name="Legal &amp; Contracts Row Divider Dimensions"/>
          <p:cNvSpPr/>
          <p:nvPr/>
        </p:nvSpPr>
        <p:spPr>
          <a:xfrm>
            <a:off x="8435340" y="4317343"/>
            <a:ext cx="1616202" cy="6401"/>
          </a:xfrm>
          <a:prstGeom prst="rect">
            <a:avLst/>
          </a:prstGeom>
          <a:solidFill>
            <a:srgbClr val="E2E8EC"/>
          </a:solidFill>
          <a:ln>
            <a:noFill/>
          </a:ln>
          <a:effectLst/>
        </p:spPr>
        <p:txBody>
          <a:bodyPr rtlCol="0" anchor="ctr"/>
          <a:lstStyle/>
          <a:p>
            <a:endParaRPr lang="de-DE"/>
          </a:p>
        </p:txBody>
      </p:sp>
      <p:sp>
        <p:nvSpPr>
          <p:cNvPr id="241" name="Legal &amp; Contracts Dim Dot External · CX Association"/>
          <p:cNvSpPr/>
          <p:nvPr/>
        </p:nvSpPr>
        <p:spPr>
          <a:xfrm>
            <a:off x="8435340" y="4417927"/>
            <a:ext cx="73152" cy="73152"/>
          </a:xfrm>
          <a:prstGeom prst="ellipse">
            <a:avLst/>
          </a:prstGeom>
          <a:solidFill>
            <a:srgbClr val="53BE70"/>
          </a:solidFill>
          <a:ln>
            <a:noFill/>
          </a:ln>
          <a:effectLst/>
        </p:spPr>
        <p:txBody>
          <a:bodyPr rtlCol="0" anchor="ctr"/>
          <a:lstStyle/>
          <a:p>
            <a:endParaRPr lang="de-DE"/>
          </a:p>
        </p:txBody>
      </p:sp>
      <p:sp>
        <p:nvSpPr>
          <p:cNvPr id="242" name="Legal &amp; Contracts Dim External · CX Association"/>
          <p:cNvSpPr txBox="1"/>
          <p:nvPr/>
        </p:nvSpPr>
        <p:spPr>
          <a:xfrm>
            <a:off x="857250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3" name="Legal &amp; Contracts Dim Dot Business"/>
          <p:cNvSpPr/>
          <p:nvPr/>
        </p:nvSpPr>
        <p:spPr>
          <a:xfrm>
            <a:off x="8435340" y="4783179"/>
            <a:ext cx="73152" cy="73152"/>
          </a:xfrm>
          <a:prstGeom prst="ellipse">
            <a:avLst/>
          </a:prstGeom>
          <a:solidFill>
            <a:srgbClr val="F0B135"/>
          </a:solidFill>
          <a:ln>
            <a:noFill/>
          </a:ln>
          <a:effectLst/>
        </p:spPr>
        <p:txBody>
          <a:bodyPr rtlCol="0" anchor="ctr"/>
          <a:lstStyle/>
          <a:p>
            <a:endParaRPr lang="de-DE"/>
          </a:p>
        </p:txBody>
      </p:sp>
      <p:sp>
        <p:nvSpPr>
          <p:cNvPr id="244" name="Legal &amp; Contracts Dim Business"/>
          <p:cNvSpPr txBox="1"/>
          <p:nvPr/>
        </p:nvSpPr>
        <p:spPr>
          <a:xfrm>
            <a:off x="857250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5" name="Legal &amp; Contracts Dim Dot Use Cases"/>
          <p:cNvSpPr/>
          <p:nvPr/>
        </p:nvSpPr>
        <p:spPr>
          <a:xfrm>
            <a:off x="8435340" y="5002381"/>
            <a:ext cx="73152" cy="73152"/>
          </a:xfrm>
          <a:prstGeom prst="ellipse">
            <a:avLst/>
          </a:prstGeom>
          <a:solidFill>
            <a:srgbClr val="53BE70"/>
          </a:solidFill>
          <a:ln>
            <a:noFill/>
          </a:ln>
          <a:effectLst/>
        </p:spPr>
        <p:txBody>
          <a:bodyPr rtlCol="0" anchor="ctr"/>
          <a:lstStyle/>
          <a:p>
            <a:endParaRPr lang="de-DE"/>
          </a:p>
        </p:txBody>
      </p:sp>
      <p:sp>
        <p:nvSpPr>
          <p:cNvPr id="246" name="Legal &amp; Contracts Dim Use Cases"/>
          <p:cNvSpPr txBox="1"/>
          <p:nvPr/>
        </p:nvSpPr>
        <p:spPr>
          <a:xfrm>
            <a:off x="857250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7" name="Legal &amp; Contracts Dim Dot Technical"/>
          <p:cNvSpPr/>
          <p:nvPr/>
        </p:nvSpPr>
        <p:spPr>
          <a:xfrm>
            <a:off x="8435340" y="5221583"/>
            <a:ext cx="73152" cy="73152"/>
          </a:xfrm>
          <a:prstGeom prst="ellipse">
            <a:avLst/>
          </a:prstGeom>
          <a:solidFill>
            <a:srgbClr val="F0B135"/>
          </a:solidFill>
          <a:ln>
            <a:noFill/>
          </a:ln>
          <a:effectLst/>
        </p:spPr>
        <p:txBody>
          <a:bodyPr rtlCol="0" anchor="ctr"/>
          <a:lstStyle/>
          <a:p>
            <a:endParaRPr lang="de-DE"/>
          </a:p>
        </p:txBody>
      </p:sp>
      <p:sp>
        <p:nvSpPr>
          <p:cNvPr id="248" name="Legal &amp; Contracts Dim Technical"/>
          <p:cNvSpPr txBox="1"/>
          <p:nvPr/>
        </p:nvSpPr>
        <p:spPr>
          <a:xfrm>
            <a:off x="857250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9" name="Architecture Row Divider Dimensions"/>
          <p:cNvSpPr/>
          <p:nvPr/>
        </p:nvSpPr>
        <p:spPr>
          <a:xfrm>
            <a:off x="10229850" y="4317343"/>
            <a:ext cx="1616202" cy="6401"/>
          </a:xfrm>
          <a:prstGeom prst="rect">
            <a:avLst/>
          </a:prstGeom>
          <a:solidFill>
            <a:srgbClr val="E2E8EC"/>
          </a:solidFill>
          <a:ln>
            <a:noFill/>
          </a:ln>
          <a:effectLst/>
        </p:spPr>
        <p:txBody>
          <a:bodyPr rtlCol="0" anchor="ctr"/>
          <a:lstStyle/>
          <a:p>
            <a:endParaRPr lang="de-DE"/>
          </a:p>
        </p:txBody>
      </p:sp>
      <p:sp>
        <p:nvSpPr>
          <p:cNvPr id="250" name="Architecture Dim Dot External · CX Association"/>
          <p:cNvSpPr/>
          <p:nvPr/>
        </p:nvSpPr>
        <p:spPr>
          <a:xfrm>
            <a:off x="10229850" y="4417927"/>
            <a:ext cx="73152" cy="73152"/>
          </a:xfrm>
          <a:prstGeom prst="ellipse">
            <a:avLst/>
          </a:prstGeom>
          <a:solidFill>
            <a:srgbClr val="53BE70"/>
          </a:solidFill>
          <a:ln>
            <a:noFill/>
          </a:ln>
          <a:effectLst/>
        </p:spPr>
        <p:txBody>
          <a:bodyPr rtlCol="0" anchor="ctr"/>
          <a:lstStyle/>
          <a:p>
            <a:endParaRPr lang="de-DE"/>
          </a:p>
        </p:txBody>
      </p:sp>
      <p:sp>
        <p:nvSpPr>
          <p:cNvPr id="251" name="Architecture Dim External · CX Association"/>
          <p:cNvSpPr txBox="1"/>
          <p:nvPr/>
        </p:nvSpPr>
        <p:spPr>
          <a:xfrm>
            <a:off x="1036701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2" name="Architecture Dim Dot Business"/>
          <p:cNvSpPr/>
          <p:nvPr/>
        </p:nvSpPr>
        <p:spPr>
          <a:xfrm>
            <a:off x="10229850" y="4783179"/>
            <a:ext cx="73152" cy="73152"/>
          </a:xfrm>
          <a:prstGeom prst="ellipse">
            <a:avLst/>
          </a:prstGeom>
          <a:solidFill>
            <a:srgbClr val="53BE70"/>
          </a:solidFill>
          <a:ln>
            <a:noFill/>
          </a:ln>
          <a:effectLst/>
        </p:spPr>
        <p:txBody>
          <a:bodyPr rtlCol="0" anchor="ctr"/>
          <a:lstStyle/>
          <a:p>
            <a:endParaRPr lang="de-DE"/>
          </a:p>
        </p:txBody>
      </p:sp>
      <p:sp>
        <p:nvSpPr>
          <p:cNvPr id="253" name="Architecture Dim Business"/>
          <p:cNvSpPr txBox="1"/>
          <p:nvPr/>
        </p:nvSpPr>
        <p:spPr>
          <a:xfrm>
            <a:off x="1036701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4" name="Architecture Dim Dot Use Cases"/>
          <p:cNvSpPr/>
          <p:nvPr/>
        </p:nvSpPr>
        <p:spPr>
          <a:xfrm>
            <a:off x="10229850" y="5002381"/>
            <a:ext cx="73152" cy="73152"/>
          </a:xfrm>
          <a:prstGeom prst="ellipse">
            <a:avLst/>
          </a:prstGeom>
          <a:solidFill>
            <a:srgbClr val="53BE70"/>
          </a:solidFill>
          <a:ln>
            <a:noFill/>
          </a:ln>
          <a:effectLst/>
        </p:spPr>
        <p:txBody>
          <a:bodyPr rtlCol="0" anchor="ctr"/>
          <a:lstStyle/>
          <a:p>
            <a:endParaRPr lang="de-DE"/>
          </a:p>
        </p:txBody>
      </p:sp>
      <p:sp>
        <p:nvSpPr>
          <p:cNvPr id="255" name="Architecture Dim Use Cases"/>
          <p:cNvSpPr txBox="1"/>
          <p:nvPr/>
        </p:nvSpPr>
        <p:spPr>
          <a:xfrm>
            <a:off x="1036701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6" name="Architecture Dim Dot Technical"/>
          <p:cNvSpPr/>
          <p:nvPr/>
        </p:nvSpPr>
        <p:spPr>
          <a:xfrm>
            <a:off x="10229850" y="5221583"/>
            <a:ext cx="73152" cy="73152"/>
          </a:xfrm>
          <a:prstGeom prst="ellipse">
            <a:avLst/>
          </a:prstGeom>
          <a:solidFill>
            <a:srgbClr val="F0B135"/>
          </a:solidFill>
          <a:ln>
            <a:noFill/>
          </a:ln>
          <a:effectLst/>
        </p:spPr>
        <p:txBody>
          <a:bodyPr rtlCol="0" anchor="ctr"/>
          <a:lstStyle/>
          <a:p>
            <a:endParaRPr lang="de-DE"/>
          </a:p>
        </p:txBody>
      </p:sp>
      <p:sp>
        <p:nvSpPr>
          <p:cNvPr id="257" name="Architecture Dim Technical"/>
          <p:cNvSpPr txBox="1"/>
          <p:nvPr/>
        </p:nvSpPr>
        <p:spPr>
          <a:xfrm>
            <a:off x="1036701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8"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9" name="Supplier Activation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60" name="Supplier Activation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61" name="Supplier Activation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2" name="Supplier Activation Decision 1"/>
          <p:cNvSpPr txBox="1"/>
          <p:nvPr/>
        </p:nvSpPr>
        <p:spPr>
          <a:xfrm>
            <a:off x="1257300" y="5579364"/>
            <a:ext cx="1616202"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How do we make Cofinity-X onboarding clear for suppliers, and who covers the data sharing agreement (DSA) costs per use case?</a:t>
            </a:r>
          </a:p>
        </p:txBody>
      </p:sp>
      <p:sp>
        <p:nvSpPr>
          <p:cNvPr id="263" name="Portfolio, AI+, C-X NEXT, DigiTrace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64" name="Portfolio, AI+, C-X NEXT, DigiTrace Decision 2 Flag"/>
          <p:cNvSpPr/>
          <p:nvPr/>
        </p:nvSpPr>
        <p:spPr>
          <a:xfrm>
            <a:off x="3051810" y="5579364"/>
            <a:ext cx="146304" cy="146304"/>
          </a:xfrm>
          <a:prstGeom prst="ellipse">
            <a:avLst/>
          </a:prstGeom>
          <a:solidFill>
            <a:srgbClr val="001E50"/>
          </a:solidFill>
          <a:ln>
            <a:noFill/>
          </a:ln>
          <a:effectLst/>
        </p:spPr>
        <p:txBody>
          <a:bodyPr rtlCol="0" anchor="ctr"/>
          <a:lstStyle/>
          <a:p>
            <a:endParaRPr lang="de-DE"/>
          </a:p>
        </p:txBody>
      </p:sp>
      <p:sp>
        <p:nvSpPr>
          <p:cNvPr id="265" name="Portfolio, AI+, C-X NEXT, DigiTrace Decision 2 No"/>
          <p:cNvSpPr txBox="1"/>
          <p:nvPr/>
        </p:nvSpPr>
        <p:spPr>
          <a:xfrm>
            <a:off x="305181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6" name="Portfolio, AI+, C-X NEXT, DigiTrace Decision 2"/>
          <p:cNvSpPr txBox="1"/>
          <p:nvPr/>
        </p:nvSpPr>
        <p:spPr>
          <a:xfrm>
            <a:off x="305181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7" name="Portfolio, AI+, C-X NEXT, DigiTrace Decision 3 Flag"/>
          <p:cNvSpPr/>
          <p:nvPr/>
        </p:nvSpPr>
        <p:spPr>
          <a:xfrm>
            <a:off x="3051810" y="5926328"/>
            <a:ext cx="146304" cy="146304"/>
          </a:xfrm>
          <a:prstGeom prst="ellipse">
            <a:avLst/>
          </a:prstGeom>
          <a:solidFill>
            <a:srgbClr val="001E50"/>
          </a:solidFill>
          <a:ln>
            <a:noFill/>
          </a:ln>
          <a:effectLst/>
        </p:spPr>
        <p:txBody>
          <a:bodyPr rtlCol="0" anchor="ctr"/>
          <a:lstStyle/>
          <a:p>
            <a:endParaRPr lang="de-DE"/>
          </a:p>
        </p:txBody>
      </p:sp>
      <p:sp>
        <p:nvSpPr>
          <p:cNvPr id="268" name="Portfolio, AI+, C-X NEXT, DigiTrace Decision 3 No"/>
          <p:cNvSpPr txBox="1"/>
          <p:nvPr/>
        </p:nvSpPr>
        <p:spPr>
          <a:xfrm>
            <a:off x="305181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9" name="Portfolio, AI+, C-X NEXT, DigiTrace Decision 3"/>
          <p:cNvSpPr txBox="1"/>
          <p:nvPr/>
        </p:nvSpPr>
        <p:spPr>
          <a:xfrm>
            <a:off x="305181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70" name="Portfolio, AI+, C-X NEXT, DigiTrace Decision 4 Flag"/>
          <p:cNvSpPr/>
          <p:nvPr/>
        </p:nvSpPr>
        <p:spPr>
          <a:xfrm>
            <a:off x="3051810" y="6273292"/>
            <a:ext cx="146304" cy="146304"/>
          </a:xfrm>
          <a:prstGeom prst="ellipse">
            <a:avLst/>
          </a:prstGeom>
          <a:solidFill>
            <a:srgbClr val="001E50"/>
          </a:solidFill>
          <a:ln>
            <a:noFill/>
          </a:ln>
          <a:effectLst/>
        </p:spPr>
        <p:txBody>
          <a:bodyPr rtlCol="0" anchor="ctr"/>
          <a:lstStyle/>
          <a:p>
            <a:endParaRPr lang="de-DE"/>
          </a:p>
        </p:txBody>
      </p:sp>
      <p:sp>
        <p:nvSpPr>
          <p:cNvPr id="271" name="Portfolio, AI+, C-X NEXT, DigiTrace Decision 4 No"/>
          <p:cNvSpPr txBox="1"/>
          <p:nvPr/>
        </p:nvSpPr>
        <p:spPr>
          <a:xfrm>
            <a:off x="305181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4</a:t>
            </a:r>
          </a:p>
        </p:txBody>
      </p:sp>
      <p:sp>
        <p:nvSpPr>
          <p:cNvPr id="272" name="Portfolio, AI+, C-X NEXT, DigiTrace Decision 4"/>
          <p:cNvSpPr txBox="1"/>
          <p:nvPr/>
        </p:nvSpPr>
        <p:spPr>
          <a:xfrm>
            <a:off x="305181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73"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74"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76"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7"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78"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9"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80"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