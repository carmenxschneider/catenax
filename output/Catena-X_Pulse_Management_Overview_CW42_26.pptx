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42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298448"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367028"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367028"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367028"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367028"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20" name="Col Battery Passport Card"/>
          <p:cNvSpPr/>
          <p:nvPr/>
        </p:nvSpPr>
        <p:spPr>
          <a:xfrm>
            <a:off x="26306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99194"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99194"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99194"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99194"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962781"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4031361"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4031361"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4031361"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4031361"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94947"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363528"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363528"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363528"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363528"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6271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95694"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95694"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95694"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95694"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59280"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8027860"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8027860"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8027860"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8027860"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91447"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60027"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60027" y="14274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60027"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60027" y="2002790"/>
            <a:ext cx="1153858" cy="36576"/>
          </a:xfrm>
          <a:prstGeom prst="roundRect">
            <a:avLst>
              <a:gd name="adj" fmla="val 50000"/>
            </a:avLst>
          </a:prstGeom>
          <a:solidFill>
            <a:srgbClr val="F0B135"/>
          </a:solidFill>
          <a:ln>
            <a:noFill/>
          </a:ln>
          <a:effectLst/>
        </p:spPr>
        <p:txBody>
          <a:bodyPr rtlCol="0" anchor="ctr"/>
          <a:lstStyle/>
          <a:p>
            <a:endParaRPr lang="de-DE"/>
          </a:p>
        </p:txBody>
      </p:sp>
      <p:sp>
        <p:nvSpPr>
          <p:cNvPr id="150" name="Col N-Tier Card"/>
          <p:cNvSpPr/>
          <p:nvPr/>
        </p:nvSpPr>
        <p:spPr>
          <a:xfrm>
            <a:off x="10623614" y="978408"/>
            <a:ext cx="1291018"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92193" y="1078992"/>
            <a:ext cx="1153858"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92193" y="1262380"/>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92193" y="162839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92193" y="2002790"/>
            <a:ext cx="1153858"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987552" cy="22399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36702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Quality Status Text"/>
          <p:cNvSpPr txBox="1"/>
          <p:nvPr/>
        </p:nvSpPr>
        <p:spPr>
          <a:xfrm>
            <a:off x="136702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attery Passport Status Pill"/>
          <p:cNvSpPr/>
          <p:nvPr/>
        </p:nvSpPr>
        <p:spPr>
          <a:xfrm>
            <a:off x="26991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991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4031361"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4031361"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36352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36352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802786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802786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6002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71" name="Product Carbon Footprint Status Text"/>
          <p:cNvSpPr txBox="1"/>
          <p:nvPr/>
        </p:nvSpPr>
        <p:spPr>
          <a:xfrm>
            <a:off x="936002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2" name="N-Tier Status Pill"/>
          <p:cNvSpPr/>
          <p:nvPr/>
        </p:nvSpPr>
        <p:spPr>
          <a:xfrm>
            <a:off x="10692193"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92193"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46244"/>
            <a:ext cx="987552" cy="35085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367028" y="2382236"/>
            <a:ext cx="1153858"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367028" y="244624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99194" y="2382236"/>
            <a:ext cx="1153858"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99194" y="244624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4031361" y="2382236"/>
            <a:ext cx="1153858"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4031361" y="244624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363528" y="2382236"/>
            <a:ext cx="1153858"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363528" y="244624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95694" y="2382236"/>
            <a:ext cx="1153858"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95694" y="244624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8027860" y="2382236"/>
            <a:ext cx="1153858"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8027860" y="244624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60027" y="2382236"/>
            <a:ext cx="1153858"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60027" y="244624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92193" y="2382236"/>
            <a:ext cx="1153858"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92193" y="2446244"/>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61109"/>
            <a:ext cx="987552" cy="35475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367028" y="2797101"/>
            <a:ext cx="1153858"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367028" y="2861109"/>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2027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99194" y="2797101"/>
            <a:ext cx="1153858"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99194"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4031361" y="2797101"/>
            <a:ext cx="1153858"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4031361"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363528" y="2797101"/>
            <a:ext cx="1153858"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363528"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95694" y="2797101"/>
            <a:ext cx="1153858"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95694"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8027860" y="2797101"/>
            <a:ext cx="1153858"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8027860"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60027" y="2797101"/>
            <a:ext cx="1153858"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60027"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Jan 2028</a:t>
            </a:r>
          </a:p>
        </p:txBody>
      </p:sp>
      <p:sp>
        <p:nvSpPr>
          <p:cNvPr id="206" name="N-Tier Row Divider E2E go-live target date"/>
          <p:cNvSpPr/>
          <p:nvPr/>
        </p:nvSpPr>
        <p:spPr>
          <a:xfrm>
            <a:off x="10692193" y="2797101"/>
            <a:ext cx="1153858"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92193" y="2861109"/>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279868"/>
            <a:ext cx="987552" cy="35475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367028" y="3215860"/>
            <a:ext cx="1153858"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367028" y="3279868"/>
            <a:ext cx="1153858"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99194" y="3215860"/>
            <a:ext cx="1153858"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99194"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4031361" y="3215860"/>
            <a:ext cx="1153858"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4031361"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363528" y="3215860"/>
            <a:ext cx="1153858"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363528"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95694" y="3215860"/>
            <a:ext cx="1153858"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95694"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8027860" y="3215860"/>
            <a:ext cx="1153858"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8027860"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89 / 100</a:t>
            </a:r>
            <a:r>
              <a:rPr lang="de-DE" sz="900" b="0" kern="0" dirty="0">
                <a:solidFill>
                  <a:srgbClr val="63707A"/>
                </a:solidFill>
                <a:latin typeface="Segoe UI" pitchFamily="34" charset="0"/>
                <a:ea typeface="Segoe UI" pitchFamily="34" charset="-122"/>
                <a:cs typeface="Segoe UI" pitchFamily="34" charset="-120"/>
              </a:rPr>
              <a:t>  89%</a:t>
            </a:r>
          </a:p>
        </p:txBody>
      </p:sp>
      <p:sp>
        <p:nvSpPr>
          <p:cNvPr id="221" name="Product Carbon Footprint Row Divider Suppliers enabled 2026"/>
          <p:cNvSpPr/>
          <p:nvPr/>
        </p:nvSpPr>
        <p:spPr>
          <a:xfrm>
            <a:off x="9360027" y="3215860"/>
            <a:ext cx="1153858"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60027"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92193" y="3215860"/>
            <a:ext cx="1153858"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92193" y="3279868"/>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698626"/>
            <a:ext cx="987552" cy="64685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367028" y="3634618"/>
            <a:ext cx="1153858"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367028" y="3735202"/>
            <a:ext cx="73152" cy="73152"/>
          </a:xfrm>
          <a:prstGeom prst="ellipse">
            <a:avLst/>
          </a:prstGeom>
          <a:solidFill>
            <a:srgbClr val="F0B135"/>
          </a:solidFill>
          <a:ln>
            <a:noFill/>
          </a:ln>
          <a:effectLst/>
        </p:spPr>
        <p:txBody>
          <a:bodyPr rtlCol="0" anchor="ctr"/>
          <a:lstStyle/>
          <a:p>
            <a:endParaRPr lang="de-DE"/>
          </a:p>
        </p:txBody>
      </p:sp>
      <p:sp>
        <p:nvSpPr>
          <p:cNvPr id="228" name="Quality Milestone"/>
          <p:cNvSpPr txBox="1"/>
          <p:nvPr/>
        </p:nvSpPr>
        <p:spPr>
          <a:xfrm>
            <a:off x="1504188" y="3698626"/>
            <a:ext cx="1016699" cy="6024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&amp; ownership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9" name="Battery Passport Row Divider Next critical milestone"/>
          <p:cNvSpPr/>
          <p:nvPr/>
        </p:nvSpPr>
        <p:spPr>
          <a:xfrm>
            <a:off x="2699194" y="3634618"/>
            <a:ext cx="1153858"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99194" y="3698626"/>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4031361" y="3634618"/>
            <a:ext cx="1153858"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4031361" y="3735202"/>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168521" y="3698626"/>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363528" y="3634618"/>
            <a:ext cx="1153858"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363528" y="3735202"/>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500688" y="3698626"/>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09 Oct 2026</a:t>
            </a:r>
          </a:p>
        </p:txBody>
      </p:sp>
      <p:sp>
        <p:nvSpPr>
          <p:cNvPr id="237" name="Business Partner Data Mgmt Row Divider Next critical milestone"/>
          <p:cNvSpPr/>
          <p:nvPr/>
        </p:nvSpPr>
        <p:spPr>
          <a:xfrm>
            <a:off x="6695694" y="3634618"/>
            <a:ext cx="1153858"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95694" y="3698626"/>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8027860" y="3634618"/>
            <a:ext cx="1153858"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8027860" y="3735202"/>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65020" y="3698626"/>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60027" y="3634618"/>
            <a:ext cx="1153858" cy="6401"/>
          </a:xfrm>
          <a:prstGeom prst="rect">
            <a:avLst/>
          </a:prstGeom>
          <a:solidFill>
            <a:srgbClr val="E2E8EC"/>
          </a:solidFill>
          <a:ln>
            <a:noFill/>
          </a:ln>
          <a:effectLst/>
        </p:spPr>
        <p:txBody>
          <a:bodyPr rtlCol="0" anchor="ctr"/>
          <a:lstStyle/>
          <a:p>
            <a:endParaRPr lang="de-DE"/>
          </a:p>
        </p:txBody>
      </p:sp>
      <p:sp>
        <p:nvSpPr>
          <p:cNvPr id="243" name="Product Carbon Footprint Milestone Dot"/>
          <p:cNvSpPr/>
          <p:nvPr/>
        </p:nvSpPr>
        <p:spPr>
          <a:xfrm>
            <a:off x="9360027" y="3735202"/>
            <a:ext cx="73152" cy="73152"/>
          </a:xfrm>
          <a:prstGeom prst="ellipse">
            <a:avLst/>
          </a:prstGeom>
          <a:solidFill>
            <a:srgbClr val="F0B135"/>
          </a:solidFill>
          <a:ln>
            <a:noFill/>
          </a:ln>
          <a:effectLst/>
        </p:spPr>
        <p:txBody>
          <a:bodyPr rtlCol="0" anchor="ctr"/>
          <a:lstStyle/>
          <a:p>
            <a:endParaRPr lang="de-DE"/>
          </a:p>
        </p:txBody>
      </p:sp>
      <p:sp>
        <p:nvSpPr>
          <p:cNvPr id="244" name="Product Carbon Footprint Milestone"/>
          <p:cNvSpPr txBox="1"/>
          <p:nvPr/>
        </p:nvSpPr>
        <p:spPr>
          <a:xfrm>
            <a:off x="9497187" y="3698626"/>
            <a:ext cx="1016699"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stage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5" name="N-Tier Row Divider Next critical milestone"/>
          <p:cNvSpPr/>
          <p:nvPr/>
        </p:nvSpPr>
        <p:spPr>
          <a:xfrm>
            <a:off x="10692193" y="3634618"/>
            <a:ext cx="1153858" cy="6401"/>
          </a:xfrm>
          <a:prstGeom prst="rect">
            <a:avLst/>
          </a:prstGeom>
          <a:solidFill>
            <a:srgbClr val="E2E8EC"/>
          </a:solidFill>
          <a:ln>
            <a:noFill/>
          </a:ln>
          <a:effectLst/>
        </p:spPr>
        <p:txBody>
          <a:bodyPr rtlCol="0" anchor="ctr"/>
          <a:lstStyle/>
          <a:p>
            <a:endParaRPr lang="de-DE"/>
          </a:p>
        </p:txBody>
      </p:sp>
      <p:sp>
        <p:nvSpPr>
          <p:cNvPr id="246" name="N-Tier Milestone"/>
          <p:cNvSpPr txBox="1"/>
          <p:nvPr/>
        </p:nvSpPr>
        <p:spPr>
          <a:xfrm>
            <a:off x="10692193" y="3698626"/>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7" name="Row Label Dimensions"/>
          <p:cNvSpPr txBox="1"/>
          <p:nvPr/>
        </p:nvSpPr>
        <p:spPr>
          <a:xfrm>
            <a:off x="274320" y="4409485"/>
            <a:ext cx="987552" cy="110587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8" name="Dim Label External · CX Association"/>
          <p:cNvSpPr txBox="1"/>
          <p:nvPr/>
        </p:nvSpPr>
        <p:spPr>
          <a:xfrm>
            <a:off x="347472" y="4592111"/>
            <a:ext cx="914400" cy="17367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49" name="Dim Label Business"/>
          <p:cNvSpPr txBox="1"/>
          <p:nvPr/>
        </p:nvSpPr>
        <p:spPr>
          <a:xfrm>
            <a:off x="347472" y="4765787"/>
            <a:ext cx="914400" cy="17367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50" name="Dim Label Data Provisioning"/>
          <p:cNvSpPr txBox="1"/>
          <p:nvPr/>
        </p:nvSpPr>
        <p:spPr>
          <a:xfrm>
            <a:off x="347472" y="4939463"/>
            <a:ext cx="914400" cy="17367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Data Provisioning</a:t>
            </a:r>
          </a:p>
        </p:txBody>
      </p:sp>
      <p:sp>
        <p:nvSpPr>
          <p:cNvPr id="251" name="Dim Label Technical"/>
          <p:cNvSpPr txBox="1"/>
          <p:nvPr/>
        </p:nvSpPr>
        <p:spPr>
          <a:xfrm>
            <a:off x="347472" y="5113140"/>
            <a:ext cx="914400" cy="17367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52" name="Dim Label Supplier Activation"/>
          <p:cNvSpPr txBox="1"/>
          <p:nvPr/>
        </p:nvSpPr>
        <p:spPr>
          <a:xfrm>
            <a:off x="347472" y="5286816"/>
            <a:ext cx="914400" cy="17367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Supplier Activation</a:t>
            </a:r>
          </a:p>
        </p:txBody>
      </p:sp>
      <p:sp>
        <p:nvSpPr>
          <p:cNvPr id="253" name="Quality Row Divider Dimensions"/>
          <p:cNvSpPr/>
          <p:nvPr/>
        </p:nvSpPr>
        <p:spPr>
          <a:xfrm>
            <a:off x="1367028" y="4345477"/>
            <a:ext cx="1153858" cy="6401"/>
          </a:xfrm>
          <a:prstGeom prst="rect">
            <a:avLst/>
          </a:prstGeom>
          <a:solidFill>
            <a:srgbClr val="E2E8EC"/>
          </a:solidFill>
          <a:ln>
            <a:noFill/>
          </a:ln>
          <a:effectLst/>
        </p:spPr>
        <p:txBody>
          <a:bodyPr rtlCol="0" anchor="ctr"/>
          <a:lstStyle/>
          <a:p>
            <a:endParaRPr lang="de-DE"/>
          </a:p>
        </p:txBody>
      </p:sp>
      <p:sp>
        <p:nvSpPr>
          <p:cNvPr id="254" name="Quality Dim External · CX Association Dot"/>
          <p:cNvSpPr/>
          <p:nvPr/>
        </p:nvSpPr>
        <p:spPr>
          <a:xfrm>
            <a:off x="1367028" y="4628657"/>
            <a:ext cx="100584" cy="100584"/>
          </a:xfrm>
          <a:prstGeom prst="ellipse">
            <a:avLst/>
          </a:prstGeom>
          <a:solidFill>
            <a:srgbClr val="53BE70"/>
          </a:solidFill>
          <a:ln>
            <a:noFill/>
          </a:ln>
          <a:effectLst/>
        </p:spPr>
        <p:txBody>
          <a:bodyPr rtlCol="0" anchor="ctr"/>
          <a:lstStyle/>
          <a:p>
            <a:endParaRPr lang="de-DE"/>
          </a:p>
        </p:txBody>
      </p:sp>
      <p:sp>
        <p:nvSpPr>
          <p:cNvPr id="255" name="Quality Dim Lane Business"/>
          <p:cNvSpPr/>
          <p:nvPr/>
        </p:nvSpPr>
        <p:spPr>
          <a:xfrm>
            <a:off x="1367028" y="4765787"/>
            <a:ext cx="1153858" cy="4572"/>
          </a:xfrm>
          <a:prstGeom prst="rect">
            <a:avLst/>
          </a:prstGeom>
          <a:solidFill>
            <a:srgbClr val="EDF0F3"/>
          </a:solidFill>
          <a:ln>
            <a:noFill/>
          </a:ln>
          <a:effectLst/>
        </p:spPr>
        <p:txBody>
          <a:bodyPr rtlCol="0" anchor="ctr"/>
          <a:lstStyle/>
          <a:p>
            <a:endParaRPr lang="de-DE"/>
          </a:p>
        </p:txBody>
      </p:sp>
      <p:sp>
        <p:nvSpPr>
          <p:cNvPr id="256" name="Quality Dim Business Dot"/>
          <p:cNvSpPr/>
          <p:nvPr/>
        </p:nvSpPr>
        <p:spPr>
          <a:xfrm>
            <a:off x="1367028" y="4802333"/>
            <a:ext cx="100584" cy="100584"/>
          </a:xfrm>
          <a:prstGeom prst="ellipse">
            <a:avLst/>
          </a:prstGeom>
          <a:solidFill>
            <a:srgbClr val="F0B135"/>
          </a:solidFill>
          <a:ln>
            <a:noFill/>
          </a:ln>
          <a:effectLst/>
        </p:spPr>
        <p:txBody>
          <a:bodyPr rtlCol="0" anchor="ctr"/>
          <a:lstStyle/>
          <a:p>
            <a:endParaRPr lang="de-DE"/>
          </a:p>
        </p:txBody>
      </p:sp>
      <p:sp>
        <p:nvSpPr>
          <p:cNvPr id="257" name="Quality Dim Lane Data Provisioning"/>
          <p:cNvSpPr/>
          <p:nvPr/>
        </p:nvSpPr>
        <p:spPr>
          <a:xfrm>
            <a:off x="1367028" y="4939463"/>
            <a:ext cx="1153858" cy="4572"/>
          </a:xfrm>
          <a:prstGeom prst="rect">
            <a:avLst/>
          </a:prstGeom>
          <a:solidFill>
            <a:srgbClr val="EDF0F3"/>
          </a:solidFill>
          <a:ln>
            <a:noFill/>
          </a:ln>
          <a:effectLst/>
        </p:spPr>
        <p:txBody>
          <a:bodyPr rtlCol="0" anchor="ctr"/>
          <a:lstStyle/>
          <a:p>
            <a:endParaRPr lang="de-DE"/>
          </a:p>
        </p:txBody>
      </p:sp>
      <p:sp>
        <p:nvSpPr>
          <p:cNvPr id="258" name="Quality Dim Data Provisioning Dot"/>
          <p:cNvSpPr/>
          <p:nvPr/>
        </p:nvSpPr>
        <p:spPr>
          <a:xfrm>
            <a:off x="1367028" y="4976009"/>
            <a:ext cx="100584" cy="100584"/>
          </a:xfrm>
          <a:prstGeom prst="ellipse">
            <a:avLst/>
          </a:prstGeom>
          <a:solidFill>
            <a:srgbClr val="F0B135"/>
          </a:solidFill>
          <a:ln>
            <a:noFill/>
          </a:ln>
          <a:effectLst/>
        </p:spPr>
        <p:txBody>
          <a:bodyPr rtlCol="0" anchor="ctr"/>
          <a:lstStyle/>
          <a:p>
            <a:endParaRPr lang="de-DE"/>
          </a:p>
        </p:txBody>
      </p:sp>
      <p:sp>
        <p:nvSpPr>
          <p:cNvPr id="259" name="Quality Dim Lane Technical"/>
          <p:cNvSpPr/>
          <p:nvPr/>
        </p:nvSpPr>
        <p:spPr>
          <a:xfrm>
            <a:off x="1367028" y="5113140"/>
            <a:ext cx="1153858" cy="4572"/>
          </a:xfrm>
          <a:prstGeom prst="rect">
            <a:avLst/>
          </a:prstGeom>
          <a:solidFill>
            <a:srgbClr val="EDF0F3"/>
          </a:solidFill>
          <a:ln>
            <a:noFill/>
          </a:ln>
          <a:effectLst/>
        </p:spPr>
        <p:txBody>
          <a:bodyPr rtlCol="0" anchor="ctr"/>
          <a:lstStyle/>
          <a:p>
            <a:endParaRPr lang="de-DE"/>
          </a:p>
        </p:txBody>
      </p:sp>
      <p:sp>
        <p:nvSpPr>
          <p:cNvPr id="260" name="Quality Dim Technical Dot"/>
          <p:cNvSpPr/>
          <p:nvPr/>
        </p:nvSpPr>
        <p:spPr>
          <a:xfrm>
            <a:off x="1367028" y="5149686"/>
            <a:ext cx="100584" cy="100584"/>
          </a:xfrm>
          <a:prstGeom prst="ellipse">
            <a:avLst/>
          </a:prstGeom>
          <a:solidFill>
            <a:srgbClr val="F0B135"/>
          </a:solidFill>
          <a:ln>
            <a:noFill/>
          </a:ln>
          <a:effectLst/>
        </p:spPr>
        <p:txBody>
          <a:bodyPr rtlCol="0" anchor="ctr"/>
          <a:lstStyle/>
          <a:p>
            <a:endParaRPr lang="de-DE"/>
          </a:p>
        </p:txBody>
      </p:sp>
      <p:sp>
        <p:nvSpPr>
          <p:cNvPr id="261" name="Quality Dim Lane Supplier Activation"/>
          <p:cNvSpPr/>
          <p:nvPr/>
        </p:nvSpPr>
        <p:spPr>
          <a:xfrm>
            <a:off x="1367028" y="5286816"/>
            <a:ext cx="1153858" cy="4572"/>
          </a:xfrm>
          <a:prstGeom prst="rect">
            <a:avLst/>
          </a:prstGeom>
          <a:solidFill>
            <a:srgbClr val="EDF0F3"/>
          </a:solidFill>
          <a:ln>
            <a:noFill/>
          </a:ln>
          <a:effectLst/>
        </p:spPr>
        <p:txBody>
          <a:bodyPr rtlCol="0" anchor="ctr"/>
          <a:lstStyle/>
          <a:p>
            <a:endParaRPr lang="de-DE"/>
          </a:p>
        </p:txBody>
      </p:sp>
      <p:sp>
        <p:nvSpPr>
          <p:cNvPr id="262" name="Quality Dim Supplier Activation Dot"/>
          <p:cNvSpPr/>
          <p:nvPr/>
        </p:nvSpPr>
        <p:spPr>
          <a:xfrm>
            <a:off x="1367028" y="5323362"/>
            <a:ext cx="100584" cy="100584"/>
          </a:xfrm>
          <a:prstGeom prst="ellipse">
            <a:avLst/>
          </a:prstGeom>
          <a:solidFill>
            <a:srgbClr val="F0B135"/>
          </a:solidFill>
          <a:ln>
            <a:noFill/>
          </a:ln>
          <a:effectLst/>
        </p:spPr>
        <p:txBody>
          <a:bodyPr rtlCol="0" anchor="ctr"/>
          <a:lstStyle/>
          <a:p>
            <a:endParaRPr lang="de-DE"/>
          </a:p>
        </p:txBody>
      </p:sp>
      <p:sp>
        <p:nvSpPr>
          <p:cNvPr id="263" name="Battery Passport Row Divider Dimensions"/>
          <p:cNvSpPr/>
          <p:nvPr/>
        </p:nvSpPr>
        <p:spPr>
          <a:xfrm>
            <a:off x="2699194" y="4345477"/>
            <a:ext cx="1153858" cy="6401"/>
          </a:xfrm>
          <a:prstGeom prst="rect">
            <a:avLst/>
          </a:prstGeom>
          <a:solidFill>
            <a:srgbClr val="E2E8EC"/>
          </a:solidFill>
          <a:ln>
            <a:noFill/>
          </a:ln>
          <a:effectLst/>
        </p:spPr>
        <p:txBody>
          <a:bodyPr rtlCol="0" anchor="ctr"/>
          <a:lstStyle/>
          <a:p>
            <a:endParaRPr lang="de-DE"/>
          </a:p>
        </p:txBody>
      </p:sp>
      <p:sp>
        <p:nvSpPr>
          <p:cNvPr id="264" name="Battery Passport Dim External · CX Association Dot"/>
          <p:cNvSpPr/>
          <p:nvPr/>
        </p:nvSpPr>
        <p:spPr>
          <a:xfrm>
            <a:off x="2699194" y="4628657"/>
            <a:ext cx="100584" cy="100584"/>
          </a:xfrm>
          <a:prstGeom prst="ellipse">
            <a:avLst/>
          </a:prstGeom>
          <a:solidFill>
            <a:srgbClr val="F0B135"/>
          </a:solidFill>
          <a:ln>
            <a:noFill/>
          </a:ln>
          <a:effectLst/>
        </p:spPr>
        <p:txBody>
          <a:bodyPr rtlCol="0" anchor="ctr"/>
          <a:lstStyle/>
          <a:p>
            <a:endParaRPr lang="de-DE"/>
          </a:p>
        </p:txBody>
      </p:sp>
      <p:sp>
        <p:nvSpPr>
          <p:cNvPr id="265" name="Battery Passport Dim Lane Business"/>
          <p:cNvSpPr/>
          <p:nvPr/>
        </p:nvSpPr>
        <p:spPr>
          <a:xfrm>
            <a:off x="2699194" y="4765787"/>
            <a:ext cx="1153858" cy="4572"/>
          </a:xfrm>
          <a:prstGeom prst="rect">
            <a:avLst/>
          </a:prstGeom>
          <a:solidFill>
            <a:srgbClr val="EDF0F3"/>
          </a:solidFill>
          <a:ln>
            <a:noFill/>
          </a:ln>
          <a:effectLst/>
        </p:spPr>
        <p:txBody>
          <a:bodyPr rtlCol="0" anchor="ctr"/>
          <a:lstStyle/>
          <a:p>
            <a:endParaRPr lang="de-DE"/>
          </a:p>
        </p:txBody>
      </p:sp>
      <p:sp>
        <p:nvSpPr>
          <p:cNvPr id="266" name="Battery Passport Dim Business Dot"/>
          <p:cNvSpPr/>
          <p:nvPr/>
        </p:nvSpPr>
        <p:spPr>
          <a:xfrm>
            <a:off x="2699194" y="4802333"/>
            <a:ext cx="100584" cy="100584"/>
          </a:xfrm>
          <a:prstGeom prst="ellipse">
            <a:avLst/>
          </a:prstGeom>
          <a:solidFill>
            <a:srgbClr val="F0B135"/>
          </a:solidFill>
          <a:ln>
            <a:noFill/>
          </a:ln>
          <a:effectLst/>
        </p:spPr>
        <p:txBody>
          <a:bodyPr rtlCol="0" anchor="ctr"/>
          <a:lstStyle/>
          <a:p>
            <a:endParaRPr lang="de-DE"/>
          </a:p>
        </p:txBody>
      </p:sp>
      <p:sp>
        <p:nvSpPr>
          <p:cNvPr id="267" name="Battery Passport Dim Lane Data Provisioning"/>
          <p:cNvSpPr/>
          <p:nvPr/>
        </p:nvSpPr>
        <p:spPr>
          <a:xfrm>
            <a:off x="2699194" y="4939463"/>
            <a:ext cx="1153858" cy="4572"/>
          </a:xfrm>
          <a:prstGeom prst="rect">
            <a:avLst/>
          </a:prstGeom>
          <a:solidFill>
            <a:srgbClr val="EDF0F3"/>
          </a:solidFill>
          <a:ln>
            <a:noFill/>
          </a:ln>
          <a:effectLst/>
        </p:spPr>
        <p:txBody>
          <a:bodyPr rtlCol="0" anchor="ctr"/>
          <a:lstStyle/>
          <a:p>
            <a:endParaRPr lang="de-DE"/>
          </a:p>
        </p:txBody>
      </p:sp>
      <p:sp>
        <p:nvSpPr>
          <p:cNvPr id="268" name="Battery Passport Dim Data Provisioning Dot"/>
          <p:cNvSpPr/>
          <p:nvPr/>
        </p:nvSpPr>
        <p:spPr>
          <a:xfrm>
            <a:off x="2699194" y="4976009"/>
            <a:ext cx="100584" cy="100584"/>
          </a:xfrm>
          <a:prstGeom prst="ellipse">
            <a:avLst/>
          </a:prstGeom>
          <a:solidFill>
            <a:srgbClr val="53BE70"/>
          </a:solidFill>
          <a:ln>
            <a:noFill/>
          </a:ln>
          <a:effectLst/>
        </p:spPr>
        <p:txBody>
          <a:bodyPr rtlCol="0" anchor="ctr"/>
          <a:lstStyle/>
          <a:p>
            <a:endParaRPr lang="de-DE"/>
          </a:p>
        </p:txBody>
      </p:sp>
      <p:sp>
        <p:nvSpPr>
          <p:cNvPr id="269" name="Battery Passport Dim Lane Technical"/>
          <p:cNvSpPr/>
          <p:nvPr/>
        </p:nvSpPr>
        <p:spPr>
          <a:xfrm>
            <a:off x="2699194" y="5113140"/>
            <a:ext cx="1153858" cy="4572"/>
          </a:xfrm>
          <a:prstGeom prst="rect">
            <a:avLst/>
          </a:prstGeom>
          <a:solidFill>
            <a:srgbClr val="EDF0F3"/>
          </a:solidFill>
          <a:ln>
            <a:noFill/>
          </a:ln>
          <a:effectLst/>
        </p:spPr>
        <p:txBody>
          <a:bodyPr rtlCol="0" anchor="ctr"/>
          <a:lstStyle/>
          <a:p>
            <a:endParaRPr lang="de-DE"/>
          </a:p>
        </p:txBody>
      </p:sp>
      <p:sp>
        <p:nvSpPr>
          <p:cNvPr id="270" name="Battery Passport Dim Technical Dot"/>
          <p:cNvSpPr/>
          <p:nvPr/>
        </p:nvSpPr>
        <p:spPr>
          <a:xfrm>
            <a:off x="2699194" y="5149686"/>
            <a:ext cx="100584" cy="100584"/>
          </a:xfrm>
          <a:prstGeom prst="ellipse">
            <a:avLst/>
          </a:prstGeom>
          <a:solidFill>
            <a:srgbClr val="53BE70"/>
          </a:solidFill>
          <a:ln>
            <a:noFill/>
          </a:ln>
          <a:effectLst/>
        </p:spPr>
        <p:txBody>
          <a:bodyPr rtlCol="0" anchor="ctr"/>
          <a:lstStyle/>
          <a:p>
            <a:endParaRPr lang="de-DE"/>
          </a:p>
        </p:txBody>
      </p:sp>
      <p:sp>
        <p:nvSpPr>
          <p:cNvPr id="271" name="Battery Passport Dim Lane Supplier Activation"/>
          <p:cNvSpPr/>
          <p:nvPr/>
        </p:nvSpPr>
        <p:spPr>
          <a:xfrm>
            <a:off x="2699194" y="5286816"/>
            <a:ext cx="1153858" cy="4572"/>
          </a:xfrm>
          <a:prstGeom prst="rect">
            <a:avLst/>
          </a:prstGeom>
          <a:solidFill>
            <a:srgbClr val="EDF0F3"/>
          </a:solidFill>
          <a:ln>
            <a:noFill/>
          </a:ln>
          <a:effectLst/>
        </p:spPr>
        <p:txBody>
          <a:bodyPr rtlCol="0" anchor="ctr"/>
          <a:lstStyle/>
          <a:p>
            <a:endParaRPr lang="de-DE"/>
          </a:p>
        </p:txBody>
      </p:sp>
      <p:sp>
        <p:nvSpPr>
          <p:cNvPr id="272" name="Battery Passport Dim Supplier Activation Dot"/>
          <p:cNvSpPr/>
          <p:nvPr/>
        </p:nvSpPr>
        <p:spPr>
          <a:xfrm>
            <a:off x="2699194" y="5323362"/>
            <a:ext cx="100584" cy="100584"/>
          </a:xfrm>
          <a:prstGeom prst="ellipse">
            <a:avLst/>
          </a:prstGeom>
          <a:solidFill>
            <a:srgbClr val="53BE70"/>
          </a:solidFill>
          <a:ln>
            <a:noFill/>
          </a:ln>
          <a:effectLst/>
        </p:spPr>
        <p:txBody>
          <a:bodyPr rtlCol="0" anchor="ctr"/>
          <a:lstStyle/>
          <a:p>
            <a:endParaRPr lang="de-DE"/>
          </a:p>
        </p:txBody>
      </p:sp>
      <p:sp>
        <p:nvSpPr>
          <p:cNvPr id="273" name="Product Passes Row Divider Dimensions"/>
          <p:cNvSpPr/>
          <p:nvPr/>
        </p:nvSpPr>
        <p:spPr>
          <a:xfrm>
            <a:off x="4031361" y="4345477"/>
            <a:ext cx="1153858" cy="6401"/>
          </a:xfrm>
          <a:prstGeom prst="rect">
            <a:avLst/>
          </a:prstGeom>
          <a:solidFill>
            <a:srgbClr val="E2E8EC"/>
          </a:solidFill>
          <a:ln>
            <a:noFill/>
          </a:ln>
          <a:effectLst/>
        </p:spPr>
        <p:txBody>
          <a:bodyPr rtlCol="0" anchor="ctr"/>
          <a:lstStyle/>
          <a:p>
            <a:endParaRPr lang="de-DE"/>
          </a:p>
        </p:txBody>
      </p:sp>
      <p:sp>
        <p:nvSpPr>
          <p:cNvPr id="274" name="Product Passes Dim External · CX Association Dot"/>
          <p:cNvSpPr/>
          <p:nvPr/>
        </p:nvSpPr>
        <p:spPr>
          <a:xfrm>
            <a:off x="4031361" y="4628657"/>
            <a:ext cx="100584" cy="100584"/>
          </a:xfrm>
          <a:prstGeom prst="ellipse">
            <a:avLst/>
          </a:prstGeom>
          <a:solidFill>
            <a:srgbClr val="F0B135"/>
          </a:solidFill>
          <a:ln>
            <a:noFill/>
          </a:ln>
          <a:effectLst/>
        </p:spPr>
        <p:txBody>
          <a:bodyPr rtlCol="0" anchor="ctr"/>
          <a:lstStyle/>
          <a:p>
            <a:endParaRPr lang="de-DE"/>
          </a:p>
        </p:txBody>
      </p:sp>
      <p:sp>
        <p:nvSpPr>
          <p:cNvPr id="275" name="Product Passes Dim Lane Business"/>
          <p:cNvSpPr/>
          <p:nvPr/>
        </p:nvSpPr>
        <p:spPr>
          <a:xfrm>
            <a:off x="4031361" y="4765787"/>
            <a:ext cx="1153858" cy="4572"/>
          </a:xfrm>
          <a:prstGeom prst="rect">
            <a:avLst/>
          </a:prstGeom>
          <a:solidFill>
            <a:srgbClr val="EDF0F3"/>
          </a:solidFill>
          <a:ln>
            <a:noFill/>
          </a:ln>
          <a:effectLst/>
        </p:spPr>
        <p:txBody>
          <a:bodyPr rtlCol="0" anchor="ctr"/>
          <a:lstStyle/>
          <a:p>
            <a:endParaRPr lang="de-DE"/>
          </a:p>
        </p:txBody>
      </p:sp>
      <p:sp>
        <p:nvSpPr>
          <p:cNvPr id="276" name="Product Passes Dim Business Dot"/>
          <p:cNvSpPr/>
          <p:nvPr/>
        </p:nvSpPr>
        <p:spPr>
          <a:xfrm>
            <a:off x="4031361" y="4802333"/>
            <a:ext cx="100584" cy="100584"/>
          </a:xfrm>
          <a:prstGeom prst="ellipse">
            <a:avLst/>
          </a:prstGeom>
          <a:solidFill>
            <a:srgbClr val="F0B135"/>
          </a:solidFill>
          <a:ln>
            <a:noFill/>
          </a:ln>
          <a:effectLst/>
        </p:spPr>
        <p:txBody>
          <a:bodyPr rtlCol="0" anchor="ctr"/>
          <a:lstStyle/>
          <a:p>
            <a:endParaRPr lang="de-DE"/>
          </a:p>
        </p:txBody>
      </p:sp>
      <p:sp>
        <p:nvSpPr>
          <p:cNvPr id="277" name="Product Passes Dim Lane Data Provisioning"/>
          <p:cNvSpPr/>
          <p:nvPr/>
        </p:nvSpPr>
        <p:spPr>
          <a:xfrm>
            <a:off x="4031361" y="4939463"/>
            <a:ext cx="1153858" cy="4572"/>
          </a:xfrm>
          <a:prstGeom prst="rect">
            <a:avLst/>
          </a:prstGeom>
          <a:solidFill>
            <a:srgbClr val="EDF0F3"/>
          </a:solidFill>
          <a:ln>
            <a:noFill/>
          </a:ln>
          <a:effectLst/>
        </p:spPr>
        <p:txBody>
          <a:bodyPr rtlCol="0" anchor="ctr"/>
          <a:lstStyle/>
          <a:p>
            <a:endParaRPr lang="de-DE"/>
          </a:p>
        </p:txBody>
      </p:sp>
      <p:sp>
        <p:nvSpPr>
          <p:cNvPr id="278" name="Product Passes Dim Data Provisioning Dot"/>
          <p:cNvSpPr/>
          <p:nvPr/>
        </p:nvSpPr>
        <p:spPr>
          <a:xfrm>
            <a:off x="4031361" y="4976009"/>
            <a:ext cx="100584" cy="100584"/>
          </a:xfrm>
          <a:prstGeom prst="ellipse">
            <a:avLst/>
          </a:prstGeom>
          <a:solidFill>
            <a:srgbClr val="53BE70"/>
          </a:solidFill>
          <a:ln>
            <a:noFill/>
          </a:ln>
          <a:effectLst/>
        </p:spPr>
        <p:txBody>
          <a:bodyPr rtlCol="0" anchor="ctr"/>
          <a:lstStyle/>
          <a:p>
            <a:endParaRPr lang="de-DE"/>
          </a:p>
        </p:txBody>
      </p:sp>
      <p:sp>
        <p:nvSpPr>
          <p:cNvPr id="279" name="Product Passes Dim Lane Technical"/>
          <p:cNvSpPr/>
          <p:nvPr/>
        </p:nvSpPr>
        <p:spPr>
          <a:xfrm>
            <a:off x="4031361" y="5113140"/>
            <a:ext cx="1153858" cy="4572"/>
          </a:xfrm>
          <a:prstGeom prst="rect">
            <a:avLst/>
          </a:prstGeom>
          <a:solidFill>
            <a:srgbClr val="EDF0F3"/>
          </a:solidFill>
          <a:ln>
            <a:noFill/>
          </a:ln>
          <a:effectLst/>
        </p:spPr>
        <p:txBody>
          <a:bodyPr rtlCol="0" anchor="ctr"/>
          <a:lstStyle/>
          <a:p>
            <a:endParaRPr lang="de-DE"/>
          </a:p>
        </p:txBody>
      </p:sp>
      <p:sp>
        <p:nvSpPr>
          <p:cNvPr id="280" name="Product Passes Dim Technical Dot"/>
          <p:cNvSpPr/>
          <p:nvPr/>
        </p:nvSpPr>
        <p:spPr>
          <a:xfrm>
            <a:off x="4031361" y="5149686"/>
            <a:ext cx="100584" cy="100584"/>
          </a:xfrm>
          <a:prstGeom prst="ellipse">
            <a:avLst/>
          </a:prstGeom>
          <a:solidFill>
            <a:srgbClr val="53BE70"/>
          </a:solidFill>
          <a:ln>
            <a:noFill/>
          </a:ln>
          <a:effectLst/>
        </p:spPr>
        <p:txBody>
          <a:bodyPr rtlCol="0" anchor="ctr"/>
          <a:lstStyle/>
          <a:p>
            <a:endParaRPr lang="de-DE"/>
          </a:p>
        </p:txBody>
      </p:sp>
      <p:sp>
        <p:nvSpPr>
          <p:cNvPr id="281" name="Product Passes Dim Lane Supplier Activation"/>
          <p:cNvSpPr/>
          <p:nvPr/>
        </p:nvSpPr>
        <p:spPr>
          <a:xfrm>
            <a:off x="4031361" y="5286816"/>
            <a:ext cx="1153858" cy="4572"/>
          </a:xfrm>
          <a:prstGeom prst="rect">
            <a:avLst/>
          </a:prstGeom>
          <a:solidFill>
            <a:srgbClr val="EDF0F3"/>
          </a:solidFill>
          <a:ln>
            <a:noFill/>
          </a:ln>
          <a:effectLst/>
        </p:spPr>
        <p:txBody>
          <a:bodyPr rtlCol="0" anchor="ctr"/>
          <a:lstStyle/>
          <a:p>
            <a:endParaRPr lang="de-DE"/>
          </a:p>
        </p:txBody>
      </p:sp>
      <p:sp>
        <p:nvSpPr>
          <p:cNvPr id="282" name="Product Passes Dim Supplier Activation Dot"/>
          <p:cNvSpPr/>
          <p:nvPr/>
        </p:nvSpPr>
        <p:spPr>
          <a:xfrm>
            <a:off x="4031361" y="5323362"/>
            <a:ext cx="100584" cy="100584"/>
          </a:xfrm>
          <a:prstGeom prst="ellipse">
            <a:avLst/>
          </a:prstGeom>
          <a:solidFill>
            <a:srgbClr val="53BE70"/>
          </a:solidFill>
          <a:ln>
            <a:noFill/>
          </a:ln>
          <a:effectLst/>
        </p:spPr>
        <p:txBody>
          <a:bodyPr rtlCol="0" anchor="ctr"/>
          <a:lstStyle/>
          <a:p>
            <a:endParaRPr lang="de-DE"/>
          </a:p>
        </p:txBody>
      </p:sp>
      <p:sp>
        <p:nvSpPr>
          <p:cNvPr id="283" name="PURIS Row Divider Dimensions"/>
          <p:cNvSpPr/>
          <p:nvPr/>
        </p:nvSpPr>
        <p:spPr>
          <a:xfrm>
            <a:off x="5363528" y="4345477"/>
            <a:ext cx="1153858" cy="6401"/>
          </a:xfrm>
          <a:prstGeom prst="rect">
            <a:avLst/>
          </a:prstGeom>
          <a:solidFill>
            <a:srgbClr val="E2E8EC"/>
          </a:solidFill>
          <a:ln>
            <a:noFill/>
          </a:ln>
          <a:effectLst/>
        </p:spPr>
        <p:txBody>
          <a:bodyPr rtlCol="0" anchor="ctr"/>
          <a:lstStyle/>
          <a:p>
            <a:endParaRPr lang="de-DE"/>
          </a:p>
        </p:txBody>
      </p:sp>
      <p:sp>
        <p:nvSpPr>
          <p:cNvPr id="284" name="PURIS Dim External · CX Association Dot"/>
          <p:cNvSpPr/>
          <p:nvPr/>
        </p:nvSpPr>
        <p:spPr>
          <a:xfrm>
            <a:off x="5363528" y="4628657"/>
            <a:ext cx="100584" cy="100584"/>
          </a:xfrm>
          <a:prstGeom prst="ellipse">
            <a:avLst/>
          </a:prstGeom>
          <a:solidFill>
            <a:srgbClr val="53BE70"/>
          </a:solidFill>
          <a:ln>
            <a:noFill/>
          </a:ln>
          <a:effectLst/>
        </p:spPr>
        <p:txBody>
          <a:bodyPr rtlCol="0" anchor="ctr"/>
          <a:lstStyle/>
          <a:p>
            <a:endParaRPr lang="de-DE"/>
          </a:p>
        </p:txBody>
      </p:sp>
      <p:sp>
        <p:nvSpPr>
          <p:cNvPr id="285" name="PURIS Dim Lane Business"/>
          <p:cNvSpPr/>
          <p:nvPr/>
        </p:nvSpPr>
        <p:spPr>
          <a:xfrm>
            <a:off x="5363528" y="4765787"/>
            <a:ext cx="1153858" cy="4572"/>
          </a:xfrm>
          <a:prstGeom prst="rect">
            <a:avLst/>
          </a:prstGeom>
          <a:solidFill>
            <a:srgbClr val="EDF0F3"/>
          </a:solidFill>
          <a:ln>
            <a:noFill/>
          </a:ln>
          <a:effectLst/>
        </p:spPr>
        <p:txBody>
          <a:bodyPr rtlCol="0" anchor="ctr"/>
          <a:lstStyle/>
          <a:p>
            <a:endParaRPr lang="de-DE"/>
          </a:p>
        </p:txBody>
      </p:sp>
      <p:sp>
        <p:nvSpPr>
          <p:cNvPr id="286" name="PURIS Dim Business Dot"/>
          <p:cNvSpPr/>
          <p:nvPr/>
        </p:nvSpPr>
        <p:spPr>
          <a:xfrm>
            <a:off x="5363528" y="4802333"/>
            <a:ext cx="100584" cy="100584"/>
          </a:xfrm>
          <a:prstGeom prst="ellipse">
            <a:avLst/>
          </a:prstGeom>
          <a:solidFill>
            <a:srgbClr val="F0B135"/>
          </a:solidFill>
          <a:ln>
            <a:noFill/>
          </a:ln>
          <a:effectLst/>
        </p:spPr>
        <p:txBody>
          <a:bodyPr rtlCol="0" anchor="ctr"/>
          <a:lstStyle/>
          <a:p>
            <a:endParaRPr lang="de-DE"/>
          </a:p>
        </p:txBody>
      </p:sp>
      <p:sp>
        <p:nvSpPr>
          <p:cNvPr id="287" name="PURIS Dim Lane Data Provisioning"/>
          <p:cNvSpPr/>
          <p:nvPr/>
        </p:nvSpPr>
        <p:spPr>
          <a:xfrm>
            <a:off x="5363528" y="4939463"/>
            <a:ext cx="1153858" cy="4572"/>
          </a:xfrm>
          <a:prstGeom prst="rect">
            <a:avLst/>
          </a:prstGeom>
          <a:solidFill>
            <a:srgbClr val="EDF0F3"/>
          </a:solidFill>
          <a:ln>
            <a:noFill/>
          </a:ln>
          <a:effectLst/>
        </p:spPr>
        <p:txBody>
          <a:bodyPr rtlCol="0" anchor="ctr"/>
          <a:lstStyle/>
          <a:p>
            <a:endParaRPr lang="de-DE"/>
          </a:p>
        </p:txBody>
      </p:sp>
      <p:sp>
        <p:nvSpPr>
          <p:cNvPr id="288" name="PURIS Dim Data Provisioning Dot"/>
          <p:cNvSpPr/>
          <p:nvPr/>
        </p:nvSpPr>
        <p:spPr>
          <a:xfrm>
            <a:off x="5363528" y="4976009"/>
            <a:ext cx="100584" cy="100584"/>
          </a:xfrm>
          <a:prstGeom prst="ellipse">
            <a:avLst/>
          </a:prstGeom>
          <a:solidFill>
            <a:srgbClr val="F0B135"/>
          </a:solidFill>
          <a:ln>
            <a:noFill/>
          </a:ln>
          <a:effectLst/>
        </p:spPr>
        <p:txBody>
          <a:bodyPr rtlCol="0" anchor="ctr"/>
          <a:lstStyle/>
          <a:p>
            <a:endParaRPr lang="de-DE"/>
          </a:p>
        </p:txBody>
      </p:sp>
      <p:sp>
        <p:nvSpPr>
          <p:cNvPr id="289" name="PURIS Dim Lane Technical"/>
          <p:cNvSpPr/>
          <p:nvPr/>
        </p:nvSpPr>
        <p:spPr>
          <a:xfrm>
            <a:off x="5363528" y="5113140"/>
            <a:ext cx="1153858" cy="4572"/>
          </a:xfrm>
          <a:prstGeom prst="rect">
            <a:avLst/>
          </a:prstGeom>
          <a:solidFill>
            <a:srgbClr val="EDF0F3"/>
          </a:solidFill>
          <a:ln>
            <a:noFill/>
          </a:ln>
          <a:effectLst/>
        </p:spPr>
        <p:txBody>
          <a:bodyPr rtlCol="0" anchor="ctr"/>
          <a:lstStyle/>
          <a:p>
            <a:endParaRPr lang="de-DE"/>
          </a:p>
        </p:txBody>
      </p:sp>
      <p:sp>
        <p:nvSpPr>
          <p:cNvPr id="290" name="PURIS Dim Technical Dot"/>
          <p:cNvSpPr/>
          <p:nvPr/>
        </p:nvSpPr>
        <p:spPr>
          <a:xfrm>
            <a:off x="5363528" y="5149686"/>
            <a:ext cx="100584" cy="100584"/>
          </a:xfrm>
          <a:prstGeom prst="ellipse">
            <a:avLst/>
          </a:prstGeom>
          <a:solidFill>
            <a:srgbClr val="F0B135"/>
          </a:solidFill>
          <a:ln>
            <a:noFill/>
          </a:ln>
          <a:effectLst/>
        </p:spPr>
        <p:txBody>
          <a:bodyPr rtlCol="0" anchor="ctr"/>
          <a:lstStyle/>
          <a:p>
            <a:endParaRPr lang="de-DE"/>
          </a:p>
        </p:txBody>
      </p:sp>
      <p:sp>
        <p:nvSpPr>
          <p:cNvPr id="291" name="PURIS Dim Lane Supplier Activation"/>
          <p:cNvSpPr/>
          <p:nvPr/>
        </p:nvSpPr>
        <p:spPr>
          <a:xfrm>
            <a:off x="5363528" y="5286816"/>
            <a:ext cx="1153858" cy="4572"/>
          </a:xfrm>
          <a:prstGeom prst="rect">
            <a:avLst/>
          </a:prstGeom>
          <a:solidFill>
            <a:srgbClr val="EDF0F3"/>
          </a:solidFill>
          <a:ln>
            <a:noFill/>
          </a:ln>
          <a:effectLst/>
        </p:spPr>
        <p:txBody>
          <a:bodyPr rtlCol="0" anchor="ctr"/>
          <a:lstStyle/>
          <a:p>
            <a:endParaRPr lang="de-DE"/>
          </a:p>
        </p:txBody>
      </p:sp>
      <p:sp>
        <p:nvSpPr>
          <p:cNvPr id="292" name="PURIS Dim Supplier Activation Dot"/>
          <p:cNvSpPr/>
          <p:nvPr/>
        </p:nvSpPr>
        <p:spPr>
          <a:xfrm>
            <a:off x="5363528" y="5323362"/>
            <a:ext cx="100584" cy="100584"/>
          </a:xfrm>
          <a:prstGeom prst="ellipse">
            <a:avLst/>
          </a:prstGeom>
          <a:solidFill>
            <a:srgbClr val="F0B135"/>
          </a:solidFill>
          <a:ln>
            <a:noFill/>
          </a:ln>
          <a:effectLst/>
        </p:spPr>
        <p:txBody>
          <a:bodyPr rtlCol="0" anchor="ctr"/>
          <a:lstStyle/>
          <a:p>
            <a:endParaRPr lang="de-DE"/>
          </a:p>
        </p:txBody>
      </p:sp>
      <p:sp>
        <p:nvSpPr>
          <p:cNvPr id="293" name="Business Partner Data Mgmt Row Divider Dimensions"/>
          <p:cNvSpPr/>
          <p:nvPr/>
        </p:nvSpPr>
        <p:spPr>
          <a:xfrm>
            <a:off x="6695694" y="4345477"/>
            <a:ext cx="1153858" cy="6401"/>
          </a:xfrm>
          <a:prstGeom prst="rect">
            <a:avLst/>
          </a:prstGeom>
          <a:solidFill>
            <a:srgbClr val="E2E8EC"/>
          </a:solidFill>
          <a:ln>
            <a:noFill/>
          </a:ln>
          <a:effectLst/>
        </p:spPr>
        <p:txBody>
          <a:bodyPr rtlCol="0" anchor="ctr"/>
          <a:lstStyle/>
          <a:p>
            <a:endParaRPr lang="de-DE"/>
          </a:p>
        </p:txBody>
      </p:sp>
      <p:sp>
        <p:nvSpPr>
          <p:cNvPr id="294" name="Business Partner Data Mgmt Dim External · CX Association Dot"/>
          <p:cNvSpPr/>
          <p:nvPr/>
        </p:nvSpPr>
        <p:spPr>
          <a:xfrm>
            <a:off x="6695694" y="4628657"/>
            <a:ext cx="100584" cy="100584"/>
          </a:xfrm>
          <a:prstGeom prst="ellipse">
            <a:avLst/>
          </a:prstGeom>
          <a:solidFill>
            <a:srgbClr val="53BE70"/>
          </a:solidFill>
          <a:ln>
            <a:noFill/>
          </a:ln>
          <a:effectLst/>
        </p:spPr>
        <p:txBody>
          <a:bodyPr rtlCol="0" anchor="ctr"/>
          <a:lstStyle/>
          <a:p>
            <a:endParaRPr lang="de-DE"/>
          </a:p>
        </p:txBody>
      </p:sp>
      <p:sp>
        <p:nvSpPr>
          <p:cNvPr id="295" name="Business Partner Data Mgmt Dim Lane Business"/>
          <p:cNvSpPr/>
          <p:nvPr/>
        </p:nvSpPr>
        <p:spPr>
          <a:xfrm>
            <a:off x="6695694" y="4765787"/>
            <a:ext cx="1153858" cy="4572"/>
          </a:xfrm>
          <a:prstGeom prst="rect">
            <a:avLst/>
          </a:prstGeom>
          <a:solidFill>
            <a:srgbClr val="EDF0F3"/>
          </a:solidFill>
          <a:ln>
            <a:noFill/>
          </a:ln>
          <a:effectLst/>
        </p:spPr>
        <p:txBody>
          <a:bodyPr rtlCol="0" anchor="ctr"/>
          <a:lstStyle/>
          <a:p>
            <a:endParaRPr lang="de-DE"/>
          </a:p>
        </p:txBody>
      </p:sp>
      <p:sp>
        <p:nvSpPr>
          <p:cNvPr id="296" name="Business Partner Data Mgmt Dim Business Dot"/>
          <p:cNvSpPr/>
          <p:nvPr/>
        </p:nvSpPr>
        <p:spPr>
          <a:xfrm>
            <a:off x="6695694" y="4802333"/>
            <a:ext cx="100584" cy="100584"/>
          </a:xfrm>
          <a:prstGeom prst="ellipse">
            <a:avLst/>
          </a:prstGeom>
          <a:solidFill>
            <a:srgbClr val="F0B135"/>
          </a:solidFill>
          <a:ln>
            <a:noFill/>
          </a:ln>
          <a:effectLst/>
        </p:spPr>
        <p:txBody>
          <a:bodyPr rtlCol="0" anchor="ctr"/>
          <a:lstStyle/>
          <a:p>
            <a:endParaRPr lang="de-DE"/>
          </a:p>
        </p:txBody>
      </p:sp>
      <p:sp>
        <p:nvSpPr>
          <p:cNvPr id="297" name="Business Partner Data Mgmt Dim Lane Data Provisioning"/>
          <p:cNvSpPr/>
          <p:nvPr/>
        </p:nvSpPr>
        <p:spPr>
          <a:xfrm>
            <a:off x="6695694" y="4939463"/>
            <a:ext cx="1153858" cy="4572"/>
          </a:xfrm>
          <a:prstGeom prst="rect">
            <a:avLst/>
          </a:prstGeom>
          <a:solidFill>
            <a:srgbClr val="EDF0F3"/>
          </a:solidFill>
          <a:ln>
            <a:noFill/>
          </a:ln>
          <a:effectLst/>
        </p:spPr>
        <p:txBody>
          <a:bodyPr rtlCol="0" anchor="ctr"/>
          <a:lstStyle/>
          <a:p>
            <a:endParaRPr lang="de-DE"/>
          </a:p>
        </p:txBody>
      </p:sp>
      <p:sp>
        <p:nvSpPr>
          <p:cNvPr id="298" name="Business Partner Data Mgmt Dim Data Provisioning Dot"/>
          <p:cNvSpPr/>
          <p:nvPr/>
        </p:nvSpPr>
        <p:spPr>
          <a:xfrm>
            <a:off x="6695694" y="4976009"/>
            <a:ext cx="100584" cy="100584"/>
          </a:xfrm>
          <a:prstGeom prst="ellipse">
            <a:avLst/>
          </a:prstGeom>
          <a:solidFill>
            <a:srgbClr val="53BE70"/>
          </a:solidFill>
          <a:ln>
            <a:noFill/>
          </a:ln>
          <a:effectLst/>
        </p:spPr>
        <p:txBody>
          <a:bodyPr rtlCol="0" anchor="ctr"/>
          <a:lstStyle/>
          <a:p>
            <a:endParaRPr lang="de-DE"/>
          </a:p>
        </p:txBody>
      </p:sp>
      <p:sp>
        <p:nvSpPr>
          <p:cNvPr id="299" name="Business Partner Data Mgmt Dim Lane Technical"/>
          <p:cNvSpPr/>
          <p:nvPr/>
        </p:nvSpPr>
        <p:spPr>
          <a:xfrm>
            <a:off x="6695694" y="5113140"/>
            <a:ext cx="1153858" cy="4572"/>
          </a:xfrm>
          <a:prstGeom prst="rect">
            <a:avLst/>
          </a:prstGeom>
          <a:solidFill>
            <a:srgbClr val="EDF0F3"/>
          </a:solidFill>
          <a:ln>
            <a:noFill/>
          </a:ln>
          <a:effectLst/>
        </p:spPr>
        <p:txBody>
          <a:bodyPr rtlCol="0" anchor="ctr"/>
          <a:lstStyle/>
          <a:p>
            <a:endParaRPr lang="de-DE"/>
          </a:p>
        </p:txBody>
      </p:sp>
      <p:sp>
        <p:nvSpPr>
          <p:cNvPr id="300" name="Business Partner Data Mgmt Dim Technical Dot"/>
          <p:cNvSpPr/>
          <p:nvPr/>
        </p:nvSpPr>
        <p:spPr>
          <a:xfrm>
            <a:off x="6695694" y="5149686"/>
            <a:ext cx="100584" cy="100584"/>
          </a:xfrm>
          <a:prstGeom prst="ellipse">
            <a:avLst/>
          </a:prstGeom>
          <a:solidFill>
            <a:srgbClr val="F0B135"/>
          </a:solidFill>
          <a:ln>
            <a:noFill/>
          </a:ln>
          <a:effectLst/>
        </p:spPr>
        <p:txBody>
          <a:bodyPr rtlCol="0" anchor="ctr"/>
          <a:lstStyle/>
          <a:p>
            <a:endParaRPr lang="de-DE"/>
          </a:p>
        </p:txBody>
      </p:sp>
      <p:sp>
        <p:nvSpPr>
          <p:cNvPr id="301" name="Business Partner Data Mgmt Dim Lane Supplier Activation"/>
          <p:cNvSpPr/>
          <p:nvPr/>
        </p:nvSpPr>
        <p:spPr>
          <a:xfrm>
            <a:off x="6695694" y="5286816"/>
            <a:ext cx="1153858" cy="4572"/>
          </a:xfrm>
          <a:prstGeom prst="rect">
            <a:avLst/>
          </a:prstGeom>
          <a:solidFill>
            <a:srgbClr val="EDF0F3"/>
          </a:solidFill>
          <a:ln>
            <a:noFill/>
          </a:ln>
          <a:effectLst/>
        </p:spPr>
        <p:txBody>
          <a:bodyPr rtlCol="0" anchor="ctr"/>
          <a:lstStyle/>
          <a:p>
            <a:endParaRPr lang="de-DE"/>
          </a:p>
        </p:txBody>
      </p:sp>
      <p:sp>
        <p:nvSpPr>
          <p:cNvPr id="302" name="Business Partner Data Mgmt Dim Supplier Activation Ring"/>
          <p:cNvSpPr/>
          <p:nvPr/>
        </p:nvSpPr>
        <p:spPr>
          <a:xfrm>
            <a:off x="6695694" y="532336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303" name="Certificate Management Row Divider Dimensions"/>
          <p:cNvSpPr/>
          <p:nvPr/>
        </p:nvSpPr>
        <p:spPr>
          <a:xfrm>
            <a:off x="8027860" y="4345477"/>
            <a:ext cx="1153858" cy="6401"/>
          </a:xfrm>
          <a:prstGeom prst="rect">
            <a:avLst/>
          </a:prstGeom>
          <a:solidFill>
            <a:srgbClr val="E2E8EC"/>
          </a:solidFill>
          <a:ln>
            <a:noFill/>
          </a:ln>
          <a:effectLst/>
        </p:spPr>
        <p:txBody>
          <a:bodyPr rtlCol="0" anchor="ctr"/>
          <a:lstStyle/>
          <a:p>
            <a:endParaRPr lang="de-DE"/>
          </a:p>
        </p:txBody>
      </p:sp>
      <p:sp>
        <p:nvSpPr>
          <p:cNvPr id="304" name="Certificate Management Dim External · CX Association Dot"/>
          <p:cNvSpPr/>
          <p:nvPr/>
        </p:nvSpPr>
        <p:spPr>
          <a:xfrm>
            <a:off x="8027860" y="4628657"/>
            <a:ext cx="100584" cy="100584"/>
          </a:xfrm>
          <a:prstGeom prst="ellipse">
            <a:avLst/>
          </a:prstGeom>
          <a:solidFill>
            <a:srgbClr val="53BE70"/>
          </a:solidFill>
          <a:ln>
            <a:noFill/>
          </a:ln>
          <a:effectLst/>
        </p:spPr>
        <p:txBody>
          <a:bodyPr rtlCol="0" anchor="ctr"/>
          <a:lstStyle/>
          <a:p>
            <a:endParaRPr lang="de-DE"/>
          </a:p>
        </p:txBody>
      </p:sp>
      <p:sp>
        <p:nvSpPr>
          <p:cNvPr id="305" name="Certificate Management Dim Lane Business"/>
          <p:cNvSpPr/>
          <p:nvPr/>
        </p:nvSpPr>
        <p:spPr>
          <a:xfrm>
            <a:off x="8027860" y="4765787"/>
            <a:ext cx="1153858" cy="4572"/>
          </a:xfrm>
          <a:prstGeom prst="rect">
            <a:avLst/>
          </a:prstGeom>
          <a:solidFill>
            <a:srgbClr val="EDF0F3"/>
          </a:solidFill>
          <a:ln>
            <a:noFill/>
          </a:ln>
          <a:effectLst/>
        </p:spPr>
        <p:txBody>
          <a:bodyPr rtlCol="0" anchor="ctr"/>
          <a:lstStyle/>
          <a:p>
            <a:endParaRPr lang="de-DE"/>
          </a:p>
        </p:txBody>
      </p:sp>
      <p:sp>
        <p:nvSpPr>
          <p:cNvPr id="306" name="Certificate Management Dim Business Dot"/>
          <p:cNvSpPr/>
          <p:nvPr/>
        </p:nvSpPr>
        <p:spPr>
          <a:xfrm>
            <a:off x="8027860" y="4802333"/>
            <a:ext cx="100584" cy="100584"/>
          </a:xfrm>
          <a:prstGeom prst="ellipse">
            <a:avLst/>
          </a:prstGeom>
          <a:solidFill>
            <a:srgbClr val="53BE70"/>
          </a:solidFill>
          <a:ln>
            <a:noFill/>
          </a:ln>
          <a:effectLst/>
        </p:spPr>
        <p:txBody>
          <a:bodyPr rtlCol="0" anchor="ctr"/>
          <a:lstStyle/>
          <a:p>
            <a:endParaRPr lang="de-DE"/>
          </a:p>
        </p:txBody>
      </p:sp>
      <p:sp>
        <p:nvSpPr>
          <p:cNvPr id="307" name="Certificate Management Dim Lane Data Provisioning"/>
          <p:cNvSpPr/>
          <p:nvPr/>
        </p:nvSpPr>
        <p:spPr>
          <a:xfrm>
            <a:off x="8027860" y="4939463"/>
            <a:ext cx="1153858" cy="4572"/>
          </a:xfrm>
          <a:prstGeom prst="rect">
            <a:avLst/>
          </a:prstGeom>
          <a:solidFill>
            <a:srgbClr val="EDF0F3"/>
          </a:solidFill>
          <a:ln>
            <a:noFill/>
          </a:ln>
          <a:effectLst/>
        </p:spPr>
        <p:txBody>
          <a:bodyPr rtlCol="0" anchor="ctr"/>
          <a:lstStyle/>
          <a:p>
            <a:endParaRPr lang="de-DE"/>
          </a:p>
        </p:txBody>
      </p:sp>
      <p:sp>
        <p:nvSpPr>
          <p:cNvPr id="308" name="Certificate Management Dim Data Provisioning Dot"/>
          <p:cNvSpPr/>
          <p:nvPr/>
        </p:nvSpPr>
        <p:spPr>
          <a:xfrm>
            <a:off x="8027860" y="4976009"/>
            <a:ext cx="100584" cy="100584"/>
          </a:xfrm>
          <a:prstGeom prst="ellipse">
            <a:avLst/>
          </a:prstGeom>
          <a:solidFill>
            <a:srgbClr val="53BE70"/>
          </a:solidFill>
          <a:ln>
            <a:noFill/>
          </a:ln>
          <a:effectLst/>
        </p:spPr>
        <p:txBody>
          <a:bodyPr rtlCol="0" anchor="ctr"/>
          <a:lstStyle/>
          <a:p>
            <a:endParaRPr lang="de-DE"/>
          </a:p>
        </p:txBody>
      </p:sp>
      <p:sp>
        <p:nvSpPr>
          <p:cNvPr id="309" name="Certificate Management Dim Lane Technical"/>
          <p:cNvSpPr/>
          <p:nvPr/>
        </p:nvSpPr>
        <p:spPr>
          <a:xfrm>
            <a:off x="8027860" y="5113140"/>
            <a:ext cx="1153858" cy="4572"/>
          </a:xfrm>
          <a:prstGeom prst="rect">
            <a:avLst/>
          </a:prstGeom>
          <a:solidFill>
            <a:srgbClr val="EDF0F3"/>
          </a:solidFill>
          <a:ln>
            <a:noFill/>
          </a:ln>
          <a:effectLst/>
        </p:spPr>
        <p:txBody>
          <a:bodyPr rtlCol="0" anchor="ctr"/>
          <a:lstStyle/>
          <a:p>
            <a:endParaRPr lang="de-DE"/>
          </a:p>
        </p:txBody>
      </p:sp>
      <p:sp>
        <p:nvSpPr>
          <p:cNvPr id="310" name="Certificate Management Dim Technical Dot"/>
          <p:cNvSpPr/>
          <p:nvPr/>
        </p:nvSpPr>
        <p:spPr>
          <a:xfrm>
            <a:off x="8027860" y="5149686"/>
            <a:ext cx="100584" cy="100584"/>
          </a:xfrm>
          <a:prstGeom prst="ellipse">
            <a:avLst/>
          </a:prstGeom>
          <a:solidFill>
            <a:srgbClr val="53BE70"/>
          </a:solidFill>
          <a:ln>
            <a:noFill/>
          </a:ln>
          <a:effectLst/>
        </p:spPr>
        <p:txBody>
          <a:bodyPr rtlCol="0" anchor="ctr"/>
          <a:lstStyle/>
          <a:p>
            <a:endParaRPr lang="de-DE"/>
          </a:p>
        </p:txBody>
      </p:sp>
      <p:sp>
        <p:nvSpPr>
          <p:cNvPr id="311" name="Certificate Management Dim Lane Supplier Activation"/>
          <p:cNvSpPr/>
          <p:nvPr/>
        </p:nvSpPr>
        <p:spPr>
          <a:xfrm>
            <a:off x="8027860" y="5286816"/>
            <a:ext cx="1153858" cy="4572"/>
          </a:xfrm>
          <a:prstGeom prst="rect">
            <a:avLst/>
          </a:prstGeom>
          <a:solidFill>
            <a:srgbClr val="EDF0F3"/>
          </a:solidFill>
          <a:ln>
            <a:noFill/>
          </a:ln>
          <a:effectLst/>
        </p:spPr>
        <p:txBody>
          <a:bodyPr rtlCol="0" anchor="ctr"/>
          <a:lstStyle/>
          <a:p>
            <a:endParaRPr lang="de-DE"/>
          </a:p>
        </p:txBody>
      </p:sp>
      <p:sp>
        <p:nvSpPr>
          <p:cNvPr id="312" name="Certificate Management Dim Supplier Activation Dot"/>
          <p:cNvSpPr/>
          <p:nvPr/>
        </p:nvSpPr>
        <p:spPr>
          <a:xfrm>
            <a:off x="8027860" y="5323362"/>
            <a:ext cx="100584" cy="100584"/>
          </a:xfrm>
          <a:prstGeom prst="ellipse">
            <a:avLst/>
          </a:prstGeom>
          <a:solidFill>
            <a:srgbClr val="53BE70"/>
          </a:solidFill>
          <a:ln>
            <a:noFill/>
          </a:ln>
          <a:effectLst/>
        </p:spPr>
        <p:txBody>
          <a:bodyPr rtlCol="0" anchor="ctr"/>
          <a:lstStyle/>
          <a:p>
            <a:endParaRPr lang="de-DE"/>
          </a:p>
        </p:txBody>
      </p:sp>
      <p:sp>
        <p:nvSpPr>
          <p:cNvPr id="313" name="Product Carbon Footprint Row Divider Dimensions"/>
          <p:cNvSpPr/>
          <p:nvPr/>
        </p:nvSpPr>
        <p:spPr>
          <a:xfrm>
            <a:off x="9360027" y="4345477"/>
            <a:ext cx="1153858" cy="6401"/>
          </a:xfrm>
          <a:prstGeom prst="rect">
            <a:avLst/>
          </a:prstGeom>
          <a:solidFill>
            <a:srgbClr val="E2E8EC"/>
          </a:solidFill>
          <a:ln>
            <a:noFill/>
          </a:ln>
          <a:effectLst/>
        </p:spPr>
        <p:txBody>
          <a:bodyPr rtlCol="0" anchor="ctr"/>
          <a:lstStyle/>
          <a:p>
            <a:endParaRPr lang="de-DE"/>
          </a:p>
        </p:txBody>
      </p:sp>
      <p:sp>
        <p:nvSpPr>
          <p:cNvPr id="314" name="Product Carbon Footprint Dim External · CX Association Dot"/>
          <p:cNvSpPr/>
          <p:nvPr/>
        </p:nvSpPr>
        <p:spPr>
          <a:xfrm>
            <a:off x="9360027" y="4628657"/>
            <a:ext cx="100584" cy="100584"/>
          </a:xfrm>
          <a:prstGeom prst="ellipse">
            <a:avLst/>
          </a:prstGeom>
          <a:solidFill>
            <a:srgbClr val="53BE70"/>
          </a:solidFill>
          <a:ln>
            <a:noFill/>
          </a:ln>
          <a:effectLst/>
        </p:spPr>
        <p:txBody>
          <a:bodyPr rtlCol="0" anchor="ctr"/>
          <a:lstStyle/>
          <a:p>
            <a:endParaRPr lang="de-DE"/>
          </a:p>
        </p:txBody>
      </p:sp>
      <p:sp>
        <p:nvSpPr>
          <p:cNvPr id="315" name="Product Carbon Footprint Dim Lane Business"/>
          <p:cNvSpPr/>
          <p:nvPr/>
        </p:nvSpPr>
        <p:spPr>
          <a:xfrm>
            <a:off x="9360027" y="4765787"/>
            <a:ext cx="1153858" cy="4572"/>
          </a:xfrm>
          <a:prstGeom prst="rect">
            <a:avLst/>
          </a:prstGeom>
          <a:solidFill>
            <a:srgbClr val="EDF0F3"/>
          </a:solidFill>
          <a:ln>
            <a:noFill/>
          </a:ln>
          <a:effectLst/>
        </p:spPr>
        <p:txBody>
          <a:bodyPr rtlCol="0" anchor="ctr"/>
          <a:lstStyle/>
          <a:p>
            <a:endParaRPr lang="de-DE"/>
          </a:p>
        </p:txBody>
      </p:sp>
      <p:sp>
        <p:nvSpPr>
          <p:cNvPr id="316" name="Product Carbon Footprint Dim Business Dot"/>
          <p:cNvSpPr/>
          <p:nvPr/>
        </p:nvSpPr>
        <p:spPr>
          <a:xfrm>
            <a:off x="9360027" y="4802333"/>
            <a:ext cx="100584" cy="100584"/>
          </a:xfrm>
          <a:prstGeom prst="ellipse">
            <a:avLst/>
          </a:prstGeom>
          <a:solidFill>
            <a:srgbClr val="53BE70"/>
          </a:solidFill>
          <a:ln>
            <a:noFill/>
          </a:ln>
          <a:effectLst/>
        </p:spPr>
        <p:txBody>
          <a:bodyPr rtlCol="0" anchor="ctr"/>
          <a:lstStyle/>
          <a:p>
            <a:endParaRPr lang="de-DE"/>
          </a:p>
        </p:txBody>
      </p:sp>
      <p:sp>
        <p:nvSpPr>
          <p:cNvPr id="317" name="Product Carbon Footprint Dim Lane Data Provisioning"/>
          <p:cNvSpPr/>
          <p:nvPr/>
        </p:nvSpPr>
        <p:spPr>
          <a:xfrm>
            <a:off x="9360027" y="4939463"/>
            <a:ext cx="1153858" cy="4572"/>
          </a:xfrm>
          <a:prstGeom prst="rect">
            <a:avLst/>
          </a:prstGeom>
          <a:solidFill>
            <a:srgbClr val="EDF0F3"/>
          </a:solidFill>
          <a:ln>
            <a:noFill/>
          </a:ln>
          <a:effectLst/>
        </p:spPr>
        <p:txBody>
          <a:bodyPr rtlCol="0" anchor="ctr"/>
          <a:lstStyle/>
          <a:p>
            <a:endParaRPr lang="de-DE"/>
          </a:p>
        </p:txBody>
      </p:sp>
      <p:sp>
        <p:nvSpPr>
          <p:cNvPr id="318" name="Product Carbon Footprint Dim Data Provisioning Dot"/>
          <p:cNvSpPr/>
          <p:nvPr/>
        </p:nvSpPr>
        <p:spPr>
          <a:xfrm>
            <a:off x="9360027" y="4976009"/>
            <a:ext cx="100584" cy="100584"/>
          </a:xfrm>
          <a:prstGeom prst="ellipse">
            <a:avLst/>
          </a:prstGeom>
          <a:solidFill>
            <a:srgbClr val="F0B135"/>
          </a:solidFill>
          <a:ln>
            <a:noFill/>
          </a:ln>
          <a:effectLst/>
        </p:spPr>
        <p:txBody>
          <a:bodyPr rtlCol="0" anchor="ctr"/>
          <a:lstStyle/>
          <a:p>
            <a:endParaRPr lang="de-DE"/>
          </a:p>
        </p:txBody>
      </p:sp>
      <p:sp>
        <p:nvSpPr>
          <p:cNvPr id="319" name="Product Carbon Footprint Dim Lane Technical"/>
          <p:cNvSpPr/>
          <p:nvPr/>
        </p:nvSpPr>
        <p:spPr>
          <a:xfrm>
            <a:off x="9360027" y="5113140"/>
            <a:ext cx="1153858" cy="4572"/>
          </a:xfrm>
          <a:prstGeom prst="rect">
            <a:avLst/>
          </a:prstGeom>
          <a:solidFill>
            <a:srgbClr val="EDF0F3"/>
          </a:solidFill>
          <a:ln>
            <a:noFill/>
          </a:ln>
          <a:effectLst/>
        </p:spPr>
        <p:txBody>
          <a:bodyPr rtlCol="0" anchor="ctr"/>
          <a:lstStyle/>
          <a:p>
            <a:endParaRPr lang="de-DE"/>
          </a:p>
        </p:txBody>
      </p:sp>
      <p:sp>
        <p:nvSpPr>
          <p:cNvPr id="320" name="Product Carbon Footprint Dim Technical Dot"/>
          <p:cNvSpPr/>
          <p:nvPr/>
        </p:nvSpPr>
        <p:spPr>
          <a:xfrm>
            <a:off x="9360027" y="5149686"/>
            <a:ext cx="100584" cy="100584"/>
          </a:xfrm>
          <a:prstGeom prst="ellipse">
            <a:avLst/>
          </a:prstGeom>
          <a:solidFill>
            <a:srgbClr val="53BE70"/>
          </a:solidFill>
          <a:ln>
            <a:noFill/>
          </a:ln>
          <a:effectLst/>
        </p:spPr>
        <p:txBody>
          <a:bodyPr rtlCol="0" anchor="ctr"/>
          <a:lstStyle/>
          <a:p>
            <a:endParaRPr lang="de-DE"/>
          </a:p>
        </p:txBody>
      </p:sp>
      <p:sp>
        <p:nvSpPr>
          <p:cNvPr id="321" name="Product Carbon Footprint Dim Lane Supplier Activation"/>
          <p:cNvSpPr/>
          <p:nvPr/>
        </p:nvSpPr>
        <p:spPr>
          <a:xfrm>
            <a:off x="9360027" y="5286816"/>
            <a:ext cx="1153858" cy="4572"/>
          </a:xfrm>
          <a:prstGeom prst="rect">
            <a:avLst/>
          </a:prstGeom>
          <a:solidFill>
            <a:srgbClr val="EDF0F3"/>
          </a:solidFill>
          <a:ln>
            <a:noFill/>
          </a:ln>
          <a:effectLst/>
        </p:spPr>
        <p:txBody>
          <a:bodyPr rtlCol="0" anchor="ctr"/>
          <a:lstStyle/>
          <a:p>
            <a:endParaRPr lang="de-DE"/>
          </a:p>
        </p:txBody>
      </p:sp>
      <p:sp>
        <p:nvSpPr>
          <p:cNvPr id="322" name="Product Carbon Footprint Dim Supplier Activation Dot"/>
          <p:cNvSpPr/>
          <p:nvPr/>
        </p:nvSpPr>
        <p:spPr>
          <a:xfrm>
            <a:off x="9360027" y="5323362"/>
            <a:ext cx="100584" cy="100584"/>
          </a:xfrm>
          <a:prstGeom prst="ellipse">
            <a:avLst/>
          </a:prstGeom>
          <a:solidFill>
            <a:srgbClr val="F0B135"/>
          </a:solidFill>
          <a:ln>
            <a:noFill/>
          </a:ln>
          <a:effectLst/>
        </p:spPr>
        <p:txBody>
          <a:bodyPr rtlCol="0" anchor="ctr"/>
          <a:lstStyle/>
          <a:p>
            <a:endParaRPr lang="de-DE"/>
          </a:p>
        </p:txBody>
      </p:sp>
      <p:sp>
        <p:nvSpPr>
          <p:cNvPr id="323" name="N-Tier Row Divider Dimensions"/>
          <p:cNvSpPr/>
          <p:nvPr/>
        </p:nvSpPr>
        <p:spPr>
          <a:xfrm>
            <a:off x="10692193" y="4345477"/>
            <a:ext cx="1153858" cy="6401"/>
          </a:xfrm>
          <a:prstGeom prst="rect">
            <a:avLst/>
          </a:prstGeom>
          <a:solidFill>
            <a:srgbClr val="E2E8EC"/>
          </a:solidFill>
          <a:ln>
            <a:noFill/>
          </a:ln>
          <a:effectLst/>
        </p:spPr>
        <p:txBody>
          <a:bodyPr rtlCol="0" anchor="ctr"/>
          <a:lstStyle/>
          <a:p>
            <a:endParaRPr lang="de-DE"/>
          </a:p>
        </p:txBody>
      </p:sp>
      <p:sp>
        <p:nvSpPr>
          <p:cNvPr id="324" name="N-Tier Dim External · CX Association Dot"/>
          <p:cNvSpPr/>
          <p:nvPr/>
        </p:nvSpPr>
        <p:spPr>
          <a:xfrm>
            <a:off x="10692193" y="4628657"/>
            <a:ext cx="100584" cy="100584"/>
          </a:xfrm>
          <a:prstGeom prst="ellipse">
            <a:avLst/>
          </a:prstGeom>
          <a:solidFill>
            <a:srgbClr val="53BE70"/>
          </a:solidFill>
          <a:ln>
            <a:noFill/>
          </a:ln>
          <a:effectLst/>
        </p:spPr>
        <p:txBody>
          <a:bodyPr rtlCol="0" anchor="ctr"/>
          <a:lstStyle/>
          <a:p>
            <a:endParaRPr lang="de-DE"/>
          </a:p>
        </p:txBody>
      </p:sp>
      <p:sp>
        <p:nvSpPr>
          <p:cNvPr id="325" name="N-Tier Dim Lane Business"/>
          <p:cNvSpPr/>
          <p:nvPr/>
        </p:nvSpPr>
        <p:spPr>
          <a:xfrm>
            <a:off x="10692193" y="4765787"/>
            <a:ext cx="1153858" cy="4572"/>
          </a:xfrm>
          <a:prstGeom prst="rect">
            <a:avLst/>
          </a:prstGeom>
          <a:solidFill>
            <a:srgbClr val="EDF0F3"/>
          </a:solidFill>
          <a:ln>
            <a:noFill/>
          </a:ln>
          <a:effectLst/>
        </p:spPr>
        <p:txBody>
          <a:bodyPr rtlCol="0" anchor="ctr"/>
          <a:lstStyle/>
          <a:p>
            <a:endParaRPr lang="de-DE"/>
          </a:p>
        </p:txBody>
      </p:sp>
      <p:sp>
        <p:nvSpPr>
          <p:cNvPr id="326" name="N-Tier Dim Business Ring"/>
          <p:cNvSpPr/>
          <p:nvPr/>
        </p:nvSpPr>
        <p:spPr>
          <a:xfrm>
            <a:off x="10692193" y="4802333"/>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327" name="N-Tier Dim Lane Data Provisioning"/>
          <p:cNvSpPr/>
          <p:nvPr/>
        </p:nvSpPr>
        <p:spPr>
          <a:xfrm>
            <a:off x="10692193" y="4939463"/>
            <a:ext cx="1153858" cy="4572"/>
          </a:xfrm>
          <a:prstGeom prst="rect">
            <a:avLst/>
          </a:prstGeom>
          <a:solidFill>
            <a:srgbClr val="EDF0F3"/>
          </a:solidFill>
          <a:ln>
            <a:noFill/>
          </a:ln>
          <a:effectLst/>
        </p:spPr>
        <p:txBody>
          <a:bodyPr rtlCol="0" anchor="ctr"/>
          <a:lstStyle/>
          <a:p>
            <a:endParaRPr lang="de-DE"/>
          </a:p>
        </p:txBody>
      </p:sp>
      <p:sp>
        <p:nvSpPr>
          <p:cNvPr id="328" name="N-Tier Dim Data Provisioning Ring"/>
          <p:cNvSpPr/>
          <p:nvPr/>
        </p:nvSpPr>
        <p:spPr>
          <a:xfrm>
            <a:off x="10692193" y="4976009"/>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329" name="N-Tier Dim Lane Technical"/>
          <p:cNvSpPr/>
          <p:nvPr/>
        </p:nvSpPr>
        <p:spPr>
          <a:xfrm>
            <a:off x="10692193" y="5113140"/>
            <a:ext cx="1153858" cy="4572"/>
          </a:xfrm>
          <a:prstGeom prst="rect">
            <a:avLst/>
          </a:prstGeom>
          <a:solidFill>
            <a:srgbClr val="EDF0F3"/>
          </a:solidFill>
          <a:ln>
            <a:noFill/>
          </a:ln>
          <a:effectLst/>
        </p:spPr>
        <p:txBody>
          <a:bodyPr rtlCol="0" anchor="ctr"/>
          <a:lstStyle/>
          <a:p>
            <a:endParaRPr lang="de-DE"/>
          </a:p>
        </p:txBody>
      </p:sp>
      <p:sp>
        <p:nvSpPr>
          <p:cNvPr id="330" name="N-Tier Dim Technical Ring"/>
          <p:cNvSpPr/>
          <p:nvPr/>
        </p:nvSpPr>
        <p:spPr>
          <a:xfrm>
            <a:off x="10692193" y="5149686"/>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331" name="N-Tier Dim Lane Supplier Activation"/>
          <p:cNvSpPr/>
          <p:nvPr/>
        </p:nvSpPr>
        <p:spPr>
          <a:xfrm>
            <a:off x="10692193" y="5286816"/>
            <a:ext cx="1153858" cy="4572"/>
          </a:xfrm>
          <a:prstGeom prst="rect">
            <a:avLst/>
          </a:prstGeom>
          <a:solidFill>
            <a:srgbClr val="EDF0F3"/>
          </a:solidFill>
          <a:ln>
            <a:noFill/>
          </a:ln>
          <a:effectLst/>
        </p:spPr>
        <p:txBody>
          <a:bodyPr rtlCol="0" anchor="ctr"/>
          <a:lstStyle/>
          <a:p>
            <a:endParaRPr lang="de-DE"/>
          </a:p>
        </p:txBody>
      </p:sp>
      <p:sp>
        <p:nvSpPr>
          <p:cNvPr id="332" name="N-Tier Dim Supplier Activation Ring"/>
          <p:cNvSpPr/>
          <p:nvPr/>
        </p:nvSpPr>
        <p:spPr>
          <a:xfrm>
            <a:off x="10692193" y="532336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333" name="Row Label Decision required"/>
          <p:cNvSpPr txBox="1"/>
          <p:nvPr/>
        </p:nvSpPr>
        <p:spPr>
          <a:xfrm>
            <a:off x="274320" y="5579364"/>
            <a:ext cx="987552"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4" name="Quality Row Divider Decision required"/>
          <p:cNvSpPr/>
          <p:nvPr/>
        </p:nvSpPr>
        <p:spPr>
          <a:xfrm>
            <a:off x="1367028" y="5515356"/>
            <a:ext cx="1153858" cy="6401"/>
          </a:xfrm>
          <a:prstGeom prst="rect">
            <a:avLst/>
          </a:prstGeom>
          <a:solidFill>
            <a:srgbClr val="E2E8EC"/>
          </a:solidFill>
          <a:ln>
            <a:noFill/>
          </a:ln>
          <a:effectLst/>
        </p:spPr>
        <p:txBody>
          <a:bodyPr rtlCol="0" anchor="ctr"/>
          <a:lstStyle/>
          <a:p>
            <a:endParaRPr lang="de-DE"/>
          </a:p>
        </p:txBody>
      </p:sp>
      <p:sp>
        <p:nvSpPr>
          <p:cNvPr id="335" name="Quality Decision None"/>
          <p:cNvSpPr txBox="1"/>
          <p:nvPr/>
        </p:nvSpPr>
        <p:spPr>
          <a:xfrm>
            <a:off x="1367028"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6" name="Battery Passport Row Divider Decision required"/>
          <p:cNvSpPr/>
          <p:nvPr/>
        </p:nvSpPr>
        <p:spPr>
          <a:xfrm>
            <a:off x="2699194" y="5515356"/>
            <a:ext cx="1153858" cy="6401"/>
          </a:xfrm>
          <a:prstGeom prst="rect">
            <a:avLst/>
          </a:prstGeom>
          <a:solidFill>
            <a:srgbClr val="E2E8EC"/>
          </a:solidFill>
          <a:ln>
            <a:noFill/>
          </a:ln>
          <a:effectLst/>
        </p:spPr>
        <p:txBody>
          <a:bodyPr rtlCol="0" anchor="ctr"/>
          <a:lstStyle/>
          <a:p>
            <a:endParaRPr lang="de-DE"/>
          </a:p>
        </p:txBody>
      </p:sp>
      <p:sp>
        <p:nvSpPr>
          <p:cNvPr id="337" name="Battery Passport Decision None"/>
          <p:cNvSpPr txBox="1"/>
          <p:nvPr/>
        </p:nvSpPr>
        <p:spPr>
          <a:xfrm>
            <a:off x="2699194"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8" name="Product Passes Row Divider Decision required"/>
          <p:cNvSpPr/>
          <p:nvPr/>
        </p:nvSpPr>
        <p:spPr>
          <a:xfrm>
            <a:off x="4031361" y="5515356"/>
            <a:ext cx="1153858" cy="6401"/>
          </a:xfrm>
          <a:prstGeom prst="rect">
            <a:avLst/>
          </a:prstGeom>
          <a:solidFill>
            <a:srgbClr val="E2E8EC"/>
          </a:solidFill>
          <a:ln>
            <a:noFill/>
          </a:ln>
          <a:effectLst/>
        </p:spPr>
        <p:txBody>
          <a:bodyPr rtlCol="0" anchor="ctr"/>
          <a:lstStyle/>
          <a:p>
            <a:endParaRPr lang="de-DE"/>
          </a:p>
        </p:txBody>
      </p:sp>
      <p:sp>
        <p:nvSpPr>
          <p:cNvPr id="339" name="Product Passes Decision None"/>
          <p:cNvSpPr txBox="1"/>
          <p:nvPr/>
        </p:nvSpPr>
        <p:spPr>
          <a:xfrm>
            <a:off x="4031361"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0" name="PURIS Row Divider Decision required"/>
          <p:cNvSpPr/>
          <p:nvPr/>
        </p:nvSpPr>
        <p:spPr>
          <a:xfrm>
            <a:off x="5363528" y="5515356"/>
            <a:ext cx="1153858" cy="6401"/>
          </a:xfrm>
          <a:prstGeom prst="rect">
            <a:avLst/>
          </a:prstGeom>
          <a:solidFill>
            <a:srgbClr val="E2E8EC"/>
          </a:solidFill>
          <a:ln>
            <a:noFill/>
          </a:ln>
          <a:effectLst/>
        </p:spPr>
        <p:txBody>
          <a:bodyPr rtlCol="0" anchor="ctr"/>
          <a:lstStyle/>
          <a:p>
            <a:endParaRPr lang="de-DE"/>
          </a:p>
        </p:txBody>
      </p:sp>
      <p:sp>
        <p:nvSpPr>
          <p:cNvPr id="341" name="PURIS Decision 1 Flag"/>
          <p:cNvSpPr/>
          <p:nvPr/>
        </p:nvSpPr>
        <p:spPr>
          <a:xfrm>
            <a:off x="5363528" y="5579364"/>
            <a:ext cx="146304" cy="146304"/>
          </a:xfrm>
          <a:prstGeom prst="ellipse">
            <a:avLst/>
          </a:prstGeom>
          <a:solidFill>
            <a:srgbClr val="001E50"/>
          </a:solidFill>
          <a:ln>
            <a:noFill/>
          </a:ln>
          <a:effectLst/>
        </p:spPr>
        <p:txBody>
          <a:bodyPr rtlCol="0" anchor="ctr"/>
          <a:lstStyle/>
          <a:p>
            <a:endParaRPr lang="de-DE"/>
          </a:p>
        </p:txBody>
      </p:sp>
      <p:sp>
        <p:nvSpPr>
          <p:cNvPr id="342" name="PURIS Decision 1 No"/>
          <p:cNvSpPr txBox="1"/>
          <p:nvPr/>
        </p:nvSpPr>
        <p:spPr>
          <a:xfrm>
            <a:off x="5363528"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3" name="PURIS Decision 1"/>
          <p:cNvSpPr txBox="1"/>
          <p:nvPr/>
        </p:nvSpPr>
        <p:spPr>
          <a:xfrm>
            <a:off x="5363528" y="5579364"/>
            <a:ext cx="1153858"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4" name="Business Partner Data Mgmt Row Divider Decision required"/>
          <p:cNvSpPr/>
          <p:nvPr/>
        </p:nvSpPr>
        <p:spPr>
          <a:xfrm>
            <a:off x="6695694" y="5515356"/>
            <a:ext cx="1153858" cy="6401"/>
          </a:xfrm>
          <a:prstGeom prst="rect">
            <a:avLst/>
          </a:prstGeom>
          <a:solidFill>
            <a:srgbClr val="E2E8EC"/>
          </a:solidFill>
          <a:ln>
            <a:noFill/>
          </a:ln>
          <a:effectLst/>
        </p:spPr>
        <p:txBody>
          <a:bodyPr rtlCol="0" anchor="ctr"/>
          <a:lstStyle/>
          <a:p>
            <a:endParaRPr lang="de-DE"/>
          </a:p>
        </p:txBody>
      </p:sp>
      <p:sp>
        <p:nvSpPr>
          <p:cNvPr id="345" name="Business Partner Data Mgmt Decision None"/>
          <p:cNvSpPr txBox="1"/>
          <p:nvPr/>
        </p:nvSpPr>
        <p:spPr>
          <a:xfrm>
            <a:off x="6695694"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6" name="Certificate Management Row Divider Decision required"/>
          <p:cNvSpPr/>
          <p:nvPr/>
        </p:nvSpPr>
        <p:spPr>
          <a:xfrm>
            <a:off x="8027860" y="5515356"/>
            <a:ext cx="1153858" cy="6401"/>
          </a:xfrm>
          <a:prstGeom prst="rect">
            <a:avLst/>
          </a:prstGeom>
          <a:solidFill>
            <a:srgbClr val="E2E8EC"/>
          </a:solidFill>
          <a:ln>
            <a:noFill/>
          </a:ln>
          <a:effectLst/>
        </p:spPr>
        <p:txBody>
          <a:bodyPr rtlCol="0" anchor="ctr"/>
          <a:lstStyle/>
          <a:p>
            <a:endParaRPr lang="de-DE"/>
          </a:p>
        </p:txBody>
      </p:sp>
      <p:sp>
        <p:nvSpPr>
          <p:cNvPr id="347" name="Certificate Management Decision None"/>
          <p:cNvSpPr txBox="1"/>
          <p:nvPr/>
        </p:nvSpPr>
        <p:spPr>
          <a:xfrm>
            <a:off x="8027860"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8" name="Product Carbon Footprint Row Divider Decision required"/>
          <p:cNvSpPr/>
          <p:nvPr/>
        </p:nvSpPr>
        <p:spPr>
          <a:xfrm>
            <a:off x="9360027" y="5515356"/>
            <a:ext cx="1153858" cy="6401"/>
          </a:xfrm>
          <a:prstGeom prst="rect">
            <a:avLst/>
          </a:prstGeom>
          <a:solidFill>
            <a:srgbClr val="E2E8EC"/>
          </a:solidFill>
          <a:ln>
            <a:noFill/>
          </a:ln>
          <a:effectLst/>
        </p:spPr>
        <p:txBody>
          <a:bodyPr rtlCol="0" anchor="ctr"/>
          <a:lstStyle/>
          <a:p>
            <a:endParaRPr lang="de-DE"/>
          </a:p>
        </p:txBody>
      </p:sp>
      <p:sp>
        <p:nvSpPr>
          <p:cNvPr id="349" name="Product Carbon Footprint Decision None"/>
          <p:cNvSpPr txBox="1"/>
          <p:nvPr/>
        </p:nvSpPr>
        <p:spPr>
          <a:xfrm>
            <a:off x="9360027"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N-Tier Row Divider Decision required"/>
          <p:cNvSpPr/>
          <p:nvPr/>
        </p:nvSpPr>
        <p:spPr>
          <a:xfrm>
            <a:off x="10692193" y="5515356"/>
            <a:ext cx="1153858" cy="6401"/>
          </a:xfrm>
          <a:prstGeom prst="rect">
            <a:avLst/>
          </a:prstGeom>
          <a:solidFill>
            <a:srgbClr val="E2E8EC"/>
          </a:solidFill>
          <a:ln>
            <a:noFill/>
          </a:ln>
          <a:effectLst/>
        </p:spPr>
        <p:txBody>
          <a:bodyPr rtlCol="0" anchor="ctr"/>
          <a:lstStyle/>
          <a:p>
            <a:endParaRPr lang="de-DE"/>
          </a:p>
        </p:txBody>
      </p:sp>
      <p:sp>
        <p:nvSpPr>
          <p:cNvPr id="351" name="N-Tier Decision None"/>
          <p:cNvSpPr txBox="1"/>
          <p:nvPr/>
        </p:nvSpPr>
        <p:spPr>
          <a:xfrm>
            <a:off x="10692193" y="5579364"/>
            <a:ext cx="1153858"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Portfolio, AI+, C-X NEXT, DigiTrace Card"/>
          <p:cNvSpPr/>
          <p:nvPr/>
        </p:nvSpPr>
        <p:spPr>
          <a:xfrm>
            <a:off x="129844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Portfolio, AI+, C-X NEXT, DigiTrace Name"/>
          <p:cNvSpPr txBox="1"/>
          <p:nvPr/>
        </p:nvSpPr>
        <p:spPr>
          <a:xfrm>
            <a:off x="136702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17" name="Col Portfolio, AI+, C-X NEXT, DigiTrace Abbr"/>
          <p:cNvSpPr txBox="1"/>
          <p:nvPr/>
        </p:nvSpPr>
        <p:spPr>
          <a:xfrm>
            <a:off x="1367028" y="14274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18" name="Col Portfolio, AI+, C-X NEXT, DigiTrace Domain Lead"/>
          <p:cNvSpPr txBox="1"/>
          <p:nvPr/>
        </p:nvSpPr>
        <p:spPr>
          <a:xfrm>
            <a:off x="136702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19" name="Col Portfolio, AI+, C-X NEXT, DigiTrace Status Bar"/>
          <p:cNvSpPr/>
          <p:nvPr/>
        </p:nvSpPr>
        <p:spPr>
          <a:xfrm>
            <a:off x="1367028" y="2002790"/>
            <a:ext cx="159791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Supplier Activation Card"/>
          <p:cNvSpPr/>
          <p:nvPr/>
        </p:nvSpPr>
        <p:spPr>
          <a:xfrm>
            <a:off x="3074670"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Supplier Activation Name"/>
          <p:cNvSpPr txBox="1"/>
          <p:nvPr/>
        </p:nvSpPr>
        <p:spPr>
          <a:xfrm>
            <a:off x="3143250"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22" name="Col Supplier Activation Abbr"/>
          <p:cNvSpPr txBox="1"/>
          <p:nvPr/>
        </p:nvSpPr>
        <p:spPr>
          <a:xfrm>
            <a:off x="3143250"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23" name="Col Supplier Activation Domain Lead"/>
          <p:cNvSpPr txBox="1"/>
          <p:nvPr/>
        </p:nvSpPr>
        <p:spPr>
          <a:xfrm>
            <a:off x="3143250"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24" name="Col Supplier Activation Status Bar"/>
          <p:cNvSpPr/>
          <p:nvPr/>
        </p:nvSpPr>
        <p:spPr>
          <a:xfrm>
            <a:off x="3143250"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Data Provisioning Card"/>
          <p:cNvSpPr/>
          <p:nvPr/>
        </p:nvSpPr>
        <p:spPr>
          <a:xfrm>
            <a:off x="4850892"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919472"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919472"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919472"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919472"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627114"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95694"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95694"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95694"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95694"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403336"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71916"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71916"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71916"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71916"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7955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4813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48138"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4813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48138"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987552" cy="22399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Portfolio, AI+, C-X NEXT, DigiTrace Status Pill"/>
          <p:cNvSpPr/>
          <p:nvPr/>
        </p:nvSpPr>
        <p:spPr>
          <a:xfrm>
            <a:off x="1367028"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Portfolio, AI+, C-X NEXT, DigiTrace Status Text"/>
          <p:cNvSpPr txBox="1"/>
          <p:nvPr/>
        </p:nvSpPr>
        <p:spPr>
          <a:xfrm>
            <a:off x="1367028"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Supplier Activation Status Pill"/>
          <p:cNvSpPr/>
          <p:nvPr/>
        </p:nvSpPr>
        <p:spPr>
          <a:xfrm>
            <a:off x="31432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1" name="Supplier Activation Status Text"/>
          <p:cNvSpPr txBox="1"/>
          <p:nvPr/>
        </p:nvSpPr>
        <p:spPr>
          <a:xfrm>
            <a:off x="31432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2" name="Data Provisioning Status Pill"/>
          <p:cNvSpPr/>
          <p:nvPr/>
        </p:nvSpPr>
        <p:spPr>
          <a:xfrm>
            <a:off x="491947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91947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71916"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71916"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4813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4813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46244"/>
            <a:ext cx="987552" cy="46381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Portfolio, AI+, C-X NEXT, DigiTrace Row Divider Goal"/>
          <p:cNvSpPr/>
          <p:nvPr/>
        </p:nvSpPr>
        <p:spPr>
          <a:xfrm>
            <a:off x="1367028" y="2382236"/>
            <a:ext cx="1597914" cy="6401"/>
          </a:xfrm>
          <a:prstGeom prst="rect">
            <a:avLst/>
          </a:prstGeom>
          <a:solidFill>
            <a:srgbClr val="E2E8EC"/>
          </a:solidFill>
          <a:ln>
            <a:noFill/>
          </a:ln>
          <a:effectLst/>
        </p:spPr>
        <p:txBody>
          <a:bodyPr rtlCol="0" anchor="ctr"/>
          <a:lstStyle/>
          <a:p>
            <a:endParaRPr lang="de-DE"/>
          </a:p>
        </p:txBody>
      </p:sp>
      <p:sp>
        <p:nvSpPr>
          <p:cNvPr id="162" name="Portfolio, AI+, C-X NEXT, DigiTrace Goal"/>
          <p:cNvSpPr txBox="1"/>
          <p:nvPr/>
        </p:nvSpPr>
        <p:spPr>
          <a:xfrm>
            <a:off x="1367028"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3" name="Supplier Activation Row Divider Goal"/>
          <p:cNvSpPr/>
          <p:nvPr/>
        </p:nvSpPr>
        <p:spPr>
          <a:xfrm>
            <a:off x="3143250" y="2382236"/>
            <a:ext cx="1597914" cy="6401"/>
          </a:xfrm>
          <a:prstGeom prst="rect">
            <a:avLst/>
          </a:prstGeom>
          <a:solidFill>
            <a:srgbClr val="E2E8EC"/>
          </a:solidFill>
          <a:ln>
            <a:noFill/>
          </a:ln>
          <a:effectLst/>
        </p:spPr>
        <p:txBody>
          <a:bodyPr rtlCol="0" anchor="ctr"/>
          <a:lstStyle/>
          <a:p>
            <a:endParaRPr lang="de-DE"/>
          </a:p>
        </p:txBody>
      </p:sp>
      <p:sp>
        <p:nvSpPr>
          <p:cNvPr id="164" name="Supplier Activation Goal"/>
          <p:cNvSpPr txBox="1"/>
          <p:nvPr/>
        </p:nvSpPr>
        <p:spPr>
          <a:xfrm>
            <a:off x="3143250"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5" name="Data Provisioning Row Divider Goal"/>
          <p:cNvSpPr/>
          <p:nvPr/>
        </p:nvSpPr>
        <p:spPr>
          <a:xfrm>
            <a:off x="4919472" y="2382236"/>
            <a:ext cx="1597914"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919472"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95694" y="2382236"/>
            <a:ext cx="1597914"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95694"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71916" y="2382236"/>
            <a:ext cx="1597914"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71916"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48138" y="2382236"/>
            <a:ext cx="1597914"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48138" y="244624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74071"/>
            <a:ext cx="987552" cy="58067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Portfolio, AI+, C-X NEXT, DigiTrace Row Divider Key KPI"/>
          <p:cNvSpPr/>
          <p:nvPr/>
        </p:nvSpPr>
        <p:spPr>
          <a:xfrm>
            <a:off x="1367028" y="2910063"/>
            <a:ext cx="1597914" cy="6401"/>
          </a:xfrm>
          <a:prstGeom prst="rect">
            <a:avLst/>
          </a:prstGeom>
          <a:solidFill>
            <a:srgbClr val="E2E8EC"/>
          </a:solidFill>
          <a:ln>
            <a:noFill/>
          </a:ln>
          <a:effectLst/>
        </p:spPr>
        <p:txBody>
          <a:bodyPr rtlCol="0" anchor="ctr"/>
          <a:lstStyle/>
          <a:p>
            <a:endParaRPr lang="de-DE"/>
          </a:p>
        </p:txBody>
      </p:sp>
      <p:sp>
        <p:nvSpPr>
          <p:cNvPr id="175" name="Portfolio, AI+, C-X NEXT, DigiTrace KPI"/>
          <p:cNvSpPr txBox="1"/>
          <p:nvPr/>
        </p:nvSpPr>
        <p:spPr>
          <a:xfrm>
            <a:off x="1367028"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6" name="Supplier Activation Row Divider Key KPI"/>
          <p:cNvSpPr/>
          <p:nvPr/>
        </p:nvSpPr>
        <p:spPr>
          <a:xfrm>
            <a:off x="3143250" y="2910063"/>
            <a:ext cx="1597914" cy="6401"/>
          </a:xfrm>
          <a:prstGeom prst="rect">
            <a:avLst/>
          </a:prstGeom>
          <a:solidFill>
            <a:srgbClr val="E2E8EC"/>
          </a:solidFill>
          <a:ln>
            <a:noFill/>
          </a:ln>
          <a:effectLst/>
        </p:spPr>
        <p:txBody>
          <a:bodyPr rtlCol="0" anchor="ctr"/>
          <a:lstStyle/>
          <a:p>
            <a:endParaRPr lang="de-DE"/>
          </a:p>
        </p:txBody>
      </p:sp>
      <p:sp>
        <p:nvSpPr>
          <p:cNvPr id="177" name="Supplier Activation KPI"/>
          <p:cNvSpPr txBox="1"/>
          <p:nvPr/>
        </p:nvSpPr>
        <p:spPr>
          <a:xfrm>
            <a:off x="3143250"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8" name="Data Provisioning Row Divider Key KPI"/>
          <p:cNvSpPr/>
          <p:nvPr/>
        </p:nvSpPr>
        <p:spPr>
          <a:xfrm>
            <a:off x="4919472" y="2910063"/>
            <a:ext cx="1597914"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919472"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95694" y="2910063"/>
            <a:ext cx="1597914"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95694"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71916" y="2910063"/>
            <a:ext cx="1597914"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71916" y="2974071"/>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48138" y="2910063"/>
            <a:ext cx="1597914"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48138" y="2974071"/>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18753"/>
            <a:ext cx="987552" cy="72672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Portfolio, AI+, C-X NEXT, DigiTrace Row Divider Next critical milestone"/>
          <p:cNvSpPr/>
          <p:nvPr/>
        </p:nvSpPr>
        <p:spPr>
          <a:xfrm>
            <a:off x="1367028" y="3554745"/>
            <a:ext cx="1597914" cy="6401"/>
          </a:xfrm>
          <a:prstGeom prst="rect">
            <a:avLst/>
          </a:prstGeom>
          <a:solidFill>
            <a:srgbClr val="E2E8EC"/>
          </a:solidFill>
          <a:ln>
            <a:noFill/>
          </a:ln>
          <a:effectLst/>
        </p:spPr>
        <p:txBody>
          <a:bodyPr rtlCol="0" anchor="ctr"/>
          <a:lstStyle/>
          <a:p>
            <a:endParaRPr lang="de-DE"/>
          </a:p>
        </p:txBody>
      </p:sp>
      <p:sp>
        <p:nvSpPr>
          <p:cNvPr id="188" name="Portfolio, AI+, C-X NEXT, DigiTrace Milestone Dot"/>
          <p:cNvSpPr/>
          <p:nvPr/>
        </p:nvSpPr>
        <p:spPr>
          <a:xfrm>
            <a:off x="1367028" y="3655329"/>
            <a:ext cx="73152" cy="73152"/>
          </a:xfrm>
          <a:prstGeom prst="ellipse">
            <a:avLst/>
          </a:prstGeom>
          <a:solidFill>
            <a:srgbClr val="E64343"/>
          </a:solidFill>
          <a:ln>
            <a:noFill/>
          </a:ln>
          <a:effectLst/>
        </p:spPr>
        <p:txBody>
          <a:bodyPr rtlCol="0" anchor="ctr"/>
          <a:lstStyle/>
          <a:p>
            <a:endParaRPr lang="de-DE"/>
          </a:p>
        </p:txBody>
      </p:sp>
      <p:sp>
        <p:nvSpPr>
          <p:cNvPr id="189" name="Portfolio, AI+, C-X NEXT, DigiTrace Milestone"/>
          <p:cNvSpPr txBox="1"/>
          <p:nvPr/>
        </p:nvSpPr>
        <p:spPr>
          <a:xfrm>
            <a:off x="1504188" y="3618753"/>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190" name="Supplier Activation Row Divider Next critical milestone"/>
          <p:cNvSpPr/>
          <p:nvPr/>
        </p:nvSpPr>
        <p:spPr>
          <a:xfrm>
            <a:off x="3143250" y="3554745"/>
            <a:ext cx="1597914" cy="6401"/>
          </a:xfrm>
          <a:prstGeom prst="rect">
            <a:avLst/>
          </a:prstGeom>
          <a:solidFill>
            <a:srgbClr val="E2E8EC"/>
          </a:solidFill>
          <a:ln>
            <a:noFill/>
          </a:ln>
          <a:effectLst/>
        </p:spPr>
        <p:txBody>
          <a:bodyPr rtlCol="0" anchor="ctr"/>
          <a:lstStyle/>
          <a:p>
            <a:endParaRPr lang="de-DE"/>
          </a:p>
        </p:txBody>
      </p:sp>
      <p:sp>
        <p:nvSpPr>
          <p:cNvPr id="191" name="Supplier Activation Milestone Dot"/>
          <p:cNvSpPr/>
          <p:nvPr/>
        </p:nvSpPr>
        <p:spPr>
          <a:xfrm>
            <a:off x="3143250" y="3655329"/>
            <a:ext cx="73152" cy="73152"/>
          </a:xfrm>
          <a:prstGeom prst="ellipse">
            <a:avLst/>
          </a:prstGeom>
          <a:solidFill>
            <a:srgbClr val="F0B135"/>
          </a:solidFill>
          <a:ln>
            <a:noFill/>
          </a:ln>
          <a:effectLst/>
        </p:spPr>
        <p:txBody>
          <a:bodyPr rtlCol="0" anchor="ctr"/>
          <a:lstStyle/>
          <a:p>
            <a:endParaRPr lang="de-DE"/>
          </a:p>
        </p:txBody>
      </p:sp>
      <p:sp>
        <p:nvSpPr>
          <p:cNvPr id="192" name="Supplier Activation Milestone"/>
          <p:cNvSpPr txBox="1"/>
          <p:nvPr/>
        </p:nvSpPr>
        <p:spPr>
          <a:xfrm>
            <a:off x="3280410" y="3618753"/>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EoY goal: 400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3" name="Data Provisioning Row Divider Next critical milestone"/>
          <p:cNvSpPr/>
          <p:nvPr/>
        </p:nvSpPr>
        <p:spPr>
          <a:xfrm>
            <a:off x="4919472" y="3554745"/>
            <a:ext cx="1597914"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919472" y="3618753"/>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95694" y="3554745"/>
            <a:ext cx="1597914"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95694" y="3655329"/>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832854" y="3618753"/>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71916" y="3554745"/>
            <a:ext cx="1597914"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71916" y="3655329"/>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609076" y="3618753"/>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48138" y="3554745"/>
            <a:ext cx="1597914"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48138" y="3618753"/>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409485"/>
            <a:ext cx="987552" cy="110587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Dim Label External · CX Association"/>
          <p:cNvSpPr txBox="1"/>
          <p:nvPr/>
        </p:nvSpPr>
        <p:spPr>
          <a:xfrm>
            <a:off x="347472" y="4592111"/>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05" name="Dim Label Business"/>
          <p:cNvSpPr txBox="1"/>
          <p:nvPr/>
        </p:nvSpPr>
        <p:spPr>
          <a:xfrm>
            <a:off x="347472" y="4809206"/>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06" name="Dim Label Use Cases"/>
          <p:cNvSpPr txBox="1"/>
          <p:nvPr/>
        </p:nvSpPr>
        <p:spPr>
          <a:xfrm>
            <a:off x="347472" y="5026301"/>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Use Cases</a:t>
            </a:r>
          </a:p>
        </p:txBody>
      </p:sp>
      <p:sp>
        <p:nvSpPr>
          <p:cNvPr id="207" name="Dim Label Technical"/>
          <p:cNvSpPr txBox="1"/>
          <p:nvPr/>
        </p:nvSpPr>
        <p:spPr>
          <a:xfrm>
            <a:off x="347472" y="5243397"/>
            <a:ext cx="914400" cy="217095"/>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08" name="Portfolio, AI+, C-X NEXT, DigiTrace Row Divider Dimensions"/>
          <p:cNvSpPr/>
          <p:nvPr/>
        </p:nvSpPr>
        <p:spPr>
          <a:xfrm>
            <a:off x="1367028" y="4345477"/>
            <a:ext cx="1597914" cy="6401"/>
          </a:xfrm>
          <a:prstGeom prst="rect">
            <a:avLst/>
          </a:prstGeom>
          <a:solidFill>
            <a:srgbClr val="E2E8EC"/>
          </a:solidFill>
          <a:ln>
            <a:noFill/>
          </a:ln>
          <a:effectLst/>
        </p:spPr>
        <p:txBody>
          <a:bodyPr rtlCol="0" anchor="ctr"/>
          <a:lstStyle/>
          <a:p>
            <a:endParaRPr lang="de-DE"/>
          </a:p>
        </p:txBody>
      </p:sp>
      <p:sp>
        <p:nvSpPr>
          <p:cNvPr id="209" name="Portfolio, AI+, C-X NEXT, DigiTrace Dim External · CX Association Dot"/>
          <p:cNvSpPr/>
          <p:nvPr/>
        </p:nvSpPr>
        <p:spPr>
          <a:xfrm>
            <a:off x="1367028" y="4650366"/>
            <a:ext cx="100584" cy="100584"/>
          </a:xfrm>
          <a:prstGeom prst="ellipse">
            <a:avLst/>
          </a:prstGeom>
          <a:solidFill>
            <a:srgbClr val="53BE70"/>
          </a:solidFill>
          <a:ln>
            <a:noFill/>
          </a:ln>
          <a:effectLst/>
        </p:spPr>
        <p:txBody>
          <a:bodyPr rtlCol="0" anchor="ctr"/>
          <a:lstStyle/>
          <a:p>
            <a:endParaRPr lang="de-DE"/>
          </a:p>
        </p:txBody>
      </p:sp>
      <p:sp>
        <p:nvSpPr>
          <p:cNvPr id="210" name="Portfolio, AI+, C-X NEXT, DigiTrace Dim Lane Business"/>
          <p:cNvSpPr/>
          <p:nvPr/>
        </p:nvSpPr>
        <p:spPr>
          <a:xfrm>
            <a:off x="1367028" y="4809206"/>
            <a:ext cx="1597914" cy="4572"/>
          </a:xfrm>
          <a:prstGeom prst="rect">
            <a:avLst/>
          </a:prstGeom>
          <a:solidFill>
            <a:srgbClr val="EDF0F3"/>
          </a:solidFill>
          <a:ln>
            <a:noFill/>
          </a:ln>
          <a:effectLst/>
        </p:spPr>
        <p:txBody>
          <a:bodyPr rtlCol="0" anchor="ctr"/>
          <a:lstStyle/>
          <a:p>
            <a:endParaRPr lang="de-DE"/>
          </a:p>
        </p:txBody>
      </p:sp>
      <p:sp>
        <p:nvSpPr>
          <p:cNvPr id="211" name="Portfolio, AI+, C-X NEXT, DigiTrace Dim Business Dot"/>
          <p:cNvSpPr/>
          <p:nvPr/>
        </p:nvSpPr>
        <p:spPr>
          <a:xfrm>
            <a:off x="1367028" y="4867462"/>
            <a:ext cx="100584" cy="100584"/>
          </a:xfrm>
          <a:prstGeom prst="ellipse">
            <a:avLst/>
          </a:prstGeom>
          <a:solidFill>
            <a:srgbClr val="F0B135"/>
          </a:solidFill>
          <a:ln>
            <a:noFill/>
          </a:ln>
          <a:effectLst/>
        </p:spPr>
        <p:txBody>
          <a:bodyPr rtlCol="0" anchor="ctr"/>
          <a:lstStyle/>
          <a:p>
            <a:endParaRPr lang="de-DE"/>
          </a:p>
        </p:txBody>
      </p:sp>
      <p:sp>
        <p:nvSpPr>
          <p:cNvPr id="212" name="Portfolio, AI+, C-X NEXT, DigiTrace Dim Lane Use Cases"/>
          <p:cNvSpPr/>
          <p:nvPr/>
        </p:nvSpPr>
        <p:spPr>
          <a:xfrm>
            <a:off x="1367028" y="5026301"/>
            <a:ext cx="1597914" cy="4572"/>
          </a:xfrm>
          <a:prstGeom prst="rect">
            <a:avLst/>
          </a:prstGeom>
          <a:solidFill>
            <a:srgbClr val="EDF0F3"/>
          </a:solidFill>
          <a:ln>
            <a:noFill/>
          </a:ln>
          <a:effectLst/>
        </p:spPr>
        <p:txBody>
          <a:bodyPr rtlCol="0" anchor="ctr"/>
          <a:lstStyle/>
          <a:p>
            <a:endParaRPr lang="de-DE"/>
          </a:p>
        </p:txBody>
      </p:sp>
      <p:sp>
        <p:nvSpPr>
          <p:cNvPr id="213" name="Portfolio, AI+, C-X NEXT, DigiTrace Dim Use Cases Dot"/>
          <p:cNvSpPr/>
          <p:nvPr/>
        </p:nvSpPr>
        <p:spPr>
          <a:xfrm>
            <a:off x="1367028" y="5084557"/>
            <a:ext cx="100584" cy="100584"/>
          </a:xfrm>
          <a:prstGeom prst="ellipse">
            <a:avLst/>
          </a:prstGeom>
          <a:solidFill>
            <a:srgbClr val="F0B135"/>
          </a:solidFill>
          <a:ln>
            <a:noFill/>
          </a:ln>
          <a:effectLst/>
        </p:spPr>
        <p:txBody>
          <a:bodyPr rtlCol="0" anchor="ctr"/>
          <a:lstStyle/>
          <a:p>
            <a:endParaRPr lang="de-DE"/>
          </a:p>
        </p:txBody>
      </p:sp>
      <p:sp>
        <p:nvSpPr>
          <p:cNvPr id="214" name="Portfolio, AI+, C-X NEXT, DigiTrace Dim Lane Technical"/>
          <p:cNvSpPr/>
          <p:nvPr/>
        </p:nvSpPr>
        <p:spPr>
          <a:xfrm>
            <a:off x="1367028" y="5243397"/>
            <a:ext cx="1597914" cy="4572"/>
          </a:xfrm>
          <a:prstGeom prst="rect">
            <a:avLst/>
          </a:prstGeom>
          <a:solidFill>
            <a:srgbClr val="EDF0F3"/>
          </a:solidFill>
          <a:ln>
            <a:noFill/>
          </a:ln>
          <a:effectLst/>
        </p:spPr>
        <p:txBody>
          <a:bodyPr rtlCol="0" anchor="ctr"/>
          <a:lstStyle/>
          <a:p>
            <a:endParaRPr lang="de-DE"/>
          </a:p>
        </p:txBody>
      </p:sp>
      <p:sp>
        <p:nvSpPr>
          <p:cNvPr id="215" name="Portfolio, AI+, C-X NEXT, DigiTrace Dim Technical Dot"/>
          <p:cNvSpPr/>
          <p:nvPr/>
        </p:nvSpPr>
        <p:spPr>
          <a:xfrm>
            <a:off x="1367028" y="5301652"/>
            <a:ext cx="100584" cy="100584"/>
          </a:xfrm>
          <a:prstGeom prst="ellipse">
            <a:avLst/>
          </a:prstGeom>
          <a:solidFill>
            <a:srgbClr val="53BE70"/>
          </a:solidFill>
          <a:ln>
            <a:noFill/>
          </a:ln>
          <a:effectLst/>
        </p:spPr>
        <p:txBody>
          <a:bodyPr rtlCol="0" anchor="ctr"/>
          <a:lstStyle/>
          <a:p>
            <a:endParaRPr lang="de-DE"/>
          </a:p>
        </p:txBody>
      </p:sp>
      <p:sp>
        <p:nvSpPr>
          <p:cNvPr id="216" name="Supplier Activation Row Divider Dimensions"/>
          <p:cNvSpPr/>
          <p:nvPr/>
        </p:nvSpPr>
        <p:spPr>
          <a:xfrm>
            <a:off x="3143250" y="4345477"/>
            <a:ext cx="1597914" cy="6401"/>
          </a:xfrm>
          <a:prstGeom prst="rect">
            <a:avLst/>
          </a:prstGeom>
          <a:solidFill>
            <a:srgbClr val="E2E8EC"/>
          </a:solidFill>
          <a:ln>
            <a:noFill/>
          </a:ln>
          <a:effectLst/>
        </p:spPr>
        <p:txBody>
          <a:bodyPr rtlCol="0" anchor="ctr"/>
          <a:lstStyle/>
          <a:p>
            <a:endParaRPr lang="de-DE"/>
          </a:p>
        </p:txBody>
      </p:sp>
      <p:sp>
        <p:nvSpPr>
          <p:cNvPr id="217" name="Supplier Activation Dim External · CX Association Dot"/>
          <p:cNvSpPr/>
          <p:nvPr/>
        </p:nvSpPr>
        <p:spPr>
          <a:xfrm>
            <a:off x="3143250" y="4650366"/>
            <a:ext cx="100584" cy="100584"/>
          </a:xfrm>
          <a:prstGeom prst="ellipse">
            <a:avLst/>
          </a:prstGeom>
          <a:solidFill>
            <a:srgbClr val="F0B135"/>
          </a:solidFill>
          <a:ln>
            <a:noFill/>
          </a:ln>
          <a:effectLst/>
        </p:spPr>
        <p:txBody>
          <a:bodyPr rtlCol="0" anchor="ctr"/>
          <a:lstStyle/>
          <a:p>
            <a:endParaRPr lang="de-DE"/>
          </a:p>
        </p:txBody>
      </p:sp>
      <p:sp>
        <p:nvSpPr>
          <p:cNvPr id="218" name="Supplier Activation Dim Lane Business"/>
          <p:cNvSpPr/>
          <p:nvPr/>
        </p:nvSpPr>
        <p:spPr>
          <a:xfrm>
            <a:off x="3143250" y="4809206"/>
            <a:ext cx="1597914" cy="4572"/>
          </a:xfrm>
          <a:prstGeom prst="rect">
            <a:avLst/>
          </a:prstGeom>
          <a:solidFill>
            <a:srgbClr val="EDF0F3"/>
          </a:solidFill>
          <a:ln>
            <a:noFill/>
          </a:ln>
          <a:effectLst/>
        </p:spPr>
        <p:txBody>
          <a:bodyPr rtlCol="0" anchor="ctr"/>
          <a:lstStyle/>
          <a:p>
            <a:endParaRPr lang="de-DE"/>
          </a:p>
        </p:txBody>
      </p:sp>
      <p:sp>
        <p:nvSpPr>
          <p:cNvPr id="219" name="Supplier Activation Dim Business Dot"/>
          <p:cNvSpPr/>
          <p:nvPr/>
        </p:nvSpPr>
        <p:spPr>
          <a:xfrm>
            <a:off x="3143250" y="4867462"/>
            <a:ext cx="100584" cy="100584"/>
          </a:xfrm>
          <a:prstGeom prst="ellipse">
            <a:avLst/>
          </a:prstGeom>
          <a:solidFill>
            <a:srgbClr val="F0B135"/>
          </a:solidFill>
          <a:ln>
            <a:noFill/>
          </a:ln>
          <a:effectLst/>
        </p:spPr>
        <p:txBody>
          <a:bodyPr rtlCol="0" anchor="ctr"/>
          <a:lstStyle/>
          <a:p>
            <a:endParaRPr lang="de-DE"/>
          </a:p>
        </p:txBody>
      </p:sp>
      <p:sp>
        <p:nvSpPr>
          <p:cNvPr id="220" name="Supplier Activation Dim Lane Use Cases"/>
          <p:cNvSpPr/>
          <p:nvPr/>
        </p:nvSpPr>
        <p:spPr>
          <a:xfrm>
            <a:off x="3143250" y="5026301"/>
            <a:ext cx="1597914" cy="4572"/>
          </a:xfrm>
          <a:prstGeom prst="rect">
            <a:avLst/>
          </a:prstGeom>
          <a:solidFill>
            <a:srgbClr val="EDF0F3"/>
          </a:solidFill>
          <a:ln>
            <a:noFill/>
          </a:ln>
          <a:effectLst/>
        </p:spPr>
        <p:txBody>
          <a:bodyPr rtlCol="0" anchor="ctr"/>
          <a:lstStyle/>
          <a:p>
            <a:endParaRPr lang="de-DE"/>
          </a:p>
        </p:txBody>
      </p:sp>
      <p:sp>
        <p:nvSpPr>
          <p:cNvPr id="221" name="Supplier Activation Dim Use Cases Ring"/>
          <p:cNvSpPr/>
          <p:nvPr/>
        </p:nvSpPr>
        <p:spPr>
          <a:xfrm>
            <a:off x="3143250" y="5084557"/>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22" name="Supplier Activation Dim Lane Technical"/>
          <p:cNvSpPr/>
          <p:nvPr/>
        </p:nvSpPr>
        <p:spPr>
          <a:xfrm>
            <a:off x="3143250" y="5243397"/>
            <a:ext cx="1597914" cy="4572"/>
          </a:xfrm>
          <a:prstGeom prst="rect">
            <a:avLst/>
          </a:prstGeom>
          <a:solidFill>
            <a:srgbClr val="EDF0F3"/>
          </a:solidFill>
          <a:ln>
            <a:noFill/>
          </a:ln>
          <a:effectLst/>
        </p:spPr>
        <p:txBody>
          <a:bodyPr rtlCol="0" anchor="ctr"/>
          <a:lstStyle/>
          <a:p>
            <a:endParaRPr lang="de-DE"/>
          </a:p>
        </p:txBody>
      </p:sp>
      <p:sp>
        <p:nvSpPr>
          <p:cNvPr id="223" name="Supplier Activation Dim Technical Ring"/>
          <p:cNvSpPr/>
          <p:nvPr/>
        </p:nvSpPr>
        <p:spPr>
          <a:xfrm>
            <a:off x="3143250" y="530165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24" name="Data Provisioning Row Divider Dimensions"/>
          <p:cNvSpPr/>
          <p:nvPr/>
        </p:nvSpPr>
        <p:spPr>
          <a:xfrm>
            <a:off x="4919472" y="4345477"/>
            <a:ext cx="1597914" cy="6401"/>
          </a:xfrm>
          <a:prstGeom prst="rect">
            <a:avLst/>
          </a:prstGeom>
          <a:solidFill>
            <a:srgbClr val="E2E8EC"/>
          </a:solidFill>
          <a:ln>
            <a:noFill/>
          </a:ln>
          <a:effectLst/>
        </p:spPr>
        <p:txBody>
          <a:bodyPr rtlCol="0" anchor="ctr"/>
          <a:lstStyle/>
          <a:p>
            <a:endParaRPr lang="de-DE"/>
          </a:p>
        </p:txBody>
      </p:sp>
      <p:sp>
        <p:nvSpPr>
          <p:cNvPr id="225" name="Data Provisioning Dim External · CX Association Dot"/>
          <p:cNvSpPr/>
          <p:nvPr/>
        </p:nvSpPr>
        <p:spPr>
          <a:xfrm>
            <a:off x="4919472" y="4650366"/>
            <a:ext cx="100584" cy="100584"/>
          </a:xfrm>
          <a:prstGeom prst="ellipse">
            <a:avLst/>
          </a:prstGeom>
          <a:solidFill>
            <a:srgbClr val="53BE70"/>
          </a:solidFill>
          <a:ln>
            <a:noFill/>
          </a:ln>
          <a:effectLst/>
        </p:spPr>
        <p:txBody>
          <a:bodyPr rtlCol="0" anchor="ctr"/>
          <a:lstStyle/>
          <a:p>
            <a:endParaRPr lang="de-DE"/>
          </a:p>
        </p:txBody>
      </p:sp>
      <p:sp>
        <p:nvSpPr>
          <p:cNvPr id="226" name="Data Provisioning Dim Lane Business"/>
          <p:cNvSpPr/>
          <p:nvPr/>
        </p:nvSpPr>
        <p:spPr>
          <a:xfrm>
            <a:off x="4919472" y="4809206"/>
            <a:ext cx="1597914" cy="4572"/>
          </a:xfrm>
          <a:prstGeom prst="rect">
            <a:avLst/>
          </a:prstGeom>
          <a:solidFill>
            <a:srgbClr val="EDF0F3"/>
          </a:solidFill>
          <a:ln>
            <a:noFill/>
          </a:ln>
          <a:effectLst/>
        </p:spPr>
        <p:txBody>
          <a:bodyPr rtlCol="0" anchor="ctr"/>
          <a:lstStyle/>
          <a:p>
            <a:endParaRPr lang="de-DE"/>
          </a:p>
        </p:txBody>
      </p:sp>
      <p:sp>
        <p:nvSpPr>
          <p:cNvPr id="227" name="Data Provisioning Dim Business Dot"/>
          <p:cNvSpPr/>
          <p:nvPr/>
        </p:nvSpPr>
        <p:spPr>
          <a:xfrm>
            <a:off x="4919472" y="4867462"/>
            <a:ext cx="100584" cy="100584"/>
          </a:xfrm>
          <a:prstGeom prst="ellipse">
            <a:avLst/>
          </a:prstGeom>
          <a:solidFill>
            <a:srgbClr val="53BE70"/>
          </a:solidFill>
          <a:ln>
            <a:noFill/>
          </a:ln>
          <a:effectLst/>
        </p:spPr>
        <p:txBody>
          <a:bodyPr rtlCol="0" anchor="ctr"/>
          <a:lstStyle/>
          <a:p>
            <a:endParaRPr lang="de-DE"/>
          </a:p>
        </p:txBody>
      </p:sp>
      <p:sp>
        <p:nvSpPr>
          <p:cNvPr id="228" name="Data Provisioning Dim Lane Use Cases"/>
          <p:cNvSpPr/>
          <p:nvPr/>
        </p:nvSpPr>
        <p:spPr>
          <a:xfrm>
            <a:off x="4919472" y="5026301"/>
            <a:ext cx="1597914" cy="4572"/>
          </a:xfrm>
          <a:prstGeom prst="rect">
            <a:avLst/>
          </a:prstGeom>
          <a:solidFill>
            <a:srgbClr val="EDF0F3"/>
          </a:solidFill>
          <a:ln>
            <a:noFill/>
          </a:ln>
          <a:effectLst/>
        </p:spPr>
        <p:txBody>
          <a:bodyPr rtlCol="0" anchor="ctr"/>
          <a:lstStyle/>
          <a:p>
            <a:endParaRPr lang="de-DE"/>
          </a:p>
        </p:txBody>
      </p:sp>
      <p:sp>
        <p:nvSpPr>
          <p:cNvPr id="229" name="Data Provisioning Dim Use Cases Dot"/>
          <p:cNvSpPr/>
          <p:nvPr/>
        </p:nvSpPr>
        <p:spPr>
          <a:xfrm>
            <a:off x="4919472" y="5084557"/>
            <a:ext cx="100584" cy="100584"/>
          </a:xfrm>
          <a:prstGeom prst="ellipse">
            <a:avLst/>
          </a:prstGeom>
          <a:solidFill>
            <a:srgbClr val="F0B135"/>
          </a:solidFill>
          <a:ln>
            <a:noFill/>
          </a:ln>
          <a:effectLst/>
        </p:spPr>
        <p:txBody>
          <a:bodyPr rtlCol="0" anchor="ctr"/>
          <a:lstStyle/>
          <a:p>
            <a:endParaRPr lang="de-DE"/>
          </a:p>
        </p:txBody>
      </p:sp>
      <p:sp>
        <p:nvSpPr>
          <p:cNvPr id="230" name="Data Provisioning Dim Lane Technical"/>
          <p:cNvSpPr/>
          <p:nvPr/>
        </p:nvSpPr>
        <p:spPr>
          <a:xfrm>
            <a:off x="4919472" y="5243397"/>
            <a:ext cx="1597914" cy="4572"/>
          </a:xfrm>
          <a:prstGeom prst="rect">
            <a:avLst/>
          </a:prstGeom>
          <a:solidFill>
            <a:srgbClr val="EDF0F3"/>
          </a:solidFill>
          <a:ln>
            <a:noFill/>
          </a:ln>
          <a:effectLst/>
        </p:spPr>
        <p:txBody>
          <a:bodyPr rtlCol="0" anchor="ctr"/>
          <a:lstStyle/>
          <a:p>
            <a:endParaRPr lang="de-DE"/>
          </a:p>
        </p:txBody>
      </p:sp>
      <p:sp>
        <p:nvSpPr>
          <p:cNvPr id="231" name="Data Provisioning Dim Technical Ring"/>
          <p:cNvSpPr/>
          <p:nvPr/>
        </p:nvSpPr>
        <p:spPr>
          <a:xfrm>
            <a:off x="4919472" y="530165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32" name="Hub &amp; Spoke Row Divider Dimensions"/>
          <p:cNvSpPr/>
          <p:nvPr/>
        </p:nvSpPr>
        <p:spPr>
          <a:xfrm>
            <a:off x="6695694" y="4345477"/>
            <a:ext cx="1597914" cy="6401"/>
          </a:xfrm>
          <a:prstGeom prst="rect">
            <a:avLst/>
          </a:prstGeom>
          <a:solidFill>
            <a:srgbClr val="E2E8EC"/>
          </a:solidFill>
          <a:ln>
            <a:noFill/>
          </a:ln>
          <a:effectLst/>
        </p:spPr>
        <p:txBody>
          <a:bodyPr rtlCol="0" anchor="ctr"/>
          <a:lstStyle/>
          <a:p>
            <a:endParaRPr lang="de-DE"/>
          </a:p>
        </p:txBody>
      </p:sp>
      <p:sp>
        <p:nvSpPr>
          <p:cNvPr id="233" name="Hub &amp; Spoke Dim External · CX Association Dot"/>
          <p:cNvSpPr/>
          <p:nvPr/>
        </p:nvSpPr>
        <p:spPr>
          <a:xfrm>
            <a:off x="6695694" y="4650366"/>
            <a:ext cx="100584" cy="100584"/>
          </a:xfrm>
          <a:prstGeom prst="ellipse">
            <a:avLst/>
          </a:prstGeom>
          <a:solidFill>
            <a:srgbClr val="53BE70"/>
          </a:solidFill>
          <a:ln>
            <a:noFill/>
          </a:ln>
          <a:effectLst/>
        </p:spPr>
        <p:txBody>
          <a:bodyPr rtlCol="0" anchor="ctr"/>
          <a:lstStyle/>
          <a:p>
            <a:endParaRPr lang="de-DE"/>
          </a:p>
        </p:txBody>
      </p:sp>
      <p:sp>
        <p:nvSpPr>
          <p:cNvPr id="234" name="Hub &amp; Spoke Dim Lane Business"/>
          <p:cNvSpPr/>
          <p:nvPr/>
        </p:nvSpPr>
        <p:spPr>
          <a:xfrm>
            <a:off x="6695694" y="4809206"/>
            <a:ext cx="1597914" cy="4572"/>
          </a:xfrm>
          <a:prstGeom prst="rect">
            <a:avLst/>
          </a:prstGeom>
          <a:solidFill>
            <a:srgbClr val="EDF0F3"/>
          </a:solidFill>
          <a:ln>
            <a:noFill/>
          </a:ln>
          <a:effectLst/>
        </p:spPr>
        <p:txBody>
          <a:bodyPr rtlCol="0" anchor="ctr"/>
          <a:lstStyle/>
          <a:p>
            <a:endParaRPr lang="de-DE"/>
          </a:p>
        </p:txBody>
      </p:sp>
      <p:sp>
        <p:nvSpPr>
          <p:cNvPr id="235" name="Hub &amp; Spoke Dim Business Dot"/>
          <p:cNvSpPr/>
          <p:nvPr/>
        </p:nvSpPr>
        <p:spPr>
          <a:xfrm>
            <a:off x="6695694" y="4867462"/>
            <a:ext cx="100584" cy="100584"/>
          </a:xfrm>
          <a:prstGeom prst="ellipse">
            <a:avLst/>
          </a:prstGeom>
          <a:solidFill>
            <a:srgbClr val="F0B135"/>
          </a:solidFill>
          <a:ln>
            <a:noFill/>
          </a:ln>
          <a:effectLst/>
        </p:spPr>
        <p:txBody>
          <a:bodyPr rtlCol="0" anchor="ctr"/>
          <a:lstStyle/>
          <a:p>
            <a:endParaRPr lang="de-DE"/>
          </a:p>
        </p:txBody>
      </p:sp>
      <p:sp>
        <p:nvSpPr>
          <p:cNvPr id="236" name="Hub &amp; Spoke Dim Lane Use Cases"/>
          <p:cNvSpPr/>
          <p:nvPr/>
        </p:nvSpPr>
        <p:spPr>
          <a:xfrm>
            <a:off x="6695694" y="5026301"/>
            <a:ext cx="1597914" cy="4572"/>
          </a:xfrm>
          <a:prstGeom prst="rect">
            <a:avLst/>
          </a:prstGeom>
          <a:solidFill>
            <a:srgbClr val="EDF0F3"/>
          </a:solidFill>
          <a:ln>
            <a:noFill/>
          </a:ln>
          <a:effectLst/>
        </p:spPr>
        <p:txBody>
          <a:bodyPr rtlCol="0" anchor="ctr"/>
          <a:lstStyle/>
          <a:p>
            <a:endParaRPr lang="de-DE"/>
          </a:p>
        </p:txBody>
      </p:sp>
      <p:sp>
        <p:nvSpPr>
          <p:cNvPr id="237" name="Hub &amp; Spoke Dim Use Cases Ring"/>
          <p:cNvSpPr/>
          <p:nvPr/>
        </p:nvSpPr>
        <p:spPr>
          <a:xfrm>
            <a:off x="6695694" y="5084557"/>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38" name="Hub &amp; Spoke Dim Lane Technical"/>
          <p:cNvSpPr/>
          <p:nvPr/>
        </p:nvSpPr>
        <p:spPr>
          <a:xfrm>
            <a:off x="6695694" y="5243397"/>
            <a:ext cx="1597914" cy="4572"/>
          </a:xfrm>
          <a:prstGeom prst="rect">
            <a:avLst/>
          </a:prstGeom>
          <a:solidFill>
            <a:srgbClr val="EDF0F3"/>
          </a:solidFill>
          <a:ln>
            <a:noFill/>
          </a:ln>
          <a:effectLst/>
        </p:spPr>
        <p:txBody>
          <a:bodyPr rtlCol="0" anchor="ctr"/>
          <a:lstStyle/>
          <a:p>
            <a:endParaRPr lang="de-DE"/>
          </a:p>
        </p:txBody>
      </p:sp>
      <p:sp>
        <p:nvSpPr>
          <p:cNvPr id="239" name="Hub &amp; Spoke Dim Technical Ring"/>
          <p:cNvSpPr/>
          <p:nvPr/>
        </p:nvSpPr>
        <p:spPr>
          <a:xfrm>
            <a:off x="6695694" y="5301652"/>
            <a:ext cx="100584" cy="100584"/>
          </a:xfrm>
          <a:prstGeom prst="ellipse">
            <a:avLst/>
          </a:prstGeom>
          <a:solidFill>
            <a:srgbClr val="FFFFFF"/>
          </a:solidFill>
          <a:ln w="15875">
            <a:solidFill>
              <a:srgbClr val="AEB9C1"/>
            </a:solidFill>
          </a:ln>
          <a:effectLst/>
        </p:spPr>
        <p:txBody>
          <a:bodyPr rtlCol="0" anchor="ctr"/>
          <a:lstStyle/>
          <a:p>
            <a:endParaRPr lang="de-DE"/>
          </a:p>
        </p:txBody>
      </p:sp>
      <p:sp>
        <p:nvSpPr>
          <p:cNvPr id="240" name="Legal &amp; Contracts Row Divider Dimensions"/>
          <p:cNvSpPr/>
          <p:nvPr/>
        </p:nvSpPr>
        <p:spPr>
          <a:xfrm>
            <a:off x="8471916" y="4345477"/>
            <a:ext cx="1597914" cy="6401"/>
          </a:xfrm>
          <a:prstGeom prst="rect">
            <a:avLst/>
          </a:prstGeom>
          <a:solidFill>
            <a:srgbClr val="E2E8EC"/>
          </a:solidFill>
          <a:ln>
            <a:noFill/>
          </a:ln>
          <a:effectLst/>
        </p:spPr>
        <p:txBody>
          <a:bodyPr rtlCol="0" anchor="ctr"/>
          <a:lstStyle/>
          <a:p>
            <a:endParaRPr lang="de-DE"/>
          </a:p>
        </p:txBody>
      </p:sp>
      <p:sp>
        <p:nvSpPr>
          <p:cNvPr id="241" name="Legal &amp; Contracts Dim External · CX Association Dot"/>
          <p:cNvSpPr/>
          <p:nvPr/>
        </p:nvSpPr>
        <p:spPr>
          <a:xfrm>
            <a:off x="8471916" y="4650366"/>
            <a:ext cx="100584" cy="100584"/>
          </a:xfrm>
          <a:prstGeom prst="ellipse">
            <a:avLst/>
          </a:prstGeom>
          <a:solidFill>
            <a:srgbClr val="53BE70"/>
          </a:solidFill>
          <a:ln>
            <a:noFill/>
          </a:ln>
          <a:effectLst/>
        </p:spPr>
        <p:txBody>
          <a:bodyPr rtlCol="0" anchor="ctr"/>
          <a:lstStyle/>
          <a:p>
            <a:endParaRPr lang="de-DE"/>
          </a:p>
        </p:txBody>
      </p:sp>
      <p:sp>
        <p:nvSpPr>
          <p:cNvPr id="242" name="Legal &amp; Contracts Dim Lane Business"/>
          <p:cNvSpPr/>
          <p:nvPr/>
        </p:nvSpPr>
        <p:spPr>
          <a:xfrm>
            <a:off x="8471916" y="4809206"/>
            <a:ext cx="1597914" cy="4572"/>
          </a:xfrm>
          <a:prstGeom prst="rect">
            <a:avLst/>
          </a:prstGeom>
          <a:solidFill>
            <a:srgbClr val="EDF0F3"/>
          </a:solidFill>
          <a:ln>
            <a:noFill/>
          </a:ln>
          <a:effectLst/>
        </p:spPr>
        <p:txBody>
          <a:bodyPr rtlCol="0" anchor="ctr"/>
          <a:lstStyle/>
          <a:p>
            <a:endParaRPr lang="de-DE"/>
          </a:p>
        </p:txBody>
      </p:sp>
      <p:sp>
        <p:nvSpPr>
          <p:cNvPr id="243" name="Legal &amp; Contracts Dim Business Dot"/>
          <p:cNvSpPr/>
          <p:nvPr/>
        </p:nvSpPr>
        <p:spPr>
          <a:xfrm>
            <a:off x="8471916" y="4867462"/>
            <a:ext cx="100584" cy="100584"/>
          </a:xfrm>
          <a:prstGeom prst="ellipse">
            <a:avLst/>
          </a:prstGeom>
          <a:solidFill>
            <a:srgbClr val="F0B135"/>
          </a:solidFill>
          <a:ln>
            <a:noFill/>
          </a:ln>
          <a:effectLst/>
        </p:spPr>
        <p:txBody>
          <a:bodyPr rtlCol="0" anchor="ctr"/>
          <a:lstStyle/>
          <a:p>
            <a:endParaRPr lang="de-DE"/>
          </a:p>
        </p:txBody>
      </p:sp>
      <p:sp>
        <p:nvSpPr>
          <p:cNvPr id="244" name="Legal &amp; Contracts Dim Lane Use Cases"/>
          <p:cNvSpPr/>
          <p:nvPr/>
        </p:nvSpPr>
        <p:spPr>
          <a:xfrm>
            <a:off x="8471916" y="5026301"/>
            <a:ext cx="1597914" cy="4572"/>
          </a:xfrm>
          <a:prstGeom prst="rect">
            <a:avLst/>
          </a:prstGeom>
          <a:solidFill>
            <a:srgbClr val="EDF0F3"/>
          </a:solidFill>
          <a:ln>
            <a:noFill/>
          </a:ln>
          <a:effectLst/>
        </p:spPr>
        <p:txBody>
          <a:bodyPr rtlCol="0" anchor="ctr"/>
          <a:lstStyle/>
          <a:p>
            <a:endParaRPr lang="de-DE"/>
          </a:p>
        </p:txBody>
      </p:sp>
      <p:sp>
        <p:nvSpPr>
          <p:cNvPr id="245" name="Legal &amp; Contracts Dim Use Cases Dot"/>
          <p:cNvSpPr/>
          <p:nvPr/>
        </p:nvSpPr>
        <p:spPr>
          <a:xfrm>
            <a:off x="8471916" y="5084557"/>
            <a:ext cx="100584" cy="100584"/>
          </a:xfrm>
          <a:prstGeom prst="ellipse">
            <a:avLst/>
          </a:prstGeom>
          <a:solidFill>
            <a:srgbClr val="53BE70"/>
          </a:solidFill>
          <a:ln>
            <a:noFill/>
          </a:ln>
          <a:effectLst/>
        </p:spPr>
        <p:txBody>
          <a:bodyPr rtlCol="0" anchor="ctr"/>
          <a:lstStyle/>
          <a:p>
            <a:endParaRPr lang="de-DE"/>
          </a:p>
        </p:txBody>
      </p:sp>
      <p:sp>
        <p:nvSpPr>
          <p:cNvPr id="246" name="Legal &amp; Contracts Dim Lane Technical"/>
          <p:cNvSpPr/>
          <p:nvPr/>
        </p:nvSpPr>
        <p:spPr>
          <a:xfrm>
            <a:off x="8471916" y="5243397"/>
            <a:ext cx="1597914" cy="4572"/>
          </a:xfrm>
          <a:prstGeom prst="rect">
            <a:avLst/>
          </a:prstGeom>
          <a:solidFill>
            <a:srgbClr val="EDF0F3"/>
          </a:solidFill>
          <a:ln>
            <a:noFill/>
          </a:ln>
          <a:effectLst/>
        </p:spPr>
        <p:txBody>
          <a:bodyPr rtlCol="0" anchor="ctr"/>
          <a:lstStyle/>
          <a:p>
            <a:endParaRPr lang="de-DE"/>
          </a:p>
        </p:txBody>
      </p:sp>
      <p:sp>
        <p:nvSpPr>
          <p:cNvPr id="247" name="Legal &amp; Contracts Dim Technical Dot"/>
          <p:cNvSpPr/>
          <p:nvPr/>
        </p:nvSpPr>
        <p:spPr>
          <a:xfrm>
            <a:off x="8471916" y="5301652"/>
            <a:ext cx="100584" cy="100584"/>
          </a:xfrm>
          <a:prstGeom prst="ellipse">
            <a:avLst/>
          </a:prstGeom>
          <a:solidFill>
            <a:srgbClr val="F0B135"/>
          </a:solidFill>
          <a:ln>
            <a:noFill/>
          </a:ln>
          <a:effectLst/>
        </p:spPr>
        <p:txBody>
          <a:bodyPr rtlCol="0" anchor="ctr"/>
          <a:lstStyle/>
          <a:p>
            <a:endParaRPr lang="de-DE"/>
          </a:p>
        </p:txBody>
      </p:sp>
      <p:sp>
        <p:nvSpPr>
          <p:cNvPr id="248" name="Architecture Row Divider Dimensions"/>
          <p:cNvSpPr/>
          <p:nvPr/>
        </p:nvSpPr>
        <p:spPr>
          <a:xfrm>
            <a:off x="10248138" y="4345477"/>
            <a:ext cx="1597914" cy="6401"/>
          </a:xfrm>
          <a:prstGeom prst="rect">
            <a:avLst/>
          </a:prstGeom>
          <a:solidFill>
            <a:srgbClr val="E2E8EC"/>
          </a:solidFill>
          <a:ln>
            <a:noFill/>
          </a:ln>
          <a:effectLst/>
        </p:spPr>
        <p:txBody>
          <a:bodyPr rtlCol="0" anchor="ctr"/>
          <a:lstStyle/>
          <a:p>
            <a:endParaRPr lang="de-DE"/>
          </a:p>
        </p:txBody>
      </p:sp>
      <p:sp>
        <p:nvSpPr>
          <p:cNvPr id="249" name="Architecture Dim External · CX Association Dot"/>
          <p:cNvSpPr/>
          <p:nvPr/>
        </p:nvSpPr>
        <p:spPr>
          <a:xfrm>
            <a:off x="10248138" y="4650366"/>
            <a:ext cx="100584" cy="100584"/>
          </a:xfrm>
          <a:prstGeom prst="ellipse">
            <a:avLst/>
          </a:prstGeom>
          <a:solidFill>
            <a:srgbClr val="53BE70"/>
          </a:solidFill>
          <a:ln>
            <a:noFill/>
          </a:ln>
          <a:effectLst/>
        </p:spPr>
        <p:txBody>
          <a:bodyPr rtlCol="0" anchor="ctr"/>
          <a:lstStyle/>
          <a:p>
            <a:endParaRPr lang="de-DE"/>
          </a:p>
        </p:txBody>
      </p:sp>
      <p:sp>
        <p:nvSpPr>
          <p:cNvPr id="250" name="Architecture Dim Lane Business"/>
          <p:cNvSpPr/>
          <p:nvPr/>
        </p:nvSpPr>
        <p:spPr>
          <a:xfrm>
            <a:off x="10248138" y="4809206"/>
            <a:ext cx="1597914" cy="4572"/>
          </a:xfrm>
          <a:prstGeom prst="rect">
            <a:avLst/>
          </a:prstGeom>
          <a:solidFill>
            <a:srgbClr val="EDF0F3"/>
          </a:solidFill>
          <a:ln>
            <a:noFill/>
          </a:ln>
          <a:effectLst/>
        </p:spPr>
        <p:txBody>
          <a:bodyPr rtlCol="0" anchor="ctr"/>
          <a:lstStyle/>
          <a:p>
            <a:endParaRPr lang="de-DE"/>
          </a:p>
        </p:txBody>
      </p:sp>
      <p:sp>
        <p:nvSpPr>
          <p:cNvPr id="251" name="Architecture Dim Business Dot"/>
          <p:cNvSpPr/>
          <p:nvPr/>
        </p:nvSpPr>
        <p:spPr>
          <a:xfrm>
            <a:off x="10248138" y="4867462"/>
            <a:ext cx="100584" cy="100584"/>
          </a:xfrm>
          <a:prstGeom prst="ellipse">
            <a:avLst/>
          </a:prstGeom>
          <a:solidFill>
            <a:srgbClr val="53BE70"/>
          </a:solidFill>
          <a:ln>
            <a:noFill/>
          </a:ln>
          <a:effectLst/>
        </p:spPr>
        <p:txBody>
          <a:bodyPr rtlCol="0" anchor="ctr"/>
          <a:lstStyle/>
          <a:p>
            <a:endParaRPr lang="de-DE"/>
          </a:p>
        </p:txBody>
      </p:sp>
      <p:sp>
        <p:nvSpPr>
          <p:cNvPr id="252" name="Architecture Dim Lane Use Cases"/>
          <p:cNvSpPr/>
          <p:nvPr/>
        </p:nvSpPr>
        <p:spPr>
          <a:xfrm>
            <a:off x="10248138" y="5026301"/>
            <a:ext cx="1597914" cy="4572"/>
          </a:xfrm>
          <a:prstGeom prst="rect">
            <a:avLst/>
          </a:prstGeom>
          <a:solidFill>
            <a:srgbClr val="EDF0F3"/>
          </a:solidFill>
          <a:ln>
            <a:noFill/>
          </a:ln>
          <a:effectLst/>
        </p:spPr>
        <p:txBody>
          <a:bodyPr rtlCol="0" anchor="ctr"/>
          <a:lstStyle/>
          <a:p>
            <a:endParaRPr lang="de-DE"/>
          </a:p>
        </p:txBody>
      </p:sp>
      <p:sp>
        <p:nvSpPr>
          <p:cNvPr id="253" name="Architecture Dim Use Cases Dot"/>
          <p:cNvSpPr/>
          <p:nvPr/>
        </p:nvSpPr>
        <p:spPr>
          <a:xfrm>
            <a:off x="10248138" y="5084557"/>
            <a:ext cx="100584" cy="100584"/>
          </a:xfrm>
          <a:prstGeom prst="ellipse">
            <a:avLst/>
          </a:prstGeom>
          <a:solidFill>
            <a:srgbClr val="53BE70"/>
          </a:solidFill>
          <a:ln>
            <a:noFill/>
          </a:ln>
          <a:effectLst/>
        </p:spPr>
        <p:txBody>
          <a:bodyPr rtlCol="0" anchor="ctr"/>
          <a:lstStyle/>
          <a:p>
            <a:endParaRPr lang="de-DE"/>
          </a:p>
        </p:txBody>
      </p:sp>
      <p:sp>
        <p:nvSpPr>
          <p:cNvPr id="254" name="Architecture Dim Lane Technical"/>
          <p:cNvSpPr/>
          <p:nvPr/>
        </p:nvSpPr>
        <p:spPr>
          <a:xfrm>
            <a:off x="10248138" y="5243397"/>
            <a:ext cx="1597914" cy="4572"/>
          </a:xfrm>
          <a:prstGeom prst="rect">
            <a:avLst/>
          </a:prstGeom>
          <a:solidFill>
            <a:srgbClr val="EDF0F3"/>
          </a:solidFill>
          <a:ln>
            <a:noFill/>
          </a:ln>
          <a:effectLst/>
        </p:spPr>
        <p:txBody>
          <a:bodyPr rtlCol="0" anchor="ctr"/>
          <a:lstStyle/>
          <a:p>
            <a:endParaRPr lang="de-DE"/>
          </a:p>
        </p:txBody>
      </p:sp>
      <p:sp>
        <p:nvSpPr>
          <p:cNvPr id="255" name="Architecture Dim Technical Dot"/>
          <p:cNvSpPr/>
          <p:nvPr/>
        </p:nvSpPr>
        <p:spPr>
          <a:xfrm>
            <a:off x="10248138" y="5301652"/>
            <a:ext cx="100584" cy="100584"/>
          </a:xfrm>
          <a:prstGeom prst="ellipse">
            <a:avLst/>
          </a:prstGeom>
          <a:solidFill>
            <a:srgbClr val="F0B135"/>
          </a:solidFill>
          <a:ln>
            <a:noFill/>
          </a:ln>
          <a:effectLst/>
        </p:spPr>
        <p:txBody>
          <a:bodyPr rtlCol="0" anchor="ctr"/>
          <a:lstStyle/>
          <a:p>
            <a:endParaRPr lang="de-DE"/>
          </a:p>
        </p:txBody>
      </p:sp>
      <p:sp>
        <p:nvSpPr>
          <p:cNvPr id="256" name="Row Label Decision required"/>
          <p:cNvSpPr txBox="1"/>
          <p:nvPr/>
        </p:nvSpPr>
        <p:spPr>
          <a:xfrm>
            <a:off x="274320" y="5579364"/>
            <a:ext cx="987552"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7" name="Portfolio, AI+, C-X NEXT, DigiTrace Row Divider Decision required"/>
          <p:cNvSpPr/>
          <p:nvPr/>
        </p:nvSpPr>
        <p:spPr>
          <a:xfrm>
            <a:off x="1367028" y="5515356"/>
            <a:ext cx="1597914" cy="6401"/>
          </a:xfrm>
          <a:prstGeom prst="rect">
            <a:avLst/>
          </a:prstGeom>
          <a:solidFill>
            <a:srgbClr val="E2E8EC"/>
          </a:solidFill>
          <a:ln>
            <a:noFill/>
          </a:ln>
          <a:effectLst/>
        </p:spPr>
        <p:txBody>
          <a:bodyPr rtlCol="0" anchor="ctr"/>
          <a:lstStyle/>
          <a:p>
            <a:endParaRPr lang="de-DE"/>
          </a:p>
        </p:txBody>
      </p:sp>
      <p:sp>
        <p:nvSpPr>
          <p:cNvPr id="258" name="Portfolio, AI+, C-X NEXT, DigiTrace Decision 1 Flag"/>
          <p:cNvSpPr/>
          <p:nvPr/>
        </p:nvSpPr>
        <p:spPr>
          <a:xfrm>
            <a:off x="1367028" y="5579364"/>
            <a:ext cx="146304" cy="146304"/>
          </a:xfrm>
          <a:prstGeom prst="ellipse">
            <a:avLst/>
          </a:prstGeom>
          <a:solidFill>
            <a:srgbClr val="001E50"/>
          </a:solidFill>
          <a:ln>
            <a:noFill/>
          </a:ln>
          <a:effectLst/>
        </p:spPr>
        <p:txBody>
          <a:bodyPr rtlCol="0" anchor="ctr"/>
          <a:lstStyle/>
          <a:p>
            <a:endParaRPr lang="de-DE"/>
          </a:p>
        </p:txBody>
      </p:sp>
      <p:sp>
        <p:nvSpPr>
          <p:cNvPr id="259" name="Portfolio, AI+, C-X NEXT, DigiTrace Decision 1 No"/>
          <p:cNvSpPr txBox="1"/>
          <p:nvPr/>
        </p:nvSpPr>
        <p:spPr>
          <a:xfrm>
            <a:off x="1367028"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0" name="Portfolio, AI+, C-X NEXT, DigiTrace Decision 1"/>
          <p:cNvSpPr txBox="1"/>
          <p:nvPr/>
        </p:nvSpPr>
        <p:spPr>
          <a:xfrm>
            <a:off x="1367028" y="5579364"/>
            <a:ext cx="1597914"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1" name="Portfolio, AI+, C-X NEXT, DigiTrace Decision 2 Flag"/>
          <p:cNvSpPr/>
          <p:nvPr/>
        </p:nvSpPr>
        <p:spPr>
          <a:xfrm>
            <a:off x="1367028" y="5926328"/>
            <a:ext cx="146304" cy="146304"/>
          </a:xfrm>
          <a:prstGeom prst="ellipse">
            <a:avLst/>
          </a:prstGeom>
          <a:solidFill>
            <a:srgbClr val="001E50"/>
          </a:solidFill>
          <a:ln>
            <a:noFill/>
          </a:ln>
          <a:effectLst/>
        </p:spPr>
        <p:txBody>
          <a:bodyPr rtlCol="0" anchor="ctr"/>
          <a:lstStyle/>
          <a:p>
            <a:endParaRPr lang="de-DE"/>
          </a:p>
        </p:txBody>
      </p:sp>
      <p:sp>
        <p:nvSpPr>
          <p:cNvPr id="262" name="Portfolio, AI+, C-X NEXT, DigiTrace Decision 2 No"/>
          <p:cNvSpPr txBox="1"/>
          <p:nvPr/>
        </p:nvSpPr>
        <p:spPr>
          <a:xfrm>
            <a:off x="1367028"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3" name="Portfolio, AI+, C-X NEXT, DigiTrace Decision 2"/>
          <p:cNvSpPr txBox="1"/>
          <p:nvPr/>
        </p:nvSpPr>
        <p:spPr>
          <a:xfrm>
            <a:off x="1367028" y="5926328"/>
            <a:ext cx="1597914"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64" name="Portfolio, AI+, C-X NEXT, DigiTrace Decision 3 Flag"/>
          <p:cNvSpPr/>
          <p:nvPr/>
        </p:nvSpPr>
        <p:spPr>
          <a:xfrm>
            <a:off x="1367028" y="6273292"/>
            <a:ext cx="146304" cy="146304"/>
          </a:xfrm>
          <a:prstGeom prst="ellipse">
            <a:avLst/>
          </a:prstGeom>
          <a:solidFill>
            <a:srgbClr val="001E50"/>
          </a:solidFill>
          <a:ln>
            <a:noFill/>
          </a:ln>
          <a:effectLst/>
        </p:spPr>
        <p:txBody>
          <a:bodyPr rtlCol="0" anchor="ctr"/>
          <a:lstStyle/>
          <a:p>
            <a:endParaRPr lang="de-DE"/>
          </a:p>
        </p:txBody>
      </p:sp>
      <p:sp>
        <p:nvSpPr>
          <p:cNvPr id="265" name="Portfolio, AI+, C-X NEXT, DigiTrace Decision 3 No"/>
          <p:cNvSpPr txBox="1"/>
          <p:nvPr/>
        </p:nvSpPr>
        <p:spPr>
          <a:xfrm>
            <a:off x="1367028"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6" name="Portfolio, AI+, C-X NEXT, DigiTrace Decision 3"/>
          <p:cNvSpPr txBox="1"/>
          <p:nvPr/>
        </p:nvSpPr>
        <p:spPr>
          <a:xfrm>
            <a:off x="1367028" y="6273292"/>
            <a:ext cx="1597914"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67" name="Supplier Activation Row Divider Decision required"/>
          <p:cNvSpPr/>
          <p:nvPr/>
        </p:nvSpPr>
        <p:spPr>
          <a:xfrm>
            <a:off x="3143250" y="5515356"/>
            <a:ext cx="1597914" cy="6401"/>
          </a:xfrm>
          <a:prstGeom prst="rect">
            <a:avLst/>
          </a:prstGeom>
          <a:solidFill>
            <a:srgbClr val="E2E8EC"/>
          </a:solidFill>
          <a:ln>
            <a:noFill/>
          </a:ln>
          <a:effectLst/>
        </p:spPr>
        <p:txBody>
          <a:bodyPr rtlCol="0" anchor="ctr"/>
          <a:lstStyle/>
          <a:p>
            <a:endParaRPr lang="de-DE"/>
          </a:p>
        </p:txBody>
      </p:sp>
      <p:sp>
        <p:nvSpPr>
          <p:cNvPr id="268" name="Supplier Activation Decision None"/>
          <p:cNvSpPr txBox="1"/>
          <p:nvPr/>
        </p:nvSpPr>
        <p:spPr>
          <a:xfrm>
            <a:off x="3143250"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69" name="Data Provisioning Row Divider Decision required"/>
          <p:cNvSpPr/>
          <p:nvPr/>
        </p:nvSpPr>
        <p:spPr>
          <a:xfrm>
            <a:off x="4919472" y="5515356"/>
            <a:ext cx="1597914" cy="6401"/>
          </a:xfrm>
          <a:prstGeom prst="rect">
            <a:avLst/>
          </a:prstGeom>
          <a:solidFill>
            <a:srgbClr val="E2E8EC"/>
          </a:solidFill>
          <a:ln>
            <a:noFill/>
          </a:ln>
          <a:effectLst/>
        </p:spPr>
        <p:txBody>
          <a:bodyPr rtlCol="0" anchor="ctr"/>
          <a:lstStyle/>
          <a:p>
            <a:endParaRPr lang="de-DE"/>
          </a:p>
        </p:txBody>
      </p:sp>
      <p:sp>
        <p:nvSpPr>
          <p:cNvPr id="270" name="Data Provisioning Decision None"/>
          <p:cNvSpPr txBox="1"/>
          <p:nvPr/>
        </p:nvSpPr>
        <p:spPr>
          <a:xfrm>
            <a:off x="4919472"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1" name="Hub &amp; Spoke Row Divider Decision required"/>
          <p:cNvSpPr/>
          <p:nvPr/>
        </p:nvSpPr>
        <p:spPr>
          <a:xfrm>
            <a:off x="6695694" y="5515356"/>
            <a:ext cx="1597914" cy="6401"/>
          </a:xfrm>
          <a:prstGeom prst="rect">
            <a:avLst/>
          </a:prstGeom>
          <a:solidFill>
            <a:srgbClr val="E2E8EC"/>
          </a:solidFill>
          <a:ln>
            <a:noFill/>
          </a:ln>
          <a:effectLst/>
        </p:spPr>
        <p:txBody>
          <a:bodyPr rtlCol="0" anchor="ctr"/>
          <a:lstStyle/>
          <a:p>
            <a:endParaRPr lang="de-DE"/>
          </a:p>
        </p:txBody>
      </p:sp>
      <p:sp>
        <p:nvSpPr>
          <p:cNvPr id="272" name="Hub &amp; Spoke Decision None"/>
          <p:cNvSpPr txBox="1"/>
          <p:nvPr/>
        </p:nvSpPr>
        <p:spPr>
          <a:xfrm>
            <a:off x="6695694"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3" name="Legal &amp; Contracts Row Divider Decision required"/>
          <p:cNvSpPr/>
          <p:nvPr/>
        </p:nvSpPr>
        <p:spPr>
          <a:xfrm>
            <a:off x="8471916" y="5515356"/>
            <a:ext cx="1597914" cy="6401"/>
          </a:xfrm>
          <a:prstGeom prst="rect">
            <a:avLst/>
          </a:prstGeom>
          <a:solidFill>
            <a:srgbClr val="E2E8EC"/>
          </a:solidFill>
          <a:ln>
            <a:noFill/>
          </a:ln>
          <a:effectLst/>
        </p:spPr>
        <p:txBody>
          <a:bodyPr rtlCol="0" anchor="ctr"/>
          <a:lstStyle/>
          <a:p>
            <a:endParaRPr lang="de-DE"/>
          </a:p>
        </p:txBody>
      </p:sp>
      <p:sp>
        <p:nvSpPr>
          <p:cNvPr id="274" name="Legal &amp; Contracts Decision None"/>
          <p:cNvSpPr txBox="1"/>
          <p:nvPr/>
        </p:nvSpPr>
        <p:spPr>
          <a:xfrm>
            <a:off x="8471916"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Architecture Row Divider Decision required"/>
          <p:cNvSpPr/>
          <p:nvPr/>
        </p:nvSpPr>
        <p:spPr>
          <a:xfrm>
            <a:off x="10248138" y="5515356"/>
            <a:ext cx="1597914" cy="6401"/>
          </a:xfrm>
          <a:prstGeom prst="rect">
            <a:avLst/>
          </a:prstGeom>
          <a:solidFill>
            <a:srgbClr val="E2E8EC"/>
          </a:solidFill>
          <a:ln>
            <a:noFill/>
          </a:ln>
          <a:effectLst/>
        </p:spPr>
        <p:txBody>
          <a:bodyPr rtlCol="0" anchor="ctr"/>
          <a:lstStyle/>
          <a:p>
            <a:endParaRPr lang="de-DE"/>
          </a:p>
        </p:txBody>
      </p:sp>
      <p:sp>
        <p:nvSpPr>
          <p:cNvPr id="276" name="Architecture Decision None"/>
          <p:cNvSpPr txBox="1"/>
          <p:nvPr/>
        </p:nvSpPr>
        <p:spPr>
          <a:xfrm>
            <a:off x="10248138" y="5579364"/>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