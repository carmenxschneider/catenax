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42 / 2026 – one card per use case (read top to bottom), sorted by overall status. Next (critical) milestone = most critical amber/red milestone, else the next 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Not Started Ring"/>
          <p:cNvSpPr/>
          <p:nvPr/>
        </p:nvSpPr>
        <p:spPr>
          <a:xfrm>
            <a:off x="10727481" y="544068"/>
            <a:ext cx="68580" cy="68580"/>
          </a:xfrm>
          <a:prstGeom prst="ellipse">
            <a:avLst/>
          </a:prstGeom>
          <a:solidFill>
            <a:srgbClr val="0B3A45"/>
          </a:solidFill>
          <a:ln w="15875">
            <a:solidFill>
              <a:srgbClr val="CFD6DB"/>
            </a:solid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298448"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367028"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367028"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367028"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367028"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20" name="Col Battery Passport Card"/>
          <p:cNvSpPr/>
          <p:nvPr/>
        </p:nvSpPr>
        <p:spPr>
          <a:xfrm>
            <a:off x="2630614"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99194"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99194"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99194"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99194"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962781"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4031361"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4031361"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4031361"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4031361"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94947"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363528"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363528"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363528"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363528"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627114"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95694"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95694" y="14274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95694"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95694"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59280"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8027860"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8027860" y="14274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8027860"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8027860"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91447"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60027"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60027" y="14274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60027"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60027"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50" name="Col N-Tier Card"/>
          <p:cNvSpPr/>
          <p:nvPr/>
        </p:nvSpPr>
        <p:spPr>
          <a:xfrm>
            <a:off x="10623614"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92193"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92193"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92193"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92193" y="2002790"/>
            <a:ext cx="1153858"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987552" cy="26133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367028"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Quality Status Text"/>
          <p:cNvSpPr txBox="1"/>
          <p:nvPr/>
        </p:nvSpPr>
        <p:spPr>
          <a:xfrm>
            <a:off x="1367028"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Battery Passport Status Pill"/>
          <p:cNvSpPr/>
          <p:nvPr/>
        </p:nvSpPr>
        <p:spPr>
          <a:xfrm>
            <a:off x="2699194"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99194"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4031361"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4031361"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363528"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363528"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95694"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95694"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802786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802786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6002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71" name="Product Carbon Footprint Status Text"/>
          <p:cNvSpPr txBox="1"/>
          <p:nvPr/>
        </p:nvSpPr>
        <p:spPr>
          <a:xfrm>
            <a:off x="936002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2" name="N-Tier Status Pill"/>
          <p:cNvSpPr/>
          <p:nvPr/>
        </p:nvSpPr>
        <p:spPr>
          <a:xfrm>
            <a:off x="10692193"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92193"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83580"/>
            <a:ext cx="987552" cy="37687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367028" y="2419572"/>
            <a:ext cx="1153858"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367028"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99194" y="2419572"/>
            <a:ext cx="1153858"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99194"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4031361" y="2419572"/>
            <a:ext cx="1153858"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4031361" y="2483580"/>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363528" y="2419572"/>
            <a:ext cx="1153858"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363528"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95694" y="2419572"/>
            <a:ext cx="1153858"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95694"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8027860" y="2419572"/>
            <a:ext cx="1153858"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8027860"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60027" y="2419572"/>
            <a:ext cx="1153858"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60027" y="24835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92193" y="2419572"/>
            <a:ext cx="1153858"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92193" y="2483580"/>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924465"/>
            <a:ext cx="987552" cy="40679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367028" y="2860457"/>
            <a:ext cx="1153858"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367028" y="2924465"/>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2027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99194" y="2860457"/>
            <a:ext cx="1153858"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99194"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4031361" y="2860457"/>
            <a:ext cx="1153858"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4031361"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363528" y="2860457"/>
            <a:ext cx="1153858"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363528"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95694" y="2860457"/>
            <a:ext cx="1153858"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95694"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8027860" y="2860457"/>
            <a:ext cx="1153858"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8027860"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60027" y="2860457"/>
            <a:ext cx="1153858"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60027"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Jan 2028</a:t>
            </a:r>
          </a:p>
        </p:txBody>
      </p:sp>
      <p:sp>
        <p:nvSpPr>
          <p:cNvPr id="206" name="N-Tier Row Divider E2E go-live target date"/>
          <p:cNvSpPr/>
          <p:nvPr/>
        </p:nvSpPr>
        <p:spPr>
          <a:xfrm>
            <a:off x="10692193" y="2860457"/>
            <a:ext cx="1153858"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92193" y="2924465"/>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395263"/>
            <a:ext cx="987552" cy="40679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367028" y="3331255"/>
            <a:ext cx="1153858"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367028" y="3395263"/>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99194" y="3331255"/>
            <a:ext cx="1153858"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99194"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4031361" y="3331255"/>
            <a:ext cx="1153858"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4031361"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363528" y="3331255"/>
            <a:ext cx="1153858"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363528"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95694" y="3331255"/>
            <a:ext cx="1153858"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95694"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8027860" y="3331255"/>
            <a:ext cx="1153858"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8027860"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89 / 100</a:t>
            </a:r>
            <a:r>
              <a:rPr lang="de-DE" sz="900" b="0" kern="0" dirty="0">
                <a:solidFill>
                  <a:srgbClr val="63707A"/>
                </a:solidFill>
                <a:latin typeface="Segoe UI" pitchFamily="34" charset="0"/>
                <a:ea typeface="Segoe UI" pitchFamily="34" charset="-122"/>
                <a:cs typeface="Segoe UI" pitchFamily="34" charset="-120"/>
              </a:rPr>
              <a:t>  89%</a:t>
            </a:r>
          </a:p>
        </p:txBody>
      </p:sp>
      <p:sp>
        <p:nvSpPr>
          <p:cNvPr id="221" name="Product Carbon Footprint Row Divider Suppliers enabled 2026"/>
          <p:cNvSpPr/>
          <p:nvPr/>
        </p:nvSpPr>
        <p:spPr>
          <a:xfrm>
            <a:off x="9360027" y="3331255"/>
            <a:ext cx="1153858"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60027"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92193" y="3331255"/>
            <a:ext cx="1153858"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92193" y="3395263"/>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866061"/>
            <a:ext cx="987552" cy="69889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367028" y="3802053"/>
            <a:ext cx="1153858"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367028" y="3902637"/>
            <a:ext cx="73152" cy="73152"/>
          </a:xfrm>
          <a:prstGeom prst="ellipse">
            <a:avLst/>
          </a:prstGeom>
          <a:solidFill>
            <a:srgbClr val="F0B135"/>
          </a:solidFill>
          <a:ln>
            <a:noFill/>
          </a:ln>
          <a:effectLst/>
        </p:spPr>
        <p:txBody>
          <a:bodyPr rtlCol="0" anchor="ctr"/>
          <a:lstStyle/>
          <a:p>
            <a:endParaRPr lang="de-DE"/>
          </a:p>
        </p:txBody>
      </p:sp>
      <p:sp>
        <p:nvSpPr>
          <p:cNvPr id="228" name="Quality Milestone"/>
          <p:cNvSpPr txBox="1"/>
          <p:nvPr/>
        </p:nvSpPr>
        <p:spPr>
          <a:xfrm>
            <a:off x="1504188" y="3866061"/>
            <a:ext cx="1016699" cy="6024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&amp; ownership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9" name="Battery Passport Row Divider Next (critical) milestone"/>
          <p:cNvSpPr/>
          <p:nvPr/>
        </p:nvSpPr>
        <p:spPr>
          <a:xfrm>
            <a:off x="2699194" y="3802053"/>
            <a:ext cx="1153858" cy="6401"/>
          </a:xfrm>
          <a:prstGeom prst="rect">
            <a:avLst/>
          </a:prstGeom>
          <a:solidFill>
            <a:srgbClr val="E2E8EC"/>
          </a:solidFill>
          <a:ln>
            <a:noFill/>
          </a:ln>
          <a:effectLst/>
        </p:spPr>
        <p:txBody>
          <a:bodyPr rtlCol="0" anchor="ctr"/>
          <a:lstStyle/>
          <a:p>
            <a:endParaRPr lang="de-DE"/>
          </a:p>
        </p:txBody>
      </p:sp>
      <p:sp>
        <p:nvSpPr>
          <p:cNvPr id="230" name="Battery Passport Milestone Dot"/>
          <p:cNvSpPr/>
          <p:nvPr/>
        </p:nvSpPr>
        <p:spPr>
          <a:xfrm>
            <a:off x="2699194" y="3902637"/>
            <a:ext cx="73152" cy="73152"/>
          </a:xfrm>
          <a:prstGeom prst="ellipse">
            <a:avLst/>
          </a:prstGeom>
          <a:solidFill>
            <a:srgbClr val="53BE70"/>
          </a:solidFill>
          <a:ln>
            <a:noFill/>
          </a:ln>
          <a:effectLst/>
        </p:spPr>
        <p:txBody>
          <a:bodyPr rtlCol="0" anchor="ctr"/>
          <a:lstStyle/>
          <a:p>
            <a:endParaRPr lang="de-DE"/>
          </a:p>
        </p:txBody>
      </p:sp>
      <p:sp>
        <p:nvSpPr>
          <p:cNvPr id="231" name="Battery Passport Milestone"/>
          <p:cNvSpPr txBox="1"/>
          <p:nvPr/>
        </p:nvSpPr>
        <p:spPr>
          <a:xfrm>
            <a:off x="2836354"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 requirements done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2" name="Product Passes Row Divider Next (critical) milestone"/>
          <p:cNvSpPr/>
          <p:nvPr/>
        </p:nvSpPr>
        <p:spPr>
          <a:xfrm>
            <a:off x="4031361" y="3802053"/>
            <a:ext cx="1153858" cy="6401"/>
          </a:xfrm>
          <a:prstGeom prst="rect">
            <a:avLst/>
          </a:prstGeom>
          <a:solidFill>
            <a:srgbClr val="E2E8EC"/>
          </a:solidFill>
          <a:ln>
            <a:noFill/>
          </a:ln>
          <a:effectLst/>
        </p:spPr>
        <p:txBody>
          <a:bodyPr rtlCol="0" anchor="ctr"/>
          <a:lstStyle/>
          <a:p>
            <a:endParaRPr lang="de-DE"/>
          </a:p>
        </p:txBody>
      </p:sp>
      <p:sp>
        <p:nvSpPr>
          <p:cNvPr id="233" name="Product Passes Milestone Dot"/>
          <p:cNvSpPr/>
          <p:nvPr/>
        </p:nvSpPr>
        <p:spPr>
          <a:xfrm>
            <a:off x="4031361" y="3902637"/>
            <a:ext cx="73152" cy="73152"/>
          </a:xfrm>
          <a:prstGeom prst="ellipse">
            <a:avLst/>
          </a:prstGeom>
          <a:solidFill>
            <a:srgbClr val="F0B135"/>
          </a:solidFill>
          <a:ln>
            <a:noFill/>
          </a:ln>
          <a:effectLst/>
        </p:spPr>
        <p:txBody>
          <a:bodyPr rtlCol="0" anchor="ctr"/>
          <a:lstStyle/>
          <a:p>
            <a:endParaRPr lang="de-DE"/>
          </a:p>
        </p:txBody>
      </p:sp>
      <p:sp>
        <p:nvSpPr>
          <p:cNvPr id="234" name="Product Passes Milestone"/>
          <p:cNvSpPr txBox="1"/>
          <p:nvPr/>
        </p:nvSpPr>
        <p:spPr>
          <a:xfrm>
            <a:off x="4168521"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5" name="PURIS Row Divider Next (critical) milestone"/>
          <p:cNvSpPr/>
          <p:nvPr/>
        </p:nvSpPr>
        <p:spPr>
          <a:xfrm>
            <a:off x="5363528" y="3802053"/>
            <a:ext cx="1153858" cy="6401"/>
          </a:xfrm>
          <a:prstGeom prst="rect">
            <a:avLst/>
          </a:prstGeom>
          <a:solidFill>
            <a:srgbClr val="E2E8EC"/>
          </a:solidFill>
          <a:ln>
            <a:noFill/>
          </a:ln>
          <a:effectLst/>
        </p:spPr>
        <p:txBody>
          <a:bodyPr rtlCol="0" anchor="ctr"/>
          <a:lstStyle/>
          <a:p>
            <a:endParaRPr lang="de-DE"/>
          </a:p>
        </p:txBody>
      </p:sp>
      <p:sp>
        <p:nvSpPr>
          <p:cNvPr id="236" name="PURIS Milestone Dot"/>
          <p:cNvSpPr/>
          <p:nvPr/>
        </p:nvSpPr>
        <p:spPr>
          <a:xfrm>
            <a:off x="5363528" y="3902637"/>
            <a:ext cx="73152" cy="73152"/>
          </a:xfrm>
          <a:prstGeom prst="ellipse">
            <a:avLst/>
          </a:prstGeom>
          <a:solidFill>
            <a:srgbClr val="F0B135"/>
          </a:solidFill>
          <a:ln>
            <a:noFill/>
          </a:ln>
          <a:effectLst/>
        </p:spPr>
        <p:txBody>
          <a:bodyPr rtlCol="0" anchor="ctr"/>
          <a:lstStyle/>
          <a:p>
            <a:endParaRPr lang="de-DE"/>
          </a:p>
        </p:txBody>
      </p:sp>
      <p:sp>
        <p:nvSpPr>
          <p:cNvPr id="237" name="PURIS Milestone"/>
          <p:cNvSpPr txBox="1"/>
          <p:nvPr/>
        </p:nvSpPr>
        <p:spPr>
          <a:xfrm>
            <a:off x="5500688"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09 Oct 2026</a:t>
            </a:r>
          </a:p>
        </p:txBody>
      </p:sp>
      <p:sp>
        <p:nvSpPr>
          <p:cNvPr id="238" name="Business Partner Data Mgmt Row Divider Next (critical) milestone"/>
          <p:cNvSpPr/>
          <p:nvPr/>
        </p:nvSpPr>
        <p:spPr>
          <a:xfrm>
            <a:off x="6695694" y="3802053"/>
            <a:ext cx="1153858" cy="6401"/>
          </a:xfrm>
          <a:prstGeom prst="rect">
            <a:avLst/>
          </a:prstGeom>
          <a:solidFill>
            <a:srgbClr val="E2E8EC"/>
          </a:solidFill>
          <a:ln>
            <a:noFill/>
          </a:ln>
          <a:effectLst/>
        </p:spPr>
        <p:txBody>
          <a:bodyPr rtlCol="0" anchor="ctr"/>
          <a:lstStyle/>
          <a:p>
            <a:endParaRPr lang="de-DE"/>
          </a:p>
        </p:txBody>
      </p:sp>
      <p:sp>
        <p:nvSpPr>
          <p:cNvPr id="239" name="Business Partner Data Mgmt Milestone Dot"/>
          <p:cNvSpPr/>
          <p:nvPr/>
        </p:nvSpPr>
        <p:spPr>
          <a:xfrm>
            <a:off x="6695694" y="3902637"/>
            <a:ext cx="73152" cy="73152"/>
          </a:xfrm>
          <a:prstGeom prst="ellipse">
            <a:avLst/>
          </a:prstGeom>
          <a:solidFill>
            <a:srgbClr val="53BE70"/>
          </a:solidFill>
          <a:ln>
            <a:noFill/>
          </a:ln>
          <a:effectLst/>
        </p:spPr>
        <p:txBody>
          <a:bodyPr rtlCol="0" anchor="ctr"/>
          <a:lstStyle/>
          <a:p>
            <a:endParaRPr lang="de-DE"/>
          </a:p>
        </p:txBody>
      </p:sp>
      <p:sp>
        <p:nvSpPr>
          <p:cNvPr id="240" name="Business Partner Data Mgmt Milestone"/>
          <p:cNvSpPr txBox="1"/>
          <p:nvPr/>
        </p:nvSpPr>
        <p:spPr>
          <a:xfrm>
            <a:off x="6832854"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BPDM target picture defined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41" name="Certificate Management Row Divider Next (critical) milestone"/>
          <p:cNvSpPr/>
          <p:nvPr/>
        </p:nvSpPr>
        <p:spPr>
          <a:xfrm>
            <a:off x="8027860" y="3802053"/>
            <a:ext cx="1153858" cy="6401"/>
          </a:xfrm>
          <a:prstGeom prst="rect">
            <a:avLst/>
          </a:prstGeom>
          <a:solidFill>
            <a:srgbClr val="E2E8EC"/>
          </a:solidFill>
          <a:ln>
            <a:noFill/>
          </a:ln>
          <a:effectLst/>
        </p:spPr>
        <p:txBody>
          <a:bodyPr rtlCol="0" anchor="ctr"/>
          <a:lstStyle/>
          <a:p>
            <a:endParaRPr lang="de-DE"/>
          </a:p>
        </p:txBody>
      </p:sp>
      <p:sp>
        <p:nvSpPr>
          <p:cNvPr id="242" name="Certificate Management Milestone Dot"/>
          <p:cNvSpPr/>
          <p:nvPr/>
        </p:nvSpPr>
        <p:spPr>
          <a:xfrm>
            <a:off x="8027860" y="3902637"/>
            <a:ext cx="73152" cy="73152"/>
          </a:xfrm>
          <a:prstGeom prst="ellipse">
            <a:avLst/>
          </a:prstGeom>
          <a:solidFill>
            <a:srgbClr val="F0B135"/>
          </a:solidFill>
          <a:ln>
            <a:noFill/>
          </a:ln>
          <a:effectLst/>
        </p:spPr>
        <p:txBody>
          <a:bodyPr rtlCol="0" anchor="ctr"/>
          <a:lstStyle/>
          <a:p>
            <a:endParaRPr lang="de-DE"/>
          </a:p>
        </p:txBody>
      </p:sp>
      <p:sp>
        <p:nvSpPr>
          <p:cNvPr id="243" name="Certificate Management Milestone"/>
          <p:cNvSpPr txBox="1"/>
          <p:nvPr/>
        </p:nvSpPr>
        <p:spPr>
          <a:xfrm>
            <a:off x="8165020"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4" name="Product Carbon Footprint Row Divider Next (critical) milestone"/>
          <p:cNvSpPr/>
          <p:nvPr/>
        </p:nvSpPr>
        <p:spPr>
          <a:xfrm>
            <a:off x="9360027" y="3802053"/>
            <a:ext cx="1153858" cy="6401"/>
          </a:xfrm>
          <a:prstGeom prst="rect">
            <a:avLst/>
          </a:prstGeom>
          <a:solidFill>
            <a:srgbClr val="E2E8EC"/>
          </a:solidFill>
          <a:ln>
            <a:noFill/>
          </a:ln>
          <a:effectLst/>
        </p:spPr>
        <p:txBody>
          <a:bodyPr rtlCol="0" anchor="ctr"/>
          <a:lstStyle/>
          <a:p>
            <a:endParaRPr lang="de-DE"/>
          </a:p>
        </p:txBody>
      </p:sp>
      <p:sp>
        <p:nvSpPr>
          <p:cNvPr id="245" name="Product Carbon Footprint Milestone Dot"/>
          <p:cNvSpPr/>
          <p:nvPr/>
        </p:nvSpPr>
        <p:spPr>
          <a:xfrm>
            <a:off x="9360027" y="3902637"/>
            <a:ext cx="73152" cy="73152"/>
          </a:xfrm>
          <a:prstGeom prst="ellipse">
            <a:avLst/>
          </a:prstGeom>
          <a:solidFill>
            <a:srgbClr val="F0B135"/>
          </a:solidFill>
          <a:ln>
            <a:noFill/>
          </a:ln>
          <a:effectLst/>
        </p:spPr>
        <p:txBody>
          <a:bodyPr rtlCol="0" anchor="ctr"/>
          <a:lstStyle/>
          <a:p>
            <a:endParaRPr lang="de-DE"/>
          </a:p>
        </p:txBody>
      </p:sp>
      <p:sp>
        <p:nvSpPr>
          <p:cNvPr id="246" name="Product Carbon Footprint Milestone"/>
          <p:cNvSpPr txBox="1"/>
          <p:nvPr/>
        </p:nvSpPr>
        <p:spPr>
          <a:xfrm>
            <a:off x="9497187"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 pilot stage 1</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15 Oct 2026</a:t>
            </a:r>
          </a:p>
        </p:txBody>
      </p:sp>
      <p:sp>
        <p:nvSpPr>
          <p:cNvPr id="247" name="N-Tier Row Divider Next (critical) milestone"/>
          <p:cNvSpPr/>
          <p:nvPr/>
        </p:nvSpPr>
        <p:spPr>
          <a:xfrm>
            <a:off x="10692193" y="3802053"/>
            <a:ext cx="1153858" cy="6401"/>
          </a:xfrm>
          <a:prstGeom prst="rect">
            <a:avLst/>
          </a:prstGeom>
          <a:solidFill>
            <a:srgbClr val="E2E8EC"/>
          </a:solidFill>
          <a:ln>
            <a:noFill/>
          </a:ln>
          <a:effectLst/>
        </p:spPr>
        <p:txBody>
          <a:bodyPr rtlCol="0" anchor="ctr"/>
          <a:lstStyle/>
          <a:p>
            <a:endParaRPr lang="de-DE"/>
          </a:p>
        </p:txBody>
      </p:sp>
      <p:sp>
        <p:nvSpPr>
          <p:cNvPr id="248" name="N-Tier Milestone Dot"/>
          <p:cNvSpPr/>
          <p:nvPr/>
        </p:nvSpPr>
        <p:spPr>
          <a:xfrm>
            <a:off x="10692193" y="3902637"/>
            <a:ext cx="73152" cy="73152"/>
          </a:xfrm>
          <a:prstGeom prst="ellipse">
            <a:avLst/>
          </a:prstGeom>
          <a:solidFill>
            <a:srgbClr val="53BE70"/>
          </a:solidFill>
          <a:ln>
            <a:noFill/>
          </a:ln>
          <a:effectLst/>
        </p:spPr>
        <p:txBody>
          <a:bodyPr rtlCol="0" anchor="ctr"/>
          <a:lstStyle/>
          <a:p>
            <a:endParaRPr lang="de-DE"/>
          </a:p>
        </p:txBody>
      </p:sp>
      <p:sp>
        <p:nvSpPr>
          <p:cNvPr id="249" name="N-Tier Milestone"/>
          <p:cNvSpPr txBox="1"/>
          <p:nvPr/>
        </p:nvSpPr>
        <p:spPr>
          <a:xfrm>
            <a:off x="10829353" y="3866061"/>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Working group framework created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Q4 2026</a:t>
            </a:r>
          </a:p>
        </p:txBody>
      </p:sp>
      <p:sp>
        <p:nvSpPr>
          <p:cNvPr id="250" name="Row Label Dimensions"/>
          <p:cNvSpPr txBox="1"/>
          <p:nvPr/>
        </p:nvSpPr>
        <p:spPr>
          <a:xfrm>
            <a:off x="274320" y="4628960"/>
            <a:ext cx="987552" cy="166211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51" name="Dim Lane External · CX Association"/>
          <p:cNvSpPr/>
          <p:nvPr/>
        </p:nvSpPr>
        <p:spPr>
          <a:xfrm>
            <a:off x="201168" y="4811586"/>
            <a:ext cx="1097280" cy="284924"/>
          </a:xfrm>
          <a:prstGeom prst="rect">
            <a:avLst/>
          </a:prstGeom>
          <a:solidFill>
            <a:srgbClr val="0B3A45"/>
          </a:solidFill>
          <a:ln>
            <a:noFill/>
          </a:ln>
          <a:effectLst/>
        </p:spPr>
        <p:txBody>
          <a:bodyPr rtlCol="0" anchor="ctr"/>
          <a:lstStyle/>
          <a:p>
            <a:endParaRPr lang="de-DE"/>
          </a:p>
        </p:txBody>
      </p:sp>
      <p:sp>
        <p:nvSpPr>
          <p:cNvPr id="252" name="Dim Label External · CX Association"/>
          <p:cNvSpPr txBox="1"/>
          <p:nvPr/>
        </p:nvSpPr>
        <p:spPr>
          <a:xfrm>
            <a:off x="329184" y="4811586"/>
            <a:ext cx="932688" cy="284924"/>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CX Association</a:t>
            </a:r>
          </a:p>
        </p:txBody>
      </p:sp>
      <p:sp>
        <p:nvSpPr>
          <p:cNvPr id="253" name="Dim Label Business"/>
          <p:cNvSpPr txBox="1"/>
          <p:nvPr/>
        </p:nvSpPr>
        <p:spPr>
          <a:xfrm>
            <a:off x="329184" y="5096510"/>
            <a:ext cx="932688" cy="284924"/>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Business</a:t>
            </a:r>
          </a:p>
        </p:txBody>
      </p:sp>
      <p:sp>
        <p:nvSpPr>
          <p:cNvPr id="254" name="Dim Lane Data Provisioning"/>
          <p:cNvSpPr/>
          <p:nvPr/>
        </p:nvSpPr>
        <p:spPr>
          <a:xfrm>
            <a:off x="201168" y="5381435"/>
            <a:ext cx="1097280" cy="284924"/>
          </a:xfrm>
          <a:prstGeom prst="rect">
            <a:avLst/>
          </a:prstGeom>
          <a:solidFill>
            <a:srgbClr val="0B3A45"/>
          </a:solidFill>
          <a:ln>
            <a:noFill/>
          </a:ln>
          <a:effectLst/>
        </p:spPr>
        <p:txBody>
          <a:bodyPr rtlCol="0" anchor="ctr"/>
          <a:lstStyle/>
          <a:p>
            <a:endParaRPr lang="de-DE"/>
          </a:p>
        </p:txBody>
      </p:sp>
      <p:sp>
        <p:nvSpPr>
          <p:cNvPr id="255" name="Dim Label Data Provisioning"/>
          <p:cNvSpPr txBox="1"/>
          <p:nvPr/>
        </p:nvSpPr>
        <p:spPr>
          <a:xfrm>
            <a:off x="329184" y="5381435"/>
            <a:ext cx="932688" cy="284924"/>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Data Provisioning</a:t>
            </a:r>
          </a:p>
        </p:txBody>
      </p:sp>
      <p:sp>
        <p:nvSpPr>
          <p:cNvPr id="256" name="Dim Label Technical"/>
          <p:cNvSpPr txBox="1"/>
          <p:nvPr/>
        </p:nvSpPr>
        <p:spPr>
          <a:xfrm>
            <a:off x="329184" y="5666359"/>
            <a:ext cx="932688" cy="284924"/>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Technical</a:t>
            </a:r>
          </a:p>
        </p:txBody>
      </p:sp>
      <p:sp>
        <p:nvSpPr>
          <p:cNvPr id="257" name="Dim Lane Supplier Activation"/>
          <p:cNvSpPr/>
          <p:nvPr/>
        </p:nvSpPr>
        <p:spPr>
          <a:xfrm>
            <a:off x="201168" y="5951284"/>
            <a:ext cx="1097280" cy="284924"/>
          </a:xfrm>
          <a:prstGeom prst="rect">
            <a:avLst/>
          </a:prstGeom>
          <a:solidFill>
            <a:srgbClr val="0B3A45"/>
          </a:solidFill>
          <a:ln>
            <a:noFill/>
          </a:ln>
          <a:effectLst/>
        </p:spPr>
        <p:txBody>
          <a:bodyPr rtlCol="0" anchor="ctr"/>
          <a:lstStyle/>
          <a:p>
            <a:endParaRPr lang="de-DE"/>
          </a:p>
        </p:txBody>
      </p:sp>
      <p:sp>
        <p:nvSpPr>
          <p:cNvPr id="258" name="Dim Label Supplier Activation"/>
          <p:cNvSpPr txBox="1"/>
          <p:nvPr/>
        </p:nvSpPr>
        <p:spPr>
          <a:xfrm>
            <a:off x="329184" y="5951284"/>
            <a:ext cx="932688" cy="284924"/>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Supplier Activation</a:t>
            </a:r>
          </a:p>
        </p:txBody>
      </p:sp>
      <p:sp>
        <p:nvSpPr>
          <p:cNvPr id="259" name="Quality Row Divider Dimensions"/>
          <p:cNvSpPr/>
          <p:nvPr/>
        </p:nvSpPr>
        <p:spPr>
          <a:xfrm>
            <a:off x="1367028" y="4564952"/>
            <a:ext cx="1153858" cy="6401"/>
          </a:xfrm>
          <a:prstGeom prst="rect">
            <a:avLst/>
          </a:prstGeom>
          <a:solidFill>
            <a:srgbClr val="E2E8EC"/>
          </a:solidFill>
          <a:ln>
            <a:noFill/>
          </a:ln>
          <a:effectLst/>
        </p:spPr>
        <p:txBody>
          <a:bodyPr rtlCol="0" anchor="ctr"/>
          <a:lstStyle/>
          <a:p>
            <a:endParaRPr lang="de-DE"/>
          </a:p>
        </p:txBody>
      </p:sp>
      <p:sp>
        <p:nvSpPr>
          <p:cNvPr id="260" name="Quality Dim Lane External · CX Association"/>
          <p:cNvSpPr/>
          <p:nvPr/>
        </p:nvSpPr>
        <p:spPr>
          <a:xfrm>
            <a:off x="1298448" y="4811586"/>
            <a:ext cx="1291018" cy="284924"/>
          </a:xfrm>
          <a:prstGeom prst="rect">
            <a:avLst/>
          </a:prstGeom>
          <a:solidFill>
            <a:srgbClr val="F0F3F6"/>
          </a:solidFill>
          <a:ln>
            <a:noFill/>
          </a:ln>
          <a:effectLst/>
        </p:spPr>
        <p:txBody>
          <a:bodyPr rtlCol="0" anchor="ctr"/>
          <a:lstStyle/>
          <a:p>
            <a:endParaRPr lang="de-DE"/>
          </a:p>
        </p:txBody>
      </p:sp>
      <p:sp>
        <p:nvSpPr>
          <p:cNvPr id="261" name="Quality Dim External · CX Association Dot"/>
          <p:cNvSpPr/>
          <p:nvPr/>
        </p:nvSpPr>
        <p:spPr>
          <a:xfrm>
            <a:off x="1367028" y="4899184"/>
            <a:ext cx="109728" cy="109728"/>
          </a:xfrm>
          <a:prstGeom prst="ellipse">
            <a:avLst/>
          </a:prstGeom>
          <a:solidFill>
            <a:srgbClr val="53BE70"/>
          </a:solidFill>
          <a:ln>
            <a:noFill/>
          </a:ln>
          <a:effectLst/>
        </p:spPr>
        <p:txBody>
          <a:bodyPr rtlCol="0" anchor="ctr"/>
          <a:lstStyle/>
          <a:p>
            <a:endParaRPr lang="de-DE"/>
          </a:p>
        </p:txBody>
      </p:sp>
      <p:sp>
        <p:nvSpPr>
          <p:cNvPr id="262" name="Quality Dim Business Dot"/>
          <p:cNvSpPr/>
          <p:nvPr/>
        </p:nvSpPr>
        <p:spPr>
          <a:xfrm>
            <a:off x="1367028" y="5184108"/>
            <a:ext cx="109728" cy="109728"/>
          </a:xfrm>
          <a:prstGeom prst="ellipse">
            <a:avLst/>
          </a:prstGeom>
          <a:solidFill>
            <a:srgbClr val="F0B135"/>
          </a:solidFill>
          <a:ln>
            <a:noFill/>
          </a:ln>
          <a:effectLst/>
        </p:spPr>
        <p:txBody>
          <a:bodyPr rtlCol="0" anchor="ctr"/>
          <a:lstStyle/>
          <a:p>
            <a:endParaRPr lang="de-DE"/>
          </a:p>
        </p:txBody>
      </p:sp>
      <p:sp>
        <p:nvSpPr>
          <p:cNvPr id="263" name="Quality Dim Lane Data Provisioning"/>
          <p:cNvSpPr/>
          <p:nvPr/>
        </p:nvSpPr>
        <p:spPr>
          <a:xfrm>
            <a:off x="1298448" y="5381435"/>
            <a:ext cx="1291018" cy="284924"/>
          </a:xfrm>
          <a:prstGeom prst="rect">
            <a:avLst/>
          </a:prstGeom>
          <a:solidFill>
            <a:srgbClr val="F0F3F6"/>
          </a:solidFill>
          <a:ln>
            <a:noFill/>
          </a:ln>
          <a:effectLst/>
        </p:spPr>
        <p:txBody>
          <a:bodyPr rtlCol="0" anchor="ctr"/>
          <a:lstStyle/>
          <a:p>
            <a:endParaRPr lang="de-DE"/>
          </a:p>
        </p:txBody>
      </p:sp>
      <p:sp>
        <p:nvSpPr>
          <p:cNvPr id="264" name="Quality Dim Data Provisioning Dot"/>
          <p:cNvSpPr/>
          <p:nvPr/>
        </p:nvSpPr>
        <p:spPr>
          <a:xfrm>
            <a:off x="1367028" y="5469033"/>
            <a:ext cx="109728" cy="109728"/>
          </a:xfrm>
          <a:prstGeom prst="ellipse">
            <a:avLst/>
          </a:prstGeom>
          <a:solidFill>
            <a:srgbClr val="F0B135"/>
          </a:solidFill>
          <a:ln>
            <a:noFill/>
          </a:ln>
          <a:effectLst/>
        </p:spPr>
        <p:txBody>
          <a:bodyPr rtlCol="0" anchor="ctr"/>
          <a:lstStyle/>
          <a:p>
            <a:endParaRPr lang="de-DE"/>
          </a:p>
        </p:txBody>
      </p:sp>
      <p:sp>
        <p:nvSpPr>
          <p:cNvPr id="265" name="Quality Dim Technical Dot"/>
          <p:cNvSpPr/>
          <p:nvPr/>
        </p:nvSpPr>
        <p:spPr>
          <a:xfrm>
            <a:off x="1367028" y="5753957"/>
            <a:ext cx="109728" cy="109728"/>
          </a:xfrm>
          <a:prstGeom prst="ellipse">
            <a:avLst/>
          </a:prstGeom>
          <a:solidFill>
            <a:srgbClr val="F0B135"/>
          </a:solidFill>
          <a:ln>
            <a:noFill/>
          </a:ln>
          <a:effectLst/>
        </p:spPr>
        <p:txBody>
          <a:bodyPr rtlCol="0" anchor="ctr"/>
          <a:lstStyle/>
          <a:p>
            <a:endParaRPr lang="de-DE"/>
          </a:p>
        </p:txBody>
      </p:sp>
      <p:sp>
        <p:nvSpPr>
          <p:cNvPr id="266" name="Quality Dim Lane Supplier Activation"/>
          <p:cNvSpPr/>
          <p:nvPr/>
        </p:nvSpPr>
        <p:spPr>
          <a:xfrm>
            <a:off x="1298448" y="5951284"/>
            <a:ext cx="1291018" cy="284924"/>
          </a:xfrm>
          <a:prstGeom prst="rect">
            <a:avLst/>
          </a:prstGeom>
          <a:solidFill>
            <a:srgbClr val="F0F3F6"/>
          </a:solidFill>
          <a:ln>
            <a:noFill/>
          </a:ln>
          <a:effectLst/>
        </p:spPr>
        <p:txBody>
          <a:bodyPr rtlCol="0" anchor="ctr"/>
          <a:lstStyle/>
          <a:p>
            <a:endParaRPr lang="de-DE"/>
          </a:p>
        </p:txBody>
      </p:sp>
      <p:sp>
        <p:nvSpPr>
          <p:cNvPr id="267" name="Quality Dim Supplier Activation Dot"/>
          <p:cNvSpPr/>
          <p:nvPr/>
        </p:nvSpPr>
        <p:spPr>
          <a:xfrm>
            <a:off x="1367028" y="6038882"/>
            <a:ext cx="109728" cy="109728"/>
          </a:xfrm>
          <a:prstGeom prst="ellipse">
            <a:avLst/>
          </a:prstGeom>
          <a:solidFill>
            <a:srgbClr val="F0B135"/>
          </a:solidFill>
          <a:ln>
            <a:noFill/>
          </a:ln>
          <a:effectLst/>
        </p:spPr>
        <p:txBody>
          <a:bodyPr rtlCol="0" anchor="ctr"/>
          <a:lstStyle/>
          <a:p>
            <a:endParaRPr lang="de-DE"/>
          </a:p>
        </p:txBody>
      </p:sp>
      <p:sp>
        <p:nvSpPr>
          <p:cNvPr id="268" name="Battery Passport Row Divider Dimensions"/>
          <p:cNvSpPr/>
          <p:nvPr/>
        </p:nvSpPr>
        <p:spPr>
          <a:xfrm>
            <a:off x="2699194" y="4564952"/>
            <a:ext cx="1153858" cy="6401"/>
          </a:xfrm>
          <a:prstGeom prst="rect">
            <a:avLst/>
          </a:prstGeom>
          <a:solidFill>
            <a:srgbClr val="E2E8EC"/>
          </a:solidFill>
          <a:ln>
            <a:noFill/>
          </a:ln>
          <a:effectLst/>
        </p:spPr>
        <p:txBody>
          <a:bodyPr rtlCol="0" anchor="ctr"/>
          <a:lstStyle/>
          <a:p>
            <a:endParaRPr lang="de-DE"/>
          </a:p>
        </p:txBody>
      </p:sp>
      <p:sp>
        <p:nvSpPr>
          <p:cNvPr id="269" name="Battery Passport Dim Lane External · CX Association"/>
          <p:cNvSpPr/>
          <p:nvPr/>
        </p:nvSpPr>
        <p:spPr>
          <a:xfrm>
            <a:off x="2630614" y="4811586"/>
            <a:ext cx="1291018" cy="284924"/>
          </a:xfrm>
          <a:prstGeom prst="rect">
            <a:avLst/>
          </a:prstGeom>
          <a:solidFill>
            <a:srgbClr val="F0F3F6"/>
          </a:solidFill>
          <a:ln>
            <a:noFill/>
          </a:ln>
          <a:effectLst/>
        </p:spPr>
        <p:txBody>
          <a:bodyPr rtlCol="0" anchor="ctr"/>
          <a:lstStyle/>
          <a:p>
            <a:endParaRPr lang="de-DE"/>
          </a:p>
        </p:txBody>
      </p:sp>
      <p:sp>
        <p:nvSpPr>
          <p:cNvPr id="270" name="Battery Passport Dim External · CX Association Dot"/>
          <p:cNvSpPr/>
          <p:nvPr/>
        </p:nvSpPr>
        <p:spPr>
          <a:xfrm>
            <a:off x="2699194" y="4899184"/>
            <a:ext cx="109728" cy="109728"/>
          </a:xfrm>
          <a:prstGeom prst="ellipse">
            <a:avLst/>
          </a:prstGeom>
          <a:solidFill>
            <a:srgbClr val="F0B135"/>
          </a:solidFill>
          <a:ln>
            <a:noFill/>
          </a:ln>
          <a:effectLst/>
        </p:spPr>
        <p:txBody>
          <a:bodyPr rtlCol="0" anchor="ctr"/>
          <a:lstStyle/>
          <a:p>
            <a:endParaRPr lang="de-DE"/>
          </a:p>
        </p:txBody>
      </p:sp>
      <p:sp>
        <p:nvSpPr>
          <p:cNvPr id="271" name="Battery Passport Dim Business Dot"/>
          <p:cNvSpPr/>
          <p:nvPr/>
        </p:nvSpPr>
        <p:spPr>
          <a:xfrm>
            <a:off x="2699194" y="5184108"/>
            <a:ext cx="109728" cy="109728"/>
          </a:xfrm>
          <a:prstGeom prst="ellipse">
            <a:avLst/>
          </a:prstGeom>
          <a:solidFill>
            <a:srgbClr val="F0B135"/>
          </a:solidFill>
          <a:ln>
            <a:noFill/>
          </a:ln>
          <a:effectLst/>
        </p:spPr>
        <p:txBody>
          <a:bodyPr rtlCol="0" anchor="ctr"/>
          <a:lstStyle/>
          <a:p>
            <a:endParaRPr lang="de-DE"/>
          </a:p>
        </p:txBody>
      </p:sp>
      <p:sp>
        <p:nvSpPr>
          <p:cNvPr id="272" name="Battery Passport Dim Lane Data Provisioning"/>
          <p:cNvSpPr/>
          <p:nvPr/>
        </p:nvSpPr>
        <p:spPr>
          <a:xfrm>
            <a:off x="2630614" y="5381435"/>
            <a:ext cx="1291018" cy="284924"/>
          </a:xfrm>
          <a:prstGeom prst="rect">
            <a:avLst/>
          </a:prstGeom>
          <a:solidFill>
            <a:srgbClr val="F0F3F6"/>
          </a:solidFill>
          <a:ln>
            <a:noFill/>
          </a:ln>
          <a:effectLst/>
        </p:spPr>
        <p:txBody>
          <a:bodyPr rtlCol="0" anchor="ctr"/>
          <a:lstStyle/>
          <a:p>
            <a:endParaRPr lang="de-DE"/>
          </a:p>
        </p:txBody>
      </p:sp>
      <p:sp>
        <p:nvSpPr>
          <p:cNvPr id="273" name="Battery Passport Dim Data Provisioning Dot"/>
          <p:cNvSpPr/>
          <p:nvPr/>
        </p:nvSpPr>
        <p:spPr>
          <a:xfrm>
            <a:off x="2699194" y="5469033"/>
            <a:ext cx="109728" cy="109728"/>
          </a:xfrm>
          <a:prstGeom prst="ellipse">
            <a:avLst/>
          </a:prstGeom>
          <a:solidFill>
            <a:srgbClr val="53BE70"/>
          </a:solidFill>
          <a:ln>
            <a:noFill/>
          </a:ln>
          <a:effectLst/>
        </p:spPr>
        <p:txBody>
          <a:bodyPr rtlCol="0" anchor="ctr"/>
          <a:lstStyle/>
          <a:p>
            <a:endParaRPr lang="de-DE"/>
          </a:p>
        </p:txBody>
      </p:sp>
      <p:sp>
        <p:nvSpPr>
          <p:cNvPr id="274" name="Battery Passport Dim Technical Dot"/>
          <p:cNvSpPr/>
          <p:nvPr/>
        </p:nvSpPr>
        <p:spPr>
          <a:xfrm>
            <a:off x="2699194" y="5753957"/>
            <a:ext cx="109728" cy="109728"/>
          </a:xfrm>
          <a:prstGeom prst="ellipse">
            <a:avLst/>
          </a:prstGeom>
          <a:solidFill>
            <a:srgbClr val="53BE70"/>
          </a:solidFill>
          <a:ln>
            <a:noFill/>
          </a:ln>
          <a:effectLst/>
        </p:spPr>
        <p:txBody>
          <a:bodyPr rtlCol="0" anchor="ctr"/>
          <a:lstStyle/>
          <a:p>
            <a:endParaRPr lang="de-DE"/>
          </a:p>
        </p:txBody>
      </p:sp>
      <p:sp>
        <p:nvSpPr>
          <p:cNvPr id="275" name="Battery Passport Dim Lane Supplier Activation"/>
          <p:cNvSpPr/>
          <p:nvPr/>
        </p:nvSpPr>
        <p:spPr>
          <a:xfrm>
            <a:off x="2630614" y="5951284"/>
            <a:ext cx="1291018" cy="284924"/>
          </a:xfrm>
          <a:prstGeom prst="rect">
            <a:avLst/>
          </a:prstGeom>
          <a:solidFill>
            <a:srgbClr val="F0F3F6"/>
          </a:solidFill>
          <a:ln>
            <a:noFill/>
          </a:ln>
          <a:effectLst/>
        </p:spPr>
        <p:txBody>
          <a:bodyPr rtlCol="0" anchor="ctr"/>
          <a:lstStyle/>
          <a:p>
            <a:endParaRPr lang="de-DE"/>
          </a:p>
        </p:txBody>
      </p:sp>
      <p:sp>
        <p:nvSpPr>
          <p:cNvPr id="276" name="Battery Passport Dim Supplier Activation Dot"/>
          <p:cNvSpPr/>
          <p:nvPr/>
        </p:nvSpPr>
        <p:spPr>
          <a:xfrm>
            <a:off x="2699194" y="6038882"/>
            <a:ext cx="109728" cy="109728"/>
          </a:xfrm>
          <a:prstGeom prst="ellipse">
            <a:avLst/>
          </a:prstGeom>
          <a:solidFill>
            <a:srgbClr val="53BE70"/>
          </a:solidFill>
          <a:ln>
            <a:noFill/>
          </a:ln>
          <a:effectLst/>
        </p:spPr>
        <p:txBody>
          <a:bodyPr rtlCol="0" anchor="ctr"/>
          <a:lstStyle/>
          <a:p>
            <a:endParaRPr lang="de-DE"/>
          </a:p>
        </p:txBody>
      </p:sp>
      <p:sp>
        <p:nvSpPr>
          <p:cNvPr id="277" name="Product Passes Row Divider Dimensions"/>
          <p:cNvSpPr/>
          <p:nvPr/>
        </p:nvSpPr>
        <p:spPr>
          <a:xfrm>
            <a:off x="4031361" y="4564952"/>
            <a:ext cx="1153858" cy="6401"/>
          </a:xfrm>
          <a:prstGeom prst="rect">
            <a:avLst/>
          </a:prstGeom>
          <a:solidFill>
            <a:srgbClr val="E2E8EC"/>
          </a:solidFill>
          <a:ln>
            <a:noFill/>
          </a:ln>
          <a:effectLst/>
        </p:spPr>
        <p:txBody>
          <a:bodyPr rtlCol="0" anchor="ctr"/>
          <a:lstStyle/>
          <a:p>
            <a:endParaRPr lang="de-DE"/>
          </a:p>
        </p:txBody>
      </p:sp>
      <p:sp>
        <p:nvSpPr>
          <p:cNvPr id="278" name="Product Passes Dim Lane External · CX Association"/>
          <p:cNvSpPr/>
          <p:nvPr/>
        </p:nvSpPr>
        <p:spPr>
          <a:xfrm>
            <a:off x="3962781" y="4811586"/>
            <a:ext cx="1291018" cy="284924"/>
          </a:xfrm>
          <a:prstGeom prst="rect">
            <a:avLst/>
          </a:prstGeom>
          <a:solidFill>
            <a:srgbClr val="F0F3F6"/>
          </a:solidFill>
          <a:ln>
            <a:noFill/>
          </a:ln>
          <a:effectLst/>
        </p:spPr>
        <p:txBody>
          <a:bodyPr rtlCol="0" anchor="ctr"/>
          <a:lstStyle/>
          <a:p>
            <a:endParaRPr lang="de-DE"/>
          </a:p>
        </p:txBody>
      </p:sp>
      <p:sp>
        <p:nvSpPr>
          <p:cNvPr id="279" name="Product Passes Dim External · CX Association Dot"/>
          <p:cNvSpPr/>
          <p:nvPr/>
        </p:nvSpPr>
        <p:spPr>
          <a:xfrm>
            <a:off x="4031361" y="4899184"/>
            <a:ext cx="109728" cy="109728"/>
          </a:xfrm>
          <a:prstGeom prst="ellipse">
            <a:avLst/>
          </a:prstGeom>
          <a:solidFill>
            <a:srgbClr val="F0B135"/>
          </a:solidFill>
          <a:ln>
            <a:noFill/>
          </a:ln>
          <a:effectLst/>
        </p:spPr>
        <p:txBody>
          <a:bodyPr rtlCol="0" anchor="ctr"/>
          <a:lstStyle/>
          <a:p>
            <a:endParaRPr lang="de-DE"/>
          </a:p>
        </p:txBody>
      </p:sp>
      <p:sp>
        <p:nvSpPr>
          <p:cNvPr id="280" name="Product Passes Dim Business Dot"/>
          <p:cNvSpPr/>
          <p:nvPr/>
        </p:nvSpPr>
        <p:spPr>
          <a:xfrm>
            <a:off x="4031361" y="5184108"/>
            <a:ext cx="109728" cy="109728"/>
          </a:xfrm>
          <a:prstGeom prst="ellipse">
            <a:avLst/>
          </a:prstGeom>
          <a:solidFill>
            <a:srgbClr val="F0B135"/>
          </a:solidFill>
          <a:ln>
            <a:noFill/>
          </a:ln>
          <a:effectLst/>
        </p:spPr>
        <p:txBody>
          <a:bodyPr rtlCol="0" anchor="ctr"/>
          <a:lstStyle/>
          <a:p>
            <a:endParaRPr lang="de-DE"/>
          </a:p>
        </p:txBody>
      </p:sp>
      <p:sp>
        <p:nvSpPr>
          <p:cNvPr id="281" name="Product Passes Dim Lane Data Provisioning"/>
          <p:cNvSpPr/>
          <p:nvPr/>
        </p:nvSpPr>
        <p:spPr>
          <a:xfrm>
            <a:off x="3962781" y="5381435"/>
            <a:ext cx="1291018" cy="284924"/>
          </a:xfrm>
          <a:prstGeom prst="rect">
            <a:avLst/>
          </a:prstGeom>
          <a:solidFill>
            <a:srgbClr val="F0F3F6"/>
          </a:solidFill>
          <a:ln>
            <a:noFill/>
          </a:ln>
          <a:effectLst/>
        </p:spPr>
        <p:txBody>
          <a:bodyPr rtlCol="0" anchor="ctr"/>
          <a:lstStyle/>
          <a:p>
            <a:endParaRPr lang="de-DE"/>
          </a:p>
        </p:txBody>
      </p:sp>
      <p:sp>
        <p:nvSpPr>
          <p:cNvPr id="282" name="Product Passes Dim Data Provisioning Dot"/>
          <p:cNvSpPr/>
          <p:nvPr/>
        </p:nvSpPr>
        <p:spPr>
          <a:xfrm>
            <a:off x="4031361" y="5469033"/>
            <a:ext cx="109728" cy="109728"/>
          </a:xfrm>
          <a:prstGeom prst="ellipse">
            <a:avLst/>
          </a:prstGeom>
          <a:solidFill>
            <a:srgbClr val="53BE70"/>
          </a:solidFill>
          <a:ln>
            <a:noFill/>
          </a:ln>
          <a:effectLst/>
        </p:spPr>
        <p:txBody>
          <a:bodyPr rtlCol="0" anchor="ctr"/>
          <a:lstStyle/>
          <a:p>
            <a:endParaRPr lang="de-DE"/>
          </a:p>
        </p:txBody>
      </p:sp>
      <p:sp>
        <p:nvSpPr>
          <p:cNvPr id="283" name="Product Passes Dim Technical Dot"/>
          <p:cNvSpPr/>
          <p:nvPr/>
        </p:nvSpPr>
        <p:spPr>
          <a:xfrm>
            <a:off x="4031361" y="5753957"/>
            <a:ext cx="109728" cy="109728"/>
          </a:xfrm>
          <a:prstGeom prst="ellipse">
            <a:avLst/>
          </a:prstGeom>
          <a:solidFill>
            <a:srgbClr val="53BE70"/>
          </a:solidFill>
          <a:ln>
            <a:noFill/>
          </a:ln>
          <a:effectLst/>
        </p:spPr>
        <p:txBody>
          <a:bodyPr rtlCol="0" anchor="ctr"/>
          <a:lstStyle/>
          <a:p>
            <a:endParaRPr lang="de-DE"/>
          </a:p>
        </p:txBody>
      </p:sp>
      <p:sp>
        <p:nvSpPr>
          <p:cNvPr id="284" name="Product Passes Dim Lane Supplier Activation"/>
          <p:cNvSpPr/>
          <p:nvPr/>
        </p:nvSpPr>
        <p:spPr>
          <a:xfrm>
            <a:off x="3962781" y="5951284"/>
            <a:ext cx="1291018" cy="284924"/>
          </a:xfrm>
          <a:prstGeom prst="rect">
            <a:avLst/>
          </a:prstGeom>
          <a:solidFill>
            <a:srgbClr val="F0F3F6"/>
          </a:solidFill>
          <a:ln>
            <a:noFill/>
          </a:ln>
          <a:effectLst/>
        </p:spPr>
        <p:txBody>
          <a:bodyPr rtlCol="0" anchor="ctr"/>
          <a:lstStyle/>
          <a:p>
            <a:endParaRPr lang="de-DE"/>
          </a:p>
        </p:txBody>
      </p:sp>
      <p:sp>
        <p:nvSpPr>
          <p:cNvPr id="285" name="Product Passes Dim Supplier Activation Dot"/>
          <p:cNvSpPr/>
          <p:nvPr/>
        </p:nvSpPr>
        <p:spPr>
          <a:xfrm>
            <a:off x="4031361" y="6038882"/>
            <a:ext cx="109728" cy="109728"/>
          </a:xfrm>
          <a:prstGeom prst="ellipse">
            <a:avLst/>
          </a:prstGeom>
          <a:solidFill>
            <a:srgbClr val="53BE70"/>
          </a:solidFill>
          <a:ln>
            <a:noFill/>
          </a:ln>
          <a:effectLst/>
        </p:spPr>
        <p:txBody>
          <a:bodyPr rtlCol="0" anchor="ctr"/>
          <a:lstStyle/>
          <a:p>
            <a:endParaRPr lang="de-DE"/>
          </a:p>
        </p:txBody>
      </p:sp>
      <p:sp>
        <p:nvSpPr>
          <p:cNvPr id="286" name="PURIS Row Divider Dimensions"/>
          <p:cNvSpPr/>
          <p:nvPr/>
        </p:nvSpPr>
        <p:spPr>
          <a:xfrm>
            <a:off x="5363528" y="4564952"/>
            <a:ext cx="1153858" cy="6401"/>
          </a:xfrm>
          <a:prstGeom prst="rect">
            <a:avLst/>
          </a:prstGeom>
          <a:solidFill>
            <a:srgbClr val="E2E8EC"/>
          </a:solidFill>
          <a:ln>
            <a:noFill/>
          </a:ln>
          <a:effectLst/>
        </p:spPr>
        <p:txBody>
          <a:bodyPr rtlCol="0" anchor="ctr"/>
          <a:lstStyle/>
          <a:p>
            <a:endParaRPr lang="de-DE"/>
          </a:p>
        </p:txBody>
      </p:sp>
      <p:sp>
        <p:nvSpPr>
          <p:cNvPr id="287" name="PURIS Dim Lane External · CX Association"/>
          <p:cNvSpPr/>
          <p:nvPr/>
        </p:nvSpPr>
        <p:spPr>
          <a:xfrm>
            <a:off x="5294947" y="4811586"/>
            <a:ext cx="1291018" cy="284924"/>
          </a:xfrm>
          <a:prstGeom prst="rect">
            <a:avLst/>
          </a:prstGeom>
          <a:solidFill>
            <a:srgbClr val="F0F3F6"/>
          </a:solidFill>
          <a:ln>
            <a:noFill/>
          </a:ln>
          <a:effectLst/>
        </p:spPr>
        <p:txBody>
          <a:bodyPr rtlCol="0" anchor="ctr"/>
          <a:lstStyle/>
          <a:p>
            <a:endParaRPr lang="de-DE"/>
          </a:p>
        </p:txBody>
      </p:sp>
      <p:sp>
        <p:nvSpPr>
          <p:cNvPr id="288" name="PURIS Dim External · CX Association Dot"/>
          <p:cNvSpPr/>
          <p:nvPr/>
        </p:nvSpPr>
        <p:spPr>
          <a:xfrm>
            <a:off x="5363528" y="4899184"/>
            <a:ext cx="109728" cy="109728"/>
          </a:xfrm>
          <a:prstGeom prst="ellipse">
            <a:avLst/>
          </a:prstGeom>
          <a:solidFill>
            <a:srgbClr val="53BE70"/>
          </a:solidFill>
          <a:ln>
            <a:noFill/>
          </a:ln>
          <a:effectLst/>
        </p:spPr>
        <p:txBody>
          <a:bodyPr rtlCol="0" anchor="ctr"/>
          <a:lstStyle/>
          <a:p>
            <a:endParaRPr lang="de-DE"/>
          </a:p>
        </p:txBody>
      </p:sp>
      <p:sp>
        <p:nvSpPr>
          <p:cNvPr id="289" name="PURIS Dim Business Dot"/>
          <p:cNvSpPr/>
          <p:nvPr/>
        </p:nvSpPr>
        <p:spPr>
          <a:xfrm>
            <a:off x="5363528" y="5184108"/>
            <a:ext cx="109728" cy="109728"/>
          </a:xfrm>
          <a:prstGeom prst="ellipse">
            <a:avLst/>
          </a:prstGeom>
          <a:solidFill>
            <a:srgbClr val="F0B135"/>
          </a:solidFill>
          <a:ln>
            <a:noFill/>
          </a:ln>
          <a:effectLst/>
        </p:spPr>
        <p:txBody>
          <a:bodyPr rtlCol="0" anchor="ctr"/>
          <a:lstStyle/>
          <a:p>
            <a:endParaRPr lang="de-DE"/>
          </a:p>
        </p:txBody>
      </p:sp>
      <p:sp>
        <p:nvSpPr>
          <p:cNvPr id="290" name="PURIS Dim Lane Data Provisioning"/>
          <p:cNvSpPr/>
          <p:nvPr/>
        </p:nvSpPr>
        <p:spPr>
          <a:xfrm>
            <a:off x="5294947" y="5381435"/>
            <a:ext cx="1291018" cy="284924"/>
          </a:xfrm>
          <a:prstGeom prst="rect">
            <a:avLst/>
          </a:prstGeom>
          <a:solidFill>
            <a:srgbClr val="F0F3F6"/>
          </a:solidFill>
          <a:ln>
            <a:noFill/>
          </a:ln>
          <a:effectLst/>
        </p:spPr>
        <p:txBody>
          <a:bodyPr rtlCol="0" anchor="ctr"/>
          <a:lstStyle/>
          <a:p>
            <a:endParaRPr lang="de-DE"/>
          </a:p>
        </p:txBody>
      </p:sp>
      <p:sp>
        <p:nvSpPr>
          <p:cNvPr id="291" name="PURIS Dim Data Provisioning Dot"/>
          <p:cNvSpPr/>
          <p:nvPr/>
        </p:nvSpPr>
        <p:spPr>
          <a:xfrm>
            <a:off x="5363528" y="5469033"/>
            <a:ext cx="109728" cy="109728"/>
          </a:xfrm>
          <a:prstGeom prst="ellipse">
            <a:avLst/>
          </a:prstGeom>
          <a:solidFill>
            <a:srgbClr val="F0B135"/>
          </a:solidFill>
          <a:ln>
            <a:noFill/>
          </a:ln>
          <a:effectLst/>
        </p:spPr>
        <p:txBody>
          <a:bodyPr rtlCol="0" anchor="ctr"/>
          <a:lstStyle/>
          <a:p>
            <a:endParaRPr lang="de-DE"/>
          </a:p>
        </p:txBody>
      </p:sp>
      <p:sp>
        <p:nvSpPr>
          <p:cNvPr id="292" name="PURIS Dim Technical Dot"/>
          <p:cNvSpPr/>
          <p:nvPr/>
        </p:nvSpPr>
        <p:spPr>
          <a:xfrm>
            <a:off x="5363528" y="5753957"/>
            <a:ext cx="109728" cy="109728"/>
          </a:xfrm>
          <a:prstGeom prst="ellipse">
            <a:avLst/>
          </a:prstGeom>
          <a:solidFill>
            <a:srgbClr val="F0B135"/>
          </a:solidFill>
          <a:ln>
            <a:noFill/>
          </a:ln>
          <a:effectLst/>
        </p:spPr>
        <p:txBody>
          <a:bodyPr rtlCol="0" anchor="ctr"/>
          <a:lstStyle/>
          <a:p>
            <a:endParaRPr lang="de-DE"/>
          </a:p>
        </p:txBody>
      </p:sp>
      <p:sp>
        <p:nvSpPr>
          <p:cNvPr id="293" name="PURIS Dim Lane Supplier Activation"/>
          <p:cNvSpPr/>
          <p:nvPr/>
        </p:nvSpPr>
        <p:spPr>
          <a:xfrm>
            <a:off x="5294947" y="5951284"/>
            <a:ext cx="1291018" cy="284924"/>
          </a:xfrm>
          <a:prstGeom prst="rect">
            <a:avLst/>
          </a:prstGeom>
          <a:solidFill>
            <a:srgbClr val="F0F3F6"/>
          </a:solidFill>
          <a:ln>
            <a:noFill/>
          </a:ln>
          <a:effectLst/>
        </p:spPr>
        <p:txBody>
          <a:bodyPr rtlCol="0" anchor="ctr"/>
          <a:lstStyle/>
          <a:p>
            <a:endParaRPr lang="de-DE"/>
          </a:p>
        </p:txBody>
      </p:sp>
      <p:sp>
        <p:nvSpPr>
          <p:cNvPr id="294" name="PURIS Dim Supplier Activation Dot"/>
          <p:cNvSpPr/>
          <p:nvPr/>
        </p:nvSpPr>
        <p:spPr>
          <a:xfrm>
            <a:off x="5363528" y="6038882"/>
            <a:ext cx="109728" cy="109728"/>
          </a:xfrm>
          <a:prstGeom prst="ellipse">
            <a:avLst/>
          </a:prstGeom>
          <a:solidFill>
            <a:srgbClr val="F0B135"/>
          </a:solidFill>
          <a:ln>
            <a:noFill/>
          </a:ln>
          <a:effectLst/>
        </p:spPr>
        <p:txBody>
          <a:bodyPr rtlCol="0" anchor="ctr"/>
          <a:lstStyle/>
          <a:p>
            <a:endParaRPr lang="de-DE"/>
          </a:p>
        </p:txBody>
      </p:sp>
      <p:sp>
        <p:nvSpPr>
          <p:cNvPr id="295" name="Business Partner Data Mgmt Row Divider Dimensions"/>
          <p:cNvSpPr/>
          <p:nvPr/>
        </p:nvSpPr>
        <p:spPr>
          <a:xfrm>
            <a:off x="6695694" y="4564952"/>
            <a:ext cx="1153858" cy="6401"/>
          </a:xfrm>
          <a:prstGeom prst="rect">
            <a:avLst/>
          </a:prstGeom>
          <a:solidFill>
            <a:srgbClr val="E2E8EC"/>
          </a:solidFill>
          <a:ln>
            <a:noFill/>
          </a:ln>
          <a:effectLst/>
        </p:spPr>
        <p:txBody>
          <a:bodyPr rtlCol="0" anchor="ctr"/>
          <a:lstStyle/>
          <a:p>
            <a:endParaRPr lang="de-DE"/>
          </a:p>
        </p:txBody>
      </p:sp>
      <p:sp>
        <p:nvSpPr>
          <p:cNvPr id="296" name="Business Partner Data Mgmt Dim Lane External · CX Association"/>
          <p:cNvSpPr/>
          <p:nvPr/>
        </p:nvSpPr>
        <p:spPr>
          <a:xfrm>
            <a:off x="6627114" y="4811586"/>
            <a:ext cx="1291018" cy="284924"/>
          </a:xfrm>
          <a:prstGeom prst="rect">
            <a:avLst/>
          </a:prstGeom>
          <a:solidFill>
            <a:srgbClr val="F0F3F6"/>
          </a:solidFill>
          <a:ln>
            <a:noFill/>
          </a:ln>
          <a:effectLst/>
        </p:spPr>
        <p:txBody>
          <a:bodyPr rtlCol="0" anchor="ctr"/>
          <a:lstStyle/>
          <a:p>
            <a:endParaRPr lang="de-DE"/>
          </a:p>
        </p:txBody>
      </p:sp>
      <p:sp>
        <p:nvSpPr>
          <p:cNvPr id="297" name="Business Partner Data Mgmt Dim External · CX Association Dot"/>
          <p:cNvSpPr/>
          <p:nvPr/>
        </p:nvSpPr>
        <p:spPr>
          <a:xfrm>
            <a:off x="6695694" y="4899184"/>
            <a:ext cx="109728" cy="109728"/>
          </a:xfrm>
          <a:prstGeom prst="ellipse">
            <a:avLst/>
          </a:prstGeom>
          <a:solidFill>
            <a:srgbClr val="53BE70"/>
          </a:solidFill>
          <a:ln>
            <a:noFill/>
          </a:ln>
          <a:effectLst/>
        </p:spPr>
        <p:txBody>
          <a:bodyPr rtlCol="0" anchor="ctr"/>
          <a:lstStyle/>
          <a:p>
            <a:endParaRPr lang="de-DE"/>
          </a:p>
        </p:txBody>
      </p:sp>
      <p:sp>
        <p:nvSpPr>
          <p:cNvPr id="298" name="Business Partner Data Mgmt Dim Business Dot"/>
          <p:cNvSpPr/>
          <p:nvPr/>
        </p:nvSpPr>
        <p:spPr>
          <a:xfrm>
            <a:off x="6695694" y="5184108"/>
            <a:ext cx="109728" cy="109728"/>
          </a:xfrm>
          <a:prstGeom prst="ellipse">
            <a:avLst/>
          </a:prstGeom>
          <a:solidFill>
            <a:srgbClr val="F0B135"/>
          </a:solidFill>
          <a:ln>
            <a:noFill/>
          </a:ln>
          <a:effectLst/>
        </p:spPr>
        <p:txBody>
          <a:bodyPr rtlCol="0" anchor="ctr"/>
          <a:lstStyle/>
          <a:p>
            <a:endParaRPr lang="de-DE"/>
          </a:p>
        </p:txBody>
      </p:sp>
      <p:sp>
        <p:nvSpPr>
          <p:cNvPr id="299" name="Business Partner Data Mgmt Dim Lane Data Provisioning"/>
          <p:cNvSpPr/>
          <p:nvPr/>
        </p:nvSpPr>
        <p:spPr>
          <a:xfrm>
            <a:off x="6627114" y="5381435"/>
            <a:ext cx="1291018" cy="284924"/>
          </a:xfrm>
          <a:prstGeom prst="rect">
            <a:avLst/>
          </a:prstGeom>
          <a:solidFill>
            <a:srgbClr val="F0F3F6"/>
          </a:solidFill>
          <a:ln>
            <a:noFill/>
          </a:ln>
          <a:effectLst/>
        </p:spPr>
        <p:txBody>
          <a:bodyPr rtlCol="0" anchor="ctr"/>
          <a:lstStyle/>
          <a:p>
            <a:endParaRPr lang="de-DE"/>
          </a:p>
        </p:txBody>
      </p:sp>
      <p:sp>
        <p:nvSpPr>
          <p:cNvPr id="300" name="Business Partner Data Mgmt Dim Data Provisioning Dot"/>
          <p:cNvSpPr/>
          <p:nvPr/>
        </p:nvSpPr>
        <p:spPr>
          <a:xfrm>
            <a:off x="6695694" y="5469033"/>
            <a:ext cx="109728" cy="109728"/>
          </a:xfrm>
          <a:prstGeom prst="ellipse">
            <a:avLst/>
          </a:prstGeom>
          <a:solidFill>
            <a:srgbClr val="53BE70"/>
          </a:solidFill>
          <a:ln>
            <a:noFill/>
          </a:ln>
          <a:effectLst/>
        </p:spPr>
        <p:txBody>
          <a:bodyPr rtlCol="0" anchor="ctr"/>
          <a:lstStyle/>
          <a:p>
            <a:endParaRPr lang="de-DE"/>
          </a:p>
        </p:txBody>
      </p:sp>
      <p:sp>
        <p:nvSpPr>
          <p:cNvPr id="301" name="Business Partner Data Mgmt Dim Technical Dot"/>
          <p:cNvSpPr/>
          <p:nvPr/>
        </p:nvSpPr>
        <p:spPr>
          <a:xfrm>
            <a:off x="6695694" y="5753957"/>
            <a:ext cx="109728" cy="109728"/>
          </a:xfrm>
          <a:prstGeom prst="ellipse">
            <a:avLst/>
          </a:prstGeom>
          <a:solidFill>
            <a:srgbClr val="F0B135"/>
          </a:solidFill>
          <a:ln>
            <a:noFill/>
          </a:ln>
          <a:effectLst/>
        </p:spPr>
        <p:txBody>
          <a:bodyPr rtlCol="0" anchor="ctr"/>
          <a:lstStyle/>
          <a:p>
            <a:endParaRPr lang="de-DE"/>
          </a:p>
        </p:txBody>
      </p:sp>
      <p:sp>
        <p:nvSpPr>
          <p:cNvPr id="302" name="Business Partner Data Mgmt Dim Lane Supplier Activation"/>
          <p:cNvSpPr/>
          <p:nvPr/>
        </p:nvSpPr>
        <p:spPr>
          <a:xfrm>
            <a:off x="6627114" y="5951284"/>
            <a:ext cx="1291018" cy="284924"/>
          </a:xfrm>
          <a:prstGeom prst="rect">
            <a:avLst/>
          </a:prstGeom>
          <a:solidFill>
            <a:srgbClr val="F0F3F6"/>
          </a:solidFill>
          <a:ln>
            <a:noFill/>
          </a:ln>
          <a:effectLst/>
        </p:spPr>
        <p:txBody>
          <a:bodyPr rtlCol="0" anchor="ctr"/>
          <a:lstStyle/>
          <a:p>
            <a:endParaRPr lang="de-DE"/>
          </a:p>
        </p:txBody>
      </p:sp>
      <p:sp>
        <p:nvSpPr>
          <p:cNvPr id="303" name="Business Partner Data Mgmt Dim Supplier Activation Ring"/>
          <p:cNvSpPr/>
          <p:nvPr/>
        </p:nvSpPr>
        <p:spPr>
          <a:xfrm>
            <a:off x="6695694" y="6038882"/>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304" name="Certificate Management Row Divider Dimensions"/>
          <p:cNvSpPr/>
          <p:nvPr/>
        </p:nvSpPr>
        <p:spPr>
          <a:xfrm>
            <a:off x="8027860" y="4564952"/>
            <a:ext cx="1153858" cy="6401"/>
          </a:xfrm>
          <a:prstGeom prst="rect">
            <a:avLst/>
          </a:prstGeom>
          <a:solidFill>
            <a:srgbClr val="E2E8EC"/>
          </a:solidFill>
          <a:ln>
            <a:noFill/>
          </a:ln>
          <a:effectLst/>
        </p:spPr>
        <p:txBody>
          <a:bodyPr rtlCol="0" anchor="ctr"/>
          <a:lstStyle/>
          <a:p>
            <a:endParaRPr lang="de-DE"/>
          </a:p>
        </p:txBody>
      </p:sp>
      <p:sp>
        <p:nvSpPr>
          <p:cNvPr id="305" name="Certificate Management Dim Lane External · CX Association"/>
          <p:cNvSpPr/>
          <p:nvPr/>
        </p:nvSpPr>
        <p:spPr>
          <a:xfrm>
            <a:off x="7959280" y="4811586"/>
            <a:ext cx="1291018" cy="284924"/>
          </a:xfrm>
          <a:prstGeom prst="rect">
            <a:avLst/>
          </a:prstGeom>
          <a:solidFill>
            <a:srgbClr val="F0F3F6"/>
          </a:solidFill>
          <a:ln>
            <a:noFill/>
          </a:ln>
          <a:effectLst/>
        </p:spPr>
        <p:txBody>
          <a:bodyPr rtlCol="0" anchor="ctr"/>
          <a:lstStyle/>
          <a:p>
            <a:endParaRPr lang="de-DE"/>
          </a:p>
        </p:txBody>
      </p:sp>
      <p:sp>
        <p:nvSpPr>
          <p:cNvPr id="306" name="Certificate Management Dim External · CX Association Dot"/>
          <p:cNvSpPr/>
          <p:nvPr/>
        </p:nvSpPr>
        <p:spPr>
          <a:xfrm>
            <a:off x="8027860" y="4899184"/>
            <a:ext cx="109728" cy="109728"/>
          </a:xfrm>
          <a:prstGeom prst="ellipse">
            <a:avLst/>
          </a:prstGeom>
          <a:solidFill>
            <a:srgbClr val="53BE70"/>
          </a:solidFill>
          <a:ln>
            <a:noFill/>
          </a:ln>
          <a:effectLst/>
        </p:spPr>
        <p:txBody>
          <a:bodyPr rtlCol="0" anchor="ctr"/>
          <a:lstStyle/>
          <a:p>
            <a:endParaRPr lang="de-DE"/>
          </a:p>
        </p:txBody>
      </p:sp>
      <p:sp>
        <p:nvSpPr>
          <p:cNvPr id="307" name="Certificate Management Dim Business Dot"/>
          <p:cNvSpPr/>
          <p:nvPr/>
        </p:nvSpPr>
        <p:spPr>
          <a:xfrm>
            <a:off x="8027860" y="5184108"/>
            <a:ext cx="109728" cy="109728"/>
          </a:xfrm>
          <a:prstGeom prst="ellipse">
            <a:avLst/>
          </a:prstGeom>
          <a:solidFill>
            <a:srgbClr val="53BE70"/>
          </a:solidFill>
          <a:ln>
            <a:noFill/>
          </a:ln>
          <a:effectLst/>
        </p:spPr>
        <p:txBody>
          <a:bodyPr rtlCol="0" anchor="ctr"/>
          <a:lstStyle/>
          <a:p>
            <a:endParaRPr lang="de-DE"/>
          </a:p>
        </p:txBody>
      </p:sp>
      <p:sp>
        <p:nvSpPr>
          <p:cNvPr id="308" name="Certificate Management Dim Lane Data Provisioning"/>
          <p:cNvSpPr/>
          <p:nvPr/>
        </p:nvSpPr>
        <p:spPr>
          <a:xfrm>
            <a:off x="7959280" y="5381435"/>
            <a:ext cx="1291018" cy="284924"/>
          </a:xfrm>
          <a:prstGeom prst="rect">
            <a:avLst/>
          </a:prstGeom>
          <a:solidFill>
            <a:srgbClr val="F0F3F6"/>
          </a:solidFill>
          <a:ln>
            <a:noFill/>
          </a:ln>
          <a:effectLst/>
        </p:spPr>
        <p:txBody>
          <a:bodyPr rtlCol="0" anchor="ctr"/>
          <a:lstStyle/>
          <a:p>
            <a:endParaRPr lang="de-DE"/>
          </a:p>
        </p:txBody>
      </p:sp>
      <p:sp>
        <p:nvSpPr>
          <p:cNvPr id="309" name="Certificate Management Dim Data Provisioning Dot"/>
          <p:cNvSpPr/>
          <p:nvPr/>
        </p:nvSpPr>
        <p:spPr>
          <a:xfrm>
            <a:off x="8027860" y="5469033"/>
            <a:ext cx="109728" cy="109728"/>
          </a:xfrm>
          <a:prstGeom prst="ellipse">
            <a:avLst/>
          </a:prstGeom>
          <a:solidFill>
            <a:srgbClr val="53BE70"/>
          </a:solidFill>
          <a:ln>
            <a:noFill/>
          </a:ln>
          <a:effectLst/>
        </p:spPr>
        <p:txBody>
          <a:bodyPr rtlCol="0" anchor="ctr"/>
          <a:lstStyle/>
          <a:p>
            <a:endParaRPr lang="de-DE"/>
          </a:p>
        </p:txBody>
      </p:sp>
      <p:sp>
        <p:nvSpPr>
          <p:cNvPr id="310" name="Certificate Management Dim Technical Dot"/>
          <p:cNvSpPr/>
          <p:nvPr/>
        </p:nvSpPr>
        <p:spPr>
          <a:xfrm>
            <a:off x="8027860" y="5753957"/>
            <a:ext cx="109728" cy="109728"/>
          </a:xfrm>
          <a:prstGeom prst="ellipse">
            <a:avLst/>
          </a:prstGeom>
          <a:solidFill>
            <a:srgbClr val="53BE70"/>
          </a:solidFill>
          <a:ln>
            <a:noFill/>
          </a:ln>
          <a:effectLst/>
        </p:spPr>
        <p:txBody>
          <a:bodyPr rtlCol="0" anchor="ctr"/>
          <a:lstStyle/>
          <a:p>
            <a:endParaRPr lang="de-DE"/>
          </a:p>
        </p:txBody>
      </p:sp>
      <p:sp>
        <p:nvSpPr>
          <p:cNvPr id="311" name="Certificate Management Dim Lane Supplier Activation"/>
          <p:cNvSpPr/>
          <p:nvPr/>
        </p:nvSpPr>
        <p:spPr>
          <a:xfrm>
            <a:off x="7959280" y="5951284"/>
            <a:ext cx="1291018" cy="284924"/>
          </a:xfrm>
          <a:prstGeom prst="rect">
            <a:avLst/>
          </a:prstGeom>
          <a:solidFill>
            <a:srgbClr val="F0F3F6"/>
          </a:solidFill>
          <a:ln>
            <a:noFill/>
          </a:ln>
          <a:effectLst/>
        </p:spPr>
        <p:txBody>
          <a:bodyPr rtlCol="0" anchor="ctr"/>
          <a:lstStyle/>
          <a:p>
            <a:endParaRPr lang="de-DE"/>
          </a:p>
        </p:txBody>
      </p:sp>
      <p:sp>
        <p:nvSpPr>
          <p:cNvPr id="312" name="Certificate Management Dim Supplier Activation Dot"/>
          <p:cNvSpPr/>
          <p:nvPr/>
        </p:nvSpPr>
        <p:spPr>
          <a:xfrm>
            <a:off x="8027860" y="6038882"/>
            <a:ext cx="109728" cy="109728"/>
          </a:xfrm>
          <a:prstGeom prst="ellipse">
            <a:avLst/>
          </a:prstGeom>
          <a:solidFill>
            <a:srgbClr val="53BE70"/>
          </a:solidFill>
          <a:ln>
            <a:noFill/>
          </a:ln>
          <a:effectLst/>
        </p:spPr>
        <p:txBody>
          <a:bodyPr rtlCol="0" anchor="ctr"/>
          <a:lstStyle/>
          <a:p>
            <a:endParaRPr lang="de-DE"/>
          </a:p>
        </p:txBody>
      </p:sp>
      <p:sp>
        <p:nvSpPr>
          <p:cNvPr id="313" name="Product Carbon Footprint Row Divider Dimensions"/>
          <p:cNvSpPr/>
          <p:nvPr/>
        </p:nvSpPr>
        <p:spPr>
          <a:xfrm>
            <a:off x="9360027" y="4564952"/>
            <a:ext cx="1153858" cy="6401"/>
          </a:xfrm>
          <a:prstGeom prst="rect">
            <a:avLst/>
          </a:prstGeom>
          <a:solidFill>
            <a:srgbClr val="E2E8EC"/>
          </a:solidFill>
          <a:ln>
            <a:noFill/>
          </a:ln>
          <a:effectLst/>
        </p:spPr>
        <p:txBody>
          <a:bodyPr rtlCol="0" anchor="ctr"/>
          <a:lstStyle/>
          <a:p>
            <a:endParaRPr lang="de-DE"/>
          </a:p>
        </p:txBody>
      </p:sp>
      <p:sp>
        <p:nvSpPr>
          <p:cNvPr id="314" name="Product Carbon Footprint Dim Lane External · CX Association"/>
          <p:cNvSpPr/>
          <p:nvPr/>
        </p:nvSpPr>
        <p:spPr>
          <a:xfrm>
            <a:off x="9291447" y="4811586"/>
            <a:ext cx="1291018" cy="284924"/>
          </a:xfrm>
          <a:prstGeom prst="rect">
            <a:avLst/>
          </a:prstGeom>
          <a:solidFill>
            <a:srgbClr val="F0F3F6"/>
          </a:solidFill>
          <a:ln>
            <a:noFill/>
          </a:ln>
          <a:effectLst/>
        </p:spPr>
        <p:txBody>
          <a:bodyPr rtlCol="0" anchor="ctr"/>
          <a:lstStyle/>
          <a:p>
            <a:endParaRPr lang="de-DE"/>
          </a:p>
        </p:txBody>
      </p:sp>
      <p:sp>
        <p:nvSpPr>
          <p:cNvPr id="315" name="Product Carbon Footprint Dim External · CX Association Dot"/>
          <p:cNvSpPr/>
          <p:nvPr/>
        </p:nvSpPr>
        <p:spPr>
          <a:xfrm>
            <a:off x="9360027" y="4899184"/>
            <a:ext cx="109728" cy="109728"/>
          </a:xfrm>
          <a:prstGeom prst="ellipse">
            <a:avLst/>
          </a:prstGeom>
          <a:solidFill>
            <a:srgbClr val="53BE70"/>
          </a:solidFill>
          <a:ln>
            <a:noFill/>
          </a:ln>
          <a:effectLst/>
        </p:spPr>
        <p:txBody>
          <a:bodyPr rtlCol="0" anchor="ctr"/>
          <a:lstStyle/>
          <a:p>
            <a:endParaRPr lang="de-DE"/>
          </a:p>
        </p:txBody>
      </p:sp>
      <p:sp>
        <p:nvSpPr>
          <p:cNvPr id="316" name="Product Carbon Footprint Dim Business Dot"/>
          <p:cNvSpPr/>
          <p:nvPr/>
        </p:nvSpPr>
        <p:spPr>
          <a:xfrm>
            <a:off x="9360027" y="5184108"/>
            <a:ext cx="109728" cy="109728"/>
          </a:xfrm>
          <a:prstGeom prst="ellipse">
            <a:avLst/>
          </a:prstGeom>
          <a:solidFill>
            <a:srgbClr val="53BE70"/>
          </a:solidFill>
          <a:ln>
            <a:noFill/>
          </a:ln>
          <a:effectLst/>
        </p:spPr>
        <p:txBody>
          <a:bodyPr rtlCol="0" anchor="ctr"/>
          <a:lstStyle/>
          <a:p>
            <a:endParaRPr lang="de-DE"/>
          </a:p>
        </p:txBody>
      </p:sp>
      <p:sp>
        <p:nvSpPr>
          <p:cNvPr id="317" name="Product Carbon Footprint Dim Lane Data Provisioning"/>
          <p:cNvSpPr/>
          <p:nvPr/>
        </p:nvSpPr>
        <p:spPr>
          <a:xfrm>
            <a:off x="9291447" y="5381435"/>
            <a:ext cx="1291018" cy="284924"/>
          </a:xfrm>
          <a:prstGeom prst="rect">
            <a:avLst/>
          </a:prstGeom>
          <a:solidFill>
            <a:srgbClr val="F0F3F6"/>
          </a:solidFill>
          <a:ln>
            <a:noFill/>
          </a:ln>
          <a:effectLst/>
        </p:spPr>
        <p:txBody>
          <a:bodyPr rtlCol="0" anchor="ctr"/>
          <a:lstStyle/>
          <a:p>
            <a:endParaRPr lang="de-DE"/>
          </a:p>
        </p:txBody>
      </p:sp>
      <p:sp>
        <p:nvSpPr>
          <p:cNvPr id="318" name="Product Carbon Footprint Dim Data Provisioning Dot"/>
          <p:cNvSpPr/>
          <p:nvPr/>
        </p:nvSpPr>
        <p:spPr>
          <a:xfrm>
            <a:off x="9360027" y="5469033"/>
            <a:ext cx="109728" cy="109728"/>
          </a:xfrm>
          <a:prstGeom prst="ellipse">
            <a:avLst/>
          </a:prstGeom>
          <a:solidFill>
            <a:srgbClr val="F0B135"/>
          </a:solidFill>
          <a:ln>
            <a:noFill/>
          </a:ln>
          <a:effectLst/>
        </p:spPr>
        <p:txBody>
          <a:bodyPr rtlCol="0" anchor="ctr"/>
          <a:lstStyle/>
          <a:p>
            <a:endParaRPr lang="de-DE"/>
          </a:p>
        </p:txBody>
      </p:sp>
      <p:sp>
        <p:nvSpPr>
          <p:cNvPr id="319" name="Product Carbon Footprint Dim Technical Dot"/>
          <p:cNvSpPr/>
          <p:nvPr/>
        </p:nvSpPr>
        <p:spPr>
          <a:xfrm>
            <a:off x="9360027" y="5753957"/>
            <a:ext cx="109728" cy="109728"/>
          </a:xfrm>
          <a:prstGeom prst="ellipse">
            <a:avLst/>
          </a:prstGeom>
          <a:solidFill>
            <a:srgbClr val="53BE70"/>
          </a:solidFill>
          <a:ln>
            <a:noFill/>
          </a:ln>
          <a:effectLst/>
        </p:spPr>
        <p:txBody>
          <a:bodyPr rtlCol="0" anchor="ctr"/>
          <a:lstStyle/>
          <a:p>
            <a:endParaRPr lang="de-DE"/>
          </a:p>
        </p:txBody>
      </p:sp>
      <p:sp>
        <p:nvSpPr>
          <p:cNvPr id="320" name="Product Carbon Footprint Dim Lane Supplier Activation"/>
          <p:cNvSpPr/>
          <p:nvPr/>
        </p:nvSpPr>
        <p:spPr>
          <a:xfrm>
            <a:off x="9291447" y="5951284"/>
            <a:ext cx="1291018" cy="284924"/>
          </a:xfrm>
          <a:prstGeom prst="rect">
            <a:avLst/>
          </a:prstGeom>
          <a:solidFill>
            <a:srgbClr val="F0F3F6"/>
          </a:solidFill>
          <a:ln>
            <a:noFill/>
          </a:ln>
          <a:effectLst/>
        </p:spPr>
        <p:txBody>
          <a:bodyPr rtlCol="0" anchor="ctr"/>
          <a:lstStyle/>
          <a:p>
            <a:endParaRPr lang="de-DE"/>
          </a:p>
        </p:txBody>
      </p:sp>
      <p:sp>
        <p:nvSpPr>
          <p:cNvPr id="321" name="Product Carbon Footprint Dim Supplier Activation Dot"/>
          <p:cNvSpPr/>
          <p:nvPr/>
        </p:nvSpPr>
        <p:spPr>
          <a:xfrm>
            <a:off x="9360027" y="6038882"/>
            <a:ext cx="109728" cy="109728"/>
          </a:xfrm>
          <a:prstGeom prst="ellipse">
            <a:avLst/>
          </a:prstGeom>
          <a:solidFill>
            <a:srgbClr val="F0B135"/>
          </a:solidFill>
          <a:ln>
            <a:noFill/>
          </a:ln>
          <a:effectLst/>
        </p:spPr>
        <p:txBody>
          <a:bodyPr rtlCol="0" anchor="ctr"/>
          <a:lstStyle/>
          <a:p>
            <a:endParaRPr lang="de-DE"/>
          </a:p>
        </p:txBody>
      </p:sp>
      <p:sp>
        <p:nvSpPr>
          <p:cNvPr id="322" name="N-Tier Row Divider Dimensions"/>
          <p:cNvSpPr/>
          <p:nvPr/>
        </p:nvSpPr>
        <p:spPr>
          <a:xfrm>
            <a:off x="10692193" y="4564952"/>
            <a:ext cx="1153858" cy="6401"/>
          </a:xfrm>
          <a:prstGeom prst="rect">
            <a:avLst/>
          </a:prstGeom>
          <a:solidFill>
            <a:srgbClr val="E2E8EC"/>
          </a:solidFill>
          <a:ln>
            <a:noFill/>
          </a:ln>
          <a:effectLst/>
        </p:spPr>
        <p:txBody>
          <a:bodyPr rtlCol="0" anchor="ctr"/>
          <a:lstStyle/>
          <a:p>
            <a:endParaRPr lang="de-DE"/>
          </a:p>
        </p:txBody>
      </p:sp>
      <p:sp>
        <p:nvSpPr>
          <p:cNvPr id="323" name="N-Tier Dim Lane External · CX Association"/>
          <p:cNvSpPr/>
          <p:nvPr/>
        </p:nvSpPr>
        <p:spPr>
          <a:xfrm>
            <a:off x="10623614" y="4811586"/>
            <a:ext cx="1291018" cy="284924"/>
          </a:xfrm>
          <a:prstGeom prst="rect">
            <a:avLst/>
          </a:prstGeom>
          <a:solidFill>
            <a:srgbClr val="F0F3F6"/>
          </a:solidFill>
          <a:ln>
            <a:noFill/>
          </a:ln>
          <a:effectLst/>
        </p:spPr>
        <p:txBody>
          <a:bodyPr rtlCol="0" anchor="ctr"/>
          <a:lstStyle/>
          <a:p>
            <a:endParaRPr lang="de-DE"/>
          </a:p>
        </p:txBody>
      </p:sp>
      <p:sp>
        <p:nvSpPr>
          <p:cNvPr id="324" name="N-Tier Dim External · CX Association Dot"/>
          <p:cNvSpPr/>
          <p:nvPr/>
        </p:nvSpPr>
        <p:spPr>
          <a:xfrm>
            <a:off x="10692193" y="4899184"/>
            <a:ext cx="109728" cy="109728"/>
          </a:xfrm>
          <a:prstGeom prst="ellipse">
            <a:avLst/>
          </a:prstGeom>
          <a:solidFill>
            <a:srgbClr val="53BE70"/>
          </a:solidFill>
          <a:ln>
            <a:noFill/>
          </a:ln>
          <a:effectLst/>
        </p:spPr>
        <p:txBody>
          <a:bodyPr rtlCol="0" anchor="ctr"/>
          <a:lstStyle/>
          <a:p>
            <a:endParaRPr lang="de-DE"/>
          </a:p>
        </p:txBody>
      </p:sp>
      <p:sp>
        <p:nvSpPr>
          <p:cNvPr id="325" name="N-Tier Dim Business Ring"/>
          <p:cNvSpPr/>
          <p:nvPr/>
        </p:nvSpPr>
        <p:spPr>
          <a:xfrm>
            <a:off x="10692193" y="5184108"/>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326" name="N-Tier Dim Lane Data Provisioning"/>
          <p:cNvSpPr/>
          <p:nvPr/>
        </p:nvSpPr>
        <p:spPr>
          <a:xfrm>
            <a:off x="10623614" y="5381435"/>
            <a:ext cx="1291018" cy="284924"/>
          </a:xfrm>
          <a:prstGeom prst="rect">
            <a:avLst/>
          </a:prstGeom>
          <a:solidFill>
            <a:srgbClr val="F0F3F6"/>
          </a:solidFill>
          <a:ln>
            <a:noFill/>
          </a:ln>
          <a:effectLst/>
        </p:spPr>
        <p:txBody>
          <a:bodyPr rtlCol="0" anchor="ctr"/>
          <a:lstStyle/>
          <a:p>
            <a:endParaRPr lang="de-DE"/>
          </a:p>
        </p:txBody>
      </p:sp>
      <p:sp>
        <p:nvSpPr>
          <p:cNvPr id="327" name="N-Tier Dim Data Provisioning Ring"/>
          <p:cNvSpPr/>
          <p:nvPr/>
        </p:nvSpPr>
        <p:spPr>
          <a:xfrm>
            <a:off x="10692193" y="5469033"/>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328" name="N-Tier Dim Technical Ring"/>
          <p:cNvSpPr/>
          <p:nvPr/>
        </p:nvSpPr>
        <p:spPr>
          <a:xfrm>
            <a:off x="10692193" y="5753957"/>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329" name="N-Tier Dim Lane Supplier Activation"/>
          <p:cNvSpPr/>
          <p:nvPr/>
        </p:nvSpPr>
        <p:spPr>
          <a:xfrm>
            <a:off x="10623614" y="5951284"/>
            <a:ext cx="1291018" cy="284924"/>
          </a:xfrm>
          <a:prstGeom prst="rect">
            <a:avLst/>
          </a:prstGeom>
          <a:solidFill>
            <a:srgbClr val="F0F3F6"/>
          </a:solidFill>
          <a:ln>
            <a:noFill/>
          </a:ln>
          <a:effectLst/>
        </p:spPr>
        <p:txBody>
          <a:bodyPr rtlCol="0" anchor="ctr"/>
          <a:lstStyle/>
          <a:p>
            <a:endParaRPr lang="de-DE"/>
          </a:p>
        </p:txBody>
      </p:sp>
      <p:sp>
        <p:nvSpPr>
          <p:cNvPr id="330" name="N-Tier Dim Supplier Activation Ring"/>
          <p:cNvSpPr/>
          <p:nvPr/>
        </p:nvSpPr>
        <p:spPr>
          <a:xfrm>
            <a:off x="10692193" y="6038882"/>
            <a:ext cx="109728" cy="109728"/>
          </a:xfrm>
          <a:prstGeom prst="ellipse">
            <a:avLst/>
          </a:prstGeom>
          <a:solidFill>
            <a:srgbClr val="FFFFFF"/>
          </a:solidFill>
          <a:ln w="15875">
            <a:solidFill>
              <a:srgbClr val="AEB9C1"/>
            </a:solidFill>
          </a:ln>
          <a:effectLst/>
        </p:spPr>
        <p:txBody>
          <a:bodyPr rtlCol="0" anchor="ctr"/>
          <a:lstStyle/>
          <a:p>
            <a:endParaRPr lang="de-DE"/>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