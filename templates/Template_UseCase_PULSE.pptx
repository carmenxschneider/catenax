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Vorlage für Confluence. Die Erklärung steht rechts neben der Folie und erscheint beim Vorführen nicht. Kopie anlegen, ausfüllen, montags bis 13 Uhr hochladen.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E7E6E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hape 0"/>
          <p:cNvSpPr/>
          <p:nvPr/>
        </p:nvSpPr>
        <p:spPr>
          <a:xfrm>
            <a:off x="317500" y="975320"/>
            <a:ext cx="2761059" cy="1447800"/>
          </a:xfrm>
          <a:prstGeom prst="roundRect">
            <a:avLst>
              <a:gd name="adj" fmla="val 7018"/>
            </a:avLst>
          </a:prstGeom>
          <a:solidFill>
            <a:srgbClr val="FFFFFF"/>
          </a:solidFill>
          <a:ln w="6350">
            <a:solidFill>
              <a:srgbClr val="E2E8EC"/>
            </a:solidFill>
            <a:prstDash val="solid"/>
          </a:ln>
        </p:spPr>
        <p:txBody>
          <a:bodyPr/>
          <a:lstStyle/>
          <a:p>
            <a:endParaRPr lang="de-DE"/>
          </a:p>
        </p:txBody>
      </p:sp>
      <p:sp>
        <p:nvSpPr>
          <p:cNvPr id="3" name="Shape 1"/>
          <p:cNvSpPr/>
          <p:nvPr/>
        </p:nvSpPr>
        <p:spPr>
          <a:xfrm>
            <a:off x="3205559" y="975320"/>
            <a:ext cx="2629694" cy="1447800"/>
          </a:xfrm>
          <a:prstGeom prst="roundRect">
            <a:avLst>
              <a:gd name="adj" fmla="val 7018"/>
            </a:avLst>
          </a:prstGeom>
          <a:solidFill>
            <a:srgbClr val="FFFFFF"/>
          </a:solidFill>
          <a:ln w="6350">
            <a:solidFill>
              <a:srgbClr val="E2E8EC"/>
            </a:solidFill>
            <a:prstDash val="solid"/>
          </a:ln>
        </p:spPr>
        <p:txBody>
          <a:bodyPr/>
          <a:lstStyle/>
          <a:p>
            <a:endParaRPr lang="de-DE"/>
          </a:p>
        </p:txBody>
      </p:sp>
      <p:sp>
        <p:nvSpPr>
          <p:cNvPr id="4" name="Shape 2"/>
          <p:cNvSpPr/>
          <p:nvPr/>
        </p:nvSpPr>
        <p:spPr>
          <a:xfrm>
            <a:off x="5962253" y="975320"/>
            <a:ext cx="2629595" cy="1447800"/>
          </a:xfrm>
          <a:prstGeom prst="roundRect">
            <a:avLst>
              <a:gd name="adj" fmla="val 7018"/>
            </a:avLst>
          </a:prstGeom>
          <a:solidFill>
            <a:srgbClr val="FFFFFF"/>
          </a:solidFill>
          <a:ln w="6350">
            <a:solidFill>
              <a:srgbClr val="E2E8EC"/>
            </a:solidFill>
            <a:prstDash val="solid"/>
          </a:ln>
        </p:spPr>
        <p:txBody>
          <a:bodyPr/>
          <a:lstStyle/>
          <a:p>
            <a:endParaRPr lang="de-DE"/>
          </a:p>
        </p:txBody>
      </p:sp>
      <p:sp>
        <p:nvSpPr>
          <p:cNvPr id="5" name="Shape 3"/>
          <p:cNvSpPr/>
          <p:nvPr/>
        </p:nvSpPr>
        <p:spPr>
          <a:xfrm>
            <a:off x="8718848" y="975320"/>
            <a:ext cx="3155652" cy="1447800"/>
          </a:xfrm>
          <a:prstGeom prst="roundRect">
            <a:avLst>
              <a:gd name="adj" fmla="val 7018"/>
            </a:avLst>
          </a:prstGeom>
          <a:solidFill>
            <a:srgbClr val="FFFFFF"/>
          </a:solidFill>
          <a:ln w="6350">
            <a:solidFill>
              <a:srgbClr val="E2E8EC"/>
            </a:solidFill>
            <a:prstDash val="solid"/>
          </a:ln>
        </p:spPr>
        <p:txBody>
          <a:bodyPr/>
          <a:lstStyle/>
          <a:p>
            <a:endParaRPr lang="de-DE"/>
          </a:p>
        </p:txBody>
      </p:sp>
      <p:sp>
        <p:nvSpPr>
          <p:cNvPr id="6" name="Shape 4"/>
          <p:cNvSpPr/>
          <p:nvPr/>
        </p:nvSpPr>
        <p:spPr>
          <a:xfrm>
            <a:off x="317500" y="2486620"/>
            <a:ext cx="11557000" cy="2631480"/>
          </a:xfrm>
          <a:prstGeom prst="roundRect">
            <a:avLst>
              <a:gd name="adj" fmla="val 3861"/>
            </a:avLst>
          </a:prstGeom>
          <a:solidFill>
            <a:srgbClr val="FFFFFF"/>
          </a:solidFill>
          <a:ln w="6350">
            <a:solidFill>
              <a:srgbClr val="E2E8EC"/>
            </a:solidFill>
            <a:prstDash val="solid"/>
          </a:ln>
        </p:spPr>
        <p:txBody>
          <a:bodyPr/>
          <a:lstStyle/>
          <a:p>
            <a:endParaRPr lang="de-DE"/>
          </a:p>
        </p:txBody>
      </p:sp>
      <p:sp>
        <p:nvSpPr>
          <p:cNvPr id="7" name="Shape 5"/>
          <p:cNvSpPr/>
          <p:nvPr/>
        </p:nvSpPr>
        <p:spPr>
          <a:xfrm>
            <a:off x="317500" y="5181600"/>
            <a:ext cx="11557000" cy="863600"/>
          </a:xfrm>
          <a:prstGeom prst="roundRect">
            <a:avLst>
              <a:gd name="adj" fmla="val 11765"/>
            </a:avLst>
          </a:prstGeom>
          <a:solidFill>
            <a:srgbClr val="FFFFFF"/>
          </a:solidFill>
          <a:ln w="6350">
            <a:solidFill>
              <a:srgbClr val="E2E8EC"/>
            </a:solidFill>
            <a:prstDash val="solid"/>
          </a:ln>
        </p:spPr>
        <p:txBody>
          <a:bodyPr/>
          <a:lstStyle/>
          <a:p>
            <a:endParaRPr lang="de-DE"/>
          </a:p>
        </p:txBody>
      </p:sp>
      <p:sp>
        <p:nvSpPr>
          <p:cNvPr id="8" name="Shape 6"/>
          <p:cNvSpPr/>
          <p:nvPr/>
        </p:nvSpPr>
        <p:spPr>
          <a:xfrm>
            <a:off x="317500" y="6108700"/>
            <a:ext cx="11557000" cy="508000"/>
          </a:xfrm>
          <a:prstGeom prst="roundRect">
            <a:avLst>
              <a:gd name="adj" fmla="val 20000"/>
            </a:avLst>
          </a:prstGeom>
          <a:solidFill>
            <a:srgbClr val="FFFFFF"/>
          </a:solidFill>
          <a:ln w="6350">
            <a:solidFill>
              <a:srgbClr val="E2E8EC"/>
            </a:solidFill>
            <a:prstDash val="solid"/>
          </a:ln>
        </p:spPr>
        <p:txBody>
          <a:bodyPr/>
          <a:lstStyle/>
          <a:p>
            <a:endParaRPr lang="de-DE"/>
          </a:p>
        </p:txBody>
      </p:sp>
      <p:sp>
        <p:nvSpPr>
          <p:cNvPr id="11" name="Shape 9"/>
          <p:cNvSpPr/>
          <p:nvPr/>
        </p:nvSpPr>
        <p:spPr>
          <a:xfrm>
            <a:off x="3351609" y="1286470"/>
            <a:ext cx="2337594" cy="444500"/>
          </a:xfrm>
          <a:prstGeom prst="roundRect">
            <a:avLst>
              <a:gd name="adj" fmla="val 17143"/>
            </a:avLst>
          </a:prstGeom>
          <a:solidFill>
            <a:srgbClr val="F0F4F9"/>
          </a:solidFill>
          <a:ln w="6350">
            <a:solidFill>
              <a:srgbClr val="001E50"/>
            </a:solidFill>
            <a:prstDash val="solid"/>
          </a:ln>
        </p:spPr>
        <p:txBody>
          <a:bodyPr/>
          <a:lstStyle/>
          <a:p>
            <a:endParaRPr lang="de-DE"/>
          </a:p>
        </p:txBody>
      </p:sp>
      <p:sp>
        <p:nvSpPr>
          <p:cNvPr id="12" name="Shape 10"/>
          <p:cNvSpPr/>
          <p:nvPr/>
        </p:nvSpPr>
        <p:spPr>
          <a:xfrm>
            <a:off x="8864898" y="1908770"/>
            <a:ext cx="903684" cy="406400"/>
          </a:xfrm>
          <a:prstGeom prst="roundRect">
            <a:avLst>
              <a:gd name="adj" fmla="val 15625"/>
            </a:avLst>
          </a:prstGeom>
          <a:solidFill>
            <a:srgbClr val="FEFAF3"/>
          </a:solidFill>
          <a:ln w="6350">
            <a:solidFill>
              <a:srgbClr val="FCEBCF"/>
            </a:solidFill>
            <a:prstDash val="solid"/>
          </a:ln>
        </p:spPr>
        <p:txBody>
          <a:bodyPr/>
          <a:lstStyle/>
          <a:p>
            <a:endParaRPr lang="de-DE"/>
          </a:p>
        </p:txBody>
      </p:sp>
      <p:sp>
        <p:nvSpPr>
          <p:cNvPr id="13" name="Shape 11"/>
          <p:cNvSpPr/>
          <p:nvPr/>
        </p:nvSpPr>
        <p:spPr>
          <a:xfrm>
            <a:off x="9844782" y="1908770"/>
            <a:ext cx="903684" cy="406400"/>
          </a:xfrm>
          <a:prstGeom prst="roundRect">
            <a:avLst>
              <a:gd name="adj" fmla="val 15625"/>
            </a:avLst>
          </a:prstGeom>
          <a:solidFill>
            <a:srgbClr val="F4FBF5"/>
          </a:solidFill>
          <a:ln w="6350">
            <a:solidFill>
              <a:srgbClr val="D4EED8"/>
            </a:solidFill>
            <a:prstDash val="solid"/>
          </a:ln>
        </p:spPr>
        <p:txBody>
          <a:bodyPr/>
          <a:lstStyle/>
          <a:p>
            <a:endParaRPr lang="de-DE"/>
          </a:p>
        </p:txBody>
      </p:sp>
      <p:sp>
        <p:nvSpPr>
          <p:cNvPr id="14" name="Shape 12"/>
          <p:cNvSpPr/>
          <p:nvPr/>
        </p:nvSpPr>
        <p:spPr>
          <a:xfrm>
            <a:off x="10824666" y="1908770"/>
            <a:ext cx="903684" cy="406400"/>
          </a:xfrm>
          <a:prstGeom prst="roundRect">
            <a:avLst>
              <a:gd name="adj" fmla="val 15625"/>
            </a:avLst>
          </a:prstGeom>
          <a:solidFill>
            <a:srgbClr val="EBEEF2"/>
          </a:solidFill>
          <a:ln w="6350">
            <a:solidFill>
              <a:srgbClr val="B3BECF"/>
            </a:solidFill>
            <a:prstDash val="solid"/>
          </a:ln>
        </p:spPr>
        <p:txBody>
          <a:bodyPr/>
          <a:lstStyle/>
          <a:p>
            <a:endParaRPr lang="de-DE"/>
          </a:p>
        </p:txBody>
      </p:sp>
      <p:sp>
        <p:nvSpPr>
          <p:cNvPr id="15" name="Shape 13"/>
          <p:cNvSpPr/>
          <p:nvPr/>
        </p:nvSpPr>
        <p:spPr>
          <a:xfrm>
            <a:off x="1468140" y="5302250"/>
            <a:ext cx="1973263" cy="622300"/>
          </a:xfrm>
          <a:prstGeom prst="roundRect">
            <a:avLst>
              <a:gd name="adj" fmla="val 10204"/>
            </a:avLst>
          </a:prstGeom>
          <a:solidFill>
            <a:srgbClr val="F6F8FA"/>
          </a:solidFill>
          <a:ln w="6350">
            <a:solidFill>
              <a:srgbClr val="E2E8EC"/>
            </a:solidFill>
            <a:prstDash val="solid"/>
          </a:ln>
        </p:spPr>
        <p:txBody>
          <a:bodyPr/>
          <a:lstStyle/>
          <a:p>
            <a:endParaRPr lang="de-DE"/>
          </a:p>
        </p:txBody>
      </p:sp>
      <p:sp>
        <p:nvSpPr>
          <p:cNvPr id="16" name="Shape 14"/>
          <p:cNvSpPr/>
          <p:nvPr/>
        </p:nvSpPr>
        <p:spPr>
          <a:xfrm>
            <a:off x="3530302" y="5302250"/>
            <a:ext cx="1973362" cy="622300"/>
          </a:xfrm>
          <a:prstGeom prst="roundRect">
            <a:avLst>
              <a:gd name="adj" fmla="val 10204"/>
            </a:avLst>
          </a:prstGeom>
          <a:solidFill>
            <a:srgbClr val="F6F8FA"/>
          </a:solidFill>
          <a:ln w="6350">
            <a:solidFill>
              <a:srgbClr val="E2E8EC"/>
            </a:solidFill>
            <a:prstDash val="solid"/>
          </a:ln>
        </p:spPr>
        <p:txBody>
          <a:bodyPr/>
          <a:lstStyle/>
          <a:p>
            <a:endParaRPr lang="de-DE"/>
          </a:p>
        </p:txBody>
      </p:sp>
      <p:sp>
        <p:nvSpPr>
          <p:cNvPr id="17" name="Shape 15"/>
          <p:cNvSpPr/>
          <p:nvPr/>
        </p:nvSpPr>
        <p:spPr>
          <a:xfrm>
            <a:off x="5592564" y="5302250"/>
            <a:ext cx="1973263" cy="622300"/>
          </a:xfrm>
          <a:prstGeom prst="roundRect">
            <a:avLst>
              <a:gd name="adj" fmla="val 10204"/>
            </a:avLst>
          </a:prstGeom>
          <a:solidFill>
            <a:srgbClr val="F6F8FA"/>
          </a:solidFill>
          <a:ln w="6350">
            <a:solidFill>
              <a:srgbClr val="E2E8EC"/>
            </a:solidFill>
            <a:prstDash val="solid"/>
          </a:ln>
        </p:spPr>
        <p:txBody>
          <a:bodyPr/>
          <a:lstStyle/>
          <a:p>
            <a:endParaRPr lang="de-DE"/>
          </a:p>
        </p:txBody>
      </p:sp>
      <p:sp>
        <p:nvSpPr>
          <p:cNvPr id="18" name="Shape 16"/>
          <p:cNvSpPr/>
          <p:nvPr/>
        </p:nvSpPr>
        <p:spPr>
          <a:xfrm>
            <a:off x="7654727" y="5302250"/>
            <a:ext cx="1973362" cy="622300"/>
          </a:xfrm>
          <a:prstGeom prst="roundRect">
            <a:avLst>
              <a:gd name="adj" fmla="val 10204"/>
            </a:avLst>
          </a:prstGeom>
          <a:solidFill>
            <a:srgbClr val="F6F8FA"/>
          </a:solidFill>
          <a:ln w="6350">
            <a:solidFill>
              <a:srgbClr val="E2E8EC"/>
            </a:solidFill>
            <a:prstDash val="solid"/>
          </a:ln>
        </p:spPr>
        <p:txBody>
          <a:bodyPr/>
          <a:lstStyle/>
          <a:p>
            <a:endParaRPr lang="de-DE"/>
          </a:p>
        </p:txBody>
      </p:sp>
      <p:sp>
        <p:nvSpPr>
          <p:cNvPr id="19" name="Shape 17"/>
          <p:cNvSpPr/>
          <p:nvPr/>
        </p:nvSpPr>
        <p:spPr>
          <a:xfrm>
            <a:off x="9716988" y="5302250"/>
            <a:ext cx="1973263" cy="622300"/>
          </a:xfrm>
          <a:prstGeom prst="roundRect">
            <a:avLst>
              <a:gd name="adj" fmla="val 10204"/>
            </a:avLst>
          </a:prstGeom>
          <a:solidFill>
            <a:srgbClr val="F6F8FA"/>
          </a:solidFill>
          <a:ln w="6350">
            <a:solidFill>
              <a:srgbClr val="E2E8EC"/>
            </a:solidFill>
            <a:prstDash val="solid"/>
          </a:ln>
        </p:spPr>
        <p:txBody>
          <a:bodyPr/>
          <a:lstStyle/>
          <a:p>
            <a:endParaRPr lang="de-DE"/>
          </a:p>
        </p:txBody>
      </p:sp>
      <p:sp>
        <p:nvSpPr>
          <p:cNvPr id="20" name="Shape 18"/>
          <p:cNvSpPr/>
          <p:nvPr/>
        </p:nvSpPr>
        <p:spPr>
          <a:xfrm>
            <a:off x="8864898" y="1654770"/>
            <a:ext cx="2863552" cy="63500"/>
          </a:xfrm>
          <a:prstGeom prst="roundRect">
            <a:avLst>
              <a:gd name="adj" fmla="val 50000"/>
            </a:avLst>
          </a:prstGeom>
          <a:solidFill>
            <a:srgbClr val="E5E9EC"/>
          </a:solidFill>
          <a:ln>
            <a:noFill/>
          </a:ln>
        </p:spPr>
        <p:txBody>
          <a:bodyPr/>
          <a:lstStyle/>
          <a:p>
            <a:endParaRPr lang="de-DE"/>
          </a:p>
        </p:txBody>
      </p:sp>
      <p:sp>
        <p:nvSpPr>
          <p:cNvPr id="21" name="Shape 19"/>
          <p:cNvSpPr/>
          <p:nvPr/>
        </p:nvSpPr>
        <p:spPr>
          <a:xfrm>
            <a:off x="8795048" y="1616670"/>
            <a:ext cx="139700" cy="139700"/>
          </a:xfrm>
          <a:prstGeom prst="ellipse">
            <a:avLst/>
          </a:prstGeom>
          <a:solidFill>
            <a:srgbClr val="FFFFFF"/>
          </a:solidFill>
          <a:ln w="25400">
            <a:solidFill>
              <a:srgbClr val="53BE70"/>
            </a:solidFill>
            <a:prstDash val="solid"/>
          </a:ln>
        </p:spPr>
        <p:txBody>
          <a:bodyPr/>
          <a:lstStyle/>
          <a:p>
            <a:endParaRPr lang="de-DE"/>
          </a:p>
        </p:txBody>
      </p:sp>
      <p:sp>
        <p:nvSpPr>
          <p:cNvPr id="22" name="Shape 20"/>
          <p:cNvSpPr/>
          <p:nvPr/>
        </p:nvSpPr>
        <p:spPr>
          <a:xfrm>
            <a:off x="4698603" y="1381720"/>
            <a:ext cx="869950" cy="254000"/>
          </a:xfrm>
          <a:prstGeom prst="roundRect">
            <a:avLst>
              <a:gd name="adj" fmla="val 50000"/>
            </a:avLst>
          </a:prstGeom>
          <a:solidFill>
            <a:srgbClr val="CFD6DB"/>
          </a:solidFill>
          <a:ln>
            <a:noFill/>
          </a:ln>
        </p:spPr>
        <p:txBody>
          <a:bodyPr/>
          <a:lstStyle/>
          <a:p>
            <a:endParaRPr lang="de-DE"/>
          </a:p>
        </p:txBody>
      </p:sp>
      <p:sp>
        <p:nvSpPr>
          <p:cNvPr id="23" name="Shape 21"/>
          <p:cNvSpPr/>
          <p:nvPr/>
        </p:nvSpPr>
        <p:spPr>
          <a:xfrm>
            <a:off x="5003403" y="1870670"/>
            <a:ext cx="673100" cy="165100"/>
          </a:xfrm>
          <a:prstGeom prst="roundRect">
            <a:avLst>
              <a:gd name="adj" fmla="val 50000"/>
            </a:avLst>
          </a:prstGeom>
          <a:solidFill>
            <a:srgbClr val="CFD6DB"/>
          </a:solidFill>
          <a:ln>
            <a:noFill/>
          </a:ln>
        </p:spPr>
        <p:txBody>
          <a:bodyPr/>
          <a:lstStyle/>
          <a:p>
            <a:endParaRPr lang="de-DE"/>
          </a:p>
        </p:txBody>
      </p:sp>
      <p:sp>
        <p:nvSpPr>
          <p:cNvPr id="24" name="Shape 22"/>
          <p:cNvSpPr/>
          <p:nvPr/>
        </p:nvSpPr>
        <p:spPr>
          <a:xfrm>
            <a:off x="5003403" y="2111970"/>
            <a:ext cx="673100" cy="165100"/>
          </a:xfrm>
          <a:prstGeom prst="roundRect">
            <a:avLst>
              <a:gd name="adj" fmla="val 50000"/>
            </a:avLst>
          </a:prstGeom>
          <a:solidFill>
            <a:srgbClr val="CFD6DB"/>
          </a:solidFill>
          <a:ln>
            <a:noFill/>
          </a:ln>
        </p:spPr>
        <p:txBody>
          <a:bodyPr/>
          <a:lstStyle/>
          <a:p>
            <a:endParaRPr lang="de-DE"/>
          </a:p>
        </p:txBody>
      </p:sp>
      <p:sp>
        <p:nvSpPr>
          <p:cNvPr id="25" name="Shape 23"/>
          <p:cNvSpPr/>
          <p:nvPr/>
        </p:nvSpPr>
        <p:spPr>
          <a:xfrm>
            <a:off x="4838303" y="1486495"/>
            <a:ext cx="44450" cy="44450"/>
          </a:xfrm>
          <a:prstGeom prst="ellipse">
            <a:avLst/>
          </a:prstGeom>
          <a:solidFill>
            <a:srgbClr val="292D31"/>
          </a:solidFill>
          <a:ln>
            <a:noFill/>
          </a:ln>
        </p:spPr>
        <p:txBody>
          <a:bodyPr/>
          <a:lstStyle/>
          <a:p>
            <a:endParaRPr lang="de-DE"/>
          </a:p>
        </p:txBody>
      </p:sp>
      <p:sp>
        <p:nvSpPr>
          <p:cNvPr id="26" name="Shape 24"/>
          <p:cNvSpPr/>
          <p:nvPr/>
        </p:nvSpPr>
        <p:spPr>
          <a:xfrm>
            <a:off x="5085953" y="1934170"/>
            <a:ext cx="38100" cy="38100"/>
          </a:xfrm>
          <a:prstGeom prst="ellipse">
            <a:avLst/>
          </a:prstGeom>
          <a:solidFill>
            <a:srgbClr val="292D31"/>
          </a:solidFill>
          <a:ln>
            <a:noFill/>
          </a:ln>
        </p:spPr>
        <p:txBody>
          <a:bodyPr/>
          <a:lstStyle/>
          <a:p>
            <a:endParaRPr lang="de-DE"/>
          </a:p>
        </p:txBody>
      </p:sp>
      <p:sp>
        <p:nvSpPr>
          <p:cNvPr id="27" name="Shape 25"/>
          <p:cNvSpPr/>
          <p:nvPr/>
        </p:nvSpPr>
        <p:spPr>
          <a:xfrm>
            <a:off x="5085953" y="2175470"/>
            <a:ext cx="38100" cy="38100"/>
          </a:xfrm>
          <a:prstGeom prst="ellipse">
            <a:avLst/>
          </a:prstGeom>
          <a:solidFill>
            <a:srgbClr val="292D31"/>
          </a:solidFill>
          <a:ln>
            <a:noFill/>
          </a:ln>
        </p:spPr>
        <p:txBody>
          <a:bodyPr/>
          <a:lstStyle/>
          <a:p>
            <a:endParaRPr lang="de-DE"/>
          </a:p>
        </p:txBody>
      </p:sp>
      <p:sp>
        <p:nvSpPr>
          <p:cNvPr id="28" name="Shape 26"/>
          <p:cNvSpPr/>
          <p:nvPr/>
        </p:nvSpPr>
        <p:spPr>
          <a:xfrm>
            <a:off x="501650" y="6400800"/>
            <a:ext cx="127000" cy="127000"/>
          </a:xfrm>
          <a:prstGeom prst="roundRect">
            <a:avLst>
              <a:gd name="adj" fmla="val 25000"/>
            </a:avLst>
          </a:prstGeom>
          <a:solidFill>
            <a:srgbClr val="FFFFFF"/>
          </a:solidFill>
          <a:ln w="12700">
            <a:solidFill>
              <a:srgbClr val="001E50"/>
            </a:solidFill>
            <a:prstDash val="solid"/>
          </a:ln>
        </p:spPr>
        <p:txBody>
          <a:bodyPr/>
          <a:lstStyle/>
          <a:p>
            <a:endParaRPr lang="de-DE"/>
          </a:p>
        </p:txBody>
      </p:sp>
      <p:sp>
        <p:nvSpPr>
          <p:cNvPr id="29" name="Shape 27"/>
          <p:cNvSpPr/>
          <p:nvPr/>
        </p:nvSpPr>
        <p:spPr>
          <a:xfrm>
            <a:off x="4298950" y="6400800"/>
            <a:ext cx="127000" cy="127000"/>
          </a:xfrm>
          <a:prstGeom prst="roundRect">
            <a:avLst>
              <a:gd name="adj" fmla="val 25000"/>
            </a:avLst>
          </a:prstGeom>
          <a:solidFill>
            <a:srgbClr val="FFFFFF"/>
          </a:solidFill>
          <a:ln w="12700">
            <a:solidFill>
              <a:srgbClr val="001E50"/>
            </a:solidFill>
            <a:prstDash val="solid"/>
          </a:ln>
        </p:spPr>
        <p:txBody>
          <a:bodyPr/>
          <a:lstStyle/>
          <a:p>
            <a:endParaRPr lang="de-DE"/>
          </a:p>
        </p:txBody>
      </p:sp>
      <p:sp>
        <p:nvSpPr>
          <p:cNvPr id="30" name="Shape 28"/>
          <p:cNvSpPr/>
          <p:nvPr/>
        </p:nvSpPr>
        <p:spPr>
          <a:xfrm>
            <a:off x="8096250" y="6400800"/>
            <a:ext cx="127000" cy="127000"/>
          </a:xfrm>
          <a:prstGeom prst="roundRect">
            <a:avLst>
              <a:gd name="adj" fmla="val 25000"/>
            </a:avLst>
          </a:prstGeom>
          <a:solidFill>
            <a:srgbClr val="FFFFFF"/>
          </a:solidFill>
          <a:ln w="12700">
            <a:solidFill>
              <a:srgbClr val="001E50"/>
            </a:solidFill>
            <a:prstDash val="solid"/>
          </a:ln>
        </p:spPr>
        <p:txBody>
          <a:bodyPr/>
          <a:lstStyle/>
          <a:p>
            <a:endParaRPr lang="de-DE"/>
          </a:p>
        </p:txBody>
      </p:sp>
      <p:sp>
        <p:nvSpPr>
          <p:cNvPr id="31" name="Shape 29"/>
          <p:cNvSpPr/>
          <p:nvPr/>
        </p:nvSpPr>
        <p:spPr>
          <a:xfrm>
            <a:off x="565150" y="4011414"/>
            <a:ext cx="63500" cy="63500"/>
          </a:xfrm>
          <a:prstGeom prst="ellipse">
            <a:avLst/>
          </a:prstGeom>
          <a:solidFill>
            <a:srgbClr val="CFD6DB"/>
          </a:solidFill>
          <a:ln>
            <a:noFill/>
          </a:ln>
        </p:spPr>
        <p:txBody>
          <a:bodyPr/>
          <a:lstStyle/>
          <a:p>
            <a:endParaRPr lang="de-DE"/>
          </a:p>
        </p:txBody>
      </p:sp>
      <p:sp>
        <p:nvSpPr>
          <p:cNvPr id="32" name="Shape 30"/>
          <p:cNvSpPr/>
          <p:nvPr/>
        </p:nvSpPr>
        <p:spPr>
          <a:xfrm>
            <a:off x="565150" y="4283174"/>
            <a:ext cx="63500" cy="63500"/>
          </a:xfrm>
          <a:prstGeom prst="ellipse">
            <a:avLst/>
          </a:prstGeom>
          <a:solidFill>
            <a:srgbClr val="CFD6DB"/>
          </a:solidFill>
          <a:ln>
            <a:noFill/>
          </a:ln>
        </p:spPr>
        <p:txBody>
          <a:bodyPr/>
          <a:lstStyle/>
          <a:p>
            <a:endParaRPr lang="de-DE"/>
          </a:p>
        </p:txBody>
      </p:sp>
      <p:sp>
        <p:nvSpPr>
          <p:cNvPr id="33" name="Shape 31"/>
          <p:cNvSpPr/>
          <p:nvPr/>
        </p:nvSpPr>
        <p:spPr>
          <a:xfrm>
            <a:off x="565150" y="4554934"/>
            <a:ext cx="63500" cy="63500"/>
          </a:xfrm>
          <a:prstGeom prst="ellipse">
            <a:avLst/>
          </a:prstGeom>
          <a:solidFill>
            <a:srgbClr val="CFD6DB"/>
          </a:solidFill>
          <a:ln>
            <a:noFill/>
          </a:ln>
        </p:spPr>
        <p:txBody>
          <a:bodyPr/>
          <a:lstStyle/>
          <a:p>
            <a:endParaRPr lang="de-DE"/>
          </a:p>
        </p:txBody>
      </p:sp>
      <p:sp>
        <p:nvSpPr>
          <p:cNvPr id="34" name="Shape 32"/>
          <p:cNvSpPr/>
          <p:nvPr/>
        </p:nvSpPr>
        <p:spPr>
          <a:xfrm>
            <a:off x="565150" y="4826695"/>
            <a:ext cx="63500" cy="63500"/>
          </a:xfrm>
          <a:prstGeom prst="ellipse">
            <a:avLst/>
          </a:prstGeom>
          <a:solidFill>
            <a:srgbClr val="CFD6DB"/>
          </a:solidFill>
          <a:ln>
            <a:noFill/>
          </a:ln>
        </p:spPr>
        <p:txBody>
          <a:bodyPr/>
          <a:lstStyle/>
          <a:p>
            <a:endParaRPr lang="de-DE"/>
          </a:p>
        </p:txBody>
      </p:sp>
      <p:sp>
        <p:nvSpPr>
          <p:cNvPr id="35" name="Shape 33"/>
          <p:cNvSpPr/>
          <p:nvPr/>
        </p:nvSpPr>
        <p:spPr>
          <a:xfrm>
            <a:off x="2429966" y="4011414"/>
            <a:ext cx="63500" cy="63500"/>
          </a:xfrm>
          <a:prstGeom prst="ellipse">
            <a:avLst/>
          </a:prstGeom>
          <a:solidFill>
            <a:srgbClr val="CFD6DB"/>
          </a:solidFill>
          <a:ln>
            <a:noFill/>
          </a:ln>
        </p:spPr>
        <p:txBody>
          <a:bodyPr/>
          <a:lstStyle/>
          <a:p>
            <a:endParaRPr lang="de-DE"/>
          </a:p>
        </p:txBody>
      </p:sp>
      <p:sp>
        <p:nvSpPr>
          <p:cNvPr id="36" name="Shape 34"/>
          <p:cNvSpPr/>
          <p:nvPr/>
        </p:nvSpPr>
        <p:spPr>
          <a:xfrm>
            <a:off x="2429966" y="4283174"/>
            <a:ext cx="63500" cy="63500"/>
          </a:xfrm>
          <a:prstGeom prst="ellipse">
            <a:avLst/>
          </a:prstGeom>
          <a:solidFill>
            <a:srgbClr val="CFD6DB"/>
          </a:solidFill>
          <a:ln>
            <a:noFill/>
          </a:ln>
        </p:spPr>
        <p:txBody>
          <a:bodyPr/>
          <a:lstStyle/>
          <a:p>
            <a:endParaRPr lang="de-DE"/>
          </a:p>
        </p:txBody>
      </p:sp>
      <p:sp>
        <p:nvSpPr>
          <p:cNvPr id="37" name="Shape 35"/>
          <p:cNvSpPr/>
          <p:nvPr/>
        </p:nvSpPr>
        <p:spPr>
          <a:xfrm>
            <a:off x="2429966" y="4554934"/>
            <a:ext cx="63500" cy="63500"/>
          </a:xfrm>
          <a:prstGeom prst="ellipse">
            <a:avLst/>
          </a:prstGeom>
          <a:solidFill>
            <a:srgbClr val="CFD6DB"/>
          </a:solidFill>
          <a:ln>
            <a:noFill/>
          </a:ln>
        </p:spPr>
        <p:txBody>
          <a:bodyPr/>
          <a:lstStyle/>
          <a:p>
            <a:endParaRPr lang="de-DE"/>
          </a:p>
        </p:txBody>
      </p:sp>
      <p:sp>
        <p:nvSpPr>
          <p:cNvPr id="38" name="Shape 36"/>
          <p:cNvSpPr/>
          <p:nvPr/>
        </p:nvSpPr>
        <p:spPr>
          <a:xfrm>
            <a:off x="2429966" y="4826695"/>
            <a:ext cx="63500" cy="63500"/>
          </a:xfrm>
          <a:prstGeom prst="ellipse">
            <a:avLst/>
          </a:prstGeom>
          <a:solidFill>
            <a:srgbClr val="CFD6DB"/>
          </a:solidFill>
          <a:ln>
            <a:noFill/>
          </a:ln>
        </p:spPr>
        <p:txBody>
          <a:bodyPr/>
          <a:lstStyle/>
          <a:p>
            <a:endParaRPr lang="de-DE"/>
          </a:p>
        </p:txBody>
      </p:sp>
      <p:sp>
        <p:nvSpPr>
          <p:cNvPr id="39" name="Shape 37"/>
          <p:cNvSpPr/>
          <p:nvPr/>
        </p:nvSpPr>
        <p:spPr>
          <a:xfrm>
            <a:off x="4294783" y="4011414"/>
            <a:ext cx="63500" cy="63500"/>
          </a:xfrm>
          <a:prstGeom prst="ellipse">
            <a:avLst/>
          </a:prstGeom>
          <a:solidFill>
            <a:srgbClr val="CFD6DB"/>
          </a:solidFill>
          <a:ln>
            <a:noFill/>
          </a:ln>
        </p:spPr>
        <p:txBody>
          <a:bodyPr/>
          <a:lstStyle/>
          <a:p>
            <a:endParaRPr lang="de-DE"/>
          </a:p>
        </p:txBody>
      </p:sp>
      <p:sp>
        <p:nvSpPr>
          <p:cNvPr id="40" name="Shape 38"/>
          <p:cNvSpPr/>
          <p:nvPr/>
        </p:nvSpPr>
        <p:spPr>
          <a:xfrm>
            <a:off x="4294783" y="4283174"/>
            <a:ext cx="63500" cy="63500"/>
          </a:xfrm>
          <a:prstGeom prst="ellipse">
            <a:avLst/>
          </a:prstGeom>
          <a:solidFill>
            <a:srgbClr val="CFD6DB"/>
          </a:solidFill>
          <a:ln>
            <a:noFill/>
          </a:ln>
        </p:spPr>
        <p:txBody>
          <a:bodyPr/>
          <a:lstStyle/>
          <a:p>
            <a:endParaRPr lang="de-DE"/>
          </a:p>
        </p:txBody>
      </p:sp>
      <p:sp>
        <p:nvSpPr>
          <p:cNvPr id="41" name="Shape 39"/>
          <p:cNvSpPr/>
          <p:nvPr/>
        </p:nvSpPr>
        <p:spPr>
          <a:xfrm>
            <a:off x="4294783" y="4554934"/>
            <a:ext cx="63500" cy="63500"/>
          </a:xfrm>
          <a:prstGeom prst="ellipse">
            <a:avLst/>
          </a:prstGeom>
          <a:solidFill>
            <a:srgbClr val="CFD6DB"/>
          </a:solidFill>
          <a:ln>
            <a:noFill/>
          </a:ln>
        </p:spPr>
        <p:txBody>
          <a:bodyPr/>
          <a:lstStyle/>
          <a:p>
            <a:endParaRPr lang="de-DE"/>
          </a:p>
        </p:txBody>
      </p:sp>
      <p:sp>
        <p:nvSpPr>
          <p:cNvPr id="42" name="Shape 40"/>
          <p:cNvSpPr/>
          <p:nvPr/>
        </p:nvSpPr>
        <p:spPr>
          <a:xfrm>
            <a:off x="4294783" y="4826695"/>
            <a:ext cx="63500" cy="63500"/>
          </a:xfrm>
          <a:prstGeom prst="ellipse">
            <a:avLst/>
          </a:prstGeom>
          <a:solidFill>
            <a:srgbClr val="CFD6DB"/>
          </a:solidFill>
          <a:ln>
            <a:noFill/>
          </a:ln>
        </p:spPr>
        <p:txBody>
          <a:bodyPr/>
          <a:lstStyle/>
          <a:p>
            <a:endParaRPr lang="de-DE"/>
          </a:p>
        </p:txBody>
      </p:sp>
      <p:sp>
        <p:nvSpPr>
          <p:cNvPr id="43" name="Shape 41"/>
          <p:cNvSpPr/>
          <p:nvPr/>
        </p:nvSpPr>
        <p:spPr>
          <a:xfrm>
            <a:off x="6159599" y="4011414"/>
            <a:ext cx="63500" cy="63500"/>
          </a:xfrm>
          <a:prstGeom prst="ellipse">
            <a:avLst/>
          </a:prstGeom>
          <a:solidFill>
            <a:srgbClr val="CFD6DB"/>
          </a:solidFill>
          <a:ln>
            <a:noFill/>
          </a:ln>
        </p:spPr>
        <p:txBody>
          <a:bodyPr/>
          <a:lstStyle/>
          <a:p>
            <a:endParaRPr lang="de-DE"/>
          </a:p>
        </p:txBody>
      </p:sp>
      <p:sp>
        <p:nvSpPr>
          <p:cNvPr id="44" name="Shape 42"/>
          <p:cNvSpPr/>
          <p:nvPr/>
        </p:nvSpPr>
        <p:spPr>
          <a:xfrm>
            <a:off x="6159599" y="4283174"/>
            <a:ext cx="63500" cy="63500"/>
          </a:xfrm>
          <a:prstGeom prst="ellipse">
            <a:avLst/>
          </a:prstGeom>
          <a:solidFill>
            <a:srgbClr val="CFD6DB"/>
          </a:solidFill>
          <a:ln>
            <a:noFill/>
          </a:ln>
        </p:spPr>
        <p:txBody>
          <a:bodyPr/>
          <a:lstStyle/>
          <a:p>
            <a:endParaRPr lang="de-DE"/>
          </a:p>
        </p:txBody>
      </p:sp>
      <p:sp>
        <p:nvSpPr>
          <p:cNvPr id="45" name="Shape 43"/>
          <p:cNvSpPr/>
          <p:nvPr/>
        </p:nvSpPr>
        <p:spPr>
          <a:xfrm>
            <a:off x="6159599" y="4554934"/>
            <a:ext cx="63500" cy="63500"/>
          </a:xfrm>
          <a:prstGeom prst="ellipse">
            <a:avLst/>
          </a:prstGeom>
          <a:solidFill>
            <a:srgbClr val="CFD6DB"/>
          </a:solidFill>
          <a:ln>
            <a:noFill/>
          </a:ln>
        </p:spPr>
        <p:txBody>
          <a:bodyPr/>
          <a:lstStyle/>
          <a:p>
            <a:endParaRPr lang="de-DE"/>
          </a:p>
        </p:txBody>
      </p:sp>
      <p:sp>
        <p:nvSpPr>
          <p:cNvPr id="46" name="Shape 44"/>
          <p:cNvSpPr/>
          <p:nvPr/>
        </p:nvSpPr>
        <p:spPr>
          <a:xfrm>
            <a:off x="6159599" y="4826695"/>
            <a:ext cx="63500" cy="63500"/>
          </a:xfrm>
          <a:prstGeom prst="ellipse">
            <a:avLst/>
          </a:prstGeom>
          <a:solidFill>
            <a:srgbClr val="CFD6DB"/>
          </a:solidFill>
          <a:ln>
            <a:noFill/>
          </a:ln>
        </p:spPr>
        <p:txBody>
          <a:bodyPr/>
          <a:lstStyle/>
          <a:p>
            <a:endParaRPr lang="de-DE"/>
          </a:p>
        </p:txBody>
      </p:sp>
      <p:sp>
        <p:nvSpPr>
          <p:cNvPr id="47" name="Shape 45"/>
          <p:cNvSpPr/>
          <p:nvPr/>
        </p:nvSpPr>
        <p:spPr>
          <a:xfrm>
            <a:off x="8024416" y="4011414"/>
            <a:ext cx="63500" cy="63500"/>
          </a:xfrm>
          <a:prstGeom prst="ellipse">
            <a:avLst/>
          </a:prstGeom>
          <a:solidFill>
            <a:srgbClr val="CFD6DB"/>
          </a:solidFill>
          <a:ln>
            <a:noFill/>
          </a:ln>
        </p:spPr>
        <p:txBody>
          <a:bodyPr/>
          <a:lstStyle/>
          <a:p>
            <a:endParaRPr lang="de-DE"/>
          </a:p>
        </p:txBody>
      </p:sp>
      <p:sp>
        <p:nvSpPr>
          <p:cNvPr id="48" name="Shape 46"/>
          <p:cNvSpPr/>
          <p:nvPr/>
        </p:nvSpPr>
        <p:spPr>
          <a:xfrm>
            <a:off x="8024416" y="4283174"/>
            <a:ext cx="63500" cy="63500"/>
          </a:xfrm>
          <a:prstGeom prst="ellipse">
            <a:avLst/>
          </a:prstGeom>
          <a:solidFill>
            <a:srgbClr val="CFD6DB"/>
          </a:solidFill>
          <a:ln>
            <a:noFill/>
          </a:ln>
        </p:spPr>
        <p:txBody>
          <a:bodyPr/>
          <a:lstStyle/>
          <a:p>
            <a:endParaRPr lang="de-DE"/>
          </a:p>
        </p:txBody>
      </p:sp>
      <p:sp>
        <p:nvSpPr>
          <p:cNvPr id="49" name="Shape 47"/>
          <p:cNvSpPr/>
          <p:nvPr/>
        </p:nvSpPr>
        <p:spPr>
          <a:xfrm>
            <a:off x="8024416" y="4554934"/>
            <a:ext cx="63500" cy="63500"/>
          </a:xfrm>
          <a:prstGeom prst="ellipse">
            <a:avLst/>
          </a:prstGeom>
          <a:solidFill>
            <a:srgbClr val="CFD6DB"/>
          </a:solidFill>
          <a:ln>
            <a:noFill/>
          </a:ln>
        </p:spPr>
        <p:txBody>
          <a:bodyPr/>
          <a:lstStyle/>
          <a:p>
            <a:endParaRPr lang="de-DE"/>
          </a:p>
        </p:txBody>
      </p:sp>
      <p:sp>
        <p:nvSpPr>
          <p:cNvPr id="50" name="Shape 48"/>
          <p:cNvSpPr/>
          <p:nvPr/>
        </p:nvSpPr>
        <p:spPr>
          <a:xfrm>
            <a:off x="8024416" y="4826695"/>
            <a:ext cx="63500" cy="63500"/>
          </a:xfrm>
          <a:prstGeom prst="ellipse">
            <a:avLst/>
          </a:prstGeom>
          <a:solidFill>
            <a:srgbClr val="CFD6DB"/>
          </a:solidFill>
          <a:ln>
            <a:noFill/>
          </a:ln>
        </p:spPr>
        <p:txBody>
          <a:bodyPr/>
          <a:lstStyle/>
          <a:p>
            <a:endParaRPr lang="de-DE"/>
          </a:p>
        </p:txBody>
      </p:sp>
      <p:sp>
        <p:nvSpPr>
          <p:cNvPr id="51" name="Shape 49"/>
          <p:cNvSpPr/>
          <p:nvPr/>
        </p:nvSpPr>
        <p:spPr>
          <a:xfrm>
            <a:off x="9889232" y="4011414"/>
            <a:ext cx="63500" cy="63500"/>
          </a:xfrm>
          <a:prstGeom prst="ellipse">
            <a:avLst/>
          </a:prstGeom>
          <a:solidFill>
            <a:srgbClr val="CFD6DB"/>
          </a:solidFill>
          <a:ln>
            <a:noFill/>
          </a:ln>
        </p:spPr>
        <p:txBody>
          <a:bodyPr/>
          <a:lstStyle/>
          <a:p>
            <a:endParaRPr lang="de-DE"/>
          </a:p>
        </p:txBody>
      </p:sp>
      <p:sp>
        <p:nvSpPr>
          <p:cNvPr id="52" name="Shape 50"/>
          <p:cNvSpPr/>
          <p:nvPr/>
        </p:nvSpPr>
        <p:spPr>
          <a:xfrm>
            <a:off x="9889232" y="4283174"/>
            <a:ext cx="63500" cy="63500"/>
          </a:xfrm>
          <a:prstGeom prst="ellipse">
            <a:avLst/>
          </a:prstGeom>
          <a:solidFill>
            <a:srgbClr val="CFD6DB"/>
          </a:solidFill>
          <a:ln>
            <a:noFill/>
          </a:ln>
        </p:spPr>
        <p:txBody>
          <a:bodyPr/>
          <a:lstStyle/>
          <a:p>
            <a:endParaRPr lang="de-DE"/>
          </a:p>
        </p:txBody>
      </p:sp>
      <p:sp>
        <p:nvSpPr>
          <p:cNvPr id="53" name="Shape 51"/>
          <p:cNvSpPr/>
          <p:nvPr/>
        </p:nvSpPr>
        <p:spPr>
          <a:xfrm>
            <a:off x="9889232" y="4554934"/>
            <a:ext cx="63500" cy="63500"/>
          </a:xfrm>
          <a:prstGeom prst="ellipse">
            <a:avLst/>
          </a:prstGeom>
          <a:solidFill>
            <a:srgbClr val="CFD6DB"/>
          </a:solidFill>
          <a:ln>
            <a:noFill/>
          </a:ln>
        </p:spPr>
        <p:txBody>
          <a:bodyPr/>
          <a:lstStyle/>
          <a:p>
            <a:endParaRPr lang="de-DE"/>
          </a:p>
        </p:txBody>
      </p:sp>
      <p:sp>
        <p:nvSpPr>
          <p:cNvPr id="54" name="Shape 52"/>
          <p:cNvSpPr/>
          <p:nvPr/>
        </p:nvSpPr>
        <p:spPr>
          <a:xfrm>
            <a:off x="9889232" y="4826695"/>
            <a:ext cx="63500" cy="63500"/>
          </a:xfrm>
          <a:prstGeom prst="ellipse">
            <a:avLst/>
          </a:prstGeom>
          <a:solidFill>
            <a:srgbClr val="CFD6DB"/>
          </a:solidFill>
          <a:ln>
            <a:noFill/>
          </a:ln>
        </p:spPr>
        <p:txBody>
          <a:bodyPr/>
          <a:lstStyle/>
          <a:p>
            <a:endParaRPr lang="de-DE"/>
          </a:p>
        </p:txBody>
      </p:sp>
      <p:sp>
        <p:nvSpPr>
          <p:cNvPr id="55" name="Shape 53"/>
          <p:cNvSpPr/>
          <p:nvPr/>
        </p:nvSpPr>
        <p:spPr>
          <a:xfrm>
            <a:off x="1569740" y="5407025"/>
            <a:ext cx="82550" cy="82550"/>
          </a:xfrm>
          <a:prstGeom prst="ellipse">
            <a:avLst/>
          </a:prstGeom>
          <a:solidFill>
            <a:srgbClr val="CFD6DB"/>
          </a:solidFill>
          <a:ln>
            <a:noFill/>
          </a:ln>
        </p:spPr>
        <p:txBody>
          <a:bodyPr/>
          <a:lstStyle/>
          <a:p>
            <a:endParaRPr lang="de-DE"/>
          </a:p>
        </p:txBody>
      </p:sp>
      <p:sp>
        <p:nvSpPr>
          <p:cNvPr id="56" name="Shape 54"/>
          <p:cNvSpPr/>
          <p:nvPr/>
        </p:nvSpPr>
        <p:spPr>
          <a:xfrm>
            <a:off x="3631902" y="5407025"/>
            <a:ext cx="82550" cy="82550"/>
          </a:xfrm>
          <a:prstGeom prst="ellipse">
            <a:avLst/>
          </a:prstGeom>
          <a:solidFill>
            <a:srgbClr val="CFD6DB"/>
          </a:solidFill>
          <a:ln>
            <a:noFill/>
          </a:ln>
        </p:spPr>
        <p:txBody>
          <a:bodyPr/>
          <a:lstStyle/>
          <a:p>
            <a:endParaRPr lang="de-DE"/>
          </a:p>
        </p:txBody>
      </p:sp>
      <p:sp>
        <p:nvSpPr>
          <p:cNvPr id="57" name="Shape 55"/>
          <p:cNvSpPr/>
          <p:nvPr/>
        </p:nvSpPr>
        <p:spPr>
          <a:xfrm>
            <a:off x="5694164" y="5407025"/>
            <a:ext cx="82550" cy="82550"/>
          </a:xfrm>
          <a:prstGeom prst="ellipse">
            <a:avLst/>
          </a:prstGeom>
          <a:solidFill>
            <a:srgbClr val="CFD6DB"/>
          </a:solidFill>
          <a:ln>
            <a:noFill/>
          </a:ln>
        </p:spPr>
        <p:txBody>
          <a:bodyPr/>
          <a:lstStyle/>
          <a:p>
            <a:endParaRPr lang="de-DE"/>
          </a:p>
        </p:txBody>
      </p:sp>
      <p:sp>
        <p:nvSpPr>
          <p:cNvPr id="58" name="Shape 56"/>
          <p:cNvSpPr/>
          <p:nvPr/>
        </p:nvSpPr>
        <p:spPr>
          <a:xfrm>
            <a:off x="7756327" y="5407025"/>
            <a:ext cx="82550" cy="82550"/>
          </a:xfrm>
          <a:prstGeom prst="ellipse">
            <a:avLst/>
          </a:prstGeom>
          <a:solidFill>
            <a:srgbClr val="CFD6DB"/>
          </a:solidFill>
          <a:ln>
            <a:noFill/>
          </a:ln>
        </p:spPr>
        <p:txBody>
          <a:bodyPr/>
          <a:lstStyle/>
          <a:p>
            <a:endParaRPr lang="de-DE"/>
          </a:p>
        </p:txBody>
      </p:sp>
      <p:sp>
        <p:nvSpPr>
          <p:cNvPr id="59" name="Shape 57"/>
          <p:cNvSpPr/>
          <p:nvPr/>
        </p:nvSpPr>
        <p:spPr>
          <a:xfrm>
            <a:off x="9818588" y="5407025"/>
            <a:ext cx="82550" cy="82550"/>
          </a:xfrm>
          <a:prstGeom prst="ellipse">
            <a:avLst/>
          </a:prstGeom>
          <a:solidFill>
            <a:srgbClr val="CFD6DB"/>
          </a:solidFill>
          <a:ln>
            <a:noFill/>
          </a:ln>
        </p:spPr>
        <p:txBody>
          <a:bodyPr/>
          <a:lstStyle/>
          <a:p>
            <a:endParaRPr lang="de-DE"/>
          </a:p>
        </p:txBody>
      </p:sp>
      <p:sp>
        <p:nvSpPr>
          <p:cNvPr id="71" name="Shape 69"/>
          <p:cNvSpPr/>
          <p:nvPr/>
        </p:nvSpPr>
        <p:spPr>
          <a:xfrm>
            <a:off x="1396702" y="3042245"/>
            <a:ext cx="9398595" cy="12700"/>
          </a:xfrm>
          <a:prstGeom prst="rect">
            <a:avLst/>
          </a:prstGeom>
          <a:solidFill>
            <a:srgbClr val="D8DEE3"/>
          </a:solidFill>
          <a:ln>
            <a:noFill/>
          </a:ln>
        </p:spPr>
        <p:txBody>
          <a:bodyPr/>
          <a:lstStyle/>
          <a:p>
            <a:endParaRPr lang="de-DE"/>
          </a:p>
        </p:txBody>
      </p:sp>
      <p:sp>
        <p:nvSpPr>
          <p:cNvPr id="60" name="Shape 58"/>
          <p:cNvSpPr/>
          <p:nvPr/>
        </p:nvSpPr>
        <p:spPr>
          <a:xfrm>
            <a:off x="1373684"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1" name="Shape 59"/>
          <p:cNvSpPr/>
          <p:nvPr/>
        </p:nvSpPr>
        <p:spPr>
          <a:xfrm>
            <a:off x="3238500"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2" name="Shape 60"/>
          <p:cNvSpPr/>
          <p:nvPr/>
        </p:nvSpPr>
        <p:spPr>
          <a:xfrm>
            <a:off x="5103316"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3" name="Shape 61"/>
          <p:cNvSpPr/>
          <p:nvPr/>
        </p:nvSpPr>
        <p:spPr>
          <a:xfrm>
            <a:off x="6968133"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4" name="Shape 62"/>
          <p:cNvSpPr/>
          <p:nvPr/>
        </p:nvSpPr>
        <p:spPr>
          <a:xfrm>
            <a:off x="8832949"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5" name="Shape 63"/>
          <p:cNvSpPr/>
          <p:nvPr/>
        </p:nvSpPr>
        <p:spPr>
          <a:xfrm>
            <a:off x="10697766" y="2988270"/>
            <a:ext cx="120650" cy="120650"/>
          </a:xfrm>
          <a:prstGeom prst="ellipse">
            <a:avLst/>
          </a:prstGeom>
          <a:solidFill>
            <a:srgbClr val="CFD6DB"/>
          </a:solidFill>
          <a:ln w="19050">
            <a:solidFill>
              <a:srgbClr val="FFFFFF"/>
            </a:solidFill>
            <a:prstDash val="solid"/>
          </a:ln>
        </p:spPr>
        <p:txBody>
          <a:bodyPr/>
          <a:lstStyle/>
          <a:p>
            <a:endParaRPr lang="de-DE"/>
          </a:p>
        </p:txBody>
      </p:sp>
      <p:sp>
        <p:nvSpPr>
          <p:cNvPr id="66" name="Shape 64"/>
          <p:cNvSpPr/>
          <p:nvPr/>
        </p:nvSpPr>
        <p:spPr>
          <a:xfrm>
            <a:off x="7524750" y="2600920"/>
            <a:ext cx="63500" cy="63500"/>
          </a:xfrm>
          <a:prstGeom prst="ellipse">
            <a:avLst/>
          </a:prstGeom>
          <a:solidFill>
            <a:srgbClr val="001E50"/>
          </a:solidFill>
          <a:ln>
            <a:noFill/>
          </a:ln>
        </p:spPr>
        <p:txBody>
          <a:bodyPr/>
          <a:lstStyle/>
          <a:p>
            <a:endParaRPr lang="de-DE"/>
          </a:p>
        </p:txBody>
      </p:sp>
      <p:sp>
        <p:nvSpPr>
          <p:cNvPr id="67" name="Shape 65"/>
          <p:cNvSpPr/>
          <p:nvPr/>
        </p:nvSpPr>
        <p:spPr>
          <a:xfrm>
            <a:off x="8134350" y="2600920"/>
            <a:ext cx="63500" cy="63500"/>
          </a:xfrm>
          <a:prstGeom prst="ellipse">
            <a:avLst/>
          </a:prstGeom>
          <a:solidFill>
            <a:srgbClr val="53BE70"/>
          </a:solidFill>
          <a:ln>
            <a:noFill/>
          </a:ln>
        </p:spPr>
        <p:txBody>
          <a:bodyPr/>
          <a:lstStyle/>
          <a:p>
            <a:endParaRPr lang="de-DE"/>
          </a:p>
        </p:txBody>
      </p:sp>
      <p:sp>
        <p:nvSpPr>
          <p:cNvPr id="68" name="Shape 66"/>
          <p:cNvSpPr/>
          <p:nvPr/>
        </p:nvSpPr>
        <p:spPr>
          <a:xfrm>
            <a:off x="8667750" y="2600920"/>
            <a:ext cx="63500" cy="63500"/>
          </a:xfrm>
          <a:prstGeom prst="ellipse">
            <a:avLst/>
          </a:prstGeom>
          <a:solidFill>
            <a:srgbClr val="F0B135"/>
          </a:solidFill>
          <a:ln>
            <a:noFill/>
          </a:ln>
        </p:spPr>
        <p:txBody>
          <a:bodyPr/>
          <a:lstStyle/>
          <a:p>
            <a:endParaRPr lang="de-DE"/>
          </a:p>
        </p:txBody>
      </p:sp>
      <p:sp>
        <p:nvSpPr>
          <p:cNvPr id="69" name="Shape 67"/>
          <p:cNvSpPr/>
          <p:nvPr/>
        </p:nvSpPr>
        <p:spPr>
          <a:xfrm>
            <a:off x="9766300" y="2600920"/>
            <a:ext cx="63500" cy="63500"/>
          </a:xfrm>
          <a:prstGeom prst="ellipse">
            <a:avLst/>
          </a:prstGeom>
          <a:solidFill>
            <a:srgbClr val="E64343"/>
          </a:solidFill>
          <a:ln>
            <a:noFill/>
          </a:ln>
        </p:spPr>
        <p:txBody>
          <a:bodyPr/>
          <a:lstStyle/>
          <a:p>
            <a:endParaRPr lang="de-DE"/>
          </a:p>
        </p:txBody>
      </p:sp>
      <p:sp>
        <p:nvSpPr>
          <p:cNvPr id="70" name="Shape 68"/>
          <p:cNvSpPr/>
          <p:nvPr/>
        </p:nvSpPr>
        <p:spPr>
          <a:xfrm>
            <a:off x="11156950" y="2600920"/>
            <a:ext cx="63500" cy="63500"/>
          </a:xfrm>
          <a:prstGeom prst="ellipse">
            <a:avLst/>
          </a:prstGeom>
          <a:solidFill>
            <a:srgbClr val="CFD6DB"/>
          </a:solidFill>
          <a:ln>
            <a:noFill/>
          </a:ln>
        </p:spPr>
        <p:txBody>
          <a:bodyPr/>
          <a:lstStyle/>
          <a:p>
            <a:endParaRPr lang="de-DE"/>
          </a:p>
        </p:txBody>
      </p:sp>
      <p:sp>
        <p:nvSpPr>
          <p:cNvPr id="72" name="Shape 70"/>
          <p:cNvSpPr/>
          <p:nvPr/>
        </p:nvSpPr>
        <p:spPr>
          <a:xfrm>
            <a:off x="501650" y="3706614"/>
            <a:ext cx="11188700" cy="6350"/>
          </a:xfrm>
          <a:prstGeom prst="rect">
            <a:avLst/>
          </a:prstGeom>
          <a:solidFill>
            <a:srgbClr val="E2E8EC"/>
          </a:solidFill>
          <a:ln>
            <a:noFill/>
          </a:ln>
        </p:spPr>
        <p:txBody>
          <a:bodyPr/>
          <a:lstStyle/>
          <a:p>
            <a:endParaRPr lang="de-DE"/>
          </a:p>
        </p:txBody>
      </p:sp>
      <p:sp>
        <p:nvSpPr>
          <p:cNvPr id="73" name="Text 71"/>
          <p:cNvSpPr txBox="1"/>
          <p:nvPr/>
        </p:nvSpPr>
        <p:spPr>
          <a:xfrm>
            <a:off x="317500" y="241300"/>
            <a:ext cx="2224088" cy="114300"/>
          </a:xfrm>
          <a:prstGeom prst="rect">
            <a:avLst/>
          </a:prstGeom>
          <a:noFill/>
          <a:ln>
            <a:noFill/>
          </a:ln>
        </p:spPr>
        <p:txBody>
          <a:bodyPr wrap="square" lIns="0" tIns="0" rIns="0" bIns="0" rtlCol="0" anchor="ctr"/>
          <a:lstStyle/>
          <a:p>
            <a:pPr marL="0" indent="0" algn="l">
              <a:lnSpc>
                <a:spcPts val="900"/>
              </a:lnSpc>
              <a:buNone/>
            </a:pPr>
            <a:r>
              <a:rPr lang="en-US" sz="750" b="1" kern="0" spc="75" dirty="0">
                <a:solidFill>
                  <a:srgbClr val="001E50"/>
                </a:solidFill>
                <a:latin typeface="Segoe UI" pitchFamily="34" charset="0"/>
                <a:ea typeface="Segoe UI" pitchFamily="34" charset="-122"/>
                <a:cs typeface="Segoe UI" pitchFamily="34" charset="-120"/>
              </a:rPr>
              <a:t>USE CASE JOURNEY · CATENA-X</a:t>
            </a:r>
            <a:endParaRPr lang="en-US" sz="750" dirty="0"/>
          </a:p>
        </p:txBody>
      </p:sp>
      <p:sp>
        <p:nvSpPr>
          <p:cNvPr id="74" name="Text 72"/>
          <p:cNvSpPr txBox="1"/>
          <p:nvPr/>
        </p:nvSpPr>
        <p:spPr>
          <a:xfrm>
            <a:off x="317500" y="387350"/>
            <a:ext cx="7302500" cy="346670"/>
          </a:xfrm>
          <a:prstGeom prst="rect">
            <a:avLst/>
          </a:prstGeom>
          <a:noFill/>
          <a:ln>
            <a:noFill/>
          </a:ln>
        </p:spPr>
        <p:txBody>
          <a:bodyPr wrap="square" lIns="0" tIns="0" rIns="0" bIns="0" rtlCol="0" anchor="ctr"/>
          <a:lstStyle/>
          <a:p>
            <a:pPr marL="0" indent="0" algn="l">
              <a:lnSpc>
                <a:spcPts val="2730"/>
              </a:lnSpc>
              <a:buNone/>
            </a:pPr>
            <a:r>
              <a:rPr lang="en-US" sz="2600" b="1" kern="0" spc="-26" dirty="0">
                <a:solidFill>
                  <a:srgbClr val="10151A"/>
                </a:solidFill>
                <a:latin typeface="Segoe UI" pitchFamily="34" charset="0"/>
                <a:ea typeface="Segoe UI" pitchFamily="34" charset="-122"/>
                <a:cs typeface="Segoe UI" pitchFamily="34" charset="-120"/>
              </a:rPr>
              <a:t>Use Case Name</a:t>
            </a:r>
            <a:endParaRPr lang="en-US" sz="2600" dirty="0"/>
          </a:p>
        </p:txBody>
      </p:sp>
      <p:sp>
        <p:nvSpPr>
          <p:cNvPr id="75" name="Text 73"/>
          <p:cNvSpPr txBox="1"/>
          <p:nvPr/>
        </p:nvSpPr>
        <p:spPr>
          <a:xfrm>
            <a:off x="317500" y="765770"/>
            <a:ext cx="2224088" cy="146050"/>
          </a:xfrm>
          <a:prstGeom prst="rect">
            <a:avLst/>
          </a:prstGeom>
          <a:noFill/>
          <a:ln>
            <a:noFill/>
          </a:ln>
        </p:spPr>
        <p:txBody>
          <a:bodyPr wrap="square" lIns="0" tIns="0" rIns="0" bIns="0" rtlCol="0" anchor="ctr"/>
          <a:lstStyle/>
          <a:p>
            <a:pPr marL="0" indent="0" algn="l">
              <a:lnSpc>
                <a:spcPts val="1140"/>
              </a:lnSpc>
              <a:buNone/>
            </a:pPr>
            <a:r>
              <a:rPr lang="en-US" sz="950" dirty="0">
                <a:solidFill>
                  <a:srgbClr val="63707A"/>
                </a:solidFill>
                <a:latin typeface="Segoe UI" pitchFamily="34" charset="0"/>
                <a:ea typeface="Segoe UI" pitchFamily="34" charset="-122"/>
                <a:cs typeface="Segoe UI" pitchFamily="34" charset="-120"/>
              </a:rPr>
              <a:t>Abbreviation: Kürzel</a:t>
            </a:r>
            <a:endParaRPr lang="en-US" sz="950" dirty="0"/>
          </a:p>
        </p:txBody>
      </p:sp>
      <p:sp>
        <p:nvSpPr>
          <p:cNvPr id="80" name="Text 78"/>
          <p:cNvSpPr txBox="1"/>
          <p:nvPr/>
        </p:nvSpPr>
        <p:spPr>
          <a:xfrm>
            <a:off x="3472259" y="1457920"/>
            <a:ext cx="625391"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63707A"/>
                </a:solidFill>
                <a:latin typeface="Segoe UI" pitchFamily="34" charset="0"/>
                <a:ea typeface="Segoe UI" pitchFamily="34" charset="-122"/>
                <a:cs typeface="Segoe UI" pitchFamily="34" charset="-120"/>
              </a:rPr>
              <a:t>Overall Status</a:t>
            </a:r>
            <a:endParaRPr lang="en-US" sz="650" dirty="0"/>
          </a:p>
        </p:txBody>
      </p:sp>
      <p:sp>
        <p:nvSpPr>
          <p:cNvPr id="81" name="Text 79"/>
          <p:cNvSpPr txBox="1"/>
          <p:nvPr/>
        </p:nvSpPr>
        <p:spPr>
          <a:xfrm>
            <a:off x="3364309" y="1902420"/>
            <a:ext cx="471810"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63707A"/>
                </a:solidFill>
                <a:latin typeface="Segoe UI" pitchFamily="34" charset="0"/>
                <a:ea typeface="Segoe UI" pitchFamily="34" charset="-122"/>
                <a:cs typeface="Segoe UI" pitchFamily="34" charset="-120"/>
              </a:rPr>
              <a:t>Milestones</a:t>
            </a:r>
            <a:endParaRPr lang="en-US" sz="650" dirty="0"/>
          </a:p>
        </p:txBody>
      </p:sp>
      <p:sp>
        <p:nvSpPr>
          <p:cNvPr id="82" name="Text 80"/>
          <p:cNvSpPr txBox="1"/>
          <p:nvPr/>
        </p:nvSpPr>
        <p:spPr>
          <a:xfrm>
            <a:off x="3364309" y="2143720"/>
            <a:ext cx="508322"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63707A"/>
                </a:solidFill>
                <a:latin typeface="Segoe UI" pitchFamily="34" charset="0"/>
                <a:ea typeface="Segoe UI" pitchFamily="34" charset="-122"/>
                <a:cs typeface="Segoe UI" pitchFamily="34" charset="-120"/>
              </a:rPr>
              <a:t>Dimensions</a:t>
            </a:r>
            <a:endParaRPr lang="en-US" sz="650" dirty="0"/>
          </a:p>
        </p:txBody>
      </p:sp>
      <p:sp>
        <p:nvSpPr>
          <p:cNvPr id="88" name="Text 86"/>
          <p:cNvSpPr txBox="1"/>
          <p:nvPr/>
        </p:nvSpPr>
        <p:spPr>
          <a:xfrm>
            <a:off x="3351609" y="1083270"/>
            <a:ext cx="2324894" cy="127000"/>
          </a:xfrm>
          <a:prstGeom prst="rect">
            <a:avLst/>
          </a:prstGeom>
          <a:noFill/>
          <a:ln>
            <a:noFill/>
          </a:ln>
        </p:spPr>
        <p:txBody>
          <a:bodyPr wrap="square" lIns="0" tIns="0" rIns="0" bIns="0" rtlCol="0" anchor="ctr"/>
          <a:lstStyle/>
          <a:p>
            <a:pPr marL="0" indent="0" algn="l">
              <a:lnSpc>
                <a:spcPts val="1020"/>
              </a:lnSpc>
              <a:buNone/>
            </a:pPr>
            <a:r>
              <a:rPr lang="en-US" sz="850" b="1" kern="0" spc="51" dirty="0">
                <a:solidFill>
                  <a:srgbClr val="151B21"/>
                </a:solidFill>
                <a:latin typeface="Segoe UI" pitchFamily="34" charset="0"/>
                <a:ea typeface="Segoe UI" pitchFamily="34" charset="-122"/>
                <a:cs typeface="Segoe UI" pitchFamily="34" charset="-120"/>
              </a:rPr>
              <a:t>STATUS OVERVIEW</a:t>
            </a:r>
            <a:endParaRPr lang="en-US" sz="850" dirty="0"/>
          </a:p>
        </p:txBody>
      </p:sp>
      <p:sp>
        <p:nvSpPr>
          <p:cNvPr id="90" name="Text 88"/>
          <p:cNvSpPr txBox="1"/>
          <p:nvPr/>
        </p:nvSpPr>
        <p:spPr>
          <a:xfrm>
            <a:off x="8864898" y="1083270"/>
            <a:ext cx="2850852" cy="127000"/>
          </a:xfrm>
          <a:prstGeom prst="rect">
            <a:avLst/>
          </a:prstGeom>
          <a:noFill/>
          <a:ln>
            <a:noFill/>
          </a:ln>
        </p:spPr>
        <p:txBody>
          <a:bodyPr wrap="square" lIns="0" tIns="0" rIns="0" bIns="0" rtlCol="0" anchor="ctr"/>
          <a:lstStyle/>
          <a:p>
            <a:pPr marL="0" indent="0" algn="l">
              <a:lnSpc>
                <a:spcPts val="1020"/>
              </a:lnSpc>
              <a:buNone/>
            </a:pPr>
            <a:r>
              <a:rPr lang="en-US" sz="850" b="1" kern="0" spc="51" dirty="0">
                <a:solidFill>
                  <a:srgbClr val="151B21"/>
                </a:solidFill>
                <a:latin typeface="Segoe UI" pitchFamily="34" charset="0"/>
                <a:ea typeface="Segoe UI" pitchFamily="34" charset="-122"/>
                <a:cs typeface="Segoe UI" pitchFamily="34" charset="-120"/>
              </a:rPr>
              <a:t>SUPPLIER ENABLEMENT</a:t>
            </a:r>
            <a:endParaRPr lang="en-US" sz="850" dirty="0"/>
          </a:p>
        </p:txBody>
      </p:sp>
      <p:sp>
        <p:nvSpPr>
          <p:cNvPr id="91" name="Text 89"/>
          <p:cNvSpPr txBox="1"/>
          <p:nvPr/>
        </p:nvSpPr>
        <p:spPr>
          <a:xfrm>
            <a:off x="501650" y="2569170"/>
            <a:ext cx="6350000" cy="127000"/>
          </a:xfrm>
          <a:prstGeom prst="rect">
            <a:avLst/>
          </a:prstGeom>
          <a:noFill/>
          <a:ln>
            <a:noFill/>
          </a:ln>
        </p:spPr>
        <p:txBody>
          <a:bodyPr wrap="square" lIns="0" tIns="0" rIns="0" bIns="0" rtlCol="0" anchor="ctr"/>
          <a:lstStyle/>
          <a:p>
            <a:pPr marL="0" indent="0" algn="l">
              <a:lnSpc>
                <a:spcPts val="1020"/>
              </a:lnSpc>
              <a:buNone/>
            </a:pPr>
            <a:r>
              <a:rPr lang="en-US" sz="850" b="1" kern="0" spc="51" dirty="0">
                <a:solidFill>
                  <a:srgbClr val="151B21"/>
                </a:solidFill>
                <a:latin typeface="Segoe UI" pitchFamily="34" charset="0"/>
                <a:ea typeface="Segoe UI" pitchFamily="34" charset="-122"/>
                <a:cs typeface="Segoe UI" pitchFamily="34" charset="-120"/>
              </a:rPr>
              <a:t>MILESTONES AND DELIVERABLES FOR THE CURRENT AND NEXT PI</a:t>
            </a:r>
            <a:endParaRPr lang="en-US" sz="850" dirty="0"/>
          </a:p>
        </p:txBody>
      </p:sp>
      <p:sp>
        <p:nvSpPr>
          <p:cNvPr id="92" name="Text 90"/>
          <p:cNvSpPr txBox="1"/>
          <p:nvPr/>
        </p:nvSpPr>
        <p:spPr>
          <a:xfrm>
            <a:off x="501650" y="5549900"/>
            <a:ext cx="775548" cy="127000"/>
          </a:xfrm>
          <a:prstGeom prst="rect">
            <a:avLst/>
          </a:prstGeom>
          <a:noFill/>
          <a:ln>
            <a:noFill/>
          </a:ln>
        </p:spPr>
        <p:txBody>
          <a:bodyPr wrap="square" lIns="0" tIns="0" rIns="0" bIns="0" rtlCol="0" anchor="ctr"/>
          <a:lstStyle/>
          <a:p>
            <a:pPr marL="0" indent="0" algn="l">
              <a:lnSpc>
                <a:spcPts val="1020"/>
              </a:lnSpc>
              <a:buNone/>
            </a:pPr>
            <a:r>
              <a:rPr lang="en-US" sz="750" b="0" kern="0" spc="51" dirty="0">
                <a:solidFill>
                  <a:srgbClr val="292D31"/>
                </a:solidFill>
                <a:latin typeface="Segoe UI" pitchFamily="34" charset="0"/>
                <a:ea typeface="Segoe UI" pitchFamily="34" charset="-122"/>
                <a:cs typeface="Segoe UI" pitchFamily="34" charset="-120"/>
              </a:rPr>
              <a:t>DIMENSIONS</a:t>
            </a:r>
            <a:endParaRPr lang="en-US" sz="850" dirty="0"/>
          </a:p>
        </p:txBody>
      </p:sp>
      <p:sp>
        <p:nvSpPr>
          <p:cNvPr id="93" name="Text 91"/>
          <p:cNvSpPr txBox="1"/>
          <p:nvPr/>
        </p:nvSpPr>
        <p:spPr>
          <a:xfrm>
            <a:off x="501650" y="6178550"/>
            <a:ext cx="11176000" cy="127000"/>
          </a:xfrm>
          <a:prstGeom prst="rect">
            <a:avLst/>
          </a:prstGeom>
          <a:noFill/>
          <a:ln>
            <a:noFill/>
          </a:ln>
        </p:spPr>
        <p:txBody>
          <a:bodyPr wrap="square" lIns="0" tIns="0" rIns="0" bIns="0" rtlCol="0" anchor="ctr"/>
          <a:lstStyle/>
          <a:p>
            <a:pPr marL="0" indent="0" algn="l">
              <a:lnSpc>
                <a:spcPts val="1020"/>
              </a:lnSpc>
              <a:buNone/>
            </a:pPr>
            <a:r>
              <a:rPr lang="en-US" sz="850" b="1" kern="0" spc="51" dirty="0">
                <a:solidFill>
                  <a:srgbClr val="151B21"/>
                </a:solidFill>
                <a:latin typeface="Segoe UI" pitchFamily="34" charset="0"/>
                <a:ea typeface="Segoe UI" pitchFamily="34" charset="-122"/>
                <a:cs typeface="Segoe UI" pitchFamily="34" charset="-120"/>
              </a:rPr>
              <a:t>REQUIRED MANAGEMENT DECISIONS</a:t>
            </a:r>
            <a:endParaRPr lang="en-US" sz="850" dirty="0"/>
          </a:p>
        </p:txBody>
      </p:sp>
      <p:sp>
        <p:nvSpPr>
          <p:cNvPr id="95" name="Text 93"/>
          <p:cNvSpPr txBox="1"/>
          <p:nvPr/>
        </p:nvSpPr>
        <p:spPr>
          <a:xfrm>
            <a:off x="8864898" y="1286470"/>
            <a:ext cx="197167" cy="304800"/>
          </a:xfrm>
          <a:prstGeom prst="rect">
            <a:avLst/>
          </a:prstGeom>
          <a:noFill/>
          <a:ln>
            <a:noFill/>
          </a:ln>
        </p:spPr>
        <p:txBody>
          <a:bodyPr wrap="square" lIns="0" tIns="0" rIns="0" bIns="0" rtlCol="0" anchor="ctr"/>
          <a:lstStyle/>
          <a:p>
            <a:pPr marL="0" indent="0" algn="l">
              <a:lnSpc>
                <a:spcPts val="2400"/>
              </a:lnSpc>
              <a:buNone/>
            </a:pPr>
            <a:r>
              <a:rPr lang="en-US" sz="2400" b="1" dirty="0">
                <a:solidFill>
                  <a:srgbClr val="001E50"/>
                </a:solidFill>
                <a:latin typeface="Segoe UI" pitchFamily="34" charset="0"/>
                <a:ea typeface="Segoe UI" pitchFamily="34" charset="-122"/>
                <a:cs typeface="Segoe UI" pitchFamily="34" charset="-120"/>
              </a:rPr>
              <a:t>0</a:t>
            </a:r>
            <a:endParaRPr lang="en-US" sz="2400" dirty="0"/>
          </a:p>
        </p:txBody>
      </p:sp>
      <p:sp>
        <p:nvSpPr>
          <p:cNvPr id="96" name="Text 94"/>
          <p:cNvSpPr txBox="1"/>
          <p:nvPr/>
        </p:nvSpPr>
        <p:spPr>
          <a:xfrm>
            <a:off x="9125248" y="1381720"/>
            <a:ext cx="1453198" cy="114300"/>
          </a:xfrm>
          <a:prstGeom prst="rect">
            <a:avLst/>
          </a:prstGeom>
          <a:noFill/>
          <a:ln>
            <a:noFill/>
          </a:ln>
        </p:spPr>
        <p:txBody>
          <a:bodyPr wrap="square" lIns="0" tIns="0" rIns="0" bIns="0" rtlCol="0" anchor="ctr"/>
          <a:lstStyle/>
          <a:p>
            <a:pPr marL="0" indent="0" algn="l">
              <a:lnSpc>
                <a:spcPts val="900"/>
              </a:lnSpc>
              <a:buNone/>
            </a:pPr>
            <a:r>
              <a:rPr lang="en-US" sz="750" b="1" dirty="0">
                <a:solidFill>
                  <a:srgbClr val="292D31"/>
                </a:solidFill>
                <a:latin typeface="Segoe UI" pitchFamily="34" charset="0"/>
                <a:ea typeface="Segoe UI" pitchFamily="34" charset="-122"/>
                <a:cs typeface="Segoe UI" pitchFamily="34" charset="-120"/>
              </a:rPr>
              <a:t>Suppliers enabled in 2026 · 0%</a:t>
            </a:r>
            <a:endParaRPr lang="en-US" sz="750" dirty="0"/>
          </a:p>
        </p:txBody>
      </p:sp>
      <p:sp>
        <p:nvSpPr>
          <p:cNvPr id="97" name="Text 95"/>
          <p:cNvSpPr txBox="1"/>
          <p:nvPr/>
        </p:nvSpPr>
        <p:spPr>
          <a:xfrm>
            <a:off x="8947448" y="1978620"/>
            <a:ext cx="725884"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785715"/>
                </a:solidFill>
                <a:latin typeface="Segoe UI" pitchFamily="34" charset="0"/>
                <a:ea typeface="Segoe UI" pitchFamily="34" charset="-122"/>
                <a:cs typeface="Segoe UI" pitchFamily="34" charset="-120"/>
              </a:rPr>
              <a:t>Target 2026</a:t>
            </a:r>
            <a:endParaRPr lang="en-US" sz="650" dirty="0"/>
          </a:p>
        </p:txBody>
      </p:sp>
      <p:sp>
        <p:nvSpPr>
          <p:cNvPr id="98" name="Text 96"/>
          <p:cNvSpPr txBox="1"/>
          <p:nvPr/>
        </p:nvSpPr>
        <p:spPr>
          <a:xfrm>
            <a:off x="9927332" y="1978620"/>
            <a:ext cx="725884"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20532E"/>
                </a:solidFill>
                <a:latin typeface="Segoe UI" pitchFamily="34" charset="0"/>
                <a:ea typeface="Segoe UI" pitchFamily="34" charset="-122"/>
                <a:cs typeface="Segoe UI" pitchFamily="34" charset="-120"/>
              </a:rPr>
              <a:t>Target 2027</a:t>
            </a:r>
            <a:endParaRPr lang="en-US" sz="650" dirty="0"/>
          </a:p>
        </p:txBody>
      </p:sp>
      <p:sp>
        <p:nvSpPr>
          <p:cNvPr id="99" name="Text 97"/>
          <p:cNvSpPr txBox="1"/>
          <p:nvPr/>
        </p:nvSpPr>
        <p:spPr>
          <a:xfrm>
            <a:off x="10907216" y="1978620"/>
            <a:ext cx="725884" cy="101600"/>
          </a:xfrm>
          <a:prstGeom prst="rect">
            <a:avLst/>
          </a:prstGeom>
          <a:noFill/>
          <a:ln>
            <a:noFill/>
          </a:ln>
        </p:spPr>
        <p:txBody>
          <a:bodyPr wrap="square" lIns="0" tIns="0" rIns="0" bIns="0" rtlCol="0" anchor="ctr"/>
          <a:lstStyle/>
          <a:p>
            <a:pPr marL="0" indent="0" algn="l">
              <a:lnSpc>
                <a:spcPts val="780"/>
              </a:lnSpc>
              <a:buNone/>
            </a:pPr>
            <a:r>
              <a:rPr lang="en-US" sz="650" b="1" kern="0" spc="13" dirty="0">
                <a:solidFill>
                  <a:srgbClr val="63707A"/>
                </a:solidFill>
                <a:latin typeface="Segoe UI" pitchFamily="34" charset="0"/>
                <a:ea typeface="Segoe UI" pitchFamily="34" charset="-122"/>
                <a:cs typeface="Segoe UI" pitchFamily="34" charset="-120"/>
              </a:rPr>
              <a:t>Total Target</a:t>
            </a:r>
            <a:endParaRPr lang="en-US" sz="650" dirty="0"/>
          </a:p>
        </p:txBody>
      </p:sp>
      <p:sp>
        <p:nvSpPr>
          <p:cNvPr id="100" name="Text 98"/>
          <p:cNvSpPr txBox="1"/>
          <p:nvPr/>
        </p:nvSpPr>
        <p:spPr>
          <a:xfrm>
            <a:off x="8947448" y="2105620"/>
            <a:ext cx="725884" cy="139700"/>
          </a:xfrm>
          <a:prstGeom prst="rect">
            <a:avLst/>
          </a:prstGeom>
          <a:noFill/>
          <a:ln>
            <a:noFill/>
          </a:ln>
        </p:spPr>
        <p:txBody>
          <a:bodyPr wrap="square" lIns="0" tIns="0" rIns="0" bIns="0" rtlCol="0" anchor="ctr"/>
          <a:lstStyle/>
          <a:p>
            <a:pPr marL="0" indent="0" algn="l">
              <a:lnSpc>
                <a:spcPts val="1100"/>
              </a:lnSpc>
              <a:buNone/>
            </a:pPr>
            <a:r>
              <a:rPr lang="en-US" sz="1100" b="1" dirty="0">
                <a:solidFill>
                  <a:srgbClr val="785715"/>
                </a:solidFill>
                <a:latin typeface="Segoe UI" pitchFamily="34" charset="0"/>
                <a:ea typeface="Segoe UI" pitchFamily="34" charset="-122"/>
                <a:cs typeface="Segoe UI" pitchFamily="34" charset="-120"/>
              </a:rPr>
              <a:t>0</a:t>
            </a:r>
            <a:endParaRPr lang="en-US" sz="1100" dirty="0"/>
          </a:p>
        </p:txBody>
      </p:sp>
      <p:sp>
        <p:nvSpPr>
          <p:cNvPr id="101" name="Text 99"/>
          <p:cNvSpPr txBox="1"/>
          <p:nvPr/>
        </p:nvSpPr>
        <p:spPr>
          <a:xfrm>
            <a:off x="9927332" y="2105620"/>
            <a:ext cx="725884" cy="139700"/>
          </a:xfrm>
          <a:prstGeom prst="rect">
            <a:avLst/>
          </a:prstGeom>
          <a:noFill/>
          <a:ln>
            <a:noFill/>
          </a:ln>
        </p:spPr>
        <p:txBody>
          <a:bodyPr wrap="square" lIns="0" tIns="0" rIns="0" bIns="0" rtlCol="0" anchor="ctr"/>
          <a:lstStyle/>
          <a:p>
            <a:pPr marL="0" indent="0" algn="l">
              <a:lnSpc>
                <a:spcPts val="1100"/>
              </a:lnSpc>
              <a:buNone/>
            </a:pPr>
            <a:r>
              <a:rPr lang="en-US" sz="1100" b="1" dirty="0">
                <a:solidFill>
                  <a:srgbClr val="20532E"/>
                </a:solidFill>
                <a:latin typeface="Segoe UI" pitchFamily="34" charset="0"/>
                <a:ea typeface="Segoe UI" pitchFamily="34" charset="-122"/>
                <a:cs typeface="Segoe UI" pitchFamily="34" charset="-120"/>
              </a:rPr>
              <a:t>0</a:t>
            </a:r>
            <a:endParaRPr lang="en-US" sz="1100" dirty="0"/>
          </a:p>
        </p:txBody>
      </p:sp>
      <p:sp>
        <p:nvSpPr>
          <p:cNvPr id="102" name="Text 100"/>
          <p:cNvSpPr txBox="1"/>
          <p:nvPr/>
        </p:nvSpPr>
        <p:spPr>
          <a:xfrm>
            <a:off x="10907216" y="2105620"/>
            <a:ext cx="725884" cy="139700"/>
          </a:xfrm>
          <a:prstGeom prst="rect">
            <a:avLst/>
          </a:prstGeom>
          <a:noFill/>
          <a:ln>
            <a:noFill/>
          </a:ln>
        </p:spPr>
        <p:txBody>
          <a:bodyPr wrap="square" lIns="0" tIns="0" rIns="0" bIns="0" rtlCol="0" anchor="ctr"/>
          <a:lstStyle/>
          <a:p>
            <a:pPr marL="0" indent="0" algn="l">
              <a:lnSpc>
                <a:spcPts val="1100"/>
              </a:lnSpc>
              <a:buNone/>
            </a:pPr>
            <a:r>
              <a:rPr lang="en-US" sz="1100" b="1" dirty="0">
                <a:solidFill>
                  <a:srgbClr val="001E50"/>
                </a:solidFill>
                <a:latin typeface="Segoe UI" pitchFamily="34" charset="0"/>
                <a:ea typeface="Segoe UI" pitchFamily="34" charset="-122"/>
                <a:cs typeface="Segoe UI" pitchFamily="34" charset="-120"/>
              </a:rPr>
              <a:t>0</a:t>
            </a:r>
            <a:endParaRPr lang="en-US" sz="1100" dirty="0"/>
          </a:p>
        </p:txBody>
      </p:sp>
      <p:sp>
        <p:nvSpPr>
          <p:cNvPr id="109" name="Text 107"/>
          <p:cNvSpPr txBox="1"/>
          <p:nvPr/>
        </p:nvSpPr>
        <p:spPr>
          <a:xfrm>
            <a:off x="4933553" y="1451570"/>
            <a:ext cx="569595" cy="114300"/>
          </a:xfrm>
          <a:prstGeom prst="rect">
            <a:avLst/>
          </a:prstGeom>
          <a:noFill/>
          <a:ln>
            <a:noFill/>
          </a:ln>
        </p:spPr>
        <p:txBody>
          <a:bodyPr wrap="square" lIns="0" tIns="0" rIns="0" bIns="0" rtlCol="0" anchor="ctr"/>
          <a:lstStyle/>
          <a:p>
            <a:pPr marL="0" indent="0" algn="l">
              <a:lnSpc>
                <a:spcPts val="900"/>
              </a:lnSpc>
              <a:buNone/>
            </a:pPr>
            <a:r>
              <a:rPr lang="en-US" sz="750" b="1" dirty="0">
                <a:solidFill>
                  <a:srgbClr val="292D31"/>
                </a:solidFill>
                <a:latin typeface="Segoe UI" pitchFamily="34" charset="0"/>
                <a:ea typeface="Segoe UI" pitchFamily="34" charset="-122"/>
                <a:cs typeface="Segoe UI" pitchFamily="34" charset="-120"/>
              </a:rPr>
              <a:t>Not Started</a:t>
            </a:r>
            <a:endParaRPr lang="en-US" sz="750" dirty="0"/>
          </a:p>
        </p:txBody>
      </p:sp>
      <p:sp>
        <p:nvSpPr>
          <p:cNvPr id="110" name="Text 108"/>
          <p:cNvSpPr txBox="1"/>
          <p:nvPr/>
        </p:nvSpPr>
        <p:spPr>
          <a:xfrm>
            <a:off x="5162153" y="1902420"/>
            <a:ext cx="496570" cy="101600"/>
          </a:xfrm>
          <a:prstGeom prst="rect">
            <a:avLst/>
          </a:prstGeom>
          <a:noFill/>
          <a:ln>
            <a:noFill/>
          </a:ln>
        </p:spPr>
        <p:txBody>
          <a:bodyPr wrap="square" lIns="0" tIns="0" rIns="0" bIns="0" rtlCol="0" anchor="ctr"/>
          <a:lstStyle/>
          <a:p>
            <a:pPr marL="0" indent="0" algn="l">
              <a:lnSpc>
                <a:spcPts val="780"/>
              </a:lnSpc>
              <a:buNone/>
            </a:pPr>
            <a:r>
              <a:rPr lang="en-US" sz="650" b="1" dirty="0">
                <a:solidFill>
                  <a:srgbClr val="292D31"/>
                </a:solidFill>
                <a:latin typeface="Segoe UI" pitchFamily="34" charset="0"/>
                <a:ea typeface="Segoe UI" pitchFamily="34" charset="-122"/>
                <a:cs typeface="Segoe UI" pitchFamily="34" charset="-120"/>
              </a:rPr>
              <a:t>Not Started</a:t>
            </a:r>
            <a:endParaRPr lang="en-US" sz="650" dirty="0"/>
          </a:p>
        </p:txBody>
      </p:sp>
      <p:sp>
        <p:nvSpPr>
          <p:cNvPr id="111" name="Text 109"/>
          <p:cNvSpPr txBox="1"/>
          <p:nvPr/>
        </p:nvSpPr>
        <p:spPr>
          <a:xfrm>
            <a:off x="5162153" y="2143720"/>
            <a:ext cx="496570" cy="101600"/>
          </a:xfrm>
          <a:prstGeom prst="rect">
            <a:avLst/>
          </a:prstGeom>
          <a:noFill/>
          <a:ln>
            <a:noFill/>
          </a:ln>
        </p:spPr>
        <p:txBody>
          <a:bodyPr wrap="square" lIns="0" tIns="0" rIns="0" bIns="0" rtlCol="0" anchor="ctr"/>
          <a:lstStyle/>
          <a:p>
            <a:pPr marL="0" indent="0" algn="l">
              <a:lnSpc>
                <a:spcPts val="780"/>
              </a:lnSpc>
              <a:buNone/>
            </a:pPr>
            <a:r>
              <a:rPr lang="en-US" sz="650" b="1" dirty="0">
                <a:solidFill>
                  <a:srgbClr val="292D31"/>
                </a:solidFill>
                <a:latin typeface="Segoe UI" pitchFamily="34" charset="0"/>
                <a:ea typeface="Segoe UI" pitchFamily="34" charset="-122"/>
                <a:cs typeface="Segoe UI" pitchFamily="34" charset="-120"/>
              </a:rPr>
              <a:t>Not Started</a:t>
            </a:r>
            <a:endParaRPr lang="en-US" sz="650" dirty="0"/>
          </a:p>
        </p:txBody>
      </p:sp>
      <p:sp>
        <p:nvSpPr>
          <p:cNvPr id="112" name="Text 110"/>
          <p:cNvSpPr txBox="1"/>
          <p:nvPr/>
        </p:nvSpPr>
        <p:spPr>
          <a:xfrm>
            <a:off x="7626350" y="2581870"/>
            <a:ext cx="452755" cy="101600"/>
          </a:xfrm>
          <a:prstGeom prst="rect">
            <a:avLst/>
          </a:prstGeom>
          <a:noFill/>
          <a:ln>
            <a:noFill/>
          </a:ln>
        </p:spPr>
        <p:txBody>
          <a:bodyPr wrap="square" lIns="0" tIns="0" rIns="0" bIns="0" rtlCol="0" anchor="ctr"/>
          <a:lstStyle/>
          <a:p>
            <a:pPr marL="0" indent="0" algn="l">
              <a:lnSpc>
                <a:spcPts val="780"/>
              </a:lnSpc>
              <a:buNone/>
            </a:pPr>
            <a:r>
              <a:rPr lang="en-US" sz="650" dirty="0">
                <a:solidFill>
                  <a:srgbClr val="49545D"/>
                </a:solidFill>
                <a:latin typeface="Segoe UI" pitchFamily="34" charset="0"/>
                <a:ea typeface="Segoe UI" pitchFamily="34" charset="-122"/>
                <a:cs typeface="Segoe UI" pitchFamily="34" charset="-120"/>
              </a:rPr>
              <a:t>Completed</a:t>
            </a:r>
            <a:endParaRPr lang="en-US" sz="650" dirty="0"/>
          </a:p>
        </p:txBody>
      </p:sp>
      <p:sp>
        <p:nvSpPr>
          <p:cNvPr id="113" name="Text 111"/>
          <p:cNvSpPr txBox="1"/>
          <p:nvPr/>
        </p:nvSpPr>
        <p:spPr>
          <a:xfrm>
            <a:off x="8235950" y="2581870"/>
            <a:ext cx="365125" cy="101600"/>
          </a:xfrm>
          <a:prstGeom prst="rect">
            <a:avLst/>
          </a:prstGeom>
          <a:noFill/>
          <a:ln>
            <a:noFill/>
          </a:ln>
        </p:spPr>
        <p:txBody>
          <a:bodyPr wrap="square" lIns="0" tIns="0" rIns="0" bIns="0" rtlCol="0" anchor="ctr"/>
          <a:lstStyle/>
          <a:p>
            <a:pPr marL="0" indent="0" algn="l">
              <a:lnSpc>
                <a:spcPts val="780"/>
              </a:lnSpc>
              <a:buNone/>
            </a:pPr>
            <a:r>
              <a:rPr lang="en-US" sz="650" dirty="0">
                <a:solidFill>
                  <a:srgbClr val="49545D"/>
                </a:solidFill>
                <a:latin typeface="Segoe UI" pitchFamily="34" charset="0"/>
                <a:ea typeface="Segoe UI" pitchFamily="34" charset="-122"/>
                <a:cs typeface="Segoe UI" pitchFamily="34" charset="-120"/>
              </a:rPr>
              <a:t>On Track</a:t>
            </a:r>
            <a:endParaRPr lang="en-US" sz="650" dirty="0"/>
          </a:p>
        </p:txBody>
      </p:sp>
      <p:sp>
        <p:nvSpPr>
          <p:cNvPr id="114" name="Text 112"/>
          <p:cNvSpPr txBox="1"/>
          <p:nvPr/>
        </p:nvSpPr>
        <p:spPr>
          <a:xfrm>
            <a:off x="8769350" y="2581870"/>
            <a:ext cx="958850" cy="101600"/>
          </a:xfrm>
          <a:prstGeom prst="rect">
            <a:avLst/>
          </a:prstGeom>
          <a:noFill/>
          <a:ln>
            <a:noFill/>
          </a:ln>
        </p:spPr>
        <p:txBody>
          <a:bodyPr wrap="square" lIns="0" tIns="0" rIns="0" bIns="0" rtlCol="0" anchor="ctr">
            <a:normAutofit/>
          </a:bodyPr>
          <a:lstStyle/>
          <a:p>
            <a:pPr marL="0" indent="0" algn="l">
              <a:lnSpc>
                <a:spcPts val="780"/>
              </a:lnSpc>
              <a:buNone/>
            </a:pPr>
            <a:r>
              <a:rPr lang="en-US" sz="650" dirty="0">
                <a:solidFill>
                  <a:srgbClr val="49545D"/>
                </a:solidFill>
                <a:latin typeface="Segoe UI" pitchFamily="34" charset="0"/>
                <a:ea typeface="Segoe UI" pitchFamily="34" charset="-122"/>
                <a:cs typeface="Segoe UI" pitchFamily="34" charset="-120"/>
              </a:rPr>
              <a:t>Internal Problem Solving</a:t>
            </a:r>
            <a:endParaRPr lang="en-US" sz="650" dirty="0"/>
          </a:p>
        </p:txBody>
      </p:sp>
      <p:sp>
        <p:nvSpPr>
          <p:cNvPr id="115" name="Text 113"/>
          <p:cNvSpPr txBox="1"/>
          <p:nvPr/>
        </p:nvSpPr>
        <p:spPr>
          <a:xfrm>
            <a:off x="9867900" y="2581870"/>
            <a:ext cx="1250950" cy="101600"/>
          </a:xfrm>
          <a:prstGeom prst="rect">
            <a:avLst/>
          </a:prstGeom>
          <a:noFill/>
          <a:ln>
            <a:noFill/>
          </a:ln>
        </p:spPr>
        <p:txBody>
          <a:bodyPr wrap="square" lIns="0" tIns="0" rIns="0" bIns="0" rtlCol="0" anchor="ctr">
            <a:normAutofit/>
          </a:bodyPr>
          <a:lstStyle/>
          <a:p>
            <a:pPr marL="0" indent="0" algn="l">
              <a:lnSpc>
                <a:spcPts val="780"/>
              </a:lnSpc>
              <a:buNone/>
            </a:pPr>
            <a:r>
              <a:rPr lang="en-US" sz="650" dirty="0">
                <a:solidFill>
                  <a:srgbClr val="49545D"/>
                </a:solidFill>
                <a:latin typeface="Segoe UI" pitchFamily="34" charset="0"/>
                <a:ea typeface="Segoe UI" pitchFamily="34" charset="-122"/>
                <a:cs typeface="Segoe UI" pitchFamily="34" charset="-120"/>
              </a:rPr>
              <a:t>Management Attention Required</a:t>
            </a:r>
            <a:endParaRPr lang="en-US" sz="650" dirty="0"/>
          </a:p>
        </p:txBody>
      </p:sp>
      <p:sp>
        <p:nvSpPr>
          <p:cNvPr id="116" name="Text 114"/>
          <p:cNvSpPr txBox="1"/>
          <p:nvPr/>
        </p:nvSpPr>
        <p:spPr>
          <a:xfrm>
            <a:off x="11258550" y="2581870"/>
            <a:ext cx="496570" cy="101600"/>
          </a:xfrm>
          <a:prstGeom prst="rect">
            <a:avLst/>
          </a:prstGeom>
          <a:noFill/>
          <a:ln>
            <a:noFill/>
          </a:ln>
        </p:spPr>
        <p:txBody>
          <a:bodyPr wrap="square" lIns="0" tIns="0" rIns="0" bIns="0" rtlCol="0" anchor="ctr"/>
          <a:lstStyle/>
          <a:p>
            <a:pPr marL="0" indent="0" algn="l">
              <a:lnSpc>
                <a:spcPts val="780"/>
              </a:lnSpc>
              <a:buNone/>
            </a:pPr>
            <a:r>
              <a:rPr lang="en-US" sz="650" dirty="0">
                <a:solidFill>
                  <a:srgbClr val="49545D"/>
                </a:solidFill>
                <a:latin typeface="Segoe UI" pitchFamily="34" charset="0"/>
                <a:ea typeface="Segoe UI" pitchFamily="34" charset="-122"/>
                <a:cs typeface="Segoe UI" pitchFamily="34" charset="-120"/>
              </a:rPr>
              <a:t>Not Started</a:t>
            </a:r>
            <a:endParaRPr lang="en-US" sz="650" dirty="0"/>
          </a:p>
        </p:txBody>
      </p:sp>
      <p:sp>
        <p:nvSpPr>
          <p:cNvPr id="117" name="Text 115"/>
          <p:cNvSpPr txBox="1"/>
          <p:nvPr/>
        </p:nvSpPr>
        <p:spPr>
          <a:xfrm>
            <a:off x="565150"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18" name="Text 116"/>
          <p:cNvSpPr txBox="1"/>
          <p:nvPr/>
        </p:nvSpPr>
        <p:spPr>
          <a:xfrm>
            <a:off x="2429966"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19" name="Text 117"/>
          <p:cNvSpPr txBox="1"/>
          <p:nvPr/>
        </p:nvSpPr>
        <p:spPr>
          <a:xfrm>
            <a:off x="4294783"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20" name="Text 118"/>
          <p:cNvSpPr txBox="1"/>
          <p:nvPr/>
        </p:nvSpPr>
        <p:spPr>
          <a:xfrm>
            <a:off x="6159599"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21" name="Text 119"/>
          <p:cNvSpPr txBox="1"/>
          <p:nvPr/>
        </p:nvSpPr>
        <p:spPr>
          <a:xfrm>
            <a:off x="8024416"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22" name="Text 120"/>
          <p:cNvSpPr txBox="1"/>
          <p:nvPr/>
        </p:nvSpPr>
        <p:spPr>
          <a:xfrm>
            <a:off x="9889232" y="2772370"/>
            <a:ext cx="1788616" cy="120650"/>
          </a:xfrm>
          <a:prstGeom prst="rect">
            <a:avLst/>
          </a:prstGeom>
          <a:noFill/>
          <a:ln>
            <a:noFill/>
          </a:ln>
        </p:spPr>
        <p:txBody>
          <a:bodyPr wrap="square" lIns="0" tIns="0" rIns="0" bIns="0" rtlCol="0" anchor="ctr"/>
          <a:lstStyle/>
          <a:p>
            <a:pPr marL="0" indent="0" algn="ctr">
              <a:lnSpc>
                <a:spcPts val="960"/>
              </a:lnSpc>
              <a:buNone/>
            </a:pPr>
            <a:r>
              <a:rPr lang="en-US" sz="850" b="1" dirty="0">
                <a:solidFill>
                  <a:srgbClr val="292D31"/>
                </a:solidFill>
                <a:latin typeface="Segoe UI" pitchFamily="34" charset="0"/>
                <a:ea typeface="Segoe UI" pitchFamily="34" charset="-122"/>
                <a:cs typeface="Segoe UI" pitchFamily="34" charset="-120"/>
              </a:rPr>
              <a:t>DD Month YYYY</a:t>
            </a:r>
            <a:endParaRPr lang="en-US" sz="800" dirty="0"/>
          </a:p>
        </p:txBody>
      </p:sp>
      <p:sp>
        <p:nvSpPr>
          <p:cNvPr id="123" name="Text 121"/>
          <p:cNvSpPr txBox="1"/>
          <p:nvPr/>
        </p:nvSpPr>
        <p:spPr>
          <a:xfrm>
            <a:off x="565150"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1</a:t>
            </a:r>
            <a:endParaRPr lang="en-US" sz="875" dirty="0"/>
          </a:p>
        </p:txBody>
      </p:sp>
      <p:sp>
        <p:nvSpPr>
          <p:cNvPr id="124" name="Text 122"/>
          <p:cNvSpPr txBox="1"/>
          <p:nvPr/>
        </p:nvSpPr>
        <p:spPr>
          <a:xfrm>
            <a:off x="2429966"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2</a:t>
            </a:r>
            <a:endParaRPr lang="en-US" sz="875" dirty="0"/>
          </a:p>
        </p:txBody>
      </p:sp>
      <p:sp>
        <p:nvSpPr>
          <p:cNvPr id="125" name="Text 123"/>
          <p:cNvSpPr txBox="1"/>
          <p:nvPr/>
        </p:nvSpPr>
        <p:spPr>
          <a:xfrm>
            <a:off x="4294783"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3</a:t>
            </a:r>
            <a:endParaRPr lang="en-US" sz="875" dirty="0"/>
          </a:p>
        </p:txBody>
      </p:sp>
      <p:sp>
        <p:nvSpPr>
          <p:cNvPr id="126" name="Text 124"/>
          <p:cNvSpPr txBox="1"/>
          <p:nvPr/>
        </p:nvSpPr>
        <p:spPr>
          <a:xfrm>
            <a:off x="6159599"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4</a:t>
            </a:r>
            <a:endParaRPr lang="en-US" sz="875" dirty="0"/>
          </a:p>
        </p:txBody>
      </p:sp>
      <p:sp>
        <p:nvSpPr>
          <p:cNvPr id="127" name="Text 125"/>
          <p:cNvSpPr txBox="1"/>
          <p:nvPr/>
        </p:nvSpPr>
        <p:spPr>
          <a:xfrm>
            <a:off x="8024416"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5</a:t>
            </a:r>
            <a:endParaRPr lang="en-US" sz="875" dirty="0"/>
          </a:p>
        </p:txBody>
      </p:sp>
      <p:sp>
        <p:nvSpPr>
          <p:cNvPr id="128" name="Text 126"/>
          <p:cNvSpPr txBox="1"/>
          <p:nvPr/>
        </p:nvSpPr>
        <p:spPr>
          <a:xfrm>
            <a:off x="9889232" y="3204170"/>
            <a:ext cx="1788616" cy="172244"/>
          </a:xfrm>
          <a:prstGeom prst="rect">
            <a:avLst/>
          </a:prstGeom>
          <a:noFill/>
          <a:ln>
            <a:noFill/>
          </a:ln>
        </p:spPr>
        <p:txBody>
          <a:bodyPr wrap="square" lIns="0" tIns="0" rIns="0" bIns="0" rtlCol="0" anchor="ctr"/>
          <a:lstStyle/>
          <a:p>
            <a:pPr marL="0" indent="0" algn="ctr">
              <a:lnSpc>
                <a:spcPts val="1356"/>
              </a:lnSpc>
              <a:buNone/>
            </a:pPr>
            <a:r>
              <a:rPr lang="en-US" sz="875" b="1" dirty="0">
                <a:solidFill>
                  <a:srgbClr val="292D31"/>
                </a:solidFill>
                <a:latin typeface="Segoe UI" pitchFamily="34" charset="0"/>
                <a:ea typeface="Segoe UI" pitchFamily="34" charset="-122"/>
                <a:cs typeface="Segoe UI" pitchFamily="34" charset="-120"/>
              </a:rPr>
              <a:t>Milestone 6</a:t>
            </a:r>
            <a:endParaRPr lang="en-US" sz="875" dirty="0"/>
          </a:p>
        </p:txBody>
      </p:sp>
      <p:sp>
        <p:nvSpPr>
          <p:cNvPr id="129" name="Text 127"/>
          <p:cNvSpPr txBox="1"/>
          <p:nvPr/>
        </p:nvSpPr>
        <p:spPr>
          <a:xfrm>
            <a:off x="1709440" y="5384800"/>
            <a:ext cx="1321753" cy="127000"/>
          </a:xfrm>
          <a:prstGeom prst="rect">
            <a:avLst/>
          </a:prstGeom>
          <a:noFill/>
          <a:ln>
            <a:noFill/>
          </a:ln>
        </p:spPr>
        <p:txBody>
          <a:bodyPr wrap="square" lIns="0" tIns="0" rIns="0" bIns="0" rtlCol="0" anchor="ctr"/>
          <a:lstStyle/>
          <a:p>
            <a:pPr marL="0" indent="0" algn="l">
              <a:lnSpc>
                <a:spcPts val="990"/>
              </a:lnSpc>
              <a:buNone/>
            </a:pPr>
            <a:r>
              <a:rPr lang="en-US" sz="825" b="1" dirty="0">
                <a:solidFill>
                  <a:srgbClr val="151B21"/>
                </a:solidFill>
                <a:latin typeface="Segoe UI" pitchFamily="34" charset="0"/>
                <a:ea typeface="Segoe UI" pitchFamily="34" charset="-122"/>
                <a:cs typeface="Segoe UI" pitchFamily="34" charset="-120"/>
              </a:rPr>
              <a:t>External · CX Association</a:t>
            </a:r>
            <a:endParaRPr lang="en-US" sz="825" dirty="0"/>
          </a:p>
        </p:txBody>
      </p:sp>
      <p:sp>
        <p:nvSpPr>
          <p:cNvPr id="130" name="Text 128"/>
          <p:cNvSpPr txBox="1"/>
          <p:nvPr/>
        </p:nvSpPr>
        <p:spPr>
          <a:xfrm>
            <a:off x="3771602" y="5384800"/>
            <a:ext cx="474663" cy="127000"/>
          </a:xfrm>
          <a:prstGeom prst="rect">
            <a:avLst/>
          </a:prstGeom>
          <a:noFill/>
          <a:ln>
            <a:noFill/>
          </a:ln>
        </p:spPr>
        <p:txBody>
          <a:bodyPr wrap="square" lIns="0" tIns="0" rIns="0" bIns="0" rtlCol="0" anchor="ctr"/>
          <a:lstStyle/>
          <a:p>
            <a:pPr marL="0" indent="0" algn="l">
              <a:lnSpc>
                <a:spcPts val="990"/>
              </a:lnSpc>
              <a:buNone/>
            </a:pPr>
            <a:r>
              <a:rPr lang="en-US" sz="825" b="1" dirty="0">
                <a:solidFill>
                  <a:srgbClr val="151B21"/>
                </a:solidFill>
                <a:latin typeface="Segoe UI" pitchFamily="34" charset="0"/>
                <a:ea typeface="Segoe UI" pitchFamily="34" charset="-122"/>
                <a:cs typeface="Segoe UI" pitchFamily="34" charset="-120"/>
              </a:rPr>
              <a:t>Business</a:t>
            </a:r>
            <a:endParaRPr lang="en-US" sz="825" dirty="0"/>
          </a:p>
        </p:txBody>
      </p:sp>
      <p:sp>
        <p:nvSpPr>
          <p:cNvPr id="131" name="Text 129"/>
          <p:cNvSpPr txBox="1"/>
          <p:nvPr/>
        </p:nvSpPr>
        <p:spPr>
          <a:xfrm>
            <a:off x="5833864" y="5384800"/>
            <a:ext cx="927417" cy="127000"/>
          </a:xfrm>
          <a:prstGeom prst="rect">
            <a:avLst/>
          </a:prstGeom>
          <a:noFill/>
          <a:ln>
            <a:noFill/>
          </a:ln>
        </p:spPr>
        <p:txBody>
          <a:bodyPr wrap="square" lIns="0" tIns="0" rIns="0" bIns="0" rtlCol="0" anchor="ctr"/>
          <a:lstStyle/>
          <a:p>
            <a:pPr marL="0" indent="0" algn="l">
              <a:lnSpc>
                <a:spcPts val="990"/>
              </a:lnSpc>
              <a:buNone/>
            </a:pPr>
            <a:r>
              <a:rPr lang="en-US" sz="825" b="1" dirty="0">
                <a:solidFill>
                  <a:srgbClr val="151B21"/>
                </a:solidFill>
                <a:latin typeface="Segoe UI" pitchFamily="34" charset="0"/>
                <a:ea typeface="Segoe UI" pitchFamily="34" charset="-122"/>
                <a:cs typeface="Segoe UI" pitchFamily="34" charset="-120"/>
              </a:rPr>
              <a:t>Data Provisioning</a:t>
            </a:r>
            <a:endParaRPr lang="en-US" sz="825" dirty="0"/>
          </a:p>
        </p:txBody>
      </p:sp>
      <p:sp>
        <p:nvSpPr>
          <p:cNvPr id="132" name="Text 130"/>
          <p:cNvSpPr txBox="1"/>
          <p:nvPr/>
        </p:nvSpPr>
        <p:spPr>
          <a:xfrm>
            <a:off x="7896027" y="5384800"/>
            <a:ext cx="518477" cy="127000"/>
          </a:xfrm>
          <a:prstGeom prst="rect">
            <a:avLst/>
          </a:prstGeom>
          <a:noFill/>
          <a:ln>
            <a:noFill/>
          </a:ln>
        </p:spPr>
        <p:txBody>
          <a:bodyPr wrap="square" lIns="0" tIns="0" rIns="0" bIns="0" rtlCol="0" anchor="ctr"/>
          <a:lstStyle/>
          <a:p>
            <a:pPr marL="0" indent="0" algn="l">
              <a:lnSpc>
                <a:spcPts val="990"/>
              </a:lnSpc>
              <a:buNone/>
            </a:pPr>
            <a:r>
              <a:rPr lang="en-US" sz="825" b="1" dirty="0">
                <a:solidFill>
                  <a:srgbClr val="151B21"/>
                </a:solidFill>
                <a:latin typeface="Segoe UI" pitchFamily="34" charset="0"/>
                <a:ea typeface="Segoe UI" pitchFamily="34" charset="-122"/>
                <a:cs typeface="Segoe UI" pitchFamily="34" charset="-120"/>
              </a:rPr>
              <a:t>Technical</a:t>
            </a:r>
            <a:endParaRPr lang="en-US" sz="825" dirty="0"/>
          </a:p>
        </p:txBody>
      </p:sp>
      <p:sp>
        <p:nvSpPr>
          <p:cNvPr id="133" name="Text 131"/>
          <p:cNvSpPr txBox="1"/>
          <p:nvPr/>
        </p:nvSpPr>
        <p:spPr>
          <a:xfrm>
            <a:off x="9958288" y="5384800"/>
            <a:ext cx="1015047" cy="127000"/>
          </a:xfrm>
          <a:prstGeom prst="rect">
            <a:avLst/>
          </a:prstGeom>
          <a:noFill/>
          <a:ln>
            <a:noFill/>
          </a:ln>
        </p:spPr>
        <p:txBody>
          <a:bodyPr wrap="square" lIns="0" tIns="0" rIns="0" bIns="0" rtlCol="0" anchor="ctr"/>
          <a:lstStyle/>
          <a:p>
            <a:pPr marL="0" indent="0" algn="l">
              <a:lnSpc>
                <a:spcPts val="990"/>
              </a:lnSpc>
              <a:buNone/>
            </a:pPr>
            <a:r>
              <a:rPr lang="en-US" sz="825" b="1" dirty="0">
                <a:solidFill>
                  <a:srgbClr val="151B21"/>
                </a:solidFill>
                <a:latin typeface="Segoe UI" pitchFamily="34" charset="0"/>
                <a:ea typeface="Segoe UI" pitchFamily="34" charset="-122"/>
                <a:cs typeface="Segoe UI" pitchFamily="34" charset="-120"/>
              </a:rPr>
              <a:t>Supplier Activation</a:t>
            </a:r>
            <a:endParaRPr lang="en-US" sz="825" dirty="0"/>
          </a:p>
        </p:txBody>
      </p:sp>
      <p:sp>
        <p:nvSpPr>
          <p:cNvPr id="134" name="Text 132"/>
          <p:cNvSpPr txBox="1"/>
          <p:nvPr/>
        </p:nvSpPr>
        <p:spPr>
          <a:xfrm>
            <a:off x="692150" y="6381750"/>
            <a:ext cx="3390900" cy="165100"/>
          </a:xfrm>
          <a:prstGeom prst="rect">
            <a:avLst/>
          </a:prstGeom>
          <a:noFill/>
          <a:ln>
            <a:noFill/>
          </a:ln>
        </p:spPr>
        <p:txBody>
          <a:bodyPr wrap="square" lIns="0" tIns="0" rIns="0" bIns="0" rtlCol="0" anchor="ctr"/>
          <a:lstStyle/>
          <a:p>
            <a:pPr marL="0" indent="0" algn="l">
              <a:lnSpc>
                <a:spcPts val="1240"/>
              </a:lnSpc>
              <a:buNone/>
            </a:pPr>
            <a:r>
              <a:rPr lang="en-US" sz="850" dirty="0">
                <a:solidFill>
                  <a:srgbClr val="292D31"/>
                </a:solidFill>
                <a:latin typeface="Segoe UI" pitchFamily="34" charset="0"/>
                <a:ea typeface="Segoe UI" pitchFamily="34" charset="-122"/>
                <a:cs typeface="Segoe UI" pitchFamily="34" charset="-120"/>
              </a:rPr>
              <a:t>Decision 1</a:t>
            </a:r>
            <a:endParaRPr lang="en-US" sz="800" dirty="0"/>
          </a:p>
        </p:txBody>
      </p:sp>
      <p:sp>
        <p:nvSpPr>
          <p:cNvPr id="135" name="Text 133"/>
          <p:cNvSpPr txBox="1"/>
          <p:nvPr/>
        </p:nvSpPr>
        <p:spPr>
          <a:xfrm>
            <a:off x="4489450" y="6381750"/>
            <a:ext cx="3390900" cy="165100"/>
          </a:xfrm>
          <a:prstGeom prst="rect">
            <a:avLst/>
          </a:prstGeom>
          <a:noFill/>
          <a:ln>
            <a:noFill/>
          </a:ln>
        </p:spPr>
        <p:txBody>
          <a:bodyPr wrap="square" lIns="0" tIns="0" rIns="0" bIns="0" rtlCol="0" anchor="ctr"/>
          <a:lstStyle/>
          <a:p>
            <a:pPr marL="0" indent="0" algn="l">
              <a:lnSpc>
                <a:spcPts val="1240"/>
              </a:lnSpc>
              <a:buNone/>
            </a:pPr>
            <a:r>
              <a:rPr lang="en-US" sz="850" dirty="0">
                <a:solidFill>
                  <a:srgbClr val="292D31"/>
                </a:solidFill>
                <a:latin typeface="Segoe UI" pitchFamily="34" charset="0"/>
                <a:ea typeface="Segoe UI" pitchFamily="34" charset="-122"/>
                <a:cs typeface="Segoe UI" pitchFamily="34" charset="-120"/>
              </a:rPr>
              <a:t>Decision 2</a:t>
            </a:r>
            <a:endParaRPr lang="en-US" sz="800" dirty="0"/>
          </a:p>
        </p:txBody>
      </p:sp>
      <p:sp>
        <p:nvSpPr>
          <p:cNvPr id="136" name="Text 134"/>
          <p:cNvSpPr txBox="1"/>
          <p:nvPr/>
        </p:nvSpPr>
        <p:spPr>
          <a:xfrm>
            <a:off x="8286750" y="6381750"/>
            <a:ext cx="3390900" cy="165100"/>
          </a:xfrm>
          <a:prstGeom prst="rect">
            <a:avLst/>
          </a:prstGeom>
          <a:noFill/>
          <a:ln>
            <a:noFill/>
          </a:ln>
        </p:spPr>
        <p:txBody>
          <a:bodyPr wrap="square" lIns="0" tIns="0" rIns="0" bIns="0" rtlCol="0" anchor="ctr"/>
          <a:lstStyle/>
          <a:p>
            <a:pPr marL="0" indent="0" algn="l">
              <a:lnSpc>
                <a:spcPts val="1240"/>
              </a:lnSpc>
              <a:buNone/>
            </a:pPr>
            <a:r>
              <a:rPr lang="en-US" sz="850" dirty="0">
                <a:solidFill>
                  <a:srgbClr val="292D31"/>
                </a:solidFill>
                <a:latin typeface="Segoe UI" pitchFamily="34" charset="0"/>
                <a:ea typeface="Segoe UI" pitchFamily="34" charset="-122"/>
                <a:cs typeface="Segoe UI" pitchFamily="34" charset="-120"/>
              </a:rPr>
              <a:t>Decision 3</a:t>
            </a:r>
            <a:endParaRPr lang="en-US" sz="800" dirty="0"/>
          </a:p>
        </p:txBody>
      </p:sp>
      <p:sp>
        <p:nvSpPr>
          <p:cNvPr id="137" name="Text 135"/>
          <p:cNvSpPr txBox="1"/>
          <p:nvPr/>
        </p:nvSpPr>
        <p:spPr>
          <a:xfrm>
            <a:off x="501650" y="3770114"/>
            <a:ext cx="762000" cy="114300"/>
          </a:xfrm>
          <a:prstGeom prst="rect">
            <a:avLst/>
          </a:prstGeom>
          <a:noFill/>
          <a:ln>
            <a:noFill/>
          </a:ln>
        </p:spPr>
        <p:txBody>
          <a:bodyPr wrap="square" lIns="0" tIns="0" rIns="0" bIns="0" rtlCol="0" anchor="ctr"/>
          <a:lstStyle/>
          <a:p>
            <a:pPr marL="0" indent="0" algn="l">
              <a:lnSpc>
                <a:spcPts val="900"/>
              </a:lnSpc>
              <a:buNone/>
            </a:pPr>
            <a:r>
              <a:rPr lang="en-US" sz="850" b="1" kern="0" spc="15" dirty="0">
                <a:solidFill>
                  <a:srgbClr val="63707A"/>
                </a:solidFill>
                <a:latin typeface="Segoe UI" pitchFamily="34" charset="0"/>
                <a:ea typeface="Segoe UI" pitchFamily="34" charset="-122"/>
                <a:cs typeface="Segoe UI" pitchFamily="34" charset="-120"/>
              </a:rPr>
              <a:t>Features</a:t>
            </a:r>
            <a:endParaRPr lang="en-US" sz="750" dirty="0"/>
          </a:p>
        </p:txBody>
      </p:sp>
      <p:sp>
        <p:nvSpPr>
          <p:cNvPr id="138" name="Text 136"/>
          <p:cNvSpPr txBox="1"/>
          <p:nvPr/>
        </p:nvSpPr>
        <p:spPr>
          <a:xfrm>
            <a:off x="685800"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39" name="Text 137"/>
          <p:cNvSpPr txBox="1"/>
          <p:nvPr/>
        </p:nvSpPr>
        <p:spPr>
          <a:xfrm>
            <a:off x="685800"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40" name="Text 138"/>
          <p:cNvSpPr txBox="1"/>
          <p:nvPr/>
        </p:nvSpPr>
        <p:spPr>
          <a:xfrm>
            <a:off x="685800"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41" name="Text 139"/>
          <p:cNvSpPr txBox="1"/>
          <p:nvPr/>
        </p:nvSpPr>
        <p:spPr>
          <a:xfrm>
            <a:off x="685800"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42" name="Text 140"/>
          <p:cNvSpPr txBox="1"/>
          <p:nvPr/>
        </p:nvSpPr>
        <p:spPr>
          <a:xfrm>
            <a:off x="2550616"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43" name="Text 141"/>
          <p:cNvSpPr txBox="1"/>
          <p:nvPr/>
        </p:nvSpPr>
        <p:spPr>
          <a:xfrm>
            <a:off x="2550616"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44" name="Text 142"/>
          <p:cNvSpPr txBox="1"/>
          <p:nvPr/>
        </p:nvSpPr>
        <p:spPr>
          <a:xfrm>
            <a:off x="2550616"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45" name="Text 143"/>
          <p:cNvSpPr txBox="1"/>
          <p:nvPr/>
        </p:nvSpPr>
        <p:spPr>
          <a:xfrm>
            <a:off x="2550616"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46" name="Text 144"/>
          <p:cNvSpPr txBox="1"/>
          <p:nvPr/>
        </p:nvSpPr>
        <p:spPr>
          <a:xfrm>
            <a:off x="4415433"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47" name="Text 145"/>
          <p:cNvSpPr txBox="1"/>
          <p:nvPr/>
        </p:nvSpPr>
        <p:spPr>
          <a:xfrm>
            <a:off x="4415433"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48" name="Text 146"/>
          <p:cNvSpPr txBox="1"/>
          <p:nvPr/>
        </p:nvSpPr>
        <p:spPr>
          <a:xfrm>
            <a:off x="4415433"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49" name="Text 147"/>
          <p:cNvSpPr txBox="1"/>
          <p:nvPr/>
        </p:nvSpPr>
        <p:spPr>
          <a:xfrm>
            <a:off x="4415433"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50" name="Text 148"/>
          <p:cNvSpPr txBox="1"/>
          <p:nvPr/>
        </p:nvSpPr>
        <p:spPr>
          <a:xfrm>
            <a:off x="6280249"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51" name="Text 149"/>
          <p:cNvSpPr txBox="1"/>
          <p:nvPr/>
        </p:nvSpPr>
        <p:spPr>
          <a:xfrm>
            <a:off x="6280249"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52" name="Text 150"/>
          <p:cNvSpPr txBox="1"/>
          <p:nvPr/>
        </p:nvSpPr>
        <p:spPr>
          <a:xfrm>
            <a:off x="6280249"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53" name="Text 151"/>
          <p:cNvSpPr txBox="1"/>
          <p:nvPr/>
        </p:nvSpPr>
        <p:spPr>
          <a:xfrm>
            <a:off x="6280249"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54" name="Text 152"/>
          <p:cNvSpPr txBox="1"/>
          <p:nvPr/>
        </p:nvSpPr>
        <p:spPr>
          <a:xfrm>
            <a:off x="8145066"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55" name="Text 153"/>
          <p:cNvSpPr txBox="1"/>
          <p:nvPr/>
        </p:nvSpPr>
        <p:spPr>
          <a:xfrm>
            <a:off x="8145066"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56" name="Text 154"/>
          <p:cNvSpPr txBox="1"/>
          <p:nvPr/>
        </p:nvSpPr>
        <p:spPr>
          <a:xfrm>
            <a:off x="8145066"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57" name="Text 155"/>
          <p:cNvSpPr txBox="1"/>
          <p:nvPr/>
        </p:nvSpPr>
        <p:spPr>
          <a:xfrm>
            <a:off x="8145066"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58" name="Text 156"/>
          <p:cNvSpPr txBox="1"/>
          <p:nvPr/>
        </p:nvSpPr>
        <p:spPr>
          <a:xfrm>
            <a:off x="10009882" y="3973314"/>
            <a:ext cx="48196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1</a:t>
            </a:r>
            <a:endParaRPr lang="en-US" sz="850" dirty="0"/>
          </a:p>
        </p:txBody>
      </p:sp>
      <p:sp>
        <p:nvSpPr>
          <p:cNvPr id="159" name="Text 157"/>
          <p:cNvSpPr txBox="1"/>
          <p:nvPr/>
        </p:nvSpPr>
        <p:spPr>
          <a:xfrm>
            <a:off x="10009882" y="424507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2</a:t>
            </a:r>
            <a:endParaRPr lang="en-US" sz="850" dirty="0"/>
          </a:p>
        </p:txBody>
      </p:sp>
      <p:sp>
        <p:nvSpPr>
          <p:cNvPr id="160" name="Text 158"/>
          <p:cNvSpPr txBox="1"/>
          <p:nvPr/>
        </p:nvSpPr>
        <p:spPr>
          <a:xfrm>
            <a:off x="10009882" y="4516834"/>
            <a:ext cx="503873"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3</a:t>
            </a:r>
            <a:endParaRPr lang="en-US" sz="850" dirty="0"/>
          </a:p>
        </p:txBody>
      </p:sp>
      <p:sp>
        <p:nvSpPr>
          <p:cNvPr id="161" name="Text 159"/>
          <p:cNvSpPr txBox="1"/>
          <p:nvPr/>
        </p:nvSpPr>
        <p:spPr>
          <a:xfrm>
            <a:off x="10009882" y="4788595"/>
            <a:ext cx="511175" cy="151110"/>
          </a:xfrm>
          <a:prstGeom prst="rect">
            <a:avLst/>
          </a:prstGeom>
          <a:noFill/>
          <a:ln>
            <a:noFill/>
          </a:ln>
        </p:spPr>
        <p:txBody>
          <a:bodyPr wrap="square" lIns="0" tIns="0" rIns="0" bIns="0" rtlCol="0" anchor="ctr"/>
          <a:lstStyle/>
          <a:p>
            <a:pPr marL="0" indent="0" algn="l">
              <a:lnSpc>
                <a:spcPts val="1190"/>
              </a:lnSpc>
              <a:buNone/>
            </a:pPr>
            <a:r>
              <a:rPr lang="en-US" sz="850" dirty="0">
                <a:solidFill>
                  <a:srgbClr val="9AA6AD"/>
                </a:solidFill>
                <a:latin typeface="Segoe UI" pitchFamily="34" charset="0"/>
                <a:ea typeface="Segoe UI" pitchFamily="34" charset="-122"/>
                <a:cs typeface="Segoe UI" pitchFamily="34" charset="-120"/>
              </a:rPr>
              <a:t>Feature 4</a:t>
            </a:r>
            <a:endParaRPr lang="en-US" sz="850" dirty="0"/>
          </a:p>
        </p:txBody>
      </p:sp>
      <p:sp>
        <p:nvSpPr>
          <p:cNvPr id="162" name="Text 160"/>
          <p:cNvSpPr txBox="1"/>
          <p:nvPr/>
        </p:nvSpPr>
        <p:spPr>
          <a:xfrm>
            <a:off x="1569740" y="5549900"/>
            <a:ext cx="1757363" cy="342900"/>
          </a:xfrm>
          <a:prstGeom prst="rect">
            <a:avLst/>
          </a:prstGeom>
          <a:noFill/>
          <a:ln>
            <a:noFill/>
          </a:ln>
        </p:spPr>
        <p:txBody>
          <a:bodyPr wrap="square" lIns="0" tIns="0" rIns="0" bIns="0" rtlCol="0" anchor="t"/>
          <a:lstStyle/>
          <a:p>
            <a:pPr marL="0" indent="0" algn="l">
              <a:lnSpc>
                <a:spcPts val="1125"/>
              </a:lnSpc>
              <a:buNone/>
            </a:pPr>
            <a:r>
              <a:rPr lang="en-US" sz="750" b="0" dirty="0">
                <a:solidFill>
                  <a:srgbClr val="292D31"/>
                </a:solidFill>
                <a:latin typeface="Segoe UI" pitchFamily="34" charset="0"/>
                <a:ea typeface="Segoe UI" pitchFamily="34" charset="-122"/>
                <a:cs typeface="Segoe UI" pitchFamily="34" charset="-120"/>
              </a:rPr>
              <a:t>Comment …</a:t>
            </a:r>
            <a:endParaRPr lang="en-US" sz="750" dirty="0"/>
          </a:p>
        </p:txBody>
      </p:sp>
      <p:sp>
        <p:nvSpPr>
          <p:cNvPr id="163" name="Text 161"/>
          <p:cNvSpPr txBox="1"/>
          <p:nvPr/>
        </p:nvSpPr>
        <p:spPr>
          <a:xfrm>
            <a:off x="3631902" y="5549900"/>
            <a:ext cx="1757462" cy="342900"/>
          </a:xfrm>
          <a:prstGeom prst="rect">
            <a:avLst/>
          </a:prstGeom>
          <a:noFill/>
          <a:ln>
            <a:noFill/>
          </a:ln>
        </p:spPr>
        <p:txBody>
          <a:bodyPr wrap="square" lIns="0" tIns="0" rIns="0" bIns="0" rtlCol="0" anchor="t"/>
          <a:lstStyle/>
          <a:p>
            <a:pPr marL="0" indent="0" algn="l">
              <a:lnSpc>
                <a:spcPts val="1125"/>
              </a:lnSpc>
              <a:buNone/>
            </a:pPr>
            <a:r>
              <a:rPr lang="en-US" sz="750" b="0" dirty="0">
                <a:solidFill>
                  <a:srgbClr val="292D31"/>
                </a:solidFill>
                <a:latin typeface="Segoe UI" pitchFamily="34" charset="0"/>
                <a:ea typeface="Segoe UI" pitchFamily="34" charset="-122"/>
                <a:cs typeface="Segoe UI" pitchFamily="34" charset="-120"/>
              </a:rPr>
              <a:t>Comment …</a:t>
            </a:r>
            <a:endParaRPr lang="en-US" sz="750" dirty="0"/>
          </a:p>
        </p:txBody>
      </p:sp>
      <p:sp>
        <p:nvSpPr>
          <p:cNvPr id="164" name="Text 162"/>
          <p:cNvSpPr txBox="1"/>
          <p:nvPr/>
        </p:nvSpPr>
        <p:spPr>
          <a:xfrm>
            <a:off x="5694164" y="5549900"/>
            <a:ext cx="1757363" cy="342900"/>
          </a:xfrm>
          <a:prstGeom prst="rect">
            <a:avLst/>
          </a:prstGeom>
          <a:noFill/>
          <a:ln>
            <a:noFill/>
          </a:ln>
        </p:spPr>
        <p:txBody>
          <a:bodyPr wrap="square" lIns="0" tIns="0" rIns="0" bIns="0" rtlCol="0" anchor="t"/>
          <a:lstStyle/>
          <a:p>
            <a:pPr marL="0" indent="0" algn="l">
              <a:lnSpc>
                <a:spcPts val="1125"/>
              </a:lnSpc>
              <a:buNone/>
            </a:pPr>
            <a:r>
              <a:rPr lang="en-US" sz="750" b="0" dirty="0">
                <a:solidFill>
                  <a:srgbClr val="292D31"/>
                </a:solidFill>
                <a:latin typeface="Segoe UI" pitchFamily="34" charset="0"/>
                <a:ea typeface="Segoe UI" pitchFamily="34" charset="-122"/>
                <a:cs typeface="Segoe UI" pitchFamily="34" charset="-120"/>
              </a:rPr>
              <a:t>Comment …</a:t>
            </a:r>
            <a:endParaRPr lang="en-US" sz="750" dirty="0"/>
          </a:p>
        </p:txBody>
      </p:sp>
      <p:sp>
        <p:nvSpPr>
          <p:cNvPr id="165" name="Text 163"/>
          <p:cNvSpPr txBox="1"/>
          <p:nvPr/>
        </p:nvSpPr>
        <p:spPr>
          <a:xfrm>
            <a:off x="7756327" y="5549900"/>
            <a:ext cx="1757462" cy="342900"/>
          </a:xfrm>
          <a:prstGeom prst="rect">
            <a:avLst/>
          </a:prstGeom>
          <a:noFill/>
          <a:ln>
            <a:noFill/>
          </a:ln>
        </p:spPr>
        <p:txBody>
          <a:bodyPr wrap="square" lIns="0" tIns="0" rIns="0" bIns="0" rtlCol="0" anchor="t"/>
          <a:lstStyle/>
          <a:p>
            <a:pPr marL="0" indent="0" algn="l">
              <a:lnSpc>
                <a:spcPts val="1125"/>
              </a:lnSpc>
              <a:buNone/>
            </a:pPr>
            <a:r>
              <a:rPr lang="en-US" sz="750" b="0" dirty="0">
                <a:solidFill>
                  <a:srgbClr val="292D31"/>
                </a:solidFill>
                <a:latin typeface="Segoe UI" pitchFamily="34" charset="0"/>
                <a:ea typeface="Segoe UI" pitchFamily="34" charset="-122"/>
                <a:cs typeface="Segoe UI" pitchFamily="34" charset="-120"/>
              </a:rPr>
              <a:t>Comment …</a:t>
            </a:r>
            <a:endParaRPr lang="en-US" sz="750" dirty="0"/>
          </a:p>
        </p:txBody>
      </p:sp>
      <p:sp>
        <p:nvSpPr>
          <p:cNvPr id="166" name="Text 164"/>
          <p:cNvSpPr txBox="1"/>
          <p:nvPr/>
        </p:nvSpPr>
        <p:spPr>
          <a:xfrm>
            <a:off x="9818588" y="5549900"/>
            <a:ext cx="1757363" cy="342900"/>
          </a:xfrm>
          <a:prstGeom prst="rect">
            <a:avLst/>
          </a:prstGeom>
          <a:noFill/>
          <a:ln>
            <a:noFill/>
          </a:ln>
        </p:spPr>
        <p:txBody>
          <a:bodyPr wrap="square" lIns="0" tIns="0" rIns="0" bIns="0" rtlCol="0" anchor="t"/>
          <a:lstStyle/>
          <a:p>
            <a:pPr marL="0" indent="0" algn="l">
              <a:lnSpc>
                <a:spcPts val="1125"/>
              </a:lnSpc>
              <a:buNone/>
            </a:pPr>
            <a:r>
              <a:rPr lang="en-US" sz="750" b="0" dirty="0">
                <a:solidFill>
                  <a:srgbClr val="292D31"/>
                </a:solidFill>
                <a:latin typeface="Segoe UI" pitchFamily="34" charset="0"/>
                <a:ea typeface="Segoe UI" pitchFamily="34" charset="-122"/>
                <a:cs typeface="Segoe UI" pitchFamily="34" charset="-120"/>
              </a:rPr>
              <a:t>Comment …</a:t>
            </a:r>
            <a:endParaRPr lang="en-US" sz="750" dirty="0"/>
          </a:p>
        </p:txBody>
      </p:sp>
      <p:sp>
        <p:nvSpPr>
          <p:cNvPr id="182" name="Rounded Rectangle 181"/>
          <p:cNvSpPr/>
          <p:nvPr/>
        </p:nvSpPr>
        <p:spPr>
          <a:xfrm>
            <a:off x="7848600" y="241300"/>
            <a:ext cx="1701800" cy="670560"/>
          </a:xfrm>
          <a:prstGeom prst="roundRect">
            <a:avLst>
              <a:gd name="adj" fmla="val 11363"/>
            </a:avLst>
          </a:prstGeom>
          <a:solidFill>
            <a:srgbClr val="FFFFFF"/>
          </a:solidFill>
          <a:ln w="9525">
            <a:solidFill>
              <a:srgbClr val="E2E8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3" name="TextBox 182"/>
          <p:cNvSpPr txBox="1"/>
          <p:nvPr/>
        </p:nvSpPr>
        <p:spPr>
          <a:xfrm>
            <a:off x="7937500" y="285750"/>
            <a:ext cx="1524000" cy="95250"/>
          </a:xfrm>
          <a:prstGeom prst="rect">
            <a:avLst/>
          </a:prstGeom>
          <a:noFill/>
        </p:spPr>
        <p:txBody>
          <a:bodyPr wrap="square" lIns="0" tIns="0" rIns="0" bIns="0" anchor="t">
            <a:spAutoFit/>
          </a:bodyPr>
          <a:lstStyle/>
          <a:p>
            <a:pPr algn="l"/>
            <a:r>
              <a:rPr sz="650" b="1">
                <a:solidFill>
                  <a:srgbClr val="63707A"/>
                </a:solidFill>
                <a:latin typeface="Segoe UI"/>
              </a:rPr>
              <a:t>Responsibilities</a:t>
            </a:r>
          </a:p>
        </p:txBody>
      </p:sp>
      <p:sp>
        <p:nvSpPr>
          <p:cNvPr id="184" name="TextBox 183"/>
          <p:cNvSpPr txBox="1"/>
          <p:nvPr/>
        </p:nvSpPr>
        <p:spPr>
          <a:xfrm>
            <a:off x="7937500" y="412750"/>
            <a:ext cx="1524000" cy="76200"/>
          </a:xfrm>
          <a:prstGeom prst="rect">
            <a:avLst/>
          </a:prstGeom>
          <a:noFill/>
        </p:spPr>
        <p:txBody>
          <a:bodyPr wrap="square" lIns="0" tIns="0" rIns="0" bIns="0" anchor="t">
            <a:spAutoFit/>
          </a:bodyPr>
          <a:lstStyle/>
          <a:p>
            <a:pPr algn="l"/>
            <a:r>
              <a:rPr sz="575" b="0">
                <a:solidFill>
                  <a:srgbClr val="63707A"/>
                </a:solidFill>
                <a:latin typeface="Segoe UI"/>
              </a:rPr>
              <a:t>Use Case Manager</a:t>
            </a:r>
          </a:p>
        </p:txBody>
      </p:sp>
      <p:sp>
        <p:nvSpPr>
          <p:cNvPr id="185" name="TextBox 184"/>
          <p:cNvSpPr txBox="1"/>
          <p:nvPr/>
        </p:nvSpPr>
        <p:spPr>
          <a:xfrm>
            <a:off x="7937500" y="476250"/>
            <a:ext cx="1524000" cy="95250"/>
          </a:xfrm>
          <a:prstGeom prst="rect">
            <a:avLst/>
          </a:prstGeom>
          <a:noFill/>
        </p:spPr>
        <p:txBody>
          <a:bodyPr wrap="square" lIns="0" tIns="0" rIns="0" bIns="0" anchor="t">
            <a:spAutoFit/>
          </a:bodyPr>
          <a:lstStyle/>
          <a:p>
            <a:pPr algn="l"/>
            <a:r>
              <a:rPr sz="725" b="1">
                <a:solidFill>
                  <a:srgbClr val="151B21"/>
                </a:solidFill>
                <a:latin typeface="Segoe UI"/>
              </a:rPr>
              <a:t>Name</a:t>
            </a:r>
          </a:p>
        </p:txBody>
      </p:sp>
      <p:sp>
        <p:nvSpPr>
          <p:cNvPr id="186" name="TextBox 185"/>
          <p:cNvSpPr txBox="1"/>
          <p:nvPr/>
        </p:nvSpPr>
        <p:spPr>
          <a:xfrm>
            <a:off x="7937500" y="565150"/>
            <a:ext cx="1524000" cy="76200"/>
          </a:xfrm>
          <a:prstGeom prst="rect">
            <a:avLst/>
          </a:prstGeom>
          <a:noFill/>
        </p:spPr>
        <p:txBody>
          <a:bodyPr wrap="square" lIns="0" tIns="0" rIns="0" bIns="0" anchor="t">
            <a:spAutoFit/>
          </a:bodyPr>
          <a:lstStyle/>
          <a:p>
            <a:pPr algn="l"/>
            <a:r>
              <a:rPr sz="575" b="0">
                <a:solidFill>
                  <a:srgbClr val="63707A"/>
                </a:solidFill>
                <a:latin typeface="Segoe UI"/>
              </a:rPr>
              <a:t>Use Case Owner</a:t>
            </a:r>
          </a:p>
        </p:txBody>
      </p:sp>
      <p:sp>
        <p:nvSpPr>
          <p:cNvPr id="187" name="TextBox 186"/>
          <p:cNvSpPr txBox="1"/>
          <p:nvPr/>
        </p:nvSpPr>
        <p:spPr>
          <a:xfrm>
            <a:off x="7937500" y="628650"/>
            <a:ext cx="1524000" cy="95250"/>
          </a:xfrm>
          <a:prstGeom prst="rect">
            <a:avLst/>
          </a:prstGeom>
          <a:noFill/>
        </p:spPr>
        <p:txBody>
          <a:bodyPr wrap="square" lIns="0" tIns="0" rIns="0" bIns="0" anchor="t">
            <a:spAutoFit/>
          </a:bodyPr>
          <a:lstStyle/>
          <a:p>
            <a:pPr algn="l"/>
            <a:r>
              <a:rPr sz="725" b="1">
                <a:solidFill>
                  <a:srgbClr val="151B21"/>
                </a:solidFill>
                <a:latin typeface="Segoe UI"/>
              </a:rPr>
              <a:t>Name</a:t>
            </a:r>
          </a:p>
        </p:txBody>
      </p:sp>
      <p:sp>
        <p:nvSpPr>
          <p:cNvPr id="188" name="TextBox 187"/>
          <p:cNvSpPr txBox="1"/>
          <p:nvPr/>
        </p:nvSpPr>
        <p:spPr>
          <a:xfrm>
            <a:off x="7937500" y="717550"/>
            <a:ext cx="1524000" cy="76200"/>
          </a:xfrm>
          <a:prstGeom prst="rect">
            <a:avLst/>
          </a:prstGeom>
          <a:noFill/>
        </p:spPr>
        <p:txBody>
          <a:bodyPr wrap="square" lIns="0" tIns="0" rIns="0" bIns="0" anchor="t">
            <a:spAutoFit/>
          </a:bodyPr>
          <a:lstStyle/>
          <a:p>
            <a:pPr algn="l"/>
            <a:r>
              <a:rPr sz="575" b="0">
                <a:solidFill>
                  <a:srgbClr val="63707A"/>
                </a:solidFill>
                <a:latin typeface="Segoe UI"/>
              </a:rPr>
              <a:t>Domain Lead</a:t>
            </a:r>
          </a:p>
        </p:txBody>
      </p:sp>
      <p:sp>
        <p:nvSpPr>
          <p:cNvPr id="189" name="TextBox 188"/>
          <p:cNvSpPr txBox="1"/>
          <p:nvPr/>
        </p:nvSpPr>
        <p:spPr>
          <a:xfrm>
            <a:off x="7937500" y="781050"/>
            <a:ext cx="1524000" cy="95250"/>
          </a:xfrm>
          <a:prstGeom prst="rect">
            <a:avLst/>
          </a:prstGeom>
          <a:noFill/>
        </p:spPr>
        <p:txBody>
          <a:bodyPr wrap="square" lIns="0" tIns="0" rIns="0" bIns="0" anchor="t">
            <a:spAutoFit/>
          </a:bodyPr>
          <a:lstStyle/>
          <a:p>
            <a:pPr algn="l"/>
            <a:r>
              <a:rPr sz="725" b="1">
                <a:solidFill>
                  <a:srgbClr val="151B21"/>
                </a:solidFill>
                <a:latin typeface="Segoe UI"/>
              </a:rPr>
              <a:t>Name</a:t>
            </a:r>
          </a:p>
        </p:txBody>
      </p:sp>
      <p:sp>
        <p:nvSpPr>
          <p:cNvPr id="190" name="Rounded Rectangle 189"/>
          <p:cNvSpPr/>
          <p:nvPr/>
        </p:nvSpPr>
        <p:spPr>
          <a:xfrm>
            <a:off x="9626600" y="241300"/>
            <a:ext cx="1079500" cy="670560"/>
          </a:xfrm>
          <a:prstGeom prst="roundRect">
            <a:avLst>
              <a:gd name="adj" fmla="val 11363"/>
            </a:avLst>
          </a:prstGeom>
          <a:solidFill>
            <a:srgbClr val="FFFFFF"/>
          </a:solidFill>
          <a:ln w="9525">
            <a:solidFill>
              <a:srgbClr val="E2E8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1" name="TextBox 190"/>
          <p:cNvSpPr txBox="1"/>
          <p:nvPr/>
        </p:nvSpPr>
        <p:spPr>
          <a:xfrm>
            <a:off x="9715500" y="419100"/>
            <a:ext cx="901700" cy="101600"/>
          </a:xfrm>
          <a:prstGeom prst="rect">
            <a:avLst/>
          </a:prstGeom>
          <a:noFill/>
        </p:spPr>
        <p:txBody>
          <a:bodyPr wrap="square" lIns="0" tIns="0" rIns="0" bIns="0" anchor="t">
            <a:spAutoFit/>
          </a:bodyPr>
          <a:lstStyle/>
          <a:p>
            <a:pPr algn="l"/>
            <a:r>
              <a:rPr sz="650" b="1">
                <a:solidFill>
                  <a:srgbClr val="63707A"/>
                </a:solidFill>
                <a:latin typeface="Segoe UI"/>
              </a:rPr>
              <a:t>Date</a:t>
            </a:r>
          </a:p>
        </p:txBody>
      </p:sp>
      <p:sp>
        <p:nvSpPr>
          <p:cNvPr id="192" name="TextBox 191"/>
          <p:cNvSpPr txBox="1"/>
          <p:nvPr/>
        </p:nvSpPr>
        <p:spPr>
          <a:xfrm>
            <a:off x="9715500" y="546100"/>
            <a:ext cx="901700" cy="317500"/>
          </a:xfrm>
          <a:prstGeom prst="rect">
            <a:avLst/>
          </a:prstGeom>
          <a:noFill/>
        </p:spPr>
        <p:txBody>
          <a:bodyPr wrap="square" lIns="0" tIns="0" rIns="0" bIns="0" anchor="t">
            <a:spAutoFit/>
          </a:bodyPr>
          <a:lstStyle/>
          <a:p>
            <a:pPr algn="l">
              <a:lnSpc>
                <a:spcPts val="1150"/>
              </a:lnSpc>
            </a:pPr>
            <a:r>
              <a:rPr sz="850" b="1">
                <a:solidFill>
                  <a:srgbClr val="151B21"/>
                </a:solidFill>
                <a:latin typeface="Segoe UI"/>
              </a:rPr>
              <a:t>CW __ / 2026</a:t>
            </a:r>
          </a:p>
        </p:txBody>
      </p:sp>
      <p:sp>
        <p:nvSpPr>
          <p:cNvPr id="193" name="Rounded Rectangle 192"/>
          <p:cNvSpPr/>
          <p:nvPr/>
        </p:nvSpPr>
        <p:spPr>
          <a:xfrm>
            <a:off x="10782300" y="241300"/>
            <a:ext cx="1092200" cy="670560"/>
          </a:xfrm>
          <a:prstGeom prst="roundRect">
            <a:avLst>
              <a:gd name="adj" fmla="val 11363"/>
            </a:avLst>
          </a:prstGeom>
          <a:solidFill>
            <a:srgbClr val="FFFFFF"/>
          </a:solidFill>
          <a:ln w="9525">
            <a:solidFill>
              <a:srgbClr val="E2E8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4" name="TextBox 193"/>
          <p:cNvSpPr txBox="1"/>
          <p:nvPr/>
        </p:nvSpPr>
        <p:spPr>
          <a:xfrm>
            <a:off x="10871200" y="419100"/>
            <a:ext cx="914400" cy="101600"/>
          </a:xfrm>
          <a:prstGeom prst="rect">
            <a:avLst/>
          </a:prstGeom>
          <a:noFill/>
        </p:spPr>
        <p:txBody>
          <a:bodyPr wrap="square" lIns="0" tIns="0" rIns="0" bIns="0" anchor="t">
            <a:spAutoFit/>
          </a:bodyPr>
          <a:lstStyle/>
          <a:p>
            <a:pPr algn="l"/>
            <a:r>
              <a:rPr sz="650" b="1">
                <a:solidFill>
                  <a:srgbClr val="63707A"/>
                </a:solidFill>
                <a:latin typeface="Segoe UI"/>
              </a:rPr>
              <a:t>Phase</a:t>
            </a:r>
          </a:p>
        </p:txBody>
      </p:sp>
      <p:sp>
        <p:nvSpPr>
          <p:cNvPr id="195" name="TextBox 194"/>
          <p:cNvSpPr txBox="1"/>
          <p:nvPr/>
        </p:nvSpPr>
        <p:spPr>
          <a:xfrm>
            <a:off x="10871200" y="546100"/>
            <a:ext cx="914400" cy="317500"/>
          </a:xfrm>
          <a:prstGeom prst="rect">
            <a:avLst/>
          </a:prstGeom>
          <a:noFill/>
        </p:spPr>
        <p:txBody>
          <a:bodyPr wrap="square" lIns="0" tIns="0" rIns="0" bIns="0" anchor="t">
            <a:spAutoFit/>
          </a:bodyPr>
          <a:lstStyle/>
          <a:p>
            <a:pPr algn="l">
              <a:lnSpc>
                <a:spcPts val="1150"/>
              </a:lnSpc>
            </a:pPr>
            <a:r>
              <a:rPr sz="850" b="1">
                <a:solidFill>
                  <a:srgbClr val="151B21"/>
                </a:solidFill>
                <a:latin typeface="Segoe UI"/>
              </a:rPr>
              <a:t>Definition &amp; Clarification</a:t>
            </a:r>
          </a:p>
        </p:txBody>
      </p:sp>
      <p:sp>
        <p:nvSpPr>
          <p:cNvPr id="196" name="TextBox 195"/>
          <p:cNvSpPr txBox="1"/>
          <p:nvPr/>
        </p:nvSpPr>
        <p:spPr>
          <a:xfrm>
            <a:off x="463550" y="1083310"/>
            <a:ext cx="2468880" cy="127000"/>
          </a:xfrm>
          <a:prstGeom prst="rect">
            <a:avLst/>
          </a:prstGeom>
          <a:noFill/>
        </p:spPr>
        <p:txBody>
          <a:bodyPr wrap="square" lIns="0" tIns="0" rIns="0" bIns="0" anchor="t">
            <a:spAutoFit/>
          </a:bodyPr>
          <a:lstStyle/>
          <a:p>
            <a:pPr algn="l"/>
            <a:r>
              <a:rPr sz="850" b="1" spc="60">
                <a:solidFill>
                  <a:srgbClr val="151B21"/>
                </a:solidFill>
                <a:latin typeface="Segoe UI"/>
              </a:rPr>
              <a:t>FINAL GOAL</a:t>
            </a:r>
          </a:p>
        </p:txBody>
      </p:sp>
      <p:sp>
        <p:nvSpPr>
          <p:cNvPr id="197" name="TextBox 196"/>
          <p:cNvSpPr txBox="1"/>
          <p:nvPr/>
        </p:nvSpPr>
        <p:spPr>
          <a:xfrm>
            <a:off x="463550" y="1270000"/>
            <a:ext cx="2468880" cy="558800"/>
          </a:xfrm>
          <a:prstGeom prst="rect">
            <a:avLst/>
          </a:prstGeom>
          <a:noFill/>
        </p:spPr>
        <p:txBody>
          <a:bodyPr wrap="square" lIns="0" tIns="0" rIns="0" bIns="0" anchor="t">
            <a:normAutofit/>
          </a:bodyPr>
          <a:lstStyle/>
          <a:p>
            <a:pPr algn="l">
              <a:lnSpc>
                <a:spcPts val="1275"/>
              </a:lnSpc>
            </a:pPr>
            <a:r>
              <a:rPr lang="en-US" sz="850" b="0" noProof="0">
                <a:solidFill>
                  <a:srgbClr val="292D31"/>
                </a:solidFill>
                <a:latin typeface="Segoe UI"/>
              </a:rPr>
              <a:t>Goal of the Use Case in one sentence – what is reached until when, defined by what</a:t>
            </a:r>
            <a:r>
              <a:rPr lang="en-US" sz="850" noProof="0">
                <a:solidFill>
                  <a:srgbClr val="292D31"/>
                </a:solidFill>
                <a:latin typeface="Segoe UI"/>
              </a:rPr>
              <a:t>?</a:t>
            </a:r>
            <a:endParaRPr lang="en-US" sz="850" b="0" noProof="0">
              <a:solidFill>
                <a:srgbClr val="292D31"/>
              </a:solidFill>
              <a:latin typeface="Segoe UI"/>
            </a:endParaRPr>
          </a:p>
        </p:txBody>
      </p:sp>
      <p:sp>
        <p:nvSpPr>
          <p:cNvPr id="198" name="Rectangle 197"/>
          <p:cNvSpPr/>
          <p:nvPr/>
        </p:nvSpPr>
        <p:spPr>
          <a:xfrm>
            <a:off x="463550" y="1879599"/>
            <a:ext cx="2468880" cy="6350"/>
          </a:xfrm>
          <a:prstGeom prst="rect">
            <a:avLst/>
          </a:prstGeom>
          <a:solidFill>
            <a:srgbClr val="E2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p:cNvSpPr txBox="1"/>
          <p:nvPr/>
        </p:nvSpPr>
        <p:spPr>
          <a:xfrm>
            <a:off x="463550" y="1981199"/>
            <a:ext cx="1170940" cy="101600"/>
          </a:xfrm>
          <a:prstGeom prst="rect">
            <a:avLst/>
          </a:prstGeom>
          <a:noFill/>
        </p:spPr>
        <p:txBody>
          <a:bodyPr wrap="square" lIns="0" tIns="0" rIns="0" bIns="0" anchor="t">
            <a:spAutoFit/>
          </a:bodyPr>
          <a:lstStyle/>
          <a:p>
            <a:pPr algn="l"/>
            <a:r>
              <a:rPr sz="650" b="1">
                <a:solidFill>
                  <a:srgbClr val="63707A"/>
                </a:solidFill>
                <a:latin typeface="Segoe UI"/>
              </a:rPr>
              <a:t>Final Benefit</a:t>
            </a:r>
          </a:p>
        </p:txBody>
      </p:sp>
      <p:sp>
        <p:nvSpPr>
          <p:cNvPr id="200" name="TextBox 199"/>
          <p:cNvSpPr txBox="1"/>
          <p:nvPr/>
        </p:nvSpPr>
        <p:spPr>
          <a:xfrm>
            <a:off x="463550" y="2108200"/>
            <a:ext cx="1170940"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01" name="TextBox 200"/>
          <p:cNvSpPr txBox="1"/>
          <p:nvPr/>
        </p:nvSpPr>
        <p:spPr>
          <a:xfrm>
            <a:off x="1761489" y="1981199"/>
            <a:ext cx="1170940" cy="101600"/>
          </a:xfrm>
          <a:prstGeom prst="rect">
            <a:avLst/>
          </a:prstGeom>
          <a:noFill/>
        </p:spPr>
        <p:txBody>
          <a:bodyPr wrap="square" lIns="0" tIns="0" rIns="0" bIns="0" anchor="t">
            <a:spAutoFit/>
          </a:bodyPr>
          <a:lstStyle/>
          <a:p>
            <a:pPr algn="l"/>
            <a:r>
              <a:rPr sz="650" b="1">
                <a:solidFill>
                  <a:srgbClr val="63707A"/>
                </a:solidFill>
                <a:latin typeface="Segoe UI"/>
              </a:rPr>
              <a:t>Final Costs</a:t>
            </a:r>
          </a:p>
        </p:txBody>
      </p:sp>
      <p:sp>
        <p:nvSpPr>
          <p:cNvPr id="202" name="TextBox 201"/>
          <p:cNvSpPr txBox="1"/>
          <p:nvPr/>
        </p:nvSpPr>
        <p:spPr>
          <a:xfrm>
            <a:off x="1761489" y="2108200"/>
            <a:ext cx="1170940"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03" name="TextBox 202"/>
          <p:cNvSpPr txBox="1"/>
          <p:nvPr/>
        </p:nvSpPr>
        <p:spPr>
          <a:xfrm>
            <a:off x="6108065" y="1083310"/>
            <a:ext cx="2337435" cy="127000"/>
          </a:xfrm>
          <a:prstGeom prst="rect">
            <a:avLst/>
          </a:prstGeom>
          <a:noFill/>
        </p:spPr>
        <p:txBody>
          <a:bodyPr wrap="square" lIns="0" tIns="0" rIns="0" bIns="0" anchor="t">
            <a:spAutoFit/>
          </a:bodyPr>
          <a:lstStyle/>
          <a:p>
            <a:pPr algn="l"/>
            <a:r>
              <a:rPr sz="850" b="1" spc="60">
                <a:solidFill>
                  <a:srgbClr val="151B21"/>
                </a:solidFill>
                <a:latin typeface="Segoe UI"/>
              </a:rPr>
              <a:t>KPIS</a:t>
            </a:r>
          </a:p>
        </p:txBody>
      </p:sp>
      <p:sp>
        <p:nvSpPr>
          <p:cNvPr id="204" name="TextBox 203"/>
          <p:cNvSpPr txBox="1"/>
          <p:nvPr/>
        </p:nvSpPr>
        <p:spPr>
          <a:xfrm>
            <a:off x="6108065" y="1270000"/>
            <a:ext cx="2337435" cy="101600"/>
          </a:xfrm>
          <a:prstGeom prst="rect">
            <a:avLst/>
          </a:prstGeom>
          <a:noFill/>
        </p:spPr>
        <p:txBody>
          <a:bodyPr wrap="square" lIns="0" tIns="0" rIns="0" bIns="0" anchor="t">
            <a:spAutoFit/>
          </a:bodyPr>
          <a:lstStyle/>
          <a:p>
            <a:pPr algn="l"/>
            <a:r>
              <a:rPr sz="650" b="1">
                <a:solidFill>
                  <a:srgbClr val="63707A"/>
                </a:solidFill>
                <a:latin typeface="Segoe UI"/>
              </a:rPr>
              <a:t>E2E Go-Live Target Date</a:t>
            </a:r>
          </a:p>
        </p:txBody>
      </p:sp>
      <p:sp>
        <p:nvSpPr>
          <p:cNvPr id="205" name="TextBox 204"/>
          <p:cNvSpPr txBox="1"/>
          <p:nvPr/>
        </p:nvSpPr>
        <p:spPr>
          <a:xfrm>
            <a:off x="6108065" y="1390650"/>
            <a:ext cx="2337435"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06" name="TextBox 205"/>
          <p:cNvSpPr txBox="1"/>
          <p:nvPr/>
        </p:nvSpPr>
        <p:spPr>
          <a:xfrm>
            <a:off x="6108065" y="1638300"/>
            <a:ext cx="2337435" cy="101600"/>
          </a:xfrm>
          <a:prstGeom prst="rect">
            <a:avLst/>
          </a:prstGeom>
          <a:noFill/>
        </p:spPr>
        <p:txBody>
          <a:bodyPr wrap="square" lIns="0" tIns="0" rIns="0" bIns="0" anchor="t">
            <a:spAutoFit/>
          </a:bodyPr>
          <a:lstStyle/>
          <a:p>
            <a:pPr algn="l"/>
            <a:r>
              <a:rPr sz="650" b="1">
                <a:solidFill>
                  <a:srgbClr val="63707A"/>
                </a:solidFill>
                <a:latin typeface="Segoe UI"/>
              </a:rPr>
              <a:t>Yearly Budget</a:t>
            </a:r>
          </a:p>
        </p:txBody>
      </p:sp>
      <p:sp>
        <p:nvSpPr>
          <p:cNvPr id="207" name="TextBox 206"/>
          <p:cNvSpPr txBox="1"/>
          <p:nvPr/>
        </p:nvSpPr>
        <p:spPr>
          <a:xfrm>
            <a:off x="6108065" y="1758950"/>
            <a:ext cx="1105217" cy="101600"/>
          </a:xfrm>
          <a:prstGeom prst="rect">
            <a:avLst/>
          </a:prstGeom>
          <a:noFill/>
        </p:spPr>
        <p:txBody>
          <a:bodyPr wrap="square" lIns="0" tIns="0" rIns="0" bIns="0" anchor="t">
            <a:spAutoFit/>
          </a:bodyPr>
          <a:lstStyle/>
          <a:p>
            <a:pPr algn="l"/>
            <a:r>
              <a:rPr sz="675" b="0">
                <a:solidFill>
                  <a:srgbClr val="63707A"/>
                </a:solidFill>
                <a:latin typeface="Segoe UI"/>
              </a:rPr>
              <a:t>Forecast</a:t>
            </a:r>
          </a:p>
        </p:txBody>
      </p:sp>
      <p:sp>
        <p:nvSpPr>
          <p:cNvPr id="208" name="TextBox 207"/>
          <p:cNvSpPr txBox="1"/>
          <p:nvPr/>
        </p:nvSpPr>
        <p:spPr>
          <a:xfrm>
            <a:off x="6108065" y="1860550"/>
            <a:ext cx="1105217"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09" name="TextBox 208"/>
          <p:cNvSpPr txBox="1"/>
          <p:nvPr/>
        </p:nvSpPr>
        <p:spPr>
          <a:xfrm>
            <a:off x="7340282" y="1758950"/>
            <a:ext cx="1105217" cy="101600"/>
          </a:xfrm>
          <a:prstGeom prst="rect">
            <a:avLst/>
          </a:prstGeom>
          <a:noFill/>
        </p:spPr>
        <p:txBody>
          <a:bodyPr wrap="square" lIns="0" tIns="0" rIns="0" bIns="0" anchor="t">
            <a:spAutoFit/>
          </a:bodyPr>
          <a:lstStyle/>
          <a:p>
            <a:pPr algn="l"/>
            <a:r>
              <a:rPr sz="675" b="0">
                <a:solidFill>
                  <a:srgbClr val="63707A"/>
                </a:solidFill>
                <a:latin typeface="Segoe UI"/>
              </a:rPr>
              <a:t>Actual</a:t>
            </a:r>
          </a:p>
        </p:txBody>
      </p:sp>
      <p:sp>
        <p:nvSpPr>
          <p:cNvPr id="210" name="TextBox 209"/>
          <p:cNvSpPr txBox="1"/>
          <p:nvPr/>
        </p:nvSpPr>
        <p:spPr>
          <a:xfrm>
            <a:off x="7340282" y="1860550"/>
            <a:ext cx="1105217"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11" name="TextBox 210"/>
          <p:cNvSpPr txBox="1"/>
          <p:nvPr/>
        </p:nvSpPr>
        <p:spPr>
          <a:xfrm>
            <a:off x="6108065" y="2108200"/>
            <a:ext cx="2337435" cy="101600"/>
          </a:xfrm>
          <a:prstGeom prst="rect">
            <a:avLst/>
          </a:prstGeom>
          <a:noFill/>
        </p:spPr>
        <p:txBody>
          <a:bodyPr wrap="square" lIns="0" tIns="0" rIns="0" bIns="0" anchor="t">
            <a:spAutoFit/>
          </a:bodyPr>
          <a:lstStyle/>
          <a:p>
            <a:pPr algn="l"/>
            <a:r>
              <a:rPr sz="650" b="1">
                <a:solidFill>
                  <a:srgbClr val="63707A"/>
                </a:solidFill>
                <a:latin typeface="Segoe UI"/>
              </a:rPr>
              <a:t>Yearly Benefit</a:t>
            </a:r>
          </a:p>
        </p:txBody>
      </p:sp>
      <p:sp>
        <p:nvSpPr>
          <p:cNvPr id="212" name="TextBox 211"/>
          <p:cNvSpPr txBox="1"/>
          <p:nvPr/>
        </p:nvSpPr>
        <p:spPr>
          <a:xfrm>
            <a:off x="6108065" y="2228850"/>
            <a:ext cx="2337435" cy="165100"/>
          </a:xfrm>
          <a:prstGeom prst="rect">
            <a:avLst/>
          </a:prstGeom>
          <a:noFill/>
        </p:spPr>
        <p:txBody>
          <a:bodyPr wrap="square" lIns="0" tIns="0" rIns="0" bIns="0" anchor="t">
            <a:spAutoFit/>
          </a:bodyPr>
          <a:lstStyle/>
          <a:p>
            <a:pPr algn="l"/>
            <a:r>
              <a:rPr sz="850" b="0">
                <a:solidFill>
                  <a:srgbClr val="292D31"/>
                </a:solidFill>
                <a:latin typeface="Segoe UI"/>
              </a:rPr>
              <a:t>—</a:t>
            </a:r>
          </a:p>
        </p:txBody>
      </p:sp>
      <p:sp>
        <p:nvSpPr>
          <p:cNvPr id="213" name="TextBox 212"/>
          <p:cNvSpPr txBox="1"/>
          <p:nvPr/>
        </p:nvSpPr>
        <p:spPr>
          <a:xfrm>
            <a:off x="565150"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4" name="TextBox 213"/>
          <p:cNvSpPr txBox="1"/>
          <p:nvPr/>
        </p:nvSpPr>
        <p:spPr>
          <a:xfrm>
            <a:off x="2429966"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5" name="TextBox 214"/>
          <p:cNvSpPr txBox="1"/>
          <p:nvPr/>
        </p:nvSpPr>
        <p:spPr>
          <a:xfrm>
            <a:off x="4294783"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6" name="TextBox 215"/>
          <p:cNvSpPr txBox="1"/>
          <p:nvPr/>
        </p:nvSpPr>
        <p:spPr>
          <a:xfrm>
            <a:off x="6159598"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7" name="TextBox 216"/>
          <p:cNvSpPr txBox="1"/>
          <p:nvPr/>
        </p:nvSpPr>
        <p:spPr>
          <a:xfrm>
            <a:off x="8024416"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8" name="TextBox 217"/>
          <p:cNvSpPr txBox="1"/>
          <p:nvPr/>
        </p:nvSpPr>
        <p:spPr>
          <a:xfrm>
            <a:off x="9889232" y="3401695"/>
            <a:ext cx="1788616" cy="190500"/>
          </a:xfrm>
          <a:prstGeom prst="rect">
            <a:avLst/>
          </a:prstGeom>
          <a:noFill/>
        </p:spPr>
        <p:txBody>
          <a:bodyPr wrap="square" lIns="0" tIns="0" rIns="0" bIns="0" anchor="t">
            <a:spAutoFit/>
          </a:bodyPr>
          <a:lstStyle/>
          <a:p>
            <a:pPr algn="ctr">
              <a:lnSpc>
                <a:spcPts val="1232"/>
              </a:lnSpc>
            </a:pPr>
            <a:r>
              <a:rPr sz="850" b="0">
                <a:solidFill>
                  <a:srgbClr val="9AA6AD"/>
                </a:solidFill>
                <a:latin typeface="Segoe UI"/>
              </a:rPr>
              <a:t>Definition of Done</a:t>
            </a:r>
          </a:p>
        </p:txBody>
      </p:sp>
      <p:sp>
        <p:nvSpPr>
          <p:cNvPr id="219" name="Rounded Rectangle 218"/>
          <p:cNvSpPr/>
          <p:nvPr/>
        </p:nvSpPr>
        <p:spPr>
          <a:xfrm>
            <a:off x="12192000" y="139700"/>
            <a:ext cx="5715000" cy="9023350"/>
          </a:xfrm>
          <a:prstGeom prst="roundRect">
            <a:avLst>
              <a:gd name="adj" fmla="val 1555"/>
            </a:avLst>
          </a:prstGeom>
          <a:solidFill>
            <a:srgbClr val="FFFFFF"/>
          </a:solidFill>
          <a:ln w="9525">
            <a:solidFill>
              <a:srgbClr val="E2E8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0" name="TextBox 219"/>
          <p:cNvSpPr txBox="1"/>
          <p:nvPr/>
        </p:nvSpPr>
        <p:spPr>
          <a:xfrm>
            <a:off x="12344400" y="279400"/>
            <a:ext cx="5410200" cy="139700"/>
          </a:xfrm>
          <a:prstGeom prst="rect">
            <a:avLst/>
          </a:prstGeom>
          <a:noFill/>
        </p:spPr>
        <p:txBody>
          <a:bodyPr wrap="square" lIns="0" tIns="0" rIns="0" bIns="0" anchor="t">
            <a:spAutoFit/>
          </a:bodyPr>
          <a:lstStyle/>
          <a:p>
            <a:pPr algn="l"/>
            <a:r>
              <a:rPr sz="800" b="1" spc="70">
                <a:solidFill>
                  <a:srgbClr val="151B21"/>
                </a:solidFill>
                <a:latin typeface="Segoe UI"/>
              </a:rPr>
              <a:t>HOW TO FILL THIS TEMPLATE</a:t>
            </a:r>
          </a:p>
        </p:txBody>
      </p:sp>
      <p:sp>
        <p:nvSpPr>
          <p:cNvPr id="221" name="TextBox 220"/>
          <p:cNvSpPr txBox="1"/>
          <p:nvPr/>
        </p:nvSpPr>
        <p:spPr>
          <a:xfrm>
            <a:off x="12344400" y="431800"/>
            <a:ext cx="5410200" cy="127000"/>
          </a:xfrm>
          <a:prstGeom prst="rect">
            <a:avLst/>
          </a:prstGeom>
          <a:noFill/>
        </p:spPr>
        <p:txBody>
          <a:bodyPr wrap="square" lIns="0" tIns="0" rIns="0" bIns="0" anchor="t">
            <a:spAutoFit/>
          </a:bodyPr>
          <a:lstStyle/>
          <a:p>
            <a:pPr algn="l"/>
            <a:r>
              <a:rPr sz="675" b="0">
                <a:solidFill>
                  <a:srgbClr val="63707A"/>
                </a:solidFill>
                <a:latin typeface="Segoe UI"/>
              </a:rPr>
              <a:t>Nothing on this panel appears on the slide itself.</a:t>
            </a:r>
          </a:p>
        </p:txBody>
      </p:sp>
      <p:sp>
        <p:nvSpPr>
          <p:cNvPr id="222" name="TextBox 221"/>
          <p:cNvSpPr txBox="1"/>
          <p:nvPr/>
        </p:nvSpPr>
        <p:spPr>
          <a:xfrm>
            <a:off x="12344400" y="622300"/>
            <a:ext cx="165100" cy="127000"/>
          </a:xfrm>
          <a:prstGeom prst="rect">
            <a:avLst/>
          </a:prstGeom>
          <a:noFill/>
        </p:spPr>
        <p:txBody>
          <a:bodyPr wrap="square" lIns="0" tIns="0" rIns="0" bIns="0" anchor="t">
            <a:spAutoFit/>
          </a:bodyPr>
          <a:lstStyle/>
          <a:p>
            <a:pPr algn="l"/>
            <a:r>
              <a:rPr sz="750" b="1">
                <a:solidFill>
                  <a:srgbClr val="001E50"/>
                </a:solidFill>
                <a:latin typeface="Segoe UI"/>
              </a:rPr>
              <a:t>1</a:t>
            </a:r>
          </a:p>
        </p:txBody>
      </p:sp>
      <p:sp>
        <p:nvSpPr>
          <p:cNvPr id="223" name="TextBox 222"/>
          <p:cNvSpPr txBox="1"/>
          <p:nvPr/>
        </p:nvSpPr>
        <p:spPr>
          <a:xfrm>
            <a:off x="12509500" y="622300"/>
            <a:ext cx="5245100" cy="127000"/>
          </a:xfrm>
          <a:prstGeom prst="rect">
            <a:avLst/>
          </a:prstGeom>
          <a:noFill/>
        </p:spPr>
        <p:txBody>
          <a:bodyPr wrap="square" lIns="0" tIns="0" rIns="0" bIns="0" anchor="t">
            <a:spAutoFit/>
          </a:bodyPr>
          <a:lstStyle/>
          <a:p>
            <a:pPr algn="l"/>
            <a:r>
              <a:rPr sz="750" b="1" spc="60">
                <a:solidFill>
                  <a:srgbClr val="151B21"/>
                </a:solidFill>
                <a:latin typeface="Segoe UI"/>
              </a:rPr>
              <a:t>READY TO COPY — right size, right colour, just drag it over</a:t>
            </a:r>
          </a:p>
        </p:txBody>
      </p:sp>
      <p:sp>
        <p:nvSpPr>
          <p:cNvPr id="224" name="TextBox 223"/>
          <p:cNvSpPr txBox="1"/>
          <p:nvPr/>
        </p:nvSpPr>
        <p:spPr>
          <a:xfrm>
            <a:off x="12344400" y="781050"/>
            <a:ext cx="5410200" cy="114300"/>
          </a:xfrm>
          <a:prstGeom prst="rect">
            <a:avLst/>
          </a:prstGeom>
          <a:noFill/>
        </p:spPr>
        <p:txBody>
          <a:bodyPr wrap="square" lIns="0" tIns="0" rIns="0" bIns="0" anchor="t">
            <a:spAutoFit/>
          </a:bodyPr>
          <a:lstStyle/>
          <a:p>
            <a:pPr algn="l"/>
            <a:r>
              <a:rPr sz="650" b="1">
                <a:solidFill>
                  <a:srgbClr val="63707A"/>
                </a:solidFill>
                <a:latin typeface="Segoe UI"/>
              </a:rPr>
              <a:t>Overall Status  </a:t>
            </a:r>
            <a:r>
              <a:rPr sz="650" b="0">
                <a:solidFill>
                  <a:srgbClr val="63707A"/>
                </a:solidFill>
                <a:latin typeface="Segoe UI"/>
              </a:rPr>
              <a:t>— copy onto the wide pill</a:t>
            </a:r>
          </a:p>
        </p:txBody>
      </p:sp>
      <p:grpSp>
        <p:nvGrpSpPr>
          <p:cNvPr id="228" name="Status On Track"/>
          <p:cNvGrpSpPr/>
          <p:nvPr/>
        </p:nvGrpSpPr>
        <p:grpSpPr>
          <a:xfrm>
            <a:off x="12344400" y="908050"/>
            <a:ext cx="869950" cy="254000"/>
            <a:chOff x="12344400" y="908050"/>
            <a:chExt cx="869950" cy="254000"/>
          </a:xfrm>
        </p:grpSpPr>
        <p:sp>
          <p:nvSpPr>
            <p:cNvPr id="226" name="Rounded Rectangle 225"/>
            <p:cNvSpPr/>
            <p:nvPr/>
          </p:nvSpPr>
          <p:spPr>
            <a:xfrm>
              <a:off x="12344400" y="908050"/>
              <a:ext cx="869950" cy="254000"/>
            </a:xfrm>
            <a:prstGeom prst="roundRect">
              <a:avLst>
                <a:gd name="adj" fmla="val 50000"/>
              </a:avLst>
            </a:prstGeom>
            <a:solidFill>
              <a:srgbClr val="53BE7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7" name="Oval 226"/>
            <p:cNvSpPr/>
            <p:nvPr/>
          </p:nvSpPr>
          <p:spPr>
            <a:xfrm>
              <a:off x="12484100" y="1012825"/>
              <a:ext cx="44450" cy="444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12579350" y="977900"/>
              <a:ext cx="436815" cy="114300"/>
            </a:xfrm>
            <a:prstGeom prst="rect">
              <a:avLst/>
            </a:prstGeom>
            <a:noFill/>
          </p:spPr>
          <p:txBody>
            <a:bodyPr wrap="none" lIns="0" tIns="0" rIns="0" bIns="0" anchor="ctr">
              <a:spAutoFit/>
            </a:bodyPr>
            <a:lstStyle/>
            <a:p>
              <a:pPr algn="l"/>
              <a:r>
                <a:rPr sz="750" b="1">
                  <a:solidFill>
                    <a:srgbClr val="FFFFFF"/>
                  </a:solidFill>
                  <a:latin typeface="Segoe UI"/>
                </a:rPr>
                <a:t>On Track</a:t>
              </a:r>
            </a:p>
          </p:txBody>
        </p:sp>
      </p:grpSp>
      <p:grpSp>
        <p:nvGrpSpPr>
          <p:cNvPr id="232" name="Status Problem Solving"/>
          <p:cNvGrpSpPr/>
          <p:nvPr/>
        </p:nvGrpSpPr>
        <p:grpSpPr>
          <a:xfrm>
            <a:off x="13366750" y="908050"/>
            <a:ext cx="1124078" cy="254000"/>
            <a:chOff x="13366750" y="908050"/>
            <a:chExt cx="1124078" cy="254000"/>
          </a:xfrm>
        </p:grpSpPr>
        <p:sp>
          <p:nvSpPr>
            <p:cNvPr id="230" name="Rounded Rectangle 229"/>
            <p:cNvSpPr/>
            <p:nvPr/>
          </p:nvSpPr>
          <p:spPr>
            <a:xfrm>
              <a:off x="13366750" y="908050"/>
              <a:ext cx="1124078" cy="254000"/>
            </a:xfrm>
            <a:prstGeom prst="roundRect">
              <a:avLst>
                <a:gd name="adj" fmla="val 50000"/>
              </a:avLst>
            </a:prstGeom>
            <a:solidFill>
              <a:srgbClr val="F0B13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1" name="Oval 230"/>
            <p:cNvSpPr/>
            <p:nvPr/>
          </p:nvSpPr>
          <p:spPr>
            <a:xfrm>
              <a:off x="13506450" y="1012825"/>
              <a:ext cx="44450" cy="444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13601700" y="977900"/>
              <a:ext cx="800228" cy="114300"/>
            </a:xfrm>
            <a:prstGeom prst="rect">
              <a:avLst/>
            </a:prstGeom>
            <a:noFill/>
          </p:spPr>
          <p:txBody>
            <a:bodyPr wrap="none" lIns="0" tIns="0" rIns="0" bIns="0" anchor="ctr">
              <a:spAutoFit/>
            </a:bodyPr>
            <a:lstStyle/>
            <a:p>
              <a:pPr algn="l"/>
              <a:r>
                <a:rPr sz="750" b="1">
                  <a:solidFill>
                    <a:srgbClr val="FFFFFF"/>
                  </a:solidFill>
                  <a:latin typeface="Segoe UI"/>
                </a:rPr>
                <a:t>Problem Solving</a:t>
              </a:r>
            </a:p>
          </p:txBody>
        </p:sp>
      </p:grpSp>
      <p:grpSp>
        <p:nvGrpSpPr>
          <p:cNvPr id="236" name="Status Escalation needed"/>
          <p:cNvGrpSpPr/>
          <p:nvPr/>
        </p:nvGrpSpPr>
        <p:grpSpPr>
          <a:xfrm>
            <a:off x="14643228" y="908050"/>
            <a:ext cx="1230878" cy="254000"/>
            <a:chOff x="14643228" y="908050"/>
            <a:chExt cx="1230878" cy="254000"/>
          </a:xfrm>
        </p:grpSpPr>
        <p:sp>
          <p:nvSpPr>
            <p:cNvPr id="234" name="Rounded Rectangle 233"/>
            <p:cNvSpPr/>
            <p:nvPr/>
          </p:nvSpPr>
          <p:spPr>
            <a:xfrm>
              <a:off x="14643228" y="908050"/>
              <a:ext cx="1230878" cy="254000"/>
            </a:xfrm>
            <a:prstGeom prst="roundRect">
              <a:avLst>
                <a:gd name="adj" fmla="val 50000"/>
              </a:avLst>
            </a:prstGeom>
            <a:solidFill>
              <a:srgbClr val="E6434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5" name="Oval 234"/>
            <p:cNvSpPr/>
            <p:nvPr/>
          </p:nvSpPr>
          <p:spPr>
            <a:xfrm>
              <a:off x="14782928" y="1012825"/>
              <a:ext cx="44450" cy="444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TextBox 232"/>
            <p:cNvSpPr txBox="1"/>
            <p:nvPr/>
          </p:nvSpPr>
          <p:spPr>
            <a:xfrm>
              <a:off x="14878178" y="977900"/>
              <a:ext cx="907028" cy="114300"/>
            </a:xfrm>
            <a:prstGeom prst="rect">
              <a:avLst/>
            </a:prstGeom>
            <a:noFill/>
          </p:spPr>
          <p:txBody>
            <a:bodyPr wrap="none" lIns="0" tIns="0" rIns="0" bIns="0" anchor="ctr">
              <a:spAutoFit/>
            </a:bodyPr>
            <a:lstStyle/>
            <a:p>
              <a:pPr algn="l"/>
              <a:r>
                <a:rPr sz="750" b="1">
                  <a:solidFill>
                    <a:srgbClr val="FFFFFF"/>
                  </a:solidFill>
                  <a:latin typeface="Segoe UI"/>
                </a:rPr>
                <a:t>Escalation needed</a:t>
              </a:r>
            </a:p>
          </p:txBody>
        </p:sp>
      </p:grpSp>
      <p:grpSp>
        <p:nvGrpSpPr>
          <p:cNvPr id="240" name="Status Not Started"/>
          <p:cNvGrpSpPr/>
          <p:nvPr/>
        </p:nvGrpSpPr>
        <p:grpSpPr>
          <a:xfrm>
            <a:off x="16026507" y="908050"/>
            <a:ext cx="902379" cy="254000"/>
            <a:chOff x="16026507" y="908050"/>
            <a:chExt cx="902379" cy="254000"/>
          </a:xfrm>
        </p:grpSpPr>
        <p:sp>
          <p:nvSpPr>
            <p:cNvPr id="238" name="Rounded Rectangle 237"/>
            <p:cNvSpPr/>
            <p:nvPr/>
          </p:nvSpPr>
          <p:spPr>
            <a:xfrm>
              <a:off x="16026507" y="908050"/>
              <a:ext cx="902379" cy="254000"/>
            </a:xfrm>
            <a:prstGeom prst="roundRect">
              <a:avLst>
                <a:gd name="adj" fmla="val 50000"/>
              </a:avLst>
            </a:prstGeom>
            <a:solidFill>
              <a:srgbClr val="CFD6D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9" name="Oval 238"/>
            <p:cNvSpPr/>
            <p:nvPr/>
          </p:nvSpPr>
          <p:spPr>
            <a:xfrm>
              <a:off x="16166207" y="1012825"/>
              <a:ext cx="44450" cy="44450"/>
            </a:xfrm>
            <a:prstGeom prst="ellipse">
              <a:avLst/>
            </a:prstGeom>
            <a:solidFill>
              <a:srgbClr val="29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16261457" y="977900"/>
              <a:ext cx="578529" cy="114300"/>
            </a:xfrm>
            <a:prstGeom prst="rect">
              <a:avLst/>
            </a:prstGeom>
            <a:noFill/>
          </p:spPr>
          <p:txBody>
            <a:bodyPr wrap="none" lIns="0" tIns="0" rIns="0" bIns="0" anchor="ctr">
              <a:spAutoFit/>
            </a:bodyPr>
            <a:lstStyle/>
            <a:p>
              <a:pPr algn="l"/>
              <a:r>
                <a:rPr sz="750" b="1">
                  <a:solidFill>
                    <a:srgbClr val="292D31"/>
                  </a:solidFill>
                  <a:latin typeface="Segoe UI"/>
                </a:rPr>
                <a:t>Not Started</a:t>
              </a:r>
            </a:p>
          </p:txBody>
        </p:sp>
      </p:grpSp>
      <p:sp>
        <p:nvSpPr>
          <p:cNvPr id="241" name="TextBox 240"/>
          <p:cNvSpPr txBox="1"/>
          <p:nvPr/>
        </p:nvSpPr>
        <p:spPr>
          <a:xfrm>
            <a:off x="12344400" y="1238250"/>
            <a:ext cx="5410200" cy="114300"/>
          </a:xfrm>
          <a:prstGeom prst="rect">
            <a:avLst/>
          </a:prstGeom>
          <a:noFill/>
        </p:spPr>
        <p:txBody>
          <a:bodyPr wrap="square" lIns="0" tIns="0" rIns="0" bIns="0" anchor="t">
            <a:spAutoFit/>
          </a:bodyPr>
          <a:lstStyle/>
          <a:p>
            <a:pPr algn="l"/>
            <a:r>
              <a:rPr sz="650" b="1">
                <a:solidFill>
                  <a:srgbClr val="63707A"/>
                </a:solidFill>
                <a:latin typeface="Segoe UI"/>
              </a:rPr>
              <a:t>Milestones and Dimensions  </a:t>
            </a:r>
            <a:r>
              <a:rPr sz="650" b="0">
                <a:solidFill>
                  <a:srgbClr val="63707A"/>
                </a:solidFill>
                <a:latin typeface="Segoe UI"/>
              </a:rPr>
              <a:t>— copy onto the narrow pills</a:t>
            </a:r>
          </a:p>
        </p:txBody>
      </p:sp>
      <p:grpSp>
        <p:nvGrpSpPr>
          <p:cNvPr id="245" name="Status On Track"/>
          <p:cNvGrpSpPr/>
          <p:nvPr/>
        </p:nvGrpSpPr>
        <p:grpSpPr>
          <a:xfrm>
            <a:off x="12344400" y="1365250"/>
            <a:ext cx="673100" cy="165100"/>
            <a:chOff x="12344400" y="1365250"/>
            <a:chExt cx="673100" cy="165100"/>
          </a:xfrm>
        </p:grpSpPr>
        <p:sp>
          <p:nvSpPr>
            <p:cNvPr id="243" name="Rounded Rectangle 242"/>
            <p:cNvSpPr/>
            <p:nvPr/>
          </p:nvSpPr>
          <p:spPr>
            <a:xfrm>
              <a:off x="12344400" y="1365250"/>
              <a:ext cx="673100" cy="165100"/>
            </a:xfrm>
            <a:prstGeom prst="roundRect">
              <a:avLst>
                <a:gd name="adj" fmla="val 50000"/>
              </a:avLst>
            </a:prstGeom>
            <a:solidFill>
              <a:srgbClr val="53BE7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4" name="Oval 243"/>
            <p:cNvSpPr/>
            <p:nvPr/>
          </p:nvSpPr>
          <p:spPr>
            <a:xfrm>
              <a:off x="12426950" y="1428750"/>
              <a:ext cx="38100" cy="381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12503150" y="1397000"/>
              <a:ext cx="380221" cy="101600"/>
            </a:xfrm>
            <a:prstGeom prst="rect">
              <a:avLst/>
            </a:prstGeom>
            <a:noFill/>
          </p:spPr>
          <p:txBody>
            <a:bodyPr wrap="none" lIns="0" tIns="0" rIns="0" bIns="0" anchor="ctr">
              <a:spAutoFit/>
            </a:bodyPr>
            <a:lstStyle/>
            <a:p>
              <a:pPr algn="l"/>
              <a:r>
                <a:rPr sz="650" b="1">
                  <a:solidFill>
                    <a:srgbClr val="FFFFFF"/>
                  </a:solidFill>
                  <a:latin typeface="Segoe UI"/>
                </a:rPr>
                <a:t>On Track</a:t>
              </a:r>
            </a:p>
          </p:txBody>
        </p:sp>
      </p:grpSp>
      <p:grpSp>
        <p:nvGrpSpPr>
          <p:cNvPr id="249" name="Status Problem Solving"/>
          <p:cNvGrpSpPr/>
          <p:nvPr/>
        </p:nvGrpSpPr>
        <p:grpSpPr>
          <a:xfrm>
            <a:off x="13157200" y="1365250"/>
            <a:ext cx="917391" cy="165100"/>
            <a:chOff x="13157200" y="1365250"/>
            <a:chExt cx="917391" cy="165100"/>
          </a:xfrm>
        </p:grpSpPr>
        <p:sp>
          <p:nvSpPr>
            <p:cNvPr id="247" name="Rounded Rectangle 246"/>
            <p:cNvSpPr/>
            <p:nvPr/>
          </p:nvSpPr>
          <p:spPr>
            <a:xfrm>
              <a:off x="13157200" y="1365250"/>
              <a:ext cx="917391" cy="165100"/>
            </a:xfrm>
            <a:prstGeom prst="roundRect">
              <a:avLst>
                <a:gd name="adj" fmla="val 50000"/>
              </a:avLst>
            </a:prstGeom>
            <a:solidFill>
              <a:srgbClr val="F0B13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8" name="Oval 247"/>
            <p:cNvSpPr/>
            <p:nvPr/>
          </p:nvSpPr>
          <p:spPr>
            <a:xfrm>
              <a:off x="13239750" y="1428750"/>
              <a:ext cx="38100" cy="381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13315950" y="1397000"/>
              <a:ext cx="695141" cy="101600"/>
            </a:xfrm>
            <a:prstGeom prst="rect">
              <a:avLst/>
            </a:prstGeom>
            <a:noFill/>
          </p:spPr>
          <p:txBody>
            <a:bodyPr wrap="none" lIns="0" tIns="0" rIns="0" bIns="0" anchor="ctr">
              <a:spAutoFit/>
            </a:bodyPr>
            <a:lstStyle/>
            <a:p>
              <a:pPr algn="l"/>
              <a:r>
                <a:rPr sz="650" b="1">
                  <a:solidFill>
                    <a:srgbClr val="FFFFFF"/>
                  </a:solidFill>
                  <a:latin typeface="Segoe UI"/>
                </a:rPr>
                <a:t>Problem Solving</a:t>
              </a:r>
            </a:p>
          </p:txBody>
        </p:sp>
      </p:grpSp>
      <p:grpSp>
        <p:nvGrpSpPr>
          <p:cNvPr id="253" name="Status Escalation needed"/>
          <p:cNvGrpSpPr/>
          <p:nvPr/>
        </p:nvGrpSpPr>
        <p:grpSpPr>
          <a:xfrm>
            <a:off x="14214291" y="1365250"/>
            <a:ext cx="1009927" cy="165100"/>
            <a:chOff x="14214291" y="1365250"/>
            <a:chExt cx="1009927" cy="165100"/>
          </a:xfrm>
        </p:grpSpPr>
        <p:sp>
          <p:nvSpPr>
            <p:cNvPr id="251" name="Rounded Rectangle 250"/>
            <p:cNvSpPr/>
            <p:nvPr/>
          </p:nvSpPr>
          <p:spPr>
            <a:xfrm>
              <a:off x="14214291" y="1365250"/>
              <a:ext cx="1009927" cy="165100"/>
            </a:xfrm>
            <a:prstGeom prst="roundRect">
              <a:avLst>
                <a:gd name="adj" fmla="val 50000"/>
              </a:avLst>
            </a:prstGeom>
            <a:solidFill>
              <a:srgbClr val="E6434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2" name="Oval 251"/>
            <p:cNvSpPr/>
            <p:nvPr/>
          </p:nvSpPr>
          <p:spPr>
            <a:xfrm>
              <a:off x="14296841" y="1428750"/>
              <a:ext cx="38100" cy="381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14373041" y="1397000"/>
              <a:ext cx="787677" cy="101600"/>
            </a:xfrm>
            <a:prstGeom prst="rect">
              <a:avLst/>
            </a:prstGeom>
            <a:noFill/>
          </p:spPr>
          <p:txBody>
            <a:bodyPr wrap="none" lIns="0" tIns="0" rIns="0" bIns="0" anchor="ctr">
              <a:spAutoFit/>
            </a:bodyPr>
            <a:lstStyle/>
            <a:p>
              <a:pPr algn="l"/>
              <a:r>
                <a:rPr sz="650" b="1">
                  <a:solidFill>
                    <a:srgbClr val="FFFFFF"/>
                  </a:solidFill>
                  <a:latin typeface="Segoe UI"/>
                </a:rPr>
                <a:t>Escalation needed</a:t>
              </a:r>
            </a:p>
          </p:txBody>
        </p:sp>
      </p:grpSp>
      <p:grpSp>
        <p:nvGrpSpPr>
          <p:cNvPr id="257" name="Status Not Started"/>
          <p:cNvGrpSpPr/>
          <p:nvPr/>
        </p:nvGrpSpPr>
        <p:grpSpPr>
          <a:xfrm>
            <a:off x="15363919" y="1365250"/>
            <a:ext cx="725016" cy="165100"/>
            <a:chOff x="15363919" y="1365250"/>
            <a:chExt cx="725016" cy="165100"/>
          </a:xfrm>
        </p:grpSpPr>
        <p:sp>
          <p:nvSpPr>
            <p:cNvPr id="255" name="Rounded Rectangle 254"/>
            <p:cNvSpPr/>
            <p:nvPr/>
          </p:nvSpPr>
          <p:spPr>
            <a:xfrm>
              <a:off x="15363919" y="1365250"/>
              <a:ext cx="725016" cy="165100"/>
            </a:xfrm>
            <a:prstGeom prst="roundRect">
              <a:avLst>
                <a:gd name="adj" fmla="val 50000"/>
              </a:avLst>
            </a:prstGeom>
            <a:solidFill>
              <a:srgbClr val="CFD6D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6" name="Oval 255"/>
            <p:cNvSpPr/>
            <p:nvPr/>
          </p:nvSpPr>
          <p:spPr>
            <a:xfrm>
              <a:off x="15446469" y="1428750"/>
              <a:ext cx="38100" cy="38100"/>
            </a:xfrm>
            <a:prstGeom prst="ellipse">
              <a:avLst/>
            </a:prstGeom>
            <a:solidFill>
              <a:srgbClr val="29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15522669" y="1397000"/>
              <a:ext cx="502766" cy="101600"/>
            </a:xfrm>
            <a:prstGeom prst="rect">
              <a:avLst/>
            </a:prstGeom>
            <a:noFill/>
          </p:spPr>
          <p:txBody>
            <a:bodyPr wrap="none" lIns="0" tIns="0" rIns="0" bIns="0" anchor="ctr">
              <a:spAutoFit/>
            </a:bodyPr>
            <a:lstStyle/>
            <a:p>
              <a:pPr algn="l"/>
              <a:r>
                <a:rPr sz="650" b="1">
                  <a:solidFill>
                    <a:srgbClr val="292D31"/>
                  </a:solidFill>
                  <a:latin typeface="Segoe UI"/>
                </a:rPr>
                <a:t>Not Started</a:t>
              </a:r>
            </a:p>
          </p:txBody>
        </p:sp>
      </p:grpSp>
      <p:sp>
        <p:nvSpPr>
          <p:cNvPr id="258" name="TextBox 257"/>
          <p:cNvSpPr txBox="1"/>
          <p:nvPr/>
        </p:nvSpPr>
        <p:spPr>
          <a:xfrm>
            <a:off x="12344400" y="1619250"/>
            <a:ext cx="5410200" cy="114300"/>
          </a:xfrm>
          <a:prstGeom prst="rect">
            <a:avLst/>
          </a:prstGeom>
          <a:noFill/>
        </p:spPr>
        <p:txBody>
          <a:bodyPr wrap="square" lIns="0" tIns="0" rIns="0" bIns="0" anchor="t">
            <a:spAutoFit/>
          </a:bodyPr>
          <a:lstStyle/>
          <a:p>
            <a:pPr algn="l"/>
            <a:r>
              <a:rPr sz="650" b="1">
                <a:solidFill>
                  <a:srgbClr val="63707A"/>
                </a:solidFill>
                <a:latin typeface="Segoe UI"/>
              </a:rPr>
              <a:t>Dots  </a:t>
            </a:r>
            <a:r>
              <a:rPr sz="650" b="0">
                <a:solidFill>
                  <a:srgbClr val="63707A"/>
                </a:solidFill>
                <a:latin typeface="Segoe UI"/>
              </a:rPr>
              <a:t>— copy onto a milestone, a dimension tile or a feature</a:t>
            </a:r>
          </a:p>
        </p:txBody>
      </p:sp>
      <p:sp>
        <p:nvSpPr>
          <p:cNvPr id="259" name="TextBox 258"/>
          <p:cNvSpPr txBox="1"/>
          <p:nvPr/>
        </p:nvSpPr>
        <p:spPr>
          <a:xfrm>
            <a:off x="13328650" y="1758950"/>
            <a:ext cx="828040" cy="203200"/>
          </a:xfrm>
          <a:prstGeom prst="rect">
            <a:avLst/>
          </a:prstGeom>
          <a:noFill/>
        </p:spPr>
        <p:txBody>
          <a:bodyPr wrap="square" lIns="0" tIns="0" rIns="0" bIns="0" anchor="t">
            <a:spAutoFit/>
          </a:bodyPr>
          <a:lstStyle/>
          <a:p>
            <a:pPr algn="ctr">
              <a:lnSpc>
                <a:spcPts val="700"/>
              </a:lnSpc>
            </a:pPr>
            <a:r>
              <a:rPr sz="575" b="0">
                <a:solidFill>
                  <a:srgbClr val="63707A"/>
                </a:solidFill>
                <a:latin typeface="Segoe UI"/>
              </a:rPr>
              <a:t>Completed</a:t>
            </a:r>
          </a:p>
        </p:txBody>
      </p:sp>
      <p:sp>
        <p:nvSpPr>
          <p:cNvPr id="260" name="TextBox 259"/>
          <p:cNvSpPr txBox="1"/>
          <p:nvPr/>
        </p:nvSpPr>
        <p:spPr>
          <a:xfrm>
            <a:off x="14220190" y="1758950"/>
            <a:ext cx="828040" cy="203200"/>
          </a:xfrm>
          <a:prstGeom prst="rect">
            <a:avLst/>
          </a:prstGeom>
          <a:noFill/>
        </p:spPr>
        <p:txBody>
          <a:bodyPr wrap="square" lIns="0" tIns="0" rIns="0" bIns="0" anchor="t">
            <a:spAutoFit/>
          </a:bodyPr>
          <a:lstStyle/>
          <a:p>
            <a:pPr algn="ctr">
              <a:lnSpc>
                <a:spcPts val="700"/>
              </a:lnSpc>
            </a:pPr>
            <a:r>
              <a:rPr sz="575" b="0">
                <a:solidFill>
                  <a:srgbClr val="63707A"/>
                </a:solidFill>
                <a:latin typeface="Segoe UI"/>
              </a:rPr>
              <a:t>On Track</a:t>
            </a:r>
          </a:p>
        </p:txBody>
      </p:sp>
      <p:sp>
        <p:nvSpPr>
          <p:cNvPr id="261" name="TextBox 260"/>
          <p:cNvSpPr txBox="1"/>
          <p:nvPr/>
        </p:nvSpPr>
        <p:spPr>
          <a:xfrm>
            <a:off x="15111730" y="1758950"/>
            <a:ext cx="828040" cy="203200"/>
          </a:xfrm>
          <a:prstGeom prst="rect">
            <a:avLst/>
          </a:prstGeom>
          <a:noFill/>
        </p:spPr>
        <p:txBody>
          <a:bodyPr wrap="square" lIns="0" tIns="0" rIns="0" bIns="0" anchor="t">
            <a:spAutoFit/>
          </a:bodyPr>
          <a:lstStyle/>
          <a:p>
            <a:pPr algn="ctr">
              <a:lnSpc>
                <a:spcPts val="700"/>
              </a:lnSpc>
            </a:pPr>
            <a:r>
              <a:rPr sz="575" b="0">
                <a:solidFill>
                  <a:srgbClr val="63707A"/>
                </a:solidFill>
                <a:latin typeface="Segoe UI"/>
              </a:rPr>
              <a:t>Internal Problem Solving</a:t>
            </a:r>
          </a:p>
        </p:txBody>
      </p:sp>
      <p:sp>
        <p:nvSpPr>
          <p:cNvPr id="262" name="TextBox 261"/>
          <p:cNvSpPr txBox="1"/>
          <p:nvPr/>
        </p:nvSpPr>
        <p:spPr>
          <a:xfrm>
            <a:off x="16003269" y="1758950"/>
            <a:ext cx="828040" cy="203200"/>
          </a:xfrm>
          <a:prstGeom prst="rect">
            <a:avLst/>
          </a:prstGeom>
          <a:noFill/>
        </p:spPr>
        <p:txBody>
          <a:bodyPr wrap="square" lIns="0" tIns="0" rIns="0" bIns="0" anchor="t">
            <a:spAutoFit/>
          </a:bodyPr>
          <a:lstStyle/>
          <a:p>
            <a:pPr algn="ctr">
              <a:lnSpc>
                <a:spcPts val="700"/>
              </a:lnSpc>
            </a:pPr>
            <a:r>
              <a:rPr sz="575" b="0">
                <a:solidFill>
                  <a:srgbClr val="63707A"/>
                </a:solidFill>
                <a:latin typeface="Segoe UI"/>
              </a:rPr>
              <a:t>Management Attention Required</a:t>
            </a:r>
          </a:p>
        </p:txBody>
      </p:sp>
      <p:sp>
        <p:nvSpPr>
          <p:cNvPr id="263" name="TextBox 262"/>
          <p:cNvSpPr txBox="1"/>
          <p:nvPr/>
        </p:nvSpPr>
        <p:spPr>
          <a:xfrm>
            <a:off x="16894810" y="1758950"/>
            <a:ext cx="828040" cy="203200"/>
          </a:xfrm>
          <a:prstGeom prst="rect">
            <a:avLst/>
          </a:prstGeom>
          <a:noFill/>
        </p:spPr>
        <p:txBody>
          <a:bodyPr wrap="square" lIns="0" tIns="0" rIns="0" bIns="0" anchor="t">
            <a:spAutoFit/>
          </a:bodyPr>
          <a:lstStyle/>
          <a:p>
            <a:pPr algn="ctr">
              <a:lnSpc>
                <a:spcPts val="700"/>
              </a:lnSpc>
            </a:pPr>
            <a:r>
              <a:rPr sz="575" b="0">
                <a:solidFill>
                  <a:srgbClr val="63707A"/>
                </a:solidFill>
                <a:latin typeface="Segoe UI"/>
              </a:rPr>
              <a:t>Not Started</a:t>
            </a:r>
          </a:p>
        </p:txBody>
      </p:sp>
      <p:sp>
        <p:nvSpPr>
          <p:cNvPr id="264" name="TextBox 263"/>
          <p:cNvSpPr txBox="1"/>
          <p:nvPr/>
        </p:nvSpPr>
        <p:spPr>
          <a:xfrm>
            <a:off x="12344400" y="1987550"/>
            <a:ext cx="927100" cy="114300"/>
          </a:xfrm>
          <a:prstGeom prst="rect">
            <a:avLst/>
          </a:prstGeom>
          <a:noFill/>
        </p:spPr>
        <p:txBody>
          <a:bodyPr wrap="square" lIns="0" tIns="0" rIns="0" bIns="0" anchor="t">
            <a:spAutoFit/>
          </a:bodyPr>
          <a:lstStyle/>
          <a:p>
            <a:pPr algn="l"/>
            <a:r>
              <a:rPr sz="650" b="1">
                <a:solidFill>
                  <a:srgbClr val="292D31"/>
                </a:solidFill>
                <a:latin typeface="Segoe UI"/>
              </a:rPr>
              <a:t>Timeline  </a:t>
            </a:r>
            <a:r>
              <a:rPr sz="650" b="0">
                <a:solidFill>
                  <a:srgbClr val="292D31"/>
                </a:solidFill>
                <a:latin typeface="Segoe UI"/>
              </a:rPr>
              <a:t>19 px</a:t>
            </a:r>
          </a:p>
        </p:txBody>
      </p:sp>
      <p:sp>
        <p:nvSpPr>
          <p:cNvPr id="265" name="Oval 264"/>
          <p:cNvSpPr/>
          <p:nvPr/>
        </p:nvSpPr>
        <p:spPr>
          <a:xfrm>
            <a:off x="13682345" y="1987550"/>
            <a:ext cx="120650" cy="120650"/>
          </a:xfrm>
          <a:prstGeom prst="ellipse">
            <a:avLst/>
          </a:prstGeom>
          <a:solidFill>
            <a:srgbClr val="001E5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14573884" y="1987550"/>
            <a:ext cx="120650" cy="120650"/>
          </a:xfrm>
          <a:prstGeom prst="ellipse">
            <a:avLst/>
          </a:prstGeom>
          <a:solidFill>
            <a:srgbClr val="53BE7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15465424" y="1987550"/>
            <a:ext cx="120650" cy="120650"/>
          </a:xfrm>
          <a:prstGeom prst="ellipse">
            <a:avLst/>
          </a:prstGeom>
          <a:solidFill>
            <a:srgbClr val="F0B13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16356964" y="1987550"/>
            <a:ext cx="120650" cy="120650"/>
          </a:xfrm>
          <a:prstGeom prst="ellipse">
            <a:avLst/>
          </a:prstGeom>
          <a:solidFill>
            <a:srgbClr val="E6434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17248504" y="1987550"/>
            <a:ext cx="120650" cy="120650"/>
          </a:xfrm>
          <a:prstGeom prst="ellipse">
            <a:avLst/>
          </a:prstGeom>
          <a:solidFill>
            <a:srgbClr val="CFD6D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269"/>
          <p:cNvSpPr txBox="1"/>
          <p:nvPr/>
        </p:nvSpPr>
        <p:spPr>
          <a:xfrm>
            <a:off x="12344400" y="2178050"/>
            <a:ext cx="927100" cy="114300"/>
          </a:xfrm>
          <a:prstGeom prst="rect">
            <a:avLst/>
          </a:prstGeom>
          <a:noFill/>
        </p:spPr>
        <p:txBody>
          <a:bodyPr wrap="square" lIns="0" tIns="0" rIns="0" bIns="0" anchor="t">
            <a:spAutoFit/>
          </a:bodyPr>
          <a:lstStyle/>
          <a:p>
            <a:pPr algn="l"/>
            <a:r>
              <a:rPr sz="650" b="1">
                <a:solidFill>
                  <a:srgbClr val="292D31"/>
                </a:solidFill>
                <a:latin typeface="Segoe UI"/>
              </a:rPr>
              <a:t>Dimensions  </a:t>
            </a:r>
            <a:r>
              <a:rPr sz="650" b="0">
                <a:solidFill>
                  <a:srgbClr val="292D31"/>
                </a:solidFill>
                <a:latin typeface="Segoe UI"/>
              </a:rPr>
              <a:t>13 px</a:t>
            </a:r>
          </a:p>
        </p:txBody>
      </p:sp>
      <p:sp>
        <p:nvSpPr>
          <p:cNvPr id="271" name="Oval 270"/>
          <p:cNvSpPr/>
          <p:nvPr/>
        </p:nvSpPr>
        <p:spPr>
          <a:xfrm>
            <a:off x="13701394" y="2178050"/>
            <a:ext cx="82550" cy="82550"/>
          </a:xfrm>
          <a:prstGeom prst="ellipse">
            <a:avLst/>
          </a:prstGeom>
          <a:solidFill>
            <a:srgbClr val="001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14592935" y="2178050"/>
            <a:ext cx="82550" cy="82550"/>
          </a:xfrm>
          <a:prstGeom prst="ellipse">
            <a:avLst/>
          </a:prstGeom>
          <a:solidFill>
            <a:srgbClr val="53B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15484475" y="2178050"/>
            <a:ext cx="82550" cy="82550"/>
          </a:xfrm>
          <a:prstGeom prst="ellipse">
            <a:avLst/>
          </a:prstGeom>
          <a:solidFill>
            <a:srgbClr val="F0B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16376014" y="2178050"/>
            <a:ext cx="82550" cy="82550"/>
          </a:xfrm>
          <a:prstGeom prst="ellipse">
            <a:avLst/>
          </a:prstGeom>
          <a:solidFill>
            <a:srgbClr val="E6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17267554" y="2178050"/>
            <a:ext cx="82550" cy="82550"/>
          </a:xfrm>
          <a:prstGeom prst="ellipse">
            <a:avLst/>
          </a:prstGeom>
          <a:solidFill>
            <a:srgbClr val="CF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12344400" y="2368550"/>
            <a:ext cx="927100" cy="114300"/>
          </a:xfrm>
          <a:prstGeom prst="rect">
            <a:avLst/>
          </a:prstGeom>
          <a:noFill/>
        </p:spPr>
        <p:txBody>
          <a:bodyPr wrap="square" lIns="0" tIns="0" rIns="0" bIns="0" anchor="t">
            <a:spAutoFit/>
          </a:bodyPr>
          <a:lstStyle/>
          <a:p>
            <a:pPr algn="l"/>
            <a:r>
              <a:rPr sz="650" b="1">
                <a:solidFill>
                  <a:srgbClr val="292D31"/>
                </a:solidFill>
                <a:latin typeface="Segoe UI"/>
              </a:rPr>
              <a:t>Features  </a:t>
            </a:r>
            <a:r>
              <a:rPr sz="650" b="0">
                <a:solidFill>
                  <a:srgbClr val="292D31"/>
                </a:solidFill>
                <a:latin typeface="Segoe UI"/>
              </a:rPr>
              <a:t>10 px</a:t>
            </a:r>
          </a:p>
        </p:txBody>
      </p:sp>
      <p:sp>
        <p:nvSpPr>
          <p:cNvPr id="277" name="Oval 276"/>
          <p:cNvSpPr/>
          <p:nvPr/>
        </p:nvSpPr>
        <p:spPr>
          <a:xfrm>
            <a:off x="13710920" y="2368550"/>
            <a:ext cx="63500" cy="63500"/>
          </a:xfrm>
          <a:prstGeom prst="ellipse">
            <a:avLst/>
          </a:prstGeom>
          <a:solidFill>
            <a:srgbClr val="001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14602459" y="2368550"/>
            <a:ext cx="63500" cy="63500"/>
          </a:xfrm>
          <a:prstGeom prst="ellipse">
            <a:avLst/>
          </a:prstGeom>
          <a:solidFill>
            <a:srgbClr val="53B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15493999" y="2368550"/>
            <a:ext cx="63500" cy="63500"/>
          </a:xfrm>
          <a:prstGeom prst="ellipse">
            <a:avLst/>
          </a:prstGeom>
          <a:solidFill>
            <a:srgbClr val="F0B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16385539" y="2368550"/>
            <a:ext cx="63500" cy="63500"/>
          </a:xfrm>
          <a:prstGeom prst="ellipse">
            <a:avLst/>
          </a:prstGeom>
          <a:solidFill>
            <a:srgbClr val="E6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17277079" y="2368550"/>
            <a:ext cx="63500" cy="63500"/>
          </a:xfrm>
          <a:prstGeom prst="ellipse">
            <a:avLst/>
          </a:prstGeom>
          <a:solidFill>
            <a:srgbClr val="CF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12344400" y="2609850"/>
            <a:ext cx="5410200" cy="228600"/>
          </a:xfrm>
          <a:prstGeom prst="rect">
            <a:avLst/>
          </a:prstGeom>
          <a:noFill/>
        </p:spPr>
        <p:txBody>
          <a:bodyPr wrap="square" lIns="0" tIns="0" rIns="0" bIns="0" anchor="t">
            <a:spAutoFit/>
          </a:bodyPr>
          <a:lstStyle/>
          <a:p>
            <a:pPr algn="l">
              <a:lnSpc>
                <a:spcPts val="850"/>
              </a:lnSpc>
            </a:pPr>
            <a:r>
              <a:rPr sz="650" b="1">
                <a:solidFill>
                  <a:srgbClr val="63707A"/>
                </a:solidFill>
                <a:latin typeface="Segoe UI"/>
              </a:rPr>
              <a:t>Supplier Enablement bar  </a:t>
            </a:r>
            <a:r>
              <a:rPr sz="650" b="0">
                <a:solidFill>
                  <a:srgbClr val="63707A"/>
                </a:solidFill>
                <a:latin typeface="Segoe UI"/>
              </a:rPr>
              <a:t>— in the template the blue bar has no width at all, so there is nothing to drag. Copy this whole row over it.</a:t>
            </a:r>
          </a:p>
        </p:txBody>
      </p:sp>
      <p:grpSp>
        <p:nvGrpSpPr>
          <p:cNvPr id="286" name="Supplier Enablement 50%"/>
          <p:cNvGrpSpPr/>
          <p:nvPr/>
        </p:nvGrpSpPr>
        <p:grpSpPr>
          <a:xfrm>
            <a:off x="12344400" y="2851150"/>
            <a:ext cx="2863850" cy="139700"/>
            <a:chOff x="12344400" y="2851150"/>
            <a:chExt cx="2863850" cy="139700"/>
          </a:xfrm>
        </p:grpSpPr>
        <p:sp>
          <p:nvSpPr>
            <p:cNvPr id="283" name="Rounded Rectangle 282"/>
            <p:cNvSpPr/>
            <p:nvPr/>
          </p:nvSpPr>
          <p:spPr>
            <a:xfrm>
              <a:off x="12344400" y="2889250"/>
              <a:ext cx="2863850" cy="63500"/>
            </a:xfrm>
            <a:prstGeom prst="roundRect">
              <a:avLst>
                <a:gd name="adj" fmla="val 50000"/>
              </a:avLst>
            </a:prstGeom>
            <a:solidFill>
              <a:srgbClr val="E5E9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4" name="Rounded Rectangle 283"/>
            <p:cNvSpPr/>
            <p:nvPr/>
          </p:nvSpPr>
          <p:spPr>
            <a:xfrm>
              <a:off x="12344400" y="2889250"/>
              <a:ext cx="1431925" cy="63500"/>
            </a:xfrm>
            <a:prstGeom prst="roundRect">
              <a:avLst>
                <a:gd name="adj" fmla="val 50000"/>
              </a:avLst>
            </a:prstGeom>
            <a:solidFill>
              <a:srgbClr val="2F7AB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5" name="Oval 284"/>
            <p:cNvSpPr/>
            <p:nvPr/>
          </p:nvSpPr>
          <p:spPr>
            <a:xfrm>
              <a:off x="13706475" y="2851150"/>
              <a:ext cx="139700" cy="139700"/>
            </a:xfrm>
            <a:prstGeom prst="ellipse">
              <a:avLst/>
            </a:prstGeom>
            <a:solidFill>
              <a:srgbClr val="FFFFFF"/>
            </a:solidFill>
            <a:ln w="25400">
              <a:solidFill>
                <a:srgbClr val="53B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87" name="TextBox 286"/>
          <p:cNvSpPr txBox="1"/>
          <p:nvPr/>
        </p:nvSpPr>
        <p:spPr>
          <a:xfrm>
            <a:off x="15309850" y="2857500"/>
            <a:ext cx="2444750" cy="127000"/>
          </a:xfrm>
          <a:prstGeom prst="rect">
            <a:avLst/>
          </a:prstGeom>
          <a:noFill/>
        </p:spPr>
        <p:txBody>
          <a:bodyPr wrap="square" lIns="0" tIns="0" rIns="0" bIns="0" anchor="t">
            <a:spAutoFit/>
          </a:bodyPr>
          <a:lstStyle/>
          <a:p>
            <a:pPr algn="l"/>
            <a:r>
              <a:rPr sz="650" b="0">
                <a:solidFill>
                  <a:srgbClr val="63707A"/>
                </a:solidFill>
                <a:latin typeface="Segoe UI"/>
              </a:rPr>
              <a:t>example: 50 %</a:t>
            </a:r>
          </a:p>
        </p:txBody>
      </p:sp>
      <p:sp>
        <p:nvSpPr>
          <p:cNvPr id="288" name="TextBox 287"/>
          <p:cNvSpPr txBox="1"/>
          <p:nvPr/>
        </p:nvSpPr>
        <p:spPr>
          <a:xfrm>
            <a:off x="12344400" y="3054350"/>
            <a:ext cx="5410200" cy="120650"/>
          </a:xfrm>
          <a:prstGeom prst="rect">
            <a:avLst/>
          </a:prstGeom>
          <a:noFill/>
        </p:spPr>
        <p:txBody>
          <a:bodyPr wrap="square" lIns="0" tIns="0" rIns="0" bIns="0" anchor="t">
            <a:spAutoFit/>
          </a:bodyPr>
          <a:lstStyle/>
          <a:p>
            <a:pPr algn="l"/>
            <a:r>
              <a:rPr sz="675" b="1">
                <a:solidFill>
                  <a:srgbClr val="292D31"/>
                </a:solidFill>
                <a:latin typeface="Segoe UI"/>
              </a:rPr>
              <a:t>How wide does the blue bar have to be?  </a:t>
            </a:r>
            <a:r>
              <a:rPr sz="675" b="0">
                <a:solidFill>
                  <a:srgbClr val="292D31"/>
                </a:solidFill>
                <a:latin typeface="Segoe UI"/>
              </a:rPr>
              <a:t>The grey track is the full 100 %.</a:t>
            </a:r>
          </a:p>
        </p:txBody>
      </p:sp>
      <p:sp>
        <p:nvSpPr>
          <p:cNvPr id="289" name="TextBox 288"/>
          <p:cNvSpPr txBox="1"/>
          <p:nvPr/>
        </p:nvSpPr>
        <p:spPr>
          <a:xfrm>
            <a:off x="12509500" y="3181350"/>
            <a:ext cx="5245100" cy="120650"/>
          </a:xfrm>
          <a:prstGeom prst="rect">
            <a:avLst/>
          </a:prstGeom>
          <a:noFill/>
        </p:spPr>
        <p:txBody>
          <a:bodyPr wrap="square" lIns="0" tIns="0" rIns="0" bIns="0" anchor="t">
            <a:spAutoFit/>
          </a:bodyPr>
          <a:lstStyle/>
          <a:p>
            <a:pPr algn="l"/>
            <a:r>
              <a:rPr sz="675" b="0">
                <a:solidFill>
                  <a:srgbClr val="292D31"/>
                </a:solidFill>
                <a:latin typeface="Segoe UI"/>
              </a:rPr>
              <a:t>100 % = 7.96 cm — the width of the grey track</a:t>
            </a:r>
          </a:p>
        </p:txBody>
      </p:sp>
      <p:sp>
        <p:nvSpPr>
          <p:cNvPr id="290" name="TextBox 289"/>
          <p:cNvSpPr txBox="1"/>
          <p:nvPr/>
        </p:nvSpPr>
        <p:spPr>
          <a:xfrm>
            <a:off x="12509500" y="3302000"/>
            <a:ext cx="5245100" cy="120650"/>
          </a:xfrm>
          <a:prstGeom prst="rect">
            <a:avLst/>
          </a:prstGeom>
          <a:noFill/>
        </p:spPr>
        <p:txBody>
          <a:bodyPr wrap="square" lIns="0" tIns="0" rIns="0" bIns="0" anchor="t">
            <a:spAutoFit/>
          </a:bodyPr>
          <a:lstStyle/>
          <a:p>
            <a:pPr algn="l"/>
            <a:r>
              <a:rPr sz="675" b="0">
                <a:solidFill>
                  <a:srgbClr val="292D31"/>
                </a:solidFill>
                <a:latin typeface="Segoe UI"/>
              </a:rPr>
              <a:t>1 % = 0.080 cm — divide the track by 100</a:t>
            </a:r>
          </a:p>
        </p:txBody>
      </p:sp>
      <p:sp>
        <p:nvSpPr>
          <p:cNvPr id="291" name="TextBox 290"/>
          <p:cNvSpPr txBox="1"/>
          <p:nvPr/>
        </p:nvSpPr>
        <p:spPr>
          <a:xfrm>
            <a:off x="12509500" y="3422650"/>
            <a:ext cx="5245100" cy="120650"/>
          </a:xfrm>
          <a:prstGeom prst="rect">
            <a:avLst/>
          </a:prstGeom>
          <a:noFill/>
        </p:spPr>
        <p:txBody>
          <a:bodyPr wrap="square" lIns="0" tIns="0" rIns="0" bIns="0" anchor="t">
            <a:spAutoFit/>
          </a:bodyPr>
          <a:lstStyle/>
          <a:p>
            <a:pPr algn="l"/>
            <a:r>
              <a:rPr sz="675" b="0">
                <a:solidFill>
                  <a:srgbClr val="292D31"/>
                </a:solidFill>
                <a:latin typeface="Segoe UI"/>
              </a:rPr>
              <a:t>blue bar = percentage × 0.080 cm, e.g. 57 % → 4.53 cm</a:t>
            </a:r>
          </a:p>
        </p:txBody>
      </p:sp>
      <p:sp>
        <p:nvSpPr>
          <p:cNvPr id="292" name="TextBox 291"/>
          <p:cNvSpPr txBox="1"/>
          <p:nvPr/>
        </p:nvSpPr>
        <p:spPr>
          <a:xfrm>
            <a:off x="12509500" y="3543300"/>
            <a:ext cx="5245100" cy="120650"/>
          </a:xfrm>
          <a:prstGeom prst="rect">
            <a:avLst/>
          </a:prstGeom>
          <a:noFill/>
        </p:spPr>
        <p:txBody>
          <a:bodyPr wrap="square" lIns="0" tIns="0" rIns="0" bIns="0" anchor="t">
            <a:spAutoFit/>
          </a:bodyPr>
          <a:lstStyle/>
          <a:p>
            <a:pPr algn="l"/>
            <a:r>
              <a:rPr sz="675" b="0">
                <a:solidFill>
                  <a:srgbClr val="292D31"/>
                </a:solidFill>
                <a:latin typeface="Segoe UI"/>
              </a:rPr>
              <a:t>then put the round marker at the right end of the blue bar</a:t>
            </a:r>
          </a:p>
        </p:txBody>
      </p:sp>
      <p:sp>
        <p:nvSpPr>
          <p:cNvPr id="293" name="Rectangle 292"/>
          <p:cNvSpPr/>
          <p:nvPr/>
        </p:nvSpPr>
        <p:spPr>
          <a:xfrm>
            <a:off x="12344400" y="3740150"/>
            <a:ext cx="5410200" cy="6350"/>
          </a:xfrm>
          <a:prstGeom prst="rect">
            <a:avLst/>
          </a:prstGeom>
          <a:solidFill>
            <a:srgbClr val="E2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293"/>
          <p:cNvSpPr txBox="1"/>
          <p:nvPr/>
        </p:nvSpPr>
        <p:spPr>
          <a:xfrm>
            <a:off x="12344400" y="3879850"/>
            <a:ext cx="165100" cy="127000"/>
          </a:xfrm>
          <a:prstGeom prst="rect">
            <a:avLst/>
          </a:prstGeom>
          <a:noFill/>
        </p:spPr>
        <p:txBody>
          <a:bodyPr wrap="square" lIns="0" tIns="0" rIns="0" bIns="0" anchor="t">
            <a:spAutoFit/>
          </a:bodyPr>
          <a:lstStyle/>
          <a:p>
            <a:pPr algn="l"/>
            <a:r>
              <a:rPr sz="750" b="1">
                <a:solidFill>
                  <a:srgbClr val="001E50"/>
                </a:solidFill>
                <a:latin typeface="Segoe UI"/>
              </a:rPr>
              <a:t>2</a:t>
            </a:r>
          </a:p>
        </p:txBody>
      </p:sp>
      <p:sp>
        <p:nvSpPr>
          <p:cNvPr id="295" name="TextBox 294"/>
          <p:cNvSpPr txBox="1"/>
          <p:nvPr/>
        </p:nvSpPr>
        <p:spPr>
          <a:xfrm>
            <a:off x="12509500" y="3879850"/>
            <a:ext cx="5245100" cy="127000"/>
          </a:xfrm>
          <a:prstGeom prst="rect">
            <a:avLst/>
          </a:prstGeom>
          <a:noFill/>
        </p:spPr>
        <p:txBody>
          <a:bodyPr wrap="square" lIns="0" tIns="0" rIns="0" bIns="0" anchor="t">
            <a:spAutoFit/>
          </a:bodyPr>
          <a:lstStyle/>
          <a:p>
            <a:pPr algn="l"/>
            <a:r>
              <a:rPr sz="750" b="1" spc="60">
                <a:solidFill>
                  <a:srgbClr val="151B21"/>
                </a:solidFill>
                <a:latin typeface="Segoe UI"/>
              </a:rPr>
              <a:t>HEADER — three boxes, top right</a:t>
            </a:r>
          </a:p>
        </p:txBody>
      </p:sp>
      <p:sp>
        <p:nvSpPr>
          <p:cNvPr id="296" name="TextBox 295"/>
          <p:cNvSpPr txBox="1"/>
          <p:nvPr/>
        </p:nvSpPr>
        <p:spPr>
          <a:xfrm>
            <a:off x="12509500" y="4038600"/>
            <a:ext cx="5245100" cy="120650"/>
          </a:xfrm>
          <a:prstGeom prst="rect">
            <a:avLst/>
          </a:prstGeom>
          <a:noFill/>
        </p:spPr>
        <p:txBody>
          <a:bodyPr wrap="square" lIns="0" tIns="0" rIns="0" bIns="0" anchor="t">
            <a:spAutoFit/>
          </a:bodyPr>
          <a:lstStyle/>
          <a:p>
            <a:pPr algn="l"/>
            <a:r>
              <a:rPr sz="675" b="1">
                <a:solidFill>
                  <a:srgbClr val="292D31"/>
                </a:solidFill>
                <a:latin typeface="Segoe UI"/>
              </a:rPr>
              <a:t>Date — </a:t>
            </a:r>
            <a:r>
              <a:rPr sz="675" b="0">
                <a:solidFill>
                  <a:srgbClr val="292D31"/>
                </a:solidFill>
                <a:latin typeface="Segoe UI"/>
              </a:rPr>
              <a:t>the calendar week the report refers to.</a:t>
            </a:r>
          </a:p>
        </p:txBody>
      </p:sp>
      <p:sp>
        <p:nvSpPr>
          <p:cNvPr id="297" name="TextBox 296"/>
          <p:cNvSpPr txBox="1"/>
          <p:nvPr/>
        </p:nvSpPr>
        <p:spPr>
          <a:xfrm>
            <a:off x="12509500" y="4159249"/>
            <a:ext cx="5245100" cy="120650"/>
          </a:xfrm>
          <a:prstGeom prst="rect">
            <a:avLst/>
          </a:prstGeom>
          <a:noFill/>
        </p:spPr>
        <p:txBody>
          <a:bodyPr wrap="square" lIns="0" tIns="0" rIns="0" bIns="0" anchor="t">
            <a:spAutoFit/>
          </a:bodyPr>
          <a:lstStyle/>
          <a:p>
            <a:pPr algn="l"/>
            <a:r>
              <a:rPr sz="675" b="1">
                <a:solidFill>
                  <a:srgbClr val="292D31"/>
                </a:solidFill>
                <a:latin typeface="Segoe UI"/>
              </a:rPr>
              <a:t>Responsibilities — </a:t>
            </a:r>
            <a:r>
              <a:rPr sz="675" b="0">
                <a:solidFill>
                  <a:srgbClr val="292D31"/>
                </a:solidFill>
                <a:latin typeface="Segoe UI"/>
              </a:rPr>
              <a:t>Use Case Manager, Use Case Owner and the Domain Lead above them.</a:t>
            </a:r>
          </a:p>
        </p:txBody>
      </p:sp>
      <p:sp>
        <p:nvSpPr>
          <p:cNvPr id="298" name="TextBox 297"/>
          <p:cNvSpPr txBox="1"/>
          <p:nvPr/>
        </p:nvSpPr>
        <p:spPr>
          <a:xfrm>
            <a:off x="12509500" y="4279900"/>
            <a:ext cx="5245100" cy="120650"/>
          </a:xfrm>
          <a:prstGeom prst="rect">
            <a:avLst/>
          </a:prstGeom>
          <a:noFill/>
        </p:spPr>
        <p:txBody>
          <a:bodyPr wrap="square" lIns="0" tIns="0" rIns="0" bIns="0" anchor="t">
            <a:spAutoFit/>
          </a:bodyPr>
          <a:lstStyle/>
          <a:p>
            <a:pPr algn="l"/>
            <a:r>
              <a:rPr sz="675" b="1">
                <a:solidFill>
                  <a:srgbClr val="292D31"/>
                </a:solidFill>
                <a:latin typeface="Segoe UI"/>
              </a:rPr>
              <a:t>Phase — </a:t>
            </a:r>
            <a:r>
              <a:rPr sz="675" b="0">
                <a:solidFill>
                  <a:srgbClr val="292D31"/>
                </a:solidFill>
                <a:latin typeface="Segoe UI"/>
              </a:rPr>
              <a:t>Definition &amp; Clarification, Piloting or Scaling.</a:t>
            </a:r>
          </a:p>
        </p:txBody>
      </p:sp>
      <p:sp>
        <p:nvSpPr>
          <p:cNvPr id="299" name="TextBox 298"/>
          <p:cNvSpPr txBox="1"/>
          <p:nvPr/>
        </p:nvSpPr>
        <p:spPr>
          <a:xfrm>
            <a:off x="12344400" y="4489450"/>
            <a:ext cx="165100" cy="127000"/>
          </a:xfrm>
          <a:prstGeom prst="rect">
            <a:avLst/>
          </a:prstGeom>
          <a:noFill/>
        </p:spPr>
        <p:txBody>
          <a:bodyPr wrap="square" lIns="0" tIns="0" rIns="0" bIns="0" anchor="t">
            <a:spAutoFit/>
          </a:bodyPr>
          <a:lstStyle/>
          <a:p>
            <a:pPr algn="l"/>
            <a:r>
              <a:rPr sz="750" b="1">
                <a:solidFill>
                  <a:srgbClr val="001E50"/>
                </a:solidFill>
                <a:latin typeface="Segoe UI"/>
              </a:rPr>
              <a:t>3</a:t>
            </a:r>
          </a:p>
        </p:txBody>
      </p:sp>
      <p:sp>
        <p:nvSpPr>
          <p:cNvPr id="300" name="TextBox 299"/>
          <p:cNvSpPr txBox="1"/>
          <p:nvPr/>
        </p:nvSpPr>
        <p:spPr>
          <a:xfrm>
            <a:off x="12509500" y="4489450"/>
            <a:ext cx="5245100" cy="127000"/>
          </a:xfrm>
          <a:prstGeom prst="rect">
            <a:avLst/>
          </a:prstGeom>
          <a:noFill/>
        </p:spPr>
        <p:txBody>
          <a:bodyPr wrap="square" lIns="0" tIns="0" rIns="0" bIns="0" anchor="t">
            <a:spAutoFit/>
          </a:bodyPr>
          <a:lstStyle/>
          <a:p>
            <a:pPr algn="l"/>
            <a:r>
              <a:rPr sz="750" b="1" spc="60">
                <a:solidFill>
                  <a:srgbClr val="151B21"/>
                </a:solidFill>
                <a:latin typeface="Segoe UI"/>
              </a:rPr>
              <a:t>FINAL GOAL — the only card about the end state</a:t>
            </a:r>
          </a:p>
        </p:txBody>
      </p:sp>
      <p:sp>
        <p:nvSpPr>
          <p:cNvPr id="301" name="TextBox 300"/>
          <p:cNvSpPr txBox="1"/>
          <p:nvPr/>
        </p:nvSpPr>
        <p:spPr>
          <a:xfrm>
            <a:off x="12509500" y="4648200"/>
            <a:ext cx="5245100" cy="120650"/>
          </a:xfrm>
          <a:prstGeom prst="rect">
            <a:avLst/>
          </a:prstGeom>
          <a:noFill/>
        </p:spPr>
        <p:txBody>
          <a:bodyPr wrap="square" lIns="0" tIns="0" rIns="0" bIns="0" anchor="t">
            <a:spAutoFit/>
          </a:bodyPr>
          <a:lstStyle/>
          <a:p>
            <a:pPr algn="l"/>
            <a:r>
              <a:rPr sz="675" b="1">
                <a:solidFill>
                  <a:srgbClr val="292D31"/>
                </a:solidFill>
                <a:latin typeface="Segoe UI"/>
              </a:rPr>
              <a:t>Final Goal — </a:t>
            </a:r>
            <a:r>
              <a:rPr sz="675" b="0">
                <a:solidFill>
                  <a:srgbClr val="292D31"/>
                </a:solidFill>
                <a:latin typeface="Segoe UI"/>
              </a:rPr>
              <a:t>what is achieved by when, and measured by what.</a:t>
            </a:r>
          </a:p>
        </p:txBody>
      </p:sp>
      <p:sp>
        <p:nvSpPr>
          <p:cNvPr id="302" name="TextBox 301"/>
          <p:cNvSpPr txBox="1"/>
          <p:nvPr/>
        </p:nvSpPr>
        <p:spPr>
          <a:xfrm>
            <a:off x="12509500" y="4768850"/>
            <a:ext cx="5245100" cy="120650"/>
          </a:xfrm>
          <a:prstGeom prst="rect">
            <a:avLst/>
          </a:prstGeom>
          <a:noFill/>
        </p:spPr>
        <p:txBody>
          <a:bodyPr wrap="square" lIns="0" tIns="0" rIns="0" bIns="0" anchor="t">
            <a:spAutoFit/>
          </a:bodyPr>
          <a:lstStyle/>
          <a:p>
            <a:pPr algn="l"/>
            <a:r>
              <a:rPr sz="675" b="1">
                <a:solidFill>
                  <a:srgbClr val="292D31"/>
                </a:solidFill>
                <a:latin typeface="Segoe UI"/>
              </a:rPr>
              <a:t>Final Benefit — </a:t>
            </a:r>
            <a:r>
              <a:rPr sz="675" b="0">
                <a:solidFill>
                  <a:srgbClr val="292D31"/>
                </a:solidFill>
                <a:latin typeface="Segoe UI"/>
              </a:rPr>
              <a:t>the benefit once the target state is reached — not per year.</a:t>
            </a:r>
          </a:p>
        </p:txBody>
      </p:sp>
      <p:sp>
        <p:nvSpPr>
          <p:cNvPr id="303" name="TextBox 302"/>
          <p:cNvSpPr txBox="1"/>
          <p:nvPr/>
        </p:nvSpPr>
        <p:spPr>
          <a:xfrm>
            <a:off x="12509500" y="4889500"/>
            <a:ext cx="5245100" cy="120650"/>
          </a:xfrm>
          <a:prstGeom prst="rect">
            <a:avLst/>
          </a:prstGeom>
          <a:noFill/>
        </p:spPr>
        <p:txBody>
          <a:bodyPr wrap="square" lIns="0" tIns="0" rIns="0" bIns="0" anchor="t">
            <a:spAutoFit/>
          </a:bodyPr>
          <a:lstStyle/>
          <a:p>
            <a:pPr algn="l"/>
            <a:r>
              <a:rPr sz="675" b="1">
                <a:solidFill>
                  <a:srgbClr val="292D31"/>
                </a:solidFill>
                <a:latin typeface="Segoe UI"/>
              </a:rPr>
              <a:t>Final Costs — </a:t>
            </a:r>
            <a:r>
              <a:rPr sz="675" b="0">
                <a:solidFill>
                  <a:srgbClr val="292D31"/>
                </a:solidFill>
                <a:latin typeface="Segoe UI"/>
              </a:rPr>
              <a:t>the total cost up to the target state — not per year.</a:t>
            </a:r>
          </a:p>
        </p:txBody>
      </p:sp>
      <p:sp>
        <p:nvSpPr>
          <p:cNvPr id="304" name="TextBox 303"/>
          <p:cNvSpPr txBox="1"/>
          <p:nvPr/>
        </p:nvSpPr>
        <p:spPr>
          <a:xfrm>
            <a:off x="12344400" y="5099050"/>
            <a:ext cx="165100" cy="127000"/>
          </a:xfrm>
          <a:prstGeom prst="rect">
            <a:avLst/>
          </a:prstGeom>
          <a:noFill/>
        </p:spPr>
        <p:txBody>
          <a:bodyPr wrap="square" lIns="0" tIns="0" rIns="0" bIns="0" anchor="t">
            <a:spAutoFit/>
          </a:bodyPr>
          <a:lstStyle/>
          <a:p>
            <a:pPr algn="l"/>
            <a:r>
              <a:rPr sz="750" b="1">
                <a:solidFill>
                  <a:srgbClr val="001E50"/>
                </a:solidFill>
                <a:latin typeface="Segoe UI"/>
              </a:rPr>
              <a:t>4</a:t>
            </a:r>
          </a:p>
        </p:txBody>
      </p:sp>
      <p:sp>
        <p:nvSpPr>
          <p:cNvPr id="305" name="TextBox 304"/>
          <p:cNvSpPr txBox="1"/>
          <p:nvPr/>
        </p:nvSpPr>
        <p:spPr>
          <a:xfrm>
            <a:off x="12509500" y="5099050"/>
            <a:ext cx="5245100" cy="127000"/>
          </a:xfrm>
          <a:prstGeom prst="rect">
            <a:avLst/>
          </a:prstGeom>
          <a:noFill/>
        </p:spPr>
        <p:txBody>
          <a:bodyPr wrap="square" lIns="0" tIns="0" rIns="0" bIns="0" anchor="t">
            <a:spAutoFit/>
          </a:bodyPr>
          <a:lstStyle/>
          <a:p>
            <a:pPr algn="l"/>
            <a:r>
              <a:rPr sz="750" b="1" spc="60">
                <a:solidFill>
                  <a:srgbClr val="151B21"/>
                </a:solidFill>
                <a:latin typeface="Segoe UI"/>
              </a:rPr>
              <a:t>KPIS — always the current calendar year</a:t>
            </a:r>
          </a:p>
        </p:txBody>
      </p:sp>
      <p:sp>
        <p:nvSpPr>
          <p:cNvPr id="306" name="TextBox 305"/>
          <p:cNvSpPr txBox="1"/>
          <p:nvPr/>
        </p:nvSpPr>
        <p:spPr>
          <a:xfrm>
            <a:off x="12509500" y="5257800"/>
            <a:ext cx="5245100" cy="120650"/>
          </a:xfrm>
          <a:prstGeom prst="rect">
            <a:avLst/>
          </a:prstGeom>
          <a:noFill/>
        </p:spPr>
        <p:txBody>
          <a:bodyPr wrap="square" lIns="0" tIns="0" rIns="0" bIns="0" anchor="t">
            <a:spAutoFit/>
          </a:bodyPr>
          <a:lstStyle/>
          <a:p>
            <a:pPr algn="l"/>
            <a:r>
              <a:rPr sz="675" b="1">
                <a:solidFill>
                  <a:srgbClr val="292D31"/>
                </a:solidFill>
                <a:latin typeface="Segoe UI"/>
              </a:rPr>
              <a:t>E2E Go-Live Target Date — </a:t>
            </a:r>
            <a:r>
              <a:rPr sz="675" b="0">
                <a:solidFill>
                  <a:srgbClr val="292D31"/>
                </a:solidFill>
                <a:latin typeface="Segoe UI"/>
              </a:rPr>
              <a:t>when the end-to-end go-live is planned.</a:t>
            </a:r>
          </a:p>
        </p:txBody>
      </p:sp>
      <p:sp>
        <p:nvSpPr>
          <p:cNvPr id="307" name="TextBox 306"/>
          <p:cNvSpPr txBox="1"/>
          <p:nvPr/>
        </p:nvSpPr>
        <p:spPr>
          <a:xfrm>
            <a:off x="12509500" y="5378450"/>
            <a:ext cx="5245100" cy="120650"/>
          </a:xfrm>
          <a:prstGeom prst="rect">
            <a:avLst/>
          </a:prstGeom>
          <a:noFill/>
        </p:spPr>
        <p:txBody>
          <a:bodyPr wrap="square" lIns="0" tIns="0" rIns="0" bIns="0" anchor="t">
            <a:spAutoFit/>
          </a:bodyPr>
          <a:lstStyle/>
          <a:p>
            <a:pPr algn="l"/>
            <a:r>
              <a:rPr sz="675" b="1">
                <a:solidFill>
                  <a:srgbClr val="292D31"/>
                </a:solidFill>
                <a:latin typeface="Segoe UI"/>
              </a:rPr>
              <a:t>Yearly Budget · Forecast — </a:t>
            </a:r>
            <a:r>
              <a:rPr sz="675" b="0">
                <a:solidFill>
                  <a:srgbClr val="292D31"/>
                </a:solidFill>
                <a:latin typeface="Segoe UI"/>
              </a:rPr>
              <a:t>the forecast for this year (VSI).</a:t>
            </a:r>
          </a:p>
        </p:txBody>
      </p:sp>
      <p:sp>
        <p:nvSpPr>
          <p:cNvPr id="308" name="TextBox 307"/>
          <p:cNvSpPr txBox="1"/>
          <p:nvPr/>
        </p:nvSpPr>
        <p:spPr>
          <a:xfrm>
            <a:off x="12509500" y="5499100"/>
            <a:ext cx="5245100" cy="120650"/>
          </a:xfrm>
          <a:prstGeom prst="rect">
            <a:avLst/>
          </a:prstGeom>
          <a:noFill/>
        </p:spPr>
        <p:txBody>
          <a:bodyPr wrap="square" lIns="0" tIns="0" rIns="0" bIns="0" anchor="t">
            <a:spAutoFit/>
          </a:bodyPr>
          <a:lstStyle/>
          <a:p>
            <a:pPr algn="l"/>
            <a:r>
              <a:rPr sz="675" b="1">
                <a:solidFill>
                  <a:srgbClr val="292D31"/>
                </a:solidFill>
                <a:latin typeface="Segoe UI"/>
              </a:rPr>
              <a:t>Yearly Budget · Actual — </a:t>
            </a:r>
            <a:r>
              <a:rPr sz="675" b="0">
                <a:solidFill>
                  <a:srgbClr val="292D31"/>
                </a:solidFill>
                <a:latin typeface="Segoe UI"/>
              </a:rPr>
              <a:t>what has actually been spent this year.</a:t>
            </a:r>
          </a:p>
        </p:txBody>
      </p:sp>
      <p:sp>
        <p:nvSpPr>
          <p:cNvPr id="309" name="TextBox 308"/>
          <p:cNvSpPr txBox="1"/>
          <p:nvPr/>
        </p:nvSpPr>
        <p:spPr>
          <a:xfrm>
            <a:off x="12509500" y="5619750"/>
            <a:ext cx="5245100" cy="120650"/>
          </a:xfrm>
          <a:prstGeom prst="rect">
            <a:avLst/>
          </a:prstGeom>
          <a:noFill/>
        </p:spPr>
        <p:txBody>
          <a:bodyPr wrap="square" lIns="0" tIns="0" rIns="0" bIns="0" anchor="t">
            <a:spAutoFit/>
          </a:bodyPr>
          <a:lstStyle/>
          <a:p>
            <a:pPr algn="l"/>
            <a:r>
              <a:rPr sz="675" b="1">
                <a:solidFill>
                  <a:srgbClr val="292D31"/>
                </a:solidFill>
                <a:latin typeface="Segoe UI"/>
              </a:rPr>
              <a:t>Yearly Benefit — </a:t>
            </a:r>
            <a:r>
              <a:rPr sz="675" b="0">
                <a:solidFill>
                  <a:srgbClr val="292D31"/>
                </a:solidFill>
                <a:latin typeface="Segoe UI"/>
              </a:rPr>
              <a:t>the benefit expected in this year.</a:t>
            </a:r>
          </a:p>
        </p:txBody>
      </p:sp>
      <p:sp>
        <p:nvSpPr>
          <p:cNvPr id="310" name="TextBox 309"/>
          <p:cNvSpPr txBox="1"/>
          <p:nvPr/>
        </p:nvSpPr>
        <p:spPr>
          <a:xfrm>
            <a:off x="12344400" y="5829300"/>
            <a:ext cx="165100" cy="127000"/>
          </a:xfrm>
          <a:prstGeom prst="rect">
            <a:avLst/>
          </a:prstGeom>
          <a:noFill/>
        </p:spPr>
        <p:txBody>
          <a:bodyPr wrap="square" lIns="0" tIns="0" rIns="0" bIns="0" anchor="t">
            <a:spAutoFit/>
          </a:bodyPr>
          <a:lstStyle/>
          <a:p>
            <a:pPr algn="l"/>
            <a:r>
              <a:rPr sz="750" b="1">
                <a:solidFill>
                  <a:srgbClr val="001E50"/>
                </a:solidFill>
                <a:latin typeface="Segoe UI"/>
              </a:rPr>
              <a:t>5</a:t>
            </a:r>
          </a:p>
        </p:txBody>
      </p:sp>
      <p:sp>
        <p:nvSpPr>
          <p:cNvPr id="311" name="TextBox 310"/>
          <p:cNvSpPr txBox="1"/>
          <p:nvPr/>
        </p:nvSpPr>
        <p:spPr>
          <a:xfrm>
            <a:off x="12509500" y="5829300"/>
            <a:ext cx="5245100" cy="127000"/>
          </a:xfrm>
          <a:prstGeom prst="rect">
            <a:avLst/>
          </a:prstGeom>
          <a:noFill/>
        </p:spPr>
        <p:txBody>
          <a:bodyPr wrap="square" lIns="0" tIns="0" rIns="0" bIns="0" anchor="t">
            <a:spAutoFit/>
          </a:bodyPr>
          <a:lstStyle/>
          <a:p>
            <a:pPr algn="l"/>
            <a:r>
              <a:rPr sz="750" b="1" spc="60">
                <a:solidFill>
                  <a:srgbClr val="151B21"/>
                </a:solidFill>
                <a:latin typeface="Segoe UI"/>
              </a:rPr>
              <a:t>STATUS — what the three colours mean</a:t>
            </a:r>
          </a:p>
        </p:txBody>
      </p:sp>
      <p:sp>
        <p:nvSpPr>
          <p:cNvPr id="312" name="Oval 311"/>
          <p:cNvSpPr/>
          <p:nvPr/>
        </p:nvSpPr>
        <p:spPr>
          <a:xfrm>
            <a:off x="12522200" y="6019800"/>
            <a:ext cx="69850" cy="69850"/>
          </a:xfrm>
          <a:prstGeom prst="ellipse">
            <a:avLst/>
          </a:prstGeom>
          <a:solidFill>
            <a:srgbClr val="53B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TextBox 312"/>
          <p:cNvSpPr txBox="1"/>
          <p:nvPr/>
        </p:nvSpPr>
        <p:spPr>
          <a:xfrm>
            <a:off x="12636500" y="5988050"/>
            <a:ext cx="5118100" cy="120650"/>
          </a:xfrm>
          <a:prstGeom prst="rect">
            <a:avLst/>
          </a:prstGeom>
          <a:noFill/>
        </p:spPr>
        <p:txBody>
          <a:bodyPr wrap="square" lIns="0" tIns="0" rIns="0" bIns="0" anchor="t">
            <a:spAutoFit/>
          </a:bodyPr>
          <a:lstStyle/>
          <a:p>
            <a:pPr algn="l"/>
            <a:r>
              <a:rPr sz="675" b="1">
                <a:solidFill>
                  <a:srgbClr val="292D31"/>
                </a:solidFill>
                <a:latin typeface="Segoe UI"/>
              </a:rPr>
              <a:t>On Track — </a:t>
            </a:r>
            <a:r>
              <a:rPr sz="675" b="0">
                <a:solidFill>
                  <a:srgbClr val="292D31"/>
                </a:solidFill>
                <a:latin typeface="Segoe UI"/>
              </a:rPr>
              <a:t>everything is running as planned</a:t>
            </a:r>
          </a:p>
        </p:txBody>
      </p:sp>
      <p:sp>
        <p:nvSpPr>
          <p:cNvPr id="314" name="Oval 313"/>
          <p:cNvSpPr/>
          <p:nvPr/>
        </p:nvSpPr>
        <p:spPr>
          <a:xfrm>
            <a:off x="12522200" y="6140450"/>
            <a:ext cx="69850" cy="69850"/>
          </a:xfrm>
          <a:prstGeom prst="ellipse">
            <a:avLst/>
          </a:prstGeom>
          <a:solidFill>
            <a:srgbClr val="F0B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12636500" y="6108700"/>
            <a:ext cx="5118100" cy="120650"/>
          </a:xfrm>
          <a:prstGeom prst="rect">
            <a:avLst/>
          </a:prstGeom>
          <a:noFill/>
        </p:spPr>
        <p:txBody>
          <a:bodyPr wrap="square" lIns="0" tIns="0" rIns="0" bIns="0" anchor="t">
            <a:spAutoFit/>
          </a:bodyPr>
          <a:lstStyle/>
          <a:p>
            <a:pPr algn="l"/>
            <a:r>
              <a:rPr sz="675" b="1">
                <a:solidFill>
                  <a:srgbClr val="292D31"/>
                </a:solidFill>
                <a:latin typeface="Segoe UI"/>
              </a:rPr>
              <a:t>Problem Solving — </a:t>
            </a:r>
            <a:r>
              <a:rPr sz="675" b="0">
                <a:solidFill>
                  <a:srgbClr val="292D31"/>
                </a:solidFill>
                <a:latin typeface="Segoe UI"/>
              </a:rPr>
              <a:t>there is an issue, the team is solving it itself</a:t>
            </a:r>
          </a:p>
        </p:txBody>
      </p:sp>
      <p:sp>
        <p:nvSpPr>
          <p:cNvPr id="316" name="Oval 315"/>
          <p:cNvSpPr/>
          <p:nvPr/>
        </p:nvSpPr>
        <p:spPr>
          <a:xfrm>
            <a:off x="12522200" y="6261100"/>
            <a:ext cx="69850" cy="69850"/>
          </a:xfrm>
          <a:prstGeom prst="ellipse">
            <a:avLst/>
          </a:prstGeom>
          <a:solidFill>
            <a:srgbClr val="E6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12636500" y="6229350"/>
            <a:ext cx="5118100" cy="120650"/>
          </a:xfrm>
          <a:prstGeom prst="rect">
            <a:avLst/>
          </a:prstGeom>
          <a:noFill/>
        </p:spPr>
        <p:txBody>
          <a:bodyPr wrap="square" lIns="0" tIns="0" rIns="0" bIns="0" anchor="t">
            <a:spAutoFit/>
          </a:bodyPr>
          <a:lstStyle/>
          <a:p>
            <a:pPr algn="l"/>
            <a:r>
              <a:rPr sz="675" b="1">
                <a:solidFill>
                  <a:srgbClr val="292D31"/>
                </a:solidFill>
                <a:latin typeface="Segoe UI"/>
              </a:rPr>
              <a:t>Escalation needed — </a:t>
            </a:r>
            <a:r>
              <a:rPr sz="675" b="0">
                <a:solidFill>
                  <a:srgbClr val="292D31"/>
                </a:solidFill>
                <a:latin typeface="Segoe UI"/>
              </a:rPr>
              <a:t>the team cannot solve it alone — a decision or help is required</a:t>
            </a:r>
          </a:p>
        </p:txBody>
      </p:sp>
      <p:sp>
        <p:nvSpPr>
          <p:cNvPr id="318" name="TextBox 317"/>
          <p:cNvSpPr txBox="1"/>
          <p:nvPr/>
        </p:nvSpPr>
        <p:spPr>
          <a:xfrm>
            <a:off x="12509500" y="6369050"/>
            <a:ext cx="5245100" cy="120650"/>
          </a:xfrm>
          <a:prstGeom prst="rect">
            <a:avLst/>
          </a:prstGeom>
          <a:noFill/>
        </p:spPr>
        <p:txBody>
          <a:bodyPr wrap="square" lIns="0" tIns="0" rIns="0" bIns="0" anchor="t">
            <a:spAutoFit/>
          </a:bodyPr>
          <a:lstStyle/>
          <a:p>
            <a:pPr algn="l"/>
            <a:r>
              <a:rPr sz="675" b="0">
                <a:solidFill>
                  <a:srgbClr val="63707A"/>
                </a:solidFill>
                <a:latin typeface="Segoe UI"/>
              </a:rPr>
              <a:t>On the timeline two more dot colours exist: dark blue for Completed, grey for Not Started.</a:t>
            </a:r>
          </a:p>
        </p:txBody>
      </p:sp>
      <p:sp>
        <p:nvSpPr>
          <p:cNvPr id="319" name="TextBox 318"/>
          <p:cNvSpPr txBox="1"/>
          <p:nvPr/>
        </p:nvSpPr>
        <p:spPr>
          <a:xfrm>
            <a:off x="12344400" y="6578600"/>
            <a:ext cx="165100" cy="127000"/>
          </a:xfrm>
          <a:prstGeom prst="rect">
            <a:avLst/>
          </a:prstGeom>
          <a:noFill/>
        </p:spPr>
        <p:txBody>
          <a:bodyPr wrap="square" lIns="0" tIns="0" rIns="0" bIns="0" anchor="t">
            <a:spAutoFit/>
          </a:bodyPr>
          <a:lstStyle/>
          <a:p>
            <a:pPr algn="l"/>
            <a:r>
              <a:rPr sz="750" b="1">
                <a:solidFill>
                  <a:srgbClr val="001E50"/>
                </a:solidFill>
                <a:latin typeface="Segoe UI"/>
              </a:rPr>
              <a:t>6</a:t>
            </a:r>
          </a:p>
        </p:txBody>
      </p:sp>
      <p:sp>
        <p:nvSpPr>
          <p:cNvPr id="320" name="TextBox 319"/>
          <p:cNvSpPr txBox="1"/>
          <p:nvPr/>
        </p:nvSpPr>
        <p:spPr>
          <a:xfrm>
            <a:off x="12509500" y="6578600"/>
            <a:ext cx="5245100" cy="127000"/>
          </a:xfrm>
          <a:prstGeom prst="rect">
            <a:avLst/>
          </a:prstGeom>
          <a:noFill/>
        </p:spPr>
        <p:txBody>
          <a:bodyPr wrap="square" lIns="0" tIns="0" rIns="0" bIns="0" anchor="t">
            <a:spAutoFit/>
          </a:bodyPr>
          <a:lstStyle/>
          <a:p>
            <a:pPr algn="l"/>
            <a:r>
              <a:rPr sz="750" b="1" spc="60">
                <a:solidFill>
                  <a:srgbClr val="151B21"/>
                </a:solidFill>
                <a:latin typeface="Segoe UI"/>
              </a:rPr>
              <a:t>MILESTONES AND DELIVERABLES — four rows</a:t>
            </a:r>
          </a:p>
        </p:txBody>
      </p:sp>
      <p:sp>
        <p:nvSpPr>
          <p:cNvPr id="321" name="TextBox 320"/>
          <p:cNvSpPr txBox="1"/>
          <p:nvPr/>
        </p:nvSpPr>
        <p:spPr>
          <a:xfrm>
            <a:off x="12509500" y="6737350"/>
            <a:ext cx="5245100" cy="120650"/>
          </a:xfrm>
          <a:prstGeom prst="rect">
            <a:avLst/>
          </a:prstGeom>
          <a:noFill/>
        </p:spPr>
        <p:txBody>
          <a:bodyPr wrap="square" lIns="0" tIns="0" rIns="0" bIns="0" anchor="t">
            <a:spAutoFit/>
          </a:bodyPr>
          <a:lstStyle/>
          <a:p>
            <a:pPr algn="l"/>
            <a:r>
              <a:rPr sz="675" b="1">
                <a:solidFill>
                  <a:srgbClr val="292D31"/>
                </a:solidFill>
                <a:latin typeface="Segoe UI"/>
              </a:rPr>
              <a:t>Date — </a:t>
            </a:r>
            <a:r>
              <a:rPr sz="675" b="0">
                <a:solidFill>
                  <a:srgbClr val="292D31"/>
                </a:solidFill>
                <a:latin typeface="Segoe UI"/>
              </a:rPr>
              <a:t>when the milestone is due. The timeline always covers the next two PIs.</a:t>
            </a:r>
          </a:p>
        </p:txBody>
      </p:sp>
      <p:sp>
        <p:nvSpPr>
          <p:cNvPr id="322" name="TextBox 321"/>
          <p:cNvSpPr txBox="1"/>
          <p:nvPr/>
        </p:nvSpPr>
        <p:spPr>
          <a:xfrm>
            <a:off x="12509500" y="6858000"/>
            <a:ext cx="5245100" cy="120650"/>
          </a:xfrm>
          <a:prstGeom prst="rect">
            <a:avLst/>
          </a:prstGeom>
          <a:noFill/>
        </p:spPr>
        <p:txBody>
          <a:bodyPr wrap="square" lIns="0" tIns="0" rIns="0" bIns="0" anchor="t">
            <a:spAutoFit/>
          </a:bodyPr>
          <a:lstStyle/>
          <a:p>
            <a:pPr algn="l"/>
            <a:r>
              <a:rPr sz="675" b="1">
                <a:solidFill>
                  <a:srgbClr val="292D31"/>
                </a:solidFill>
                <a:latin typeface="Segoe UI"/>
              </a:rPr>
              <a:t>Milestone — </a:t>
            </a:r>
            <a:r>
              <a:rPr sz="675" b="0">
                <a:solidFill>
                  <a:srgbClr val="292D31"/>
                </a:solidFill>
                <a:latin typeface="Segoe UI"/>
              </a:rPr>
              <a:t>the name of what is delivered.</a:t>
            </a:r>
          </a:p>
        </p:txBody>
      </p:sp>
      <p:sp>
        <p:nvSpPr>
          <p:cNvPr id="323" name="TextBox 322"/>
          <p:cNvSpPr txBox="1"/>
          <p:nvPr/>
        </p:nvSpPr>
        <p:spPr>
          <a:xfrm>
            <a:off x="12509500" y="6978650"/>
            <a:ext cx="5245100" cy="120650"/>
          </a:xfrm>
          <a:prstGeom prst="rect">
            <a:avLst/>
          </a:prstGeom>
          <a:noFill/>
        </p:spPr>
        <p:txBody>
          <a:bodyPr wrap="square" lIns="0" tIns="0" rIns="0" bIns="0" anchor="t">
            <a:spAutoFit/>
          </a:bodyPr>
          <a:lstStyle/>
          <a:p>
            <a:pPr algn="l"/>
            <a:r>
              <a:rPr sz="675" b="1">
                <a:solidFill>
                  <a:srgbClr val="292D31"/>
                </a:solidFill>
                <a:latin typeface="Segoe UI"/>
              </a:rPr>
              <a:t>Definition of Done — </a:t>
            </a:r>
            <a:r>
              <a:rPr sz="675" b="0">
                <a:solidFill>
                  <a:srgbClr val="292D31"/>
                </a:solidFill>
                <a:latin typeface="Segoe UI"/>
              </a:rPr>
              <a:t>what exactly has to be finished for the milestone to count as done.</a:t>
            </a:r>
          </a:p>
        </p:txBody>
      </p:sp>
      <p:sp>
        <p:nvSpPr>
          <p:cNvPr id="324" name="TextBox 323"/>
          <p:cNvSpPr txBox="1"/>
          <p:nvPr/>
        </p:nvSpPr>
        <p:spPr>
          <a:xfrm>
            <a:off x="12509500" y="7099300"/>
            <a:ext cx="5245100" cy="120650"/>
          </a:xfrm>
          <a:prstGeom prst="rect">
            <a:avLst/>
          </a:prstGeom>
          <a:noFill/>
        </p:spPr>
        <p:txBody>
          <a:bodyPr wrap="square" lIns="0" tIns="0" rIns="0" bIns="0" anchor="t">
            <a:spAutoFit/>
          </a:bodyPr>
          <a:lstStyle/>
          <a:p>
            <a:pPr algn="l"/>
            <a:r>
              <a:rPr sz="675" b="1">
                <a:solidFill>
                  <a:srgbClr val="292D31"/>
                </a:solidFill>
                <a:latin typeface="Segoe UI"/>
              </a:rPr>
              <a:t>Features — </a:t>
            </a:r>
            <a:r>
              <a:rPr sz="675" b="0">
                <a:solidFill>
                  <a:srgbClr val="292D31"/>
                </a:solidFill>
                <a:latin typeface="Segoe UI"/>
              </a:rPr>
              <a:t>the work packages belonging to that milestone — at most four per milestone.</a:t>
            </a:r>
          </a:p>
        </p:txBody>
      </p:sp>
      <p:sp>
        <p:nvSpPr>
          <p:cNvPr id="325" name="TextBox 324"/>
          <p:cNvSpPr txBox="1"/>
          <p:nvPr/>
        </p:nvSpPr>
        <p:spPr>
          <a:xfrm>
            <a:off x="12344400" y="7308850"/>
            <a:ext cx="165100" cy="127000"/>
          </a:xfrm>
          <a:prstGeom prst="rect">
            <a:avLst/>
          </a:prstGeom>
          <a:noFill/>
        </p:spPr>
        <p:txBody>
          <a:bodyPr wrap="square" lIns="0" tIns="0" rIns="0" bIns="0" anchor="t">
            <a:spAutoFit/>
          </a:bodyPr>
          <a:lstStyle/>
          <a:p>
            <a:pPr algn="l"/>
            <a:r>
              <a:rPr sz="750" b="1">
                <a:solidFill>
                  <a:srgbClr val="001E50"/>
                </a:solidFill>
                <a:latin typeface="Segoe UI"/>
              </a:rPr>
              <a:t>7</a:t>
            </a:r>
          </a:p>
        </p:txBody>
      </p:sp>
      <p:sp>
        <p:nvSpPr>
          <p:cNvPr id="326" name="TextBox 325"/>
          <p:cNvSpPr txBox="1"/>
          <p:nvPr/>
        </p:nvSpPr>
        <p:spPr>
          <a:xfrm>
            <a:off x="12509500" y="7308850"/>
            <a:ext cx="5245100" cy="127000"/>
          </a:xfrm>
          <a:prstGeom prst="rect">
            <a:avLst/>
          </a:prstGeom>
          <a:noFill/>
        </p:spPr>
        <p:txBody>
          <a:bodyPr wrap="square" lIns="0" tIns="0" rIns="0" bIns="0" anchor="t">
            <a:spAutoFit/>
          </a:bodyPr>
          <a:lstStyle/>
          <a:p>
            <a:pPr algn="l"/>
            <a:r>
              <a:rPr sz="750" b="1" spc="60">
                <a:solidFill>
                  <a:srgbClr val="151B21"/>
                </a:solidFill>
                <a:latin typeface="Segoe UI"/>
              </a:rPr>
              <a:t>DIMENSIONS — what each one covers</a:t>
            </a:r>
          </a:p>
        </p:txBody>
      </p:sp>
      <p:sp>
        <p:nvSpPr>
          <p:cNvPr id="327" name="TextBox 326"/>
          <p:cNvSpPr txBox="1"/>
          <p:nvPr/>
        </p:nvSpPr>
        <p:spPr>
          <a:xfrm>
            <a:off x="12509500" y="7467599"/>
            <a:ext cx="5245100" cy="241300"/>
          </a:xfrm>
          <a:prstGeom prst="rect">
            <a:avLst/>
          </a:prstGeom>
          <a:noFill/>
        </p:spPr>
        <p:txBody>
          <a:bodyPr wrap="square" lIns="0" tIns="0" rIns="0" bIns="0" anchor="t">
            <a:spAutoFit/>
          </a:bodyPr>
          <a:lstStyle/>
          <a:p>
            <a:pPr algn="l"/>
            <a:r>
              <a:rPr sz="675" b="1">
                <a:solidFill>
                  <a:srgbClr val="292D31"/>
                </a:solidFill>
                <a:latin typeface="Segoe UI"/>
              </a:rPr>
              <a:t>External · CX Association — </a:t>
            </a:r>
            <a:r>
              <a:rPr sz="675" b="0">
                <a:solidFill>
                  <a:srgbClr val="292D31"/>
                </a:solidFill>
                <a:latin typeface="Segoe UI"/>
              </a:rPr>
              <a:t>Status in the Catena-X association: progress in the association, standard published, VW requirements considered, partner collaboration ensured.</a:t>
            </a:r>
          </a:p>
        </p:txBody>
      </p:sp>
      <p:sp>
        <p:nvSpPr>
          <p:cNvPr id="328" name="TextBox 327"/>
          <p:cNvSpPr txBox="1"/>
          <p:nvPr/>
        </p:nvSpPr>
        <p:spPr>
          <a:xfrm>
            <a:off x="12509500" y="7708900"/>
            <a:ext cx="5245100" cy="241300"/>
          </a:xfrm>
          <a:prstGeom prst="rect">
            <a:avLst/>
          </a:prstGeom>
          <a:noFill/>
        </p:spPr>
        <p:txBody>
          <a:bodyPr wrap="square" lIns="0" tIns="0" rIns="0" bIns="0" anchor="t">
            <a:spAutoFit/>
          </a:bodyPr>
          <a:lstStyle/>
          <a:p>
            <a:pPr algn="l"/>
            <a:r>
              <a:rPr sz="675" b="1">
                <a:solidFill>
                  <a:srgbClr val="292D31"/>
                </a:solidFill>
                <a:latin typeface="Segoe UI"/>
              </a:rPr>
              <a:t>Business — </a:t>
            </a:r>
            <a:r>
              <a:rPr sz="675" b="0">
                <a:solidFill>
                  <a:srgbClr val="292D31"/>
                </a:solidFill>
                <a:latin typeface="Segoe UI"/>
              </a:rPr>
              <a:t>Internal readiness: requirements clear, staffing and capacity secured, Use Case Owner nominated, budget secured.</a:t>
            </a:r>
          </a:p>
        </p:txBody>
      </p:sp>
      <p:sp>
        <p:nvSpPr>
          <p:cNvPr id="329" name="TextBox 328"/>
          <p:cNvSpPr txBox="1"/>
          <p:nvPr/>
        </p:nvSpPr>
        <p:spPr>
          <a:xfrm>
            <a:off x="12509500" y="7950200"/>
            <a:ext cx="5245100" cy="241300"/>
          </a:xfrm>
          <a:prstGeom prst="rect">
            <a:avLst/>
          </a:prstGeom>
          <a:noFill/>
        </p:spPr>
        <p:txBody>
          <a:bodyPr wrap="square" lIns="0" tIns="0" rIns="0" bIns="0" anchor="t">
            <a:spAutoFit/>
          </a:bodyPr>
          <a:lstStyle/>
          <a:p>
            <a:pPr algn="l"/>
            <a:r>
              <a:rPr sz="675" b="1">
                <a:solidFill>
                  <a:srgbClr val="292D31"/>
                </a:solidFill>
                <a:latin typeface="Segoe UI"/>
              </a:rPr>
              <a:t>Data Provisioning — </a:t>
            </a:r>
            <a:r>
              <a:rPr sz="675" b="0">
                <a:solidFill>
                  <a:srgbClr val="292D31"/>
                </a:solidFill>
                <a:latin typeface="Segoe UI"/>
              </a:rPr>
              <a:t>Availability of the required data: sources identified, access granted, data exchange policy and data contracts in place.</a:t>
            </a:r>
          </a:p>
        </p:txBody>
      </p:sp>
      <p:sp>
        <p:nvSpPr>
          <p:cNvPr id="330" name="TextBox 329"/>
          <p:cNvSpPr txBox="1"/>
          <p:nvPr/>
        </p:nvSpPr>
        <p:spPr>
          <a:xfrm>
            <a:off x="12509500" y="8191500"/>
            <a:ext cx="5245100" cy="241300"/>
          </a:xfrm>
          <a:prstGeom prst="rect">
            <a:avLst/>
          </a:prstGeom>
          <a:noFill/>
        </p:spPr>
        <p:txBody>
          <a:bodyPr wrap="square" lIns="0" tIns="0" rIns="0" bIns="0" anchor="t">
            <a:spAutoFit/>
          </a:bodyPr>
          <a:lstStyle/>
          <a:p>
            <a:pPr algn="l"/>
            <a:r>
              <a:rPr sz="675" b="1">
                <a:solidFill>
                  <a:srgbClr val="292D31"/>
                </a:solidFill>
                <a:latin typeface="Segoe UI"/>
              </a:rPr>
              <a:t>Technical — </a:t>
            </a:r>
            <a:r>
              <a:rPr sz="675" b="0">
                <a:solidFill>
                  <a:srgbClr val="292D31"/>
                </a:solidFill>
                <a:latin typeface="Segoe UI"/>
              </a:rPr>
              <a:t>E2E implementation: target architecture defined, backend integrated, considered in the PI, test and acceptance completed.</a:t>
            </a:r>
          </a:p>
        </p:txBody>
      </p:sp>
      <p:sp>
        <p:nvSpPr>
          <p:cNvPr id="331" name="TextBox 330"/>
          <p:cNvSpPr txBox="1"/>
          <p:nvPr/>
        </p:nvSpPr>
        <p:spPr>
          <a:xfrm>
            <a:off x="12509500" y="8432800"/>
            <a:ext cx="5245100" cy="241300"/>
          </a:xfrm>
          <a:prstGeom prst="rect">
            <a:avLst/>
          </a:prstGeom>
          <a:noFill/>
        </p:spPr>
        <p:txBody>
          <a:bodyPr wrap="square" lIns="0" tIns="0" rIns="0" bIns="0" anchor="t">
            <a:spAutoFit/>
          </a:bodyPr>
          <a:lstStyle/>
          <a:p>
            <a:pPr algn="l"/>
            <a:r>
              <a:rPr sz="675" b="1">
                <a:solidFill>
                  <a:srgbClr val="292D31"/>
                </a:solidFill>
                <a:latin typeface="Segoe UI"/>
              </a:rPr>
              <a:t>Supplier Activation — </a:t>
            </a:r>
            <a:r>
              <a:rPr sz="675" b="0">
                <a:solidFill>
                  <a:srgbClr val="292D31"/>
                </a:solidFill>
                <a:latin typeface="Segoe UI"/>
              </a:rPr>
              <a:t>Supplier ramp-up: suppliers contacted, data contract (annex) in place, affected parts clarified, connection and exchange live.</a:t>
            </a:r>
          </a:p>
        </p:txBody>
      </p:sp>
      <p:sp>
        <p:nvSpPr>
          <p:cNvPr id="332" name="TextBox 331"/>
          <p:cNvSpPr txBox="1"/>
          <p:nvPr/>
        </p:nvSpPr>
        <p:spPr>
          <a:xfrm>
            <a:off x="12344400" y="8724900"/>
            <a:ext cx="165100" cy="127000"/>
          </a:xfrm>
          <a:prstGeom prst="rect">
            <a:avLst/>
          </a:prstGeom>
          <a:noFill/>
        </p:spPr>
        <p:txBody>
          <a:bodyPr wrap="square" lIns="0" tIns="0" rIns="0" bIns="0" anchor="t">
            <a:spAutoFit/>
          </a:bodyPr>
          <a:lstStyle/>
          <a:p>
            <a:pPr algn="l"/>
            <a:r>
              <a:rPr sz="750" b="1">
                <a:solidFill>
                  <a:srgbClr val="001E50"/>
                </a:solidFill>
                <a:latin typeface="Segoe UI"/>
              </a:rPr>
              <a:t>8</a:t>
            </a:r>
          </a:p>
        </p:txBody>
      </p:sp>
      <p:sp>
        <p:nvSpPr>
          <p:cNvPr id="333" name="TextBox 332"/>
          <p:cNvSpPr txBox="1"/>
          <p:nvPr/>
        </p:nvSpPr>
        <p:spPr>
          <a:xfrm>
            <a:off x="12509500" y="8724900"/>
            <a:ext cx="5245100" cy="127000"/>
          </a:xfrm>
          <a:prstGeom prst="rect">
            <a:avLst/>
          </a:prstGeom>
          <a:noFill/>
        </p:spPr>
        <p:txBody>
          <a:bodyPr wrap="square" lIns="0" tIns="0" rIns="0" bIns="0" anchor="t">
            <a:spAutoFit/>
          </a:bodyPr>
          <a:lstStyle/>
          <a:p>
            <a:pPr algn="l"/>
            <a:r>
              <a:rPr sz="750" b="1" spc="60">
                <a:solidFill>
                  <a:srgbClr val="151B21"/>
                </a:solidFill>
                <a:latin typeface="Segoe UI"/>
              </a:rPr>
              <a:t>REQUIRED MANAGEMENT DECISIONS</a:t>
            </a:r>
          </a:p>
        </p:txBody>
      </p:sp>
      <p:sp>
        <p:nvSpPr>
          <p:cNvPr id="334" name="TextBox 333"/>
          <p:cNvSpPr txBox="1"/>
          <p:nvPr/>
        </p:nvSpPr>
        <p:spPr>
          <a:xfrm>
            <a:off x="12509500" y="8883650"/>
            <a:ext cx="5245100" cy="241300"/>
          </a:xfrm>
          <a:prstGeom prst="rect">
            <a:avLst/>
          </a:prstGeom>
          <a:noFill/>
        </p:spPr>
        <p:txBody>
          <a:bodyPr wrap="square" lIns="0" tIns="0" rIns="0" bIns="0" anchor="t">
            <a:spAutoFit/>
          </a:bodyPr>
          <a:lstStyle/>
          <a:p>
            <a:pPr algn="l"/>
            <a:r>
              <a:rPr sz="675" b="0">
                <a:solidFill>
                  <a:srgbClr val="292D31"/>
                </a:solidFill>
                <a:latin typeface="Segoe UI"/>
              </a:rPr>
              <a:t>List only what genuinely needs a management decision. Leave the field empty if there is none.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