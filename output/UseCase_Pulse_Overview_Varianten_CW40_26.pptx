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CW 40 / 2026 – slide 1: one row per use case; slide 2: Management Overview, one card per use case (read top to bottom).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s enabled 2026"/>
          <p:cNvSpPr txBox="1"/>
          <p:nvPr/>
        </p:nvSpPr>
        <p:spPr>
          <a:xfrm>
            <a:off x="1019556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SUPPLIERS ENABLED 2026</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F0B135"/>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F0B135"/>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Management 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Management report on the status of all Catena-X use cases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Col Quality Card"/>
          <p:cNvSpPr/>
          <p:nvPr/>
        </p:nvSpPr>
        <p:spPr>
          <a:xfrm>
            <a:off x="1115568"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0" name="Col Quality Name"/>
          <p:cNvSpPr txBox="1"/>
          <p:nvPr/>
        </p:nvSpPr>
        <p:spPr>
          <a:xfrm>
            <a:off x="1161288"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21" name="Col Quality Abbr"/>
          <p:cNvSpPr txBox="1"/>
          <p:nvPr/>
        </p:nvSpPr>
        <p:spPr>
          <a:xfrm>
            <a:off x="1161288"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quality-cx</a:t>
            </a:r>
          </a:p>
        </p:txBody>
      </p:sp>
      <p:sp>
        <p:nvSpPr>
          <p:cNvPr id="122" name="Col Quality Domain Lead"/>
          <p:cNvSpPr txBox="1"/>
          <p:nvPr/>
        </p:nvSpPr>
        <p:spPr>
          <a:xfrm>
            <a:off x="1161288"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23" name="Col Quality Status Bar"/>
          <p:cNvSpPr/>
          <p:nvPr/>
        </p:nvSpPr>
        <p:spPr>
          <a:xfrm>
            <a:off x="1161288" y="1807464"/>
            <a:ext cx="1228154" cy="36576"/>
          </a:xfrm>
          <a:prstGeom prst="roundRect">
            <a:avLst>
              <a:gd name="adj" fmla="val 50000"/>
            </a:avLst>
          </a:prstGeom>
          <a:solidFill>
            <a:srgbClr val="E64343"/>
          </a:solidFill>
          <a:ln>
            <a:noFill/>
          </a:ln>
          <a:effectLst/>
        </p:spPr>
        <p:txBody>
          <a:bodyPr rtlCol="0" anchor="ctr"/>
          <a:lstStyle/>
          <a:p>
            <a:endParaRPr lang="de-DE"/>
          </a:p>
        </p:txBody>
      </p:sp>
      <p:sp>
        <p:nvSpPr>
          <p:cNvPr id="124" name="Col Battery Passport Card"/>
          <p:cNvSpPr/>
          <p:nvPr/>
        </p:nvSpPr>
        <p:spPr>
          <a:xfrm>
            <a:off x="2476310"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5" name="Col Battery Passport Name"/>
          <p:cNvSpPr txBox="1"/>
          <p:nvPr/>
        </p:nvSpPr>
        <p:spPr>
          <a:xfrm>
            <a:off x="2522029"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6" name="Col Battery Passport Abbr"/>
          <p:cNvSpPr txBox="1"/>
          <p:nvPr/>
        </p:nvSpPr>
        <p:spPr>
          <a:xfrm>
            <a:off x="2522029"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battpass-cx</a:t>
            </a:r>
          </a:p>
        </p:txBody>
      </p:sp>
      <p:sp>
        <p:nvSpPr>
          <p:cNvPr id="127" name="Col Battery Passport Domain Lead"/>
          <p:cNvSpPr txBox="1"/>
          <p:nvPr/>
        </p:nvSpPr>
        <p:spPr>
          <a:xfrm>
            <a:off x="2522029"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28" name="Col Battery Passport Status Bar"/>
          <p:cNvSpPr/>
          <p:nvPr/>
        </p:nvSpPr>
        <p:spPr>
          <a:xfrm>
            <a:off x="2522029"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29" name="Col Product Passes Card"/>
          <p:cNvSpPr/>
          <p:nvPr/>
        </p:nvSpPr>
        <p:spPr>
          <a:xfrm>
            <a:off x="3837051"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30" name="Col Product Passes Name"/>
          <p:cNvSpPr txBox="1"/>
          <p:nvPr/>
        </p:nvSpPr>
        <p:spPr>
          <a:xfrm>
            <a:off x="3882771"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31" name="Col Product Passes Abbr"/>
          <p:cNvSpPr txBox="1"/>
          <p:nvPr/>
        </p:nvSpPr>
        <p:spPr>
          <a:xfrm>
            <a:off x="3882771"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pass-cx</a:t>
            </a:r>
          </a:p>
        </p:txBody>
      </p:sp>
      <p:sp>
        <p:nvSpPr>
          <p:cNvPr id="132" name="Col Product Passes Domain Lead"/>
          <p:cNvSpPr txBox="1"/>
          <p:nvPr/>
        </p:nvSpPr>
        <p:spPr>
          <a:xfrm>
            <a:off x="3882771"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33" name="Col Product Passes Status Bar"/>
          <p:cNvSpPr/>
          <p:nvPr/>
        </p:nvSpPr>
        <p:spPr>
          <a:xfrm>
            <a:off x="3882771"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34" name="Col PURIS Card"/>
          <p:cNvSpPr/>
          <p:nvPr/>
        </p:nvSpPr>
        <p:spPr>
          <a:xfrm>
            <a:off x="5197792"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35" name="Col PURIS Name"/>
          <p:cNvSpPr txBox="1"/>
          <p:nvPr/>
        </p:nvSpPr>
        <p:spPr>
          <a:xfrm>
            <a:off x="5243512"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6" name="Col PURIS Abbr"/>
          <p:cNvSpPr txBox="1"/>
          <p:nvPr/>
        </p:nvSpPr>
        <p:spPr>
          <a:xfrm>
            <a:off x="5243512"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puris-cx</a:t>
            </a:r>
          </a:p>
        </p:txBody>
      </p:sp>
      <p:sp>
        <p:nvSpPr>
          <p:cNvPr id="137" name="Col PURIS Domain Lead"/>
          <p:cNvSpPr txBox="1"/>
          <p:nvPr/>
        </p:nvSpPr>
        <p:spPr>
          <a:xfrm>
            <a:off x="5243512"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38" name="Col PURIS Status Bar"/>
          <p:cNvSpPr/>
          <p:nvPr/>
        </p:nvSpPr>
        <p:spPr>
          <a:xfrm>
            <a:off x="5243512"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39" name="Col Business Partner Data Mgmt Card"/>
          <p:cNvSpPr/>
          <p:nvPr/>
        </p:nvSpPr>
        <p:spPr>
          <a:xfrm>
            <a:off x="6558534"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40" name="Col Business Partner Data Mgmt Name"/>
          <p:cNvSpPr txBox="1"/>
          <p:nvPr/>
        </p:nvSpPr>
        <p:spPr>
          <a:xfrm>
            <a:off x="6604254"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41" name="Col Business Partner Data Mgmt Abbr"/>
          <p:cNvSpPr txBox="1"/>
          <p:nvPr/>
        </p:nvSpPr>
        <p:spPr>
          <a:xfrm>
            <a:off x="6604254"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bpdm-cx</a:t>
            </a:r>
          </a:p>
        </p:txBody>
      </p:sp>
      <p:sp>
        <p:nvSpPr>
          <p:cNvPr id="142" name="Col Business Partner Data Mgmt Domain Lead"/>
          <p:cNvSpPr txBox="1"/>
          <p:nvPr/>
        </p:nvSpPr>
        <p:spPr>
          <a:xfrm>
            <a:off x="6604254"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43" name="Col Business Partner Data Mgmt Status Bar"/>
          <p:cNvSpPr/>
          <p:nvPr/>
        </p:nvSpPr>
        <p:spPr>
          <a:xfrm>
            <a:off x="6604254"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44" name="Col Certificate Management Card"/>
          <p:cNvSpPr/>
          <p:nvPr/>
        </p:nvSpPr>
        <p:spPr>
          <a:xfrm>
            <a:off x="7919276"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45" name="Col Certificate Management Name"/>
          <p:cNvSpPr txBox="1"/>
          <p:nvPr/>
        </p:nvSpPr>
        <p:spPr>
          <a:xfrm>
            <a:off x="7964996"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6" name="Col Certificate Management Abbr"/>
          <p:cNvSpPr txBox="1"/>
          <p:nvPr/>
        </p:nvSpPr>
        <p:spPr>
          <a:xfrm>
            <a:off x="7964996"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cert-mgmt</a:t>
            </a:r>
          </a:p>
        </p:txBody>
      </p:sp>
      <p:sp>
        <p:nvSpPr>
          <p:cNvPr id="147" name="Col Certificate Management Domain Lead"/>
          <p:cNvSpPr txBox="1"/>
          <p:nvPr/>
        </p:nvSpPr>
        <p:spPr>
          <a:xfrm>
            <a:off x="7964996"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48" name="Col Certificate Management Status Bar"/>
          <p:cNvSpPr/>
          <p:nvPr/>
        </p:nvSpPr>
        <p:spPr>
          <a:xfrm>
            <a:off x="7964996"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49" name="Col Product Carbon Footprint Card"/>
          <p:cNvSpPr/>
          <p:nvPr/>
        </p:nvSpPr>
        <p:spPr>
          <a:xfrm>
            <a:off x="9280017"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50" name="Col Product Carbon Footprint Name"/>
          <p:cNvSpPr txBox="1"/>
          <p:nvPr/>
        </p:nvSpPr>
        <p:spPr>
          <a:xfrm>
            <a:off x="9325737"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51" name="Col Product Carbon Footprint Abbr"/>
          <p:cNvSpPr txBox="1"/>
          <p:nvPr/>
        </p:nvSpPr>
        <p:spPr>
          <a:xfrm>
            <a:off x="9325737"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pcf-cx</a:t>
            </a:r>
          </a:p>
        </p:txBody>
      </p:sp>
      <p:sp>
        <p:nvSpPr>
          <p:cNvPr id="152" name="Col Product Carbon Footprint Domain Lead"/>
          <p:cNvSpPr txBox="1"/>
          <p:nvPr/>
        </p:nvSpPr>
        <p:spPr>
          <a:xfrm>
            <a:off x="9325737"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53" name="Col Product Carbon Footprint Status Bar"/>
          <p:cNvSpPr/>
          <p:nvPr/>
        </p:nvSpPr>
        <p:spPr>
          <a:xfrm>
            <a:off x="9325737" y="1807464"/>
            <a:ext cx="1228154" cy="36576"/>
          </a:xfrm>
          <a:prstGeom prst="roundRect">
            <a:avLst>
              <a:gd name="adj" fmla="val 50000"/>
            </a:avLst>
          </a:prstGeom>
          <a:solidFill>
            <a:srgbClr val="53BE70"/>
          </a:solidFill>
          <a:ln>
            <a:noFill/>
          </a:ln>
          <a:effectLst/>
        </p:spPr>
        <p:txBody>
          <a:bodyPr rtlCol="0" anchor="ctr"/>
          <a:lstStyle/>
          <a:p>
            <a:endParaRPr lang="de-DE"/>
          </a:p>
        </p:txBody>
      </p:sp>
      <p:sp>
        <p:nvSpPr>
          <p:cNvPr id="154" name="Col N-Tier Card"/>
          <p:cNvSpPr/>
          <p:nvPr/>
        </p:nvSpPr>
        <p:spPr>
          <a:xfrm>
            <a:off x="10640758"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55" name="Col N-Tier Name"/>
          <p:cNvSpPr txBox="1"/>
          <p:nvPr/>
        </p:nvSpPr>
        <p:spPr>
          <a:xfrm>
            <a:off x="10686478"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6" name="Col N-Tier Abbr"/>
          <p:cNvSpPr txBox="1"/>
          <p:nvPr/>
        </p:nvSpPr>
        <p:spPr>
          <a:xfrm>
            <a:off x="10686478"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ntier-cx</a:t>
            </a:r>
          </a:p>
        </p:txBody>
      </p:sp>
      <p:sp>
        <p:nvSpPr>
          <p:cNvPr id="157" name="Col N-Tier Domain Lead"/>
          <p:cNvSpPr txBox="1"/>
          <p:nvPr/>
        </p:nvSpPr>
        <p:spPr>
          <a:xfrm>
            <a:off x="10686478"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Markus Fink (BZI2)</a:t>
            </a:r>
          </a:p>
        </p:txBody>
      </p:sp>
      <p:sp>
        <p:nvSpPr>
          <p:cNvPr id="158" name="Col N-Tier Status Bar"/>
          <p:cNvSpPr/>
          <p:nvPr/>
        </p:nvSpPr>
        <p:spPr>
          <a:xfrm>
            <a:off x="10686478" y="1807464"/>
            <a:ext cx="1228154" cy="36576"/>
          </a:xfrm>
          <a:prstGeom prst="roundRect">
            <a:avLst>
              <a:gd name="adj" fmla="val 50000"/>
            </a:avLst>
          </a:prstGeom>
          <a:solidFill>
            <a:srgbClr val="53BE70"/>
          </a:solidFill>
          <a:ln>
            <a:noFill/>
          </a:ln>
          <a:effectLst/>
        </p:spPr>
        <p:txBody>
          <a:bodyPr rtlCol="0" anchor="ctr"/>
          <a:lstStyle/>
          <a:p>
            <a:endParaRPr lang="de-DE"/>
          </a:p>
        </p:txBody>
      </p:sp>
      <p:sp>
        <p:nvSpPr>
          <p:cNvPr id="159" name="Head Label Use case name"/>
          <p:cNvSpPr txBox="1"/>
          <p:nvPr/>
        </p:nvSpPr>
        <p:spPr>
          <a:xfrm>
            <a:off x="228600" y="1083564"/>
            <a:ext cx="822960"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Use case name</a:t>
            </a:r>
          </a:p>
        </p:txBody>
      </p:sp>
      <p:sp>
        <p:nvSpPr>
          <p:cNvPr id="160" name="Head Label Abbreviation"/>
          <p:cNvSpPr txBox="1"/>
          <p:nvPr/>
        </p:nvSpPr>
        <p:spPr>
          <a:xfrm>
            <a:off x="228600" y="1423924"/>
            <a:ext cx="822960"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Abbreviation</a:t>
            </a:r>
          </a:p>
        </p:txBody>
      </p:sp>
      <p:sp>
        <p:nvSpPr>
          <p:cNvPr id="161" name="Head Label Domain Lead"/>
          <p:cNvSpPr txBox="1"/>
          <p:nvPr/>
        </p:nvSpPr>
        <p:spPr>
          <a:xfrm>
            <a:off x="228600" y="1588262"/>
            <a:ext cx="822960"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Domain Lead</a:t>
            </a:r>
          </a:p>
        </p:txBody>
      </p:sp>
      <p:sp>
        <p:nvSpPr>
          <p:cNvPr id="162" name="Row Label Overall status"/>
          <p:cNvSpPr txBox="1"/>
          <p:nvPr/>
        </p:nvSpPr>
        <p:spPr>
          <a:xfrm>
            <a:off x="228600" y="1958340"/>
            <a:ext cx="822960" cy="3881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Overall status</a:t>
            </a:r>
          </a:p>
        </p:txBody>
      </p:sp>
      <p:sp>
        <p:nvSpPr>
          <p:cNvPr id="163" name="Quality Status Pill"/>
          <p:cNvSpPr/>
          <p:nvPr/>
        </p:nvSpPr>
        <p:spPr>
          <a:xfrm>
            <a:off x="1161288" y="1940052"/>
            <a:ext cx="1228154" cy="210312"/>
          </a:xfrm>
          <a:prstGeom prst="roundRect">
            <a:avLst>
              <a:gd name="adj" fmla="val 50000"/>
            </a:avLst>
          </a:prstGeom>
          <a:solidFill>
            <a:srgbClr val="E64343"/>
          </a:solidFill>
          <a:ln>
            <a:noFill/>
          </a:ln>
          <a:effectLst/>
        </p:spPr>
        <p:txBody>
          <a:bodyPr rtlCol="0" anchor="ctr"/>
          <a:lstStyle/>
          <a:p>
            <a:endParaRPr lang="de-DE"/>
          </a:p>
        </p:txBody>
      </p:sp>
      <p:sp>
        <p:nvSpPr>
          <p:cNvPr id="164" name="Quality Status Text"/>
          <p:cNvSpPr txBox="1"/>
          <p:nvPr/>
        </p:nvSpPr>
        <p:spPr>
          <a:xfrm>
            <a:off x="1161288" y="1940052"/>
            <a:ext cx="12281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Escalation needed</a:t>
            </a:r>
          </a:p>
        </p:txBody>
      </p:sp>
      <p:sp>
        <p:nvSpPr>
          <p:cNvPr id="165" name="Battery Passport Status Pill"/>
          <p:cNvSpPr/>
          <p:nvPr/>
        </p:nvSpPr>
        <p:spPr>
          <a:xfrm>
            <a:off x="2522029"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66" name="Battery Passport Status Text"/>
          <p:cNvSpPr txBox="1"/>
          <p:nvPr/>
        </p:nvSpPr>
        <p:spPr>
          <a:xfrm>
            <a:off x="2522029"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67" name="Product Passes Status Pill"/>
          <p:cNvSpPr/>
          <p:nvPr/>
        </p:nvSpPr>
        <p:spPr>
          <a:xfrm>
            <a:off x="3882771"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68" name="Product Passes Status Text"/>
          <p:cNvSpPr txBox="1"/>
          <p:nvPr/>
        </p:nvSpPr>
        <p:spPr>
          <a:xfrm>
            <a:off x="3882771"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69" name="PURIS Status Pill"/>
          <p:cNvSpPr/>
          <p:nvPr/>
        </p:nvSpPr>
        <p:spPr>
          <a:xfrm>
            <a:off x="5243512"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70" name="PURIS Status Text"/>
          <p:cNvSpPr txBox="1"/>
          <p:nvPr/>
        </p:nvSpPr>
        <p:spPr>
          <a:xfrm>
            <a:off x="5243512"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71" name="Business Partner Data Mgmt Status Pill"/>
          <p:cNvSpPr/>
          <p:nvPr/>
        </p:nvSpPr>
        <p:spPr>
          <a:xfrm>
            <a:off x="6604254"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72" name="Business Partner Data Mgmt Status Text"/>
          <p:cNvSpPr txBox="1"/>
          <p:nvPr/>
        </p:nvSpPr>
        <p:spPr>
          <a:xfrm>
            <a:off x="6604254"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73" name="Certificate Management Status Pill"/>
          <p:cNvSpPr/>
          <p:nvPr/>
        </p:nvSpPr>
        <p:spPr>
          <a:xfrm>
            <a:off x="7964996"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74" name="Certificate Management Status Text"/>
          <p:cNvSpPr txBox="1"/>
          <p:nvPr/>
        </p:nvSpPr>
        <p:spPr>
          <a:xfrm>
            <a:off x="7964996"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75" name="Product Carbon Footprint Status Pill"/>
          <p:cNvSpPr/>
          <p:nvPr/>
        </p:nvSpPr>
        <p:spPr>
          <a:xfrm>
            <a:off x="9325737" y="1940052"/>
            <a:ext cx="706303" cy="210312"/>
          </a:xfrm>
          <a:prstGeom prst="roundRect">
            <a:avLst>
              <a:gd name="adj" fmla="val 50000"/>
            </a:avLst>
          </a:prstGeom>
          <a:solidFill>
            <a:srgbClr val="53BE70"/>
          </a:solidFill>
          <a:ln>
            <a:noFill/>
          </a:ln>
          <a:effectLst/>
        </p:spPr>
        <p:txBody>
          <a:bodyPr rtlCol="0" anchor="ctr"/>
          <a:lstStyle/>
          <a:p>
            <a:endParaRPr lang="de-DE"/>
          </a:p>
        </p:txBody>
      </p:sp>
      <p:sp>
        <p:nvSpPr>
          <p:cNvPr id="176" name="Product Carbon Footprint Status Text"/>
          <p:cNvSpPr txBox="1"/>
          <p:nvPr/>
        </p:nvSpPr>
        <p:spPr>
          <a:xfrm>
            <a:off x="9325737" y="1940052"/>
            <a:ext cx="706303"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On Track</a:t>
            </a:r>
          </a:p>
        </p:txBody>
      </p:sp>
      <p:sp>
        <p:nvSpPr>
          <p:cNvPr id="177" name="N-Tier Status Pill"/>
          <p:cNvSpPr/>
          <p:nvPr/>
        </p:nvSpPr>
        <p:spPr>
          <a:xfrm>
            <a:off x="10686478" y="1940052"/>
            <a:ext cx="706303" cy="210312"/>
          </a:xfrm>
          <a:prstGeom prst="roundRect">
            <a:avLst>
              <a:gd name="adj" fmla="val 50000"/>
            </a:avLst>
          </a:prstGeom>
          <a:solidFill>
            <a:srgbClr val="53BE70"/>
          </a:solidFill>
          <a:ln>
            <a:noFill/>
          </a:ln>
          <a:effectLst/>
        </p:spPr>
        <p:txBody>
          <a:bodyPr rtlCol="0" anchor="ctr"/>
          <a:lstStyle/>
          <a:p>
            <a:endParaRPr lang="de-DE"/>
          </a:p>
        </p:txBody>
      </p:sp>
      <p:sp>
        <p:nvSpPr>
          <p:cNvPr id="178" name="N-Tier Status Text"/>
          <p:cNvSpPr txBox="1"/>
          <p:nvPr/>
        </p:nvSpPr>
        <p:spPr>
          <a:xfrm>
            <a:off x="10686478" y="1940052"/>
            <a:ext cx="706303"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On Track</a:t>
            </a:r>
          </a:p>
        </p:txBody>
      </p:sp>
      <p:sp>
        <p:nvSpPr>
          <p:cNvPr id="179" name="Row Label Phase"/>
          <p:cNvSpPr txBox="1"/>
          <p:nvPr/>
        </p:nvSpPr>
        <p:spPr>
          <a:xfrm>
            <a:off x="228600" y="2405888"/>
            <a:ext cx="822960" cy="3881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Phase</a:t>
            </a:r>
          </a:p>
        </p:txBody>
      </p:sp>
      <p:sp>
        <p:nvSpPr>
          <p:cNvPr id="180" name="Quality Row Divider Phase"/>
          <p:cNvSpPr/>
          <p:nvPr/>
        </p:nvSpPr>
        <p:spPr>
          <a:xfrm>
            <a:off x="1161288" y="2346452"/>
            <a:ext cx="1228154" cy="6401"/>
          </a:xfrm>
          <a:prstGeom prst="rect">
            <a:avLst/>
          </a:prstGeom>
          <a:solidFill>
            <a:srgbClr val="E2E8EC"/>
          </a:solidFill>
          <a:ln>
            <a:noFill/>
          </a:ln>
          <a:effectLst/>
        </p:spPr>
        <p:txBody>
          <a:bodyPr rtlCol="0" anchor="ctr"/>
          <a:lstStyle/>
          <a:p>
            <a:endParaRPr lang="de-DE"/>
          </a:p>
        </p:txBody>
      </p:sp>
      <p:sp>
        <p:nvSpPr>
          <p:cNvPr id="181" name="Quality Phase"/>
          <p:cNvSpPr txBox="1"/>
          <p:nvPr/>
        </p:nvSpPr>
        <p:spPr>
          <a:xfrm>
            <a:off x="1161288"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82" name="Battery Passport Row Divider Phase"/>
          <p:cNvSpPr/>
          <p:nvPr/>
        </p:nvSpPr>
        <p:spPr>
          <a:xfrm>
            <a:off x="2522029" y="2346452"/>
            <a:ext cx="1228154" cy="6401"/>
          </a:xfrm>
          <a:prstGeom prst="rect">
            <a:avLst/>
          </a:prstGeom>
          <a:solidFill>
            <a:srgbClr val="E2E8EC"/>
          </a:solidFill>
          <a:ln>
            <a:noFill/>
          </a:ln>
          <a:effectLst/>
        </p:spPr>
        <p:txBody>
          <a:bodyPr rtlCol="0" anchor="ctr"/>
          <a:lstStyle/>
          <a:p>
            <a:endParaRPr lang="de-DE"/>
          </a:p>
        </p:txBody>
      </p:sp>
      <p:sp>
        <p:nvSpPr>
          <p:cNvPr id="183" name="Battery Passport Phase"/>
          <p:cNvSpPr txBox="1"/>
          <p:nvPr/>
        </p:nvSpPr>
        <p:spPr>
          <a:xfrm>
            <a:off x="2522029"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84" name="Product Passes Row Divider Phase"/>
          <p:cNvSpPr/>
          <p:nvPr/>
        </p:nvSpPr>
        <p:spPr>
          <a:xfrm>
            <a:off x="3882771" y="2346452"/>
            <a:ext cx="1228154" cy="6401"/>
          </a:xfrm>
          <a:prstGeom prst="rect">
            <a:avLst/>
          </a:prstGeom>
          <a:solidFill>
            <a:srgbClr val="E2E8EC"/>
          </a:solidFill>
          <a:ln>
            <a:noFill/>
          </a:ln>
          <a:effectLst/>
        </p:spPr>
        <p:txBody>
          <a:bodyPr rtlCol="0" anchor="ctr"/>
          <a:lstStyle/>
          <a:p>
            <a:endParaRPr lang="de-DE"/>
          </a:p>
        </p:txBody>
      </p:sp>
      <p:sp>
        <p:nvSpPr>
          <p:cNvPr id="185" name="Product Passes Phase"/>
          <p:cNvSpPr txBox="1"/>
          <p:nvPr/>
        </p:nvSpPr>
        <p:spPr>
          <a:xfrm>
            <a:off x="3882771"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Definition</a:t>
            </a:r>
          </a:p>
        </p:txBody>
      </p:sp>
      <p:sp>
        <p:nvSpPr>
          <p:cNvPr id="186" name="PURIS Row Divider Phase"/>
          <p:cNvSpPr/>
          <p:nvPr/>
        </p:nvSpPr>
        <p:spPr>
          <a:xfrm>
            <a:off x="5243512" y="2346452"/>
            <a:ext cx="1228154" cy="6401"/>
          </a:xfrm>
          <a:prstGeom prst="rect">
            <a:avLst/>
          </a:prstGeom>
          <a:solidFill>
            <a:srgbClr val="E2E8EC"/>
          </a:solidFill>
          <a:ln>
            <a:noFill/>
          </a:ln>
          <a:effectLst/>
        </p:spPr>
        <p:txBody>
          <a:bodyPr rtlCol="0" anchor="ctr"/>
          <a:lstStyle/>
          <a:p>
            <a:endParaRPr lang="de-DE"/>
          </a:p>
        </p:txBody>
      </p:sp>
      <p:sp>
        <p:nvSpPr>
          <p:cNvPr id="187" name="PURIS Phase"/>
          <p:cNvSpPr txBox="1"/>
          <p:nvPr/>
        </p:nvSpPr>
        <p:spPr>
          <a:xfrm>
            <a:off x="5243512"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88" name="Business Partner Data Mgmt Row Divider Phase"/>
          <p:cNvSpPr/>
          <p:nvPr/>
        </p:nvSpPr>
        <p:spPr>
          <a:xfrm>
            <a:off x="6604254" y="2346452"/>
            <a:ext cx="1228154" cy="6401"/>
          </a:xfrm>
          <a:prstGeom prst="rect">
            <a:avLst/>
          </a:prstGeom>
          <a:solidFill>
            <a:srgbClr val="E2E8EC"/>
          </a:solidFill>
          <a:ln>
            <a:noFill/>
          </a:ln>
          <a:effectLst/>
        </p:spPr>
        <p:txBody>
          <a:bodyPr rtlCol="0" anchor="ctr"/>
          <a:lstStyle/>
          <a:p>
            <a:endParaRPr lang="de-DE"/>
          </a:p>
        </p:txBody>
      </p:sp>
      <p:sp>
        <p:nvSpPr>
          <p:cNvPr id="189" name="Business Partner Data Mgmt Phase"/>
          <p:cNvSpPr txBox="1"/>
          <p:nvPr/>
        </p:nvSpPr>
        <p:spPr>
          <a:xfrm>
            <a:off x="6604254"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Implementation</a:t>
            </a:r>
          </a:p>
        </p:txBody>
      </p:sp>
      <p:sp>
        <p:nvSpPr>
          <p:cNvPr id="190" name="Certificate Management Row Divider Phase"/>
          <p:cNvSpPr/>
          <p:nvPr/>
        </p:nvSpPr>
        <p:spPr>
          <a:xfrm>
            <a:off x="7964996" y="2346452"/>
            <a:ext cx="1228154" cy="6401"/>
          </a:xfrm>
          <a:prstGeom prst="rect">
            <a:avLst/>
          </a:prstGeom>
          <a:solidFill>
            <a:srgbClr val="E2E8EC"/>
          </a:solidFill>
          <a:ln>
            <a:noFill/>
          </a:ln>
          <a:effectLst/>
        </p:spPr>
        <p:txBody>
          <a:bodyPr rtlCol="0" anchor="ctr"/>
          <a:lstStyle/>
          <a:p>
            <a:endParaRPr lang="de-DE"/>
          </a:p>
        </p:txBody>
      </p:sp>
      <p:sp>
        <p:nvSpPr>
          <p:cNvPr id="191" name="Certificate Management Phase"/>
          <p:cNvSpPr txBox="1"/>
          <p:nvPr/>
        </p:nvSpPr>
        <p:spPr>
          <a:xfrm>
            <a:off x="7964996"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Scaling</a:t>
            </a:r>
          </a:p>
        </p:txBody>
      </p:sp>
      <p:sp>
        <p:nvSpPr>
          <p:cNvPr id="192" name="Product Carbon Footprint Row Divider Phase"/>
          <p:cNvSpPr/>
          <p:nvPr/>
        </p:nvSpPr>
        <p:spPr>
          <a:xfrm>
            <a:off x="9325737" y="2346452"/>
            <a:ext cx="1228154" cy="6401"/>
          </a:xfrm>
          <a:prstGeom prst="rect">
            <a:avLst/>
          </a:prstGeom>
          <a:solidFill>
            <a:srgbClr val="E2E8EC"/>
          </a:solidFill>
          <a:ln>
            <a:noFill/>
          </a:ln>
          <a:effectLst/>
        </p:spPr>
        <p:txBody>
          <a:bodyPr rtlCol="0" anchor="ctr"/>
          <a:lstStyle/>
          <a:p>
            <a:endParaRPr lang="de-DE"/>
          </a:p>
        </p:txBody>
      </p:sp>
      <p:sp>
        <p:nvSpPr>
          <p:cNvPr id="193" name="Product Carbon Footprint Phase"/>
          <p:cNvSpPr txBox="1"/>
          <p:nvPr/>
        </p:nvSpPr>
        <p:spPr>
          <a:xfrm>
            <a:off x="9325737"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94" name="N-Tier Row Divider Phase"/>
          <p:cNvSpPr/>
          <p:nvPr/>
        </p:nvSpPr>
        <p:spPr>
          <a:xfrm>
            <a:off x="10686478" y="2346452"/>
            <a:ext cx="1228154" cy="6401"/>
          </a:xfrm>
          <a:prstGeom prst="rect">
            <a:avLst/>
          </a:prstGeom>
          <a:solidFill>
            <a:srgbClr val="E2E8EC"/>
          </a:solidFill>
          <a:ln>
            <a:noFill/>
          </a:ln>
          <a:effectLst/>
        </p:spPr>
        <p:txBody>
          <a:bodyPr rtlCol="0" anchor="ctr"/>
          <a:lstStyle/>
          <a:p>
            <a:endParaRPr lang="de-DE"/>
          </a:p>
        </p:txBody>
      </p:sp>
      <p:sp>
        <p:nvSpPr>
          <p:cNvPr id="195" name="N-Tier Phase"/>
          <p:cNvSpPr txBox="1"/>
          <p:nvPr/>
        </p:nvSpPr>
        <p:spPr>
          <a:xfrm>
            <a:off x="10686478" y="2405888"/>
            <a:ext cx="1228154"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Definition &amp; Clarification</a:t>
            </a:r>
          </a:p>
        </p:txBody>
      </p:sp>
      <p:sp>
        <p:nvSpPr>
          <p:cNvPr id="196" name="Row Label E2E go-live target date"/>
          <p:cNvSpPr txBox="1"/>
          <p:nvPr/>
        </p:nvSpPr>
        <p:spPr>
          <a:xfrm>
            <a:off x="228600" y="2853436"/>
            <a:ext cx="822960" cy="3881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E2E go-live target date</a:t>
            </a:r>
          </a:p>
        </p:txBody>
      </p:sp>
      <p:sp>
        <p:nvSpPr>
          <p:cNvPr id="197" name="Quality Row Divider E2E go-live target date"/>
          <p:cNvSpPr/>
          <p:nvPr/>
        </p:nvSpPr>
        <p:spPr>
          <a:xfrm>
            <a:off x="1161288" y="2794000"/>
            <a:ext cx="1228154" cy="6401"/>
          </a:xfrm>
          <a:prstGeom prst="rect">
            <a:avLst/>
          </a:prstGeom>
          <a:solidFill>
            <a:srgbClr val="E2E8EC"/>
          </a:solidFill>
          <a:ln>
            <a:noFill/>
          </a:ln>
          <a:effectLst/>
        </p:spPr>
        <p:txBody>
          <a:bodyPr rtlCol="0" anchor="ctr"/>
          <a:lstStyle/>
          <a:p>
            <a:endParaRPr lang="de-DE"/>
          </a:p>
        </p:txBody>
      </p:sp>
      <p:sp>
        <p:nvSpPr>
          <p:cNvPr id="198" name="Quality Go-live"/>
          <p:cNvSpPr txBox="1"/>
          <p:nvPr/>
        </p:nvSpPr>
        <p:spPr>
          <a:xfrm>
            <a:off x="1161288" y="2853436"/>
            <a:ext cx="1228154"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Scaling until 2030</a:t>
            </a:r>
          </a:p>
        </p:txBody>
      </p:sp>
      <p:sp>
        <p:nvSpPr>
          <p:cNvPr id="199" name="Battery Passport Row Divider E2E go-live target date"/>
          <p:cNvSpPr/>
          <p:nvPr/>
        </p:nvSpPr>
        <p:spPr>
          <a:xfrm>
            <a:off x="2522029" y="2794000"/>
            <a:ext cx="1228154" cy="6401"/>
          </a:xfrm>
          <a:prstGeom prst="rect">
            <a:avLst/>
          </a:prstGeom>
          <a:solidFill>
            <a:srgbClr val="E2E8EC"/>
          </a:solidFill>
          <a:ln>
            <a:noFill/>
          </a:ln>
          <a:effectLst/>
        </p:spPr>
        <p:txBody>
          <a:bodyPr rtlCol="0" anchor="ctr"/>
          <a:lstStyle/>
          <a:p>
            <a:endParaRPr lang="de-DE"/>
          </a:p>
        </p:txBody>
      </p:sp>
      <p:sp>
        <p:nvSpPr>
          <p:cNvPr id="200" name="Battery Passport Go-live"/>
          <p:cNvSpPr txBox="1"/>
          <p:nvPr/>
        </p:nvSpPr>
        <p:spPr>
          <a:xfrm>
            <a:off x="2522029"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Feb 2027</a:t>
            </a:r>
          </a:p>
        </p:txBody>
      </p:sp>
      <p:sp>
        <p:nvSpPr>
          <p:cNvPr id="201" name="Product Passes Row Divider E2E go-live target date"/>
          <p:cNvSpPr/>
          <p:nvPr/>
        </p:nvSpPr>
        <p:spPr>
          <a:xfrm>
            <a:off x="3882771" y="2794000"/>
            <a:ext cx="1228154" cy="6401"/>
          </a:xfrm>
          <a:prstGeom prst="rect">
            <a:avLst/>
          </a:prstGeom>
          <a:solidFill>
            <a:srgbClr val="E2E8EC"/>
          </a:solidFill>
          <a:ln>
            <a:noFill/>
          </a:ln>
          <a:effectLst/>
        </p:spPr>
        <p:txBody>
          <a:bodyPr rtlCol="0" anchor="ctr"/>
          <a:lstStyle/>
          <a:p>
            <a:endParaRPr lang="de-DE"/>
          </a:p>
        </p:txBody>
      </p:sp>
      <p:sp>
        <p:nvSpPr>
          <p:cNvPr id="202" name="Product Passes Go-live"/>
          <p:cNvSpPr txBox="1"/>
          <p:nvPr/>
        </p:nvSpPr>
        <p:spPr>
          <a:xfrm>
            <a:off x="3882771"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  </a:t>
            </a:r>
            <a:r>
              <a:rPr lang="de-DE" sz="1000" b="0" i="1" kern="0" dirty="0">
                <a:solidFill>
                  <a:srgbClr val="9AA6AD"/>
                </a:solidFill>
                <a:latin typeface="Segoe UI" pitchFamily="34" charset="0"/>
                <a:ea typeface="Segoe UI" pitchFamily="34" charset="-122"/>
                <a:cs typeface="Segoe UI" pitchFamily="34" charset="-120"/>
              </a:rPr>
              <a:t>not defined yet</a:t>
            </a:r>
          </a:p>
        </p:txBody>
      </p:sp>
      <p:sp>
        <p:nvSpPr>
          <p:cNvPr id="203" name="PURIS Row Divider E2E go-live target date"/>
          <p:cNvSpPr/>
          <p:nvPr/>
        </p:nvSpPr>
        <p:spPr>
          <a:xfrm>
            <a:off x="5243512" y="2794000"/>
            <a:ext cx="1228154" cy="6401"/>
          </a:xfrm>
          <a:prstGeom prst="rect">
            <a:avLst/>
          </a:prstGeom>
          <a:solidFill>
            <a:srgbClr val="E2E8EC"/>
          </a:solidFill>
          <a:ln>
            <a:noFill/>
          </a:ln>
          <a:effectLst/>
        </p:spPr>
        <p:txBody>
          <a:bodyPr rtlCol="0" anchor="ctr"/>
          <a:lstStyle/>
          <a:p>
            <a:endParaRPr lang="de-DE"/>
          </a:p>
        </p:txBody>
      </p:sp>
      <p:sp>
        <p:nvSpPr>
          <p:cNvPr id="204" name="PURIS Go-live"/>
          <p:cNvSpPr txBox="1"/>
          <p:nvPr/>
        </p:nvSpPr>
        <p:spPr>
          <a:xfrm>
            <a:off x="5243512"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  </a:t>
            </a:r>
            <a:r>
              <a:rPr lang="de-DE" sz="1000" b="0" i="1" kern="0" dirty="0">
                <a:solidFill>
                  <a:srgbClr val="9AA6AD"/>
                </a:solidFill>
                <a:latin typeface="Segoe UI" pitchFamily="34" charset="0"/>
                <a:ea typeface="Segoe UI" pitchFamily="34" charset="-122"/>
                <a:cs typeface="Segoe UI" pitchFamily="34" charset="-120"/>
              </a:rPr>
              <a:t>not specified</a:t>
            </a:r>
          </a:p>
        </p:txBody>
      </p:sp>
      <p:sp>
        <p:nvSpPr>
          <p:cNvPr id="205" name="Business Partner Data Mgmt Row Divider E2E go-live target date"/>
          <p:cNvSpPr/>
          <p:nvPr/>
        </p:nvSpPr>
        <p:spPr>
          <a:xfrm>
            <a:off x="6604254" y="2794000"/>
            <a:ext cx="1228154" cy="6401"/>
          </a:xfrm>
          <a:prstGeom prst="rect">
            <a:avLst/>
          </a:prstGeom>
          <a:solidFill>
            <a:srgbClr val="E2E8EC"/>
          </a:solidFill>
          <a:ln>
            <a:noFill/>
          </a:ln>
          <a:effectLst/>
        </p:spPr>
        <p:txBody>
          <a:bodyPr rtlCol="0" anchor="ctr"/>
          <a:lstStyle/>
          <a:p>
            <a:endParaRPr lang="de-DE"/>
          </a:p>
        </p:txBody>
      </p:sp>
      <p:sp>
        <p:nvSpPr>
          <p:cNvPr id="206" name="Business Partner Data Mgmt Go-live"/>
          <p:cNvSpPr txBox="1"/>
          <p:nvPr/>
        </p:nvSpPr>
        <p:spPr>
          <a:xfrm>
            <a:off x="6604254"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Feb 2027</a:t>
            </a:r>
          </a:p>
        </p:txBody>
      </p:sp>
      <p:sp>
        <p:nvSpPr>
          <p:cNvPr id="207" name="Certificate Management Row Divider E2E go-live target date"/>
          <p:cNvSpPr/>
          <p:nvPr/>
        </p:nvSpPr>
        <p:spPr>
          <a:xfrm>
            <a:off x="7964996" y="2794000"/>
            <a:ext cx="1228154" cy="6401"/>
          </a:xfrm>
          <a:prstGeom prst="rect">
            <a:avLst/>
          </a:prstGeom>
          <a:solidFill>
            <a:srgbClr val="E2E8EC"/>
          </a:solidFill>
          <a:ln>
            <a:noFill/>
          </a:ln>
          <a:effectLst/>
        </p:spPr>
        <p:txBody>
          <a:bodyPr rtlCol="0" anchor="ctr"/>
          <a:lstStyle/>
          <a:p>
            <a:endParaRPr lang="de-DE"/>
          </a:p>
        </p:txBody>
      </p:sp>
      <p:sp>
        <p:nvSpPr>
          <p:cNvPr id="208" name="Certificate Management Go-live"/>
          <p:cNvSpPr txBox="1"/>
          <p:nvPr/>
        </p:nvSpPr>
        <p:spPr>
          <a:xfrm>
            <a:off x="7964996"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May 2028</a:t>
            </a:r>
          </a:p>
        </p:txBody>
      </p:sp>
      <p:sp>
        <p:nvSpPr>
          <p:cNvPr id="209" name="Product Carbon Footprint Row Divider E2E go-live target date"/>
          <p:cNvSpPr/>
          <p:nvPr/>
        </p:nvSpPr>
        <p:spPr>
          <a:xfrm>
            <a:off x="9325737" y="2794000"/>
            <a:ext cx="1228154" cy="6401"/>
          </a:xfrm>
          <a:prstGeom prst="rect">
            <a:avLst/>
          </a:prstGeom>
          <a:solidFill>
            <a:srgbClr val="E2E8EC"/>
          </a:solidFill>
          <a:ln>
            <a:noFill/>
          </a:ln>
          <a:effectLst/>
        </p:spPr>
        <p:txBody>
          <a:bodyPr rtlCol="0" anchor="ctr"/>
          <a:lstStyle/>
          <a:p>
            <a:endParaRPr lang="de-DE"/>
          </a:p>
        </p:txBody>
      </p:sp>
      <p:sp>
        <p:nvSpPr>
          <p:cNvPr id="210" name="Product Carbon Footprint Go-live"/>
          <p:cNvSpPr txBox="1"/>
          <p:nvPr/>
        </p:nvSpPr>
        <p:spPr>
          <a:xfrm>
            <a:off x="9325737"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01 Jan 2028</a:t>
            </a:r>
          </a:p>
        </p:txBody>
      </p:sp>
      <p:sp>
        <p:nvSpPr>
          <p:cNvPr id="211" name="N-Tier Row Divider E2E go-live target date"/>
          <p:cNvSpPr/>
          <p:nvPr/>
        </p:nvSpPr>
        <p:spPr>
          <a:xfrm>
            <a:off x="10686478" y="2794000"/>
            <a:ext cx="1228154" cy="6401"/>
          </a:xfrm>
          <a:prstGeom prst="rect">
            <a:avLst/>
          </a:prstGeom>
          <a:solidFill>
            <a:srgbClr val="E2E8EC"/>
          </a:solidFill>
          <a:ln>
            <a:noFill/>
          </a:ln>
          <a:effectLst/>
        </p:spPr>
        <p:txBody>
          <a:bodyPr rtlCol="0" anchor="ctr"/>
          <a:lstStyle/>
          <a:p>
            <a:endParaRPr lang="de-DE"/>
          </a:p>
        </p:txBody>
      </p:sp>
      <p:sp>
        <p:nvSpPr>
          <p:cNvPr id="212" name="N-Tier Go-live"/>
          <p:cNvSpPr txBox="1"/>
          <p:nvPr/>
        </p:nvSpPr>
        <p:spPr>
          <a:xfrm>
            <a:off x="10686478"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  </a:t>
            </a:r>
            <a:r>
              <a:rPr lang="de-DE" sz="1000" b="0" i="1" kern="0" dirty="0">
                <a:solidFill>
                  <a:srgbClr val="9AA6AD"/>
                </a:solidFill>
                <a:latin typeface="Segoe UI" pitchFamily="34" charset="0"/>
                <a:ea typeface="Segoe UI" pitchFamily="34" charset="-122"/>
                <a:cs typeface="Segoe UI" pitchFamily="34" charset="-120"/>
              </a:rPr>
              <a:t>not defined yet</a:t>
            </a:r>
          </a:p>
        </p:txBody>
      </p:sp>
      <p:sp>
        <p:nvSpPr>
          <p:cNvPr id="213" name="Row Label Suppliers enabled 2026"/>
          <p:cNvSpPr txBox="1"/>
          <p:nvPr/>
        </p:nvSpPr>
        <p:spPr>
          <a:xfrm>
            <a:off x="228600" y="3300984"/>
            <a:ext cx="822960" cy="53416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Suppliers enabled 2026</a:t>
            </a:r>
          </a:p>
        </p:txBody>
      </p:sp>
      <p:sp>
        <p:nvSpPr>
          <p:cNvPr id="214" name="Quality Row Divider Suppliers enabled 2026"/>
          <p:cNvSpPr/>
          <p:nvPr/>
        </p:nvSpPr>
        <p:spPr>
          <a:xfrm>
            <a:off x="1161288" y="3241548"/>
            <a:ext cx="1228154" cy="6401"/>
          </a:xfrm>
          <a:prstGeom prst="rect">
            <a:avLst/>
          </a:prstGeom>
          <a:solidFill>
            <a:srgbClr val="E2E8EC"/>
          </a:solidFill>
          <a:ln>
            <a:noFill/>
          </a:ln>
          <a:effectLst/>
        </p:spPr>
        <p:txBody>
          <a:bodyPr rtlCol="0" anchor="ctr"/>
          <a:lstStyle/>
          <a:p>
            <a:endParaRPr lang="de-DE"/>
          </a:p>
        </p:txBody>
      </p:sp>
      <p:sp>
        <p:nvSpPr>
          <p:cNvPr id="215" name="Quality Suppliers"/>
          <p:cNvSpPr txBox="1"/>
          <p:nvPr/>
        </p:nvSpPr>
        <p:spPr>
          <a:xfrm>
            <a:off x="1161288" y="3300984"/>
            <a:ext cx="1228154" cy="31038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rescoped from 15</a:t>
            </a:r>
          </a:p>
        </p:txBody>
      </p:sp>
      <p:sp>
        <p:nvSpPr>
          <p:cNvPr id="216" name="Battery Passport Row Divider Suppliers enabled 2026"/>
          <p:cNvSpPr/>
          <p:nvPr/>
        </p:nvSpPr>
        <p:spPr>
          <a:xfrm>
            <a:off x="2522029" y="3241548"/>
            <a:ext cx="1228154" cy="6401"/>
          </a:xfrm>
          <a:prstGeom prst="rect">
            <a:avLst/>
          </a:prstGeom>
          <a:solidFill>
            <a:srgbClr val="E2E8EC"/>
          </a:solidFill>
          <a:ln>
            <a:noFill/>
          </a:ln>
          <a:effectLst/>
        </p:spPr>
        <p:txBody>
          <a:bodyPr rtlCol="0" anchor="ctr"/>
          <a:lstStyle/>
          <a:p>
            <a:endParaRPr lang="de-DE"/>
          </a:p>
        </p:txBody>
      </p:sp>
      <p:sp>
        <p:nvSpPr>
          <p:cNvPr id="217" name="Battery Passport Suppliers"/>
          <p:cNvSpPr txBox="1"/>
          <p:nvPr/>
        </p:nvSpPr>
        <p:spPr>
          <a:xfrm>
            <a:off x="2522029"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18" name="Product Passes Row Divider Suppliers enabled 2026"/>
          <p:cNvSpPr/>
          <p:nvPr/>
        </p:nvSpPr>
        <p:spPr>
          <a:xfrm>
            <a:off x="3882771" y="3241548"/>
            <a:ext cx="1228154" cy="6401"/>
          </a:xfrm>
          <a:prstGeom prst="rect">
            <a:avLst/>
          </a:prstGeom>
          <a:solidFill>
            <a:srgbClr val="E2E8EC"/>
          </a:solidFill>
          <a:ln>
            <a:noFill/>
          </a:ln>
          <a:effectLst/>
        </p:spPr>
        <p:txBody>
          <a:bodyPr rtlCol="0" anchor="ctr"/>
          <a:lstStyle/>
          <a:p>
            <a:endParaRPr lang="de-DE"/>
          </a:p>
        </p:txBody>
      </p:sp>
      <p:sp>
        <p:nvSpPr>
          <p:cNvPr id="219" name="Product Passes Suppliers"/>
          <p:cNvSpPr txBox="1"/>
          <p:nvPr/>
        </p:nvSpPr>
        <p:spPr>
          <a:xfrm>
            <a:off x="3882771"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20" name="PURIS Row Divider Suppliers enabled 2026"/>
          <p:cNvSpPr/>
          <p:nvPr/>
        </p:nvSpPr>
        <p:spPr>
          <a:xfrm>
            <a:off x="5243512" y="3241548"/>
            <a:ext cx="1228154" cy="6401"/>
          </a:xfrm>
          <a:prstGeom prst="rect">
            <a:avLst/>
          </a:prstGeom>
          <a:solidFill>
            <a:srgbClr val="E2E8EC"/>
          </a:solidFill>
          <a:ln>
            <a:noFill/>
          </a:ln>
          <a:effectLst/>
        </p:spPr>
        <p:txBody>
          <a:bodyPr rtlCol="0" anchor="ctr"/>
          <a:lstStyle/>
          <a:p>
            <a:endParaRPr lang="de-DE"/>
          </a:p>
        </p:txBody>
      </p:sp>
      <p:sp>
        <p:nvSpPr>
          <p:cNvPr id="221" name="PURIS Suppliers"/>
          <p:cNvSpPr txBox="1"/>
          <p:nvPr/>
        </p:nvSpPr>
        <p:spPr>
          <a:xfrm>
            <a:off x="5243512"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1 / 6</a:t>
            </a:r>
            <a:r>
              <a:rPr lang="de-DE" sz="1000" b="0" kern="0" dirty="0">
                <a:solidFill>
                  <a:srgbClr val="63707A"/>
                </a:solidFill>
                <a:latin typeface="Segoe UI" pitchFamily="34" charset="0"/>
                <a:ea typeface="Segoe UI" pitchFamily="34" charset="-122"/>
                <a:cs typeface="Segoe UI" pitchFamily="34" charset="-120"/>
              </a:rPr>
              <a:t>  17%</a:t>
            </a:r>
          </a:p>
        </p:txBody>
      </p:sp>
      <p:sp>
        <p:nvSpPr>
          <p:cNvPr id="222" name="Business Partner Data Mgmt Row Divider Suppliers enabled 2026"/>
          <p:cNvSpPr/>
          <p:nvPr/>
        </p:nvSpPr>
        <p:spPr>
          <a:xfrm>
            <a:off x="6604254" y="3241548"/>
            <a:ext cx="1228154" cy="6401"/>
          </a:xfrm>
          <a:prstGeom prst="rect">
            <a:avLst/>
          </a:prstGeom>
          <a:solidFill>
            <a:srgbClr val="E2E8EC"/>
          </a:solidFill>
          <a:ln>
            <a:noFill/>
          </a:ln>
          <a:effectLst/>
        </p:spPr>
        <p:txBody>
          <a:bodyPr rtlCol="0" anchor="ctr"/>
          <a:lstStyle/>
          <a:p>
            <a:endParaRPr lang="de-DE"/>
          </a:p>
        </p:txBody>
      </p:sp>
      <p:sp>
        <p:nvSpPr>
          <p:cNvPr id="223" name="Business Partner Data Mgmt Suppliers"/>
          <p:cNvSpPr txBox="1"/>
          <p:nvPr/>
        </p:nvSpPr>
        <p:spPr>
          <a:xfrm>
            <a:off x="6604254"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24" name="Certificate Management Row Divider Suppliers enabled 2026"/>
          <p:cNvSpPr/>
          <p:nvPr/>
        </p:nvSpPr>
        <p:spPr>
          <a:xfrm>
            <a:off x="7964996" y="3241548"/>
            <a:ext cx="1228154" cy="6401"/>
          </a:xfrm>
          <a:prstGeom prst="rect">
            <a:avLst/>
          </a:prstGeom>
          <a:solidFill>
            <a:srgbClr val="E2E8EC"/>
          </a:solidFill>
          <a:ln>
            <a:noFill/>
          </a:ln>
          <a:effectLst/>
        </p:spPr>
        <p:txBody>
          <a:bodyPr rtlCol="0" anchor="ctr"/>
          <a:lstStyle/>
          <a:p>
            <a:endParaRPr lang="de-DE"/>
          </a:p>
        </p:txBody>
      </p:sp>
      <p:sp>
        <p:nvSpPr>
          <p:cNvPr id="225" name="Certificate Management Suppliers"/>
          <p:cNvSpPr txBox="1"/>
          <p:nvPr/>
        </p:nvSpPr>
        <p:spPr>
          <a:xfrm>
            <a:off x="7964996"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72 / 100</a:t>
            </a:r>
            <a:r>
              <a:rPr lang="de-DE" sz="1000" b="0" kern="0" dirty="0">
                <a:solidFill>
                  <a:srgbClr val="63707A"/>
                </a:solidFill>
                <a:latin typeface="Segoe UI" pitchFamily="34" charset="0"/>
                <a:ea typeface="Segoe UI" pitchFamily="34" charset="-122"/>
                <a:cs typeface="Segoe UI" pitchFamily="34" charset="-120"/>
              </a:rPr>
              <a:t>  72%</a:t>
            </a:r>
          </a:p>
        </p:txBody>
      </p:sp>
      <p:sp>
        <p:nvSpPr>
          <p:cNvPr id="226" name="Product Carbon Footprint Row Divider Suppliers enabled 2026"/>
          <p:cNvSpPr/>
          <p:nvPr/>
        </p:nvSpPr>
        <p:spPr>
          <a:xfrm>
            <a:off x="9325737" y="3241548"/>
            <a:ext cx="1228154" cy="6401"/>
          </a:xfrm>
          <a:prstGeom prst="rect">
            <a:avLst/>
          </a:prstGeom>
          <a:solidFill>
            <a:srgbClr val="E2E8EC"/>
          </a:solidFill>
          <a:ln>
            <a:noFill/>
          </a:ln>
          <a:effectLst/>
        </p:spPr>
        <p:txBody>
          <a:bodyPr rtlCol="0" anchor="ctr"/>
          <a:lstStyle/>
          <a:p>
            <a:endParaRPr lang="de-DE"/>
          </a:p>
        </p:txBody>
      </p:sp>
      <p:sp>
        <p:nvSpPr>
          <p:cNvPr id="227" name="Product Carbon Footprint Suppliers"/>
          <p:cNvSpPr txBox="1"/>
          <p:nvPr/>
        </p:nvSpPr>
        <p:spPr>
          <a:xfrm>
            <a:off x="9325737"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28" name="N-Tier Row Divider Suppliers enabled 2026"/>
          <p:cNvSpPr/>
          <p:nvPr/>
        </p:nvSpPr>
        <p:spPr>
          <a:xfrm>
            <a:off x="10686478" y="3241548"/>
            <a:ext cx="1228154" cy="6401"/>
          </a:xfrm>
          <a:prstGeom prst="rect">
            <a:avLst/>
          </a:prstGeom>
          <a:solidFill>
            <a:srgbClr val="E2E8EC"/>
          </a:solidFill>
          <a:ln>
            <a:noFill/>
          </a:ln>
          <a:effectLst/>
        </p:spPr>
        <p:txBody>
          <a:bodyPr rtlCol="0" anchor="ctr"/>
          <a:lstStyle/>
          <a:p>
            <a:endParaRPr lang="de-DE"/>
          </a:p>
        </p:txBody>
      </p:sp>
      <p:sp>
        <p:nvSpPr>
          <p:cNvPr id="229" name="N-Tier Suppliers"/>
          <p:cNvSpPr txBox="1"/>
          <p:nvPr/>
        </p:nvSpPr>
        <p:spPr>
          <a:xfrm>
            <a:off x="10686478"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N/A</a:t>
            </a:r>
          </a:p>
        </p:txBody>
      </p:sp>
      <p:sp>
        <p:nvSpPr>
          <p:cNvPr id="230" name="Row Label Next critical milestone"/>
          <p:cNvSpPr txBox="1"/>
          <p:nvPr/>
        </p:nvSpPr>
        <p:spPr>
          <a:xfrm>
            <a:off x="228600" y="3894582"/>
            <a:ext cx="822960" cy="53416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Next critical milestone</a:t>
            </a:r>
          </a:p>
        </p:txBody>
      </p:sp>
      <p:sp>
        <p:nvSpPr>
          <p:cNvPr id="231" name="Quality Row Divider Next critical milestone"/>
          <p:cNvSpPr/>
          <p:nvPr/>
        </p:nvSpPr>
        <p:spPr>
          <a:xfrm>
            <a:off x="1161288" y="3835146"/>
            <a:ext cx="1228154" cy="6401"/>
          </a:xfrm>
          <a:prstGeom prst="rect">
            <a:avLst/>
          </a:prstGeom>
          <a:solidFill>
            <a:srgbClr val="E2E8EC"/>
          </a:solidFill>
          <a:ln>
            <a:noFill/>
          </a:ln>
          <a:effectLst/>
        </p:spPr>
        <p:txBody>
          <a:bodyPr rtlCol="0" anchor="ctr"/>
          <a:lstStyle/>
          <a:p>
            <a:endParaRPr lang="de-DE"/>
          </a:p>
        </p:txBody>
      </p:sp>
      <p:sp>
        <p:nvSpPr>
          <p:cNvPr id="232" name="Quality Milestone Dot"/>
          <p:cNvSpPr/>
          <p:nvPr/>
        </p:nvSpPr>
        <p:spPr>
          <a:xfrm>
            <a:off x="1161288" y="3935730"/>
            <a:ext cx="82296" cy="82296"/>
          </a:xfrm>
          <a:prstGeom prst="ellipse">
            <a:avLst/>
          </a:prstGeom>
          <a:solidFill>
            <a:srgbClr val="F0B135"/>
          </a:solidFill>
          <a:ln>
            <a:noFill/>
          </a:ln>
          <a:effectLst/>
        </p:spPr>
        <p:txBody>
          <a:bodyPr rtlCol="0" anchor="ctr"/>
          <a:lstStyle/>
          <a:p>
            <a:endParaRPr lang="de-DE"/>
          </a:p>
        </p:txBody>
      </p:sp>
      <p:sp>
        <p:nvSpPr>
          <p:cNvPr id="233" name="Quality Milestone"/>
          <p:cNvSpPr txBox="1"/>
          <p:nvPr/>
        </p:nvSpPr>
        <p:spPr>
          <a:xfrm>
            <a:off x="1271016"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30 Sep 2026</a:t>
            </a:r>
          </a:p>
        </p:txBody>
      </p:sp>
      <p:sp>
        <p:nvSpPr>
          <p:cNvPr id="234" name="Battery Passport Row Divider Next critical milestone"/>
          <p:cNvSpPr/>
          <p:nvPr/>
        </p:nvSpPr>
        <p:spPr>
          <a:xfrm>
            <a:off x="2522029" y="3835146"/>
            <a:ext cx="1228154" cy="6401"/>
          </a:xfrm>
          <a:prstGeom prst="rect">
            <a:avLst/>
          </a:prstGeom>
          <a:solidFill>
            <a:srgbClr val="E2E8EC"/>
          </a:solidFill>
          <a:ln>
            <a:noFill/>
          </a:ln>
          <a:effectLst/>
        </p:spPr>
        <p:txBody>
          <a:bodyPr rtlCol="0" anchor="ctr"/>
          <a:lstStyle/>
          <a:p>
            <a:endParaRPr lang="de-DE"/>
          </a:p>
        </p:txBody>
      </p:sp>
      <p:sp>
        <p:nvSpPr>
          <p:cNvPr id="235" name="Battery Passport Milestone Dot"/>
          <p:cNvSpPr/>
          <p:nvPr/>
        </p:nvSpPr>
        <p:spPr>
          <a:xfrm>
            <a:off x="2522029" y="3935730"/>
            <a:ext cx="82296" cy="82296"/>
          </a:xfrm>
          <a:prstGeom prst="ellipse">
            <a:avLst/>
          </a:prstGeom>
          <a:solidFill>
            <a:srgbClr val="53BE70"/>
          </a:solidFill>
          <a:ln>
            <a:noFill/>
          </a:ln>
          <a:effectLst/>
        </p:spPr>
        <p:txBody>
          <a:bodyPr rtlCol="0" anchor="ctr"/>
          <a:lstStyle/>
          <a:p>
            <a:endParaRPr lang="de-DE"/>
          </a:p>
        </p:txBody>
      </p:sp>
      <p:sp>
        <p:nvSpPr>
          <p:cNvPr id="236" name="Battery Passport Milestone"/>
          <p:cNvSpPr txBox="1"/>
          <p:nvPr/>
        </p:nvSpPr>
        <p:spPr>
          <a:xfrm>
            <a:off x="2631758"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31 Oct 2026</a:t>
            </a:r>
          </a:p>
        </p:txBody>
      </p:sp>
      <p:sp>
        <p:nvSpPr>
          <p:cNvPr id="237" name="Product Passes Row Divider Next critical milestone"/>
          <p:cNvSpPr/>
          <p:nvPr/>
        </p:nvSpPr>
        <p:spPr>
          <a:xfrm>
            <a:off x="3882771" y="3835146"/>
            <a:ext cx="1228154" cy="6401"/>
          </a:xfrm>
          <a:prstGeom prst="rect">
            <a:avLst/>
          </a:prstGeom>
          <a:solidFill>
            <a:srgbClr val="E2E8EC"/>
          </a:solidFill>
          <a:ln>
            <a:noFill/>
          </a:ln>
          <a:effectLst/>
        </p:spPr>
        <p:txBody>
          <a:bodyPr rtlCol="0" anchor="ctr"/>
          <a:lstStyle/>
          <a:p>
            <a:endParaRPr lang="de-DE"/>
          </a:p>
        </p:txBody>
      </p:sp>
      <p:sp>
        <p:nvSpPr>
          <p:cNvPr id="238" name="Product Passes Milestone Dot"/>
          <p:cNvSpPr/>
          <p:nvPr/>
        </p:nvSpPr>
        <p:spPr>
          <a:xfrm>
            <a:off x="3882771" y="3935730"/>
            <a:ext cx="82296" cy="82296"/>
          </a:xfrm>
          <a:prstGeom prst="ellipse">
            <a:avLst/>
          </a:prstGeom>
          <a:solidFill>
            <a:srgbClr val="F0B135"/>
          </a:solidFill>
          <a:ln>
            <a:noFill/>
          </a:ln>
          <a:effectLst/>
        </p:spPr>
        <p:txBody>
          <a:bodyPr rtlCol="0" anchor="ctr"/>
          <a:lstStyle/>
          <a:p>
            <a:endParaRPr lang="de-DE"/>
          </a:p>
        </p:txBody>
      </p:sp>
      <p:sp>
        <p:nvSpPr>
          <p:cNvPr id="239" name="Product Passes Milestone"/>
          <p:cNvSpPr txBox="1"/>
          <p:nvPr/>
        </p:nvSpPr>
        <p:spPr>
          <a:xfrm>
            <a:off x="3992499"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31 Oct 2026</a:t>
            </a:r>
          </a:p>
        </p:txBody>
      </p:sp>
      <p:sp>
        <p:nvSpPr>
          <p:cNvPr id="240" name="PURIS Row Divider Next critical milestone"/>
          <p:cNvSpPr/>
          <p:nvPr/>
        </p:nvSpPr>
        <p:spPr>
          <a:xfrm>
            <a:off x="5243512" y="3835146"/>
            <a:ext cx="1228154" cy="6401"/>
          </a:xfrm>
          <a:prstGeom prst="rect">
            <a:avLst/>
          </a:prstGeom>
          <a:solidFill>
            <a:srgbClr val="E2E8EC"/>
          </a:solidFill>
          <a:ln>
            <a:noFill/>
          </a:ln>
          <a:effectLst/>
        </p:spPr>
        <p:txBody>
          <a:bodyPr rtlCol="0" anchor="ctr"/>
          <a:lstStyle/>
          <a:p>
            <a:endParaRPr lang="de-DE"/>
          </a:p>
        </p:txBody>
      </p:sp>
      <p:sp>
        <p:nvSpPr>
          <p:cNvPr id="241" name="PURIS Milestone Dot"/>
          <p:cNvSpPr/>
          <p:nvPr/>
        </p:nvSpPr>
        <p:spPr>
          <a:xfrm>
            <a:off x="5243512" y="3935730"/>
            <a:ext cx="82296" cy="82296"/>
          </a:xfrm>
          <a:prstGeom prst="ellipse">
            <a:avLst/>
          </a:prstGeom>
          <a:solidFill>
            <a:srgbClr val="F0B135"/>
          </a:solidFill>
          <a:ln>
            <a:noFill/>
          </a:ln>
          <a:effectLst/>
        </p:spPr>
        <p:txBody>
          <a:bodyPr rtlCol="0" anchor="ctr"/>
          <a:lstStyle/>
          <a:p>
            <a:endParaRPr lang="de-DE"/>
          </a:p>
        </p:txBody>
      </p:sp>
      <p:sp>
        <p:nvSpPr>
          <p:cNvPr id="242" name="PURIS Milestone"/>
          <p:cNvSpPr txBox="1"/>
          <p:nvPr/>
        </p:nvSpPr>
        <p:spPr>
          <a:xfrm>
            <a:off x="5353240"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9 Oct 2026</a:t>
            </a:r>
          </a:p>
        </p:txBody>
      </p:sp>
      <p:sp>
        <p:nvSpPr>
          <p:cNvPr id="243" name="Business Partner Data Mgmt Row Divider Next critical milestone"/>
          <p:cNvSpPr/>
          <p:nvPr/>
        </p:nvSpPr>
        <p:spPr>
          <a:xfrm>
            <a:off x="6604254" y="3835146"/>
            <a:ext cx="1228154" cy="6401"/>
          </a:xfrm>
          <a:prstGeom prst="rect">
            <a:avLst/>
          </a:prstGeom>
          <a:solidFill>
            <a:srgbClr val="E2E8EC"/>
          </a:solidFill>
          <a:ln>
            <a:noFill/>
          </a:ln>
          <a:effectLst/>
        </p:spPr>
        <p:txBody>
          <a:bodyPr rtlCol="0" anchor="ctr"/>
          <a:lstStyle/>
          <a:p>
            <a:endParaRPr lang="de-DE"/>
          </a:p>
        </p:txBody>
      </p:sp>
      <p:sp>
        <p:nvSpPr>
          <p:cNvPr id="244" name="Business Partner Data Mgmt Milestone Dot"/>
          <p:cNvSpPr/>
          <p:nvPr/>
        </p:nvSpPr>
        <p:spPr>
          <a:xfrm>
            <a:off x="6604254" y="3935730"/>
            <a:ext cx="82296" cy="82296"/>
          </a:xfrm>
          <a:prstGeom prst="ellipse">
            <a:avLst/>
          </a:prstGeom>
          <a:solidFill>
            <a:srgbClr val="53BE70"/>
          </a:solidFill>
          <a:ln>
            <a:noFill/>
          </a:ln>
          <a:effectLst/>
        </p:spPr>
        <p:txBody>
          <a:bodyPr rtlCol="0" anchor="ctr"/>
          <a:lstStyle/>
          <a:p>
            <a:endParaRPr lang="de-DE"/>
          </a:p>
        </p:txBody>
      </p:sp>
      <p:sp>
        <p:nvSpPr>
          <p:cNvPr id="245" name="Business Partner Data Mgmt Milestone"/>
          <p:cNvSpPr txBox="1"/>
          <p:nvPr/>
        </p:nvSpPr>
        <p:spPr>
          <a:xfrm>
            <a:off x="6713982"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31 Oct 2026</a:t>
            </a:r>
          </a:p>
        </p:txBody>
      </p:sp>
      <p:sp>
        <p:nvSpPr>
          <p:cNvPr id="246" name="Certificate Management Row Divider Next critical milestone"/>
          <p:cNvSpPr/>
          <p:nvPr/>
        </p:nvSpPr>
        <p:spPr>
          <a:xfrm>
            <a:off x="7964996" y="3835146"/>
            <a:ext cx="1228154" cy="6401"/>
          </a:xfrm>
          <a:prstGeom prst="rect">
            <a:avLst/>
          </a:prstGeom>
          <a:solidFill>
            <a:srgbClr val="E2E8EC"/>
          </a:solidFill>
          <a:ln>
            <a:noFill/>
          </a:ln>
          <a:effectLst/>
        </p:spPr>
        <p:txBody>
          <a:bodyPr rtlCol="0" anchor="ctr"/>
          <a:lstStyle/>
          <a:p>
            <a:endParaRPr lang="de-DE"/>
          </a:p>
        </p:txBody>
      </p:sp>
      <p:sp>
        <p:nvSpPr>
          <p:cNvPr id="247" name="Certificate Management Milestone Dot"/>
          <p:cNvSpPr/>
          <p:nvPr/>
        </p:nvSpPr>
        <p:spPr>
          <a:xfrm>
            <a:off x="7964996" y="3935730"/>
            <a:ext cx="82296" cy="82296"/>
          </a:xfrm>
          <a:prstGeom prst="ellipse">
            <a:avLst/>
          </a:prstGeom>
          <a:solidFill>
            <a:srgbClr val="53BE70"/>
          </a:solidFill>
          <a:ln>
            <a:noFill/>
          </a:ln>
          <a:effectLst/>
        </p:spPr>
        <p:txBody>
          <a:bodyPr rtlCol="0" anchor="ctr"/>
          <a:lstStyle/>
          <a:p>
            <a:endParaRPr lang="de-DE"/>
          </a:p>
        </p:txBody>
      </p:sp>
      <p:sp>
        <p:nvSpPr>
          <p:cNvPr id="248" name="Certificate Management Milestone"/>
          <p:cNvSpPr txBox="1"/>
          <p:nvPr/>
        </p:nvSpPr>
        <p:spPr>
          <a:xfrm>
            <a:off x="8074724"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Sep 2026</a:t>
            </a:r>
          </a:p>
        </p:txBody>
      </p:sp>
      <p:sp>
        <p:nvSpPr>
          <p:cNvPr id="249" name="Product Carbon Footprint Row Divider Next critical milestone"/>
          <p:cNvSpPr/>
          <p:nvPr/>
        </p:nvSpPr>
        <p:spPr>
          <a:xfrm>
            <a:off x="9325737" y="3835146"/>
            <a:ext cx="1228154" cy="6401"/>
          </a:xfrm>
          <a:prstGeom prst="rect">
            <a:avLst/>
          </a:prstGeom>
          <a:solidFill>
            <a:srgbClr val="E2E8EC"/>
          </a:solidFill>
          <a:ln>
            <a:noFill/>
          </a:ln>
          <a:effectLst/>
        </p:spPr>
        <p:txBody>
          <a:bodyPr rtlCol="0" anchor="ctr"/>
          <a:lstStyle/>
          <a:p>
            <a:endParaRPr lang="de-DE"/>
          </a:p>
        </p:txBody>
      </p:sp>
      <p:sp>
        <p:nvSpPr>
          <p:cNvPr id="250" name="Product Carbon Footprint Milestone Dot"/>
          <p:cNvSpPr/>
          <p:nvPr/>
        </p:nvSpPr>
        <p:spPr>
          <a:xfrm>
            <a:off x="9325737" y="3935730"/>
            <a:ext cx="82296" cy="82296"/>
          </a:xfrm>
          <a:prstGeom prst="ellipse">
            <a:avLst/>
          </a:prstGeom>
          <a:solidFill>
            <a:srgbClr val="53BE70"/>
          </a:solidFill>
          <a:ln>
            <a:noFill/>
          </a:ln>
          <a:effectLst/>
        </p:spPr>
        <p:txBody>
          <a:bodyPr rtlCol="0" anchor="ctr"/>
          <a:lstStyle/>
          <a:p>
            <a:endParaRPr lang="de-DE"/>
          </a:p>
        </p:txBody>
      </p:sp>
      <p:sp>
        <p:nvSpPr>
          <p:cNvPr id="251" name="Product Carbon Footprint Milestone"/>
          <p:cNvSpPr txBox="1"/>
          <p:nvPr/>
        </p:nvSpPr>
        <p:spPr>
          <a:xfrm>
            <a:off x="9435465"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15 Oct 2026</a:t>
            </a:r>
          </a:p>
        </p:txBody>
      </p:sp>
      <p:sp>
        <p:nvSpPr>
          <p:cNvPr id="252" name="N-Tier Row Divider Next critical milestone"/>
          <p:cNvSpPr/>
          <p:nvPr/>
        </p:nvSpPr>
        <p:spPr>
          <a:xfrm>
            <a:off x="10686478" y="3835146"/>
            <a:ext cx="1228154" cy="6401"/>
          </a:xfrm>
          <a:prstGeom prst="rect">
            <a:avLst/>
          </a:prstGeom>
          <a:solidFill>
            <a:srgbClr val="E2E8EC"/>
          </a:solidFill>
          <a:ln>
            <a:noFill/>
          </a:ln>
          <a:effectLst/>
        </p:spPr>
        <p:txBody>
          <a:bodyPr rtlCol="0" anchor="ctr"/>
          <a:lstStyle/>
          <a:p>
            <a:endParaRPr lang="de-DE"/>
          </a:p>
        </p:txBody>
      </p:sp>
      <p:sp>
        <p:nvSpPr>
          <p:cNvPr id="253" name="N-Tier Milestone"/>
          <p:cNvSpPr txBox="1"/>
          <p:nvPr/>
        </p:nvSpPr>
        <p:spPr>
          <a:xfrm>
            <a:off x="10686478" y="389458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i="1" kern="0" dirty="0">
                <a:solidFill>
                  <a:srgbClr val="9AA6AD"/>
                </a:solidFill>
                <a:latin typeface="Segoe UI" pitchFamily="34" charset="0"/>
                <a:ea typeface="Segoe UI" pitchFamily="34" charset="-122"/>
                <a:cs typeface="Segoe UI" pitchFamily="34" charset="-120"/>
              </a:rPr>
              <a:t>No critical milestone</a:t>
            </a:r>
          </a:p>
        </p:txBody>
      </p:sp>
      <p:sp>
        <p:nvSpPr>
          <p:cNvPr id="254" name="Row Label Dimensions"/>
          <p:cNvSpPr txBox="1"/>
          <p:nvPr/>
        </p:nvSpPr>
        <p:spPr>
          <a:xfrm>
            <a:off x="228600" y="4488180"/>
            <a:ext cx="822960" cy="110032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Dimensions</a:t>
            </a:r>
          </a:p>
        </p:txBody>
      </p:sp>
      <p:sp>
        <p:nvSpPr>
          <p:cNvPr id="255" name="Quality Row Divider Dimensions"/>
          <p:cNvSpPr/>
          <p:nvPr/>
        </p:nvSpPr>
        <p:spPr>
          <a:xfrm>
            <a:off x="1161288" y="4428744"/>
            <a:ext cx="1228154" cy="6401"/>
          </a:xfrm>
          <a:prstGeom prst="rect">
            <a:avLst/>
          </a:prstGeom>
          <a:solidFill>
            <a:srgbClr val="E2E8EC"/>
          </a:solidFill>
          <a:ln>
            <a:noFill/>
          </a:ln>
          <a:effectLst/>
        </p:spPr>
        <p:txBody>
          <a:bodyPr rtlCol="0" anchor="ctr"/>
          <a:lstStyle/>
          <a:p>
            <a:endParaRPr lang="de-DE"/>
          </a:p>
        </p:txBody>
      </p:sp>
      <p:sp>
        <p:nvSpPr>
          <p:cNvPr id="256" name="Quality Dim Dot External · CX Association"/>
          <p:cNvSpPr/>
          <p:nvPr/>
        </p:nvSpPr>
        <p:spPr>
          <a:xfrm>
            <a:off x="1161288" y="4529328"/>
            <a:ext cx="82296" cy="82296"/>
          </a:xfrm>
          <a:prstGeom prst="ellipse">
            <a:avLst/>
          </a:prstGeom>
          <a:solidFill>
            <a:srgbClr val="53BE70"/>
          </a:solidFill>
          <a:ln>
            <a:noFill/>
          </a:ln>
          <a:effectLst/>
        </p:spPr>
        <p:txBody>
          <a:bodyPr rtlCol="0" anchor="ctr"/>
          <a:lstStyle/>
          <a:p>
            <a:endParaRPr lang="de-DE"/>
          </a:p>
        </p:txBody>
      </p:sp>
      <p:sp>
        <p:nvSpPr>
          <p:cNvPr id="257" name="Quality Dim External · CX Association"/>
          <p:cNvSpPr txBox="1"/>
          <p:nvPr/>
        </p:nvSpPr>
        <p:spPr>
          <a:xfrm>
            <a:off x="1271016"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58" name="Quality Dim Dot Business"/>
          <p:cNvSpPr/>
          <p:nvPr/>
        </p:nvSpPr>
        <p:spPr>
          <a:xfrm>
            <a:off x="1161288" y="4853432"/>
            <a:ext cx="82296" cy="82296"/>
          </a:xfrm>
          <a:prstGeom prst="ellipse">
            <a:avLst/>
          </a:prstGeom>
          <a:solidFill>
            <a:srgbClr val="F0B135"/>
          </a:solidFill>
          <a:ln>
            <a:noFill/>
          </a:ln>
          <a:effectLst/>
        </p:spPr>
        <p:txBody>
          <a:bodyPr rtlCol="0" anchor="ctr"/>
          <a:lstStyle/>
          <a:p>
            <a:endParaRPr lang="de-DE"/>
          </a:p>
        </p:txBody>
      </p:sp>
      <p:sp>
        <p:nvSpPr>
          <p:cNvPr id="259" name="Quality Dim Business"/>
          <p:cNvSpPr txBox="1"/>
          <p:nvPr/>
        </p:nvSpPr>
        <p:spPr>
          <a:xfrm>
            <a:off x="1271016"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60" name="Quality Dim Dot Data Provisioning"/>
          <p:cNvSpPr/>
          <p:nvPr/>
        </p:nvSpPr>
        <p:spPr>
          <a:xfrm>
            <a:off x="1161288" y="5031486"/>
            <a:ext cx="82296" cy="82296"/>
          </a:xfrm>
          <a:prstGeom prst="ellipse">
            <a:avLst/>
          </a:prstGeom>
          <a:solidFill>
            <a:srgbClr val="F0B135"/>
          </a:solidFill>
          <a:ln>
            <a:noFill/>
          </a:ln>
          <a:effectLst/>
        </p:spPr>
        <p:txBody>
          <a:bodyPr rtlCol="0" anchor="ctr"/>
          <a:lstStyle/>
          <a:p>
            <a:endParaRPr lang="de-DE"/>
          </a:p>
        </p:txBody>
      </p:sp>
      <p:sp>
        <p:nvSpPr>
          <p:cNvPr id="261" name="Quality Dim Data Provisioning"/>
          <p:cNvSpPr txBox="1"/>
          <p:nvPr/>
        </p:nvSpPr>
        <p:spPr>
          <a:xfrm>
            <a:off x="1271016"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62" name="Quality Dim Dot Technical"/>
          <p:cNvSpPr/>
          <p:nvPr/>
        </p:nvSpPr>
        <p:spPr>
          <a:xfrm>
            <a:off x="1161288" y="5209540"/>
            <a:ext cx="82296" cy="82296"/>
          </a:xfrm>
          <a:prstGeom prst="ellipse">
            <a:avLst/>
          </a:prstGeom>
          <a:solidFill>
            <a:srgbClr val="F0B135"/>
          </a:solidFill>
          <a:ln>
            <a:noFill/>
          </a:ln>
          <a:effectLst/>
        </p:spPr>
        <p:txBody>
          <a:bodyPr rtlCol="0" anchor="ctr"/>
          <a:lstStyle/>
          <a:p>
            <a:endParaRPr lang="de-DE"/>
          </a:p>
        </p:txBody>
      </p:sp>
      <p:sp>
        <p:nvSpPr>
          <p:cNvPr id="263" name="Quality Dim Technical"/>
          <p:cNvSpPr txBox="1"/>
          <p:nvPr/>
        </p:nvSpPr>
        <p:spPr>
          <a:xfrm>
            <a:off x="1271016"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64" name="Quality Dim Dot Supplier Activation"/>
          <p:cNvSpPr/>
          <p:nvPr/>
        </p:nvSpPr>
        <p:spPr>
          <a:xfrm>
            <a:off x="1161288" y="5387594"/>
            <a:ext cx="82296" cy="82296"/>
          </a:xfrm>
          <a:prstGeom prst="ellipse">
            <a:avLst/>
          </a:prstGeom>
          <a:solidFill>
            <a:srgbClr val="F0B135"/>
          </a:solidFill>
          <a:ln>
            <a:noFill/>
          </a:ln>
          <a:effectLst/>
        </p:spPr>
        <p:txBody>
          <a:bodyPr rtlCol="0" anchor="ctr"/>
          <a:lstStyle/>
          <a:p>
            <a:endParaRPr lang="de-DE"/>
          </a:p>
        </p:txBody>
      </p:sp>
      <p:sp>
        <p:nvSpPr>
          <p:cNvPr id="265" name="Quality Dim Supplier Activation"/>
          <p:cNvSpPr txBox="1"/>
          <p:nvPr/>
        </p:nvSpPr>
        <p:spPr>
          <a:xfrm>
            <a:off x="1271016"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66" name="Battery Passport Row Divider Dimensions"/>
          <p:cNvSpPr/>
          <p:nvPr/>
        </p:nvSpPr>
        <p:spPr>
          <a:xfrm>
            <a:off x="2522029" y="4428744"/>
            <a:ext cx="1228154" cy="6401"/>
          </a:xfrm>
          <a:prstGeom prst="rect">
            <a:avLst/>
          </a:prstGeom>
          <a:solidFill>
            <a:srgbClr val="E2E8EC"/>
          </a:solidFill>
          <a:ln>
            <a:noFill/>
          </a:ln>
          <a:effectLst/>
        </p:spPr>
        <p:txBody>
          <a:bodyPr rtlCol="0" anchor="ctr"/>
          <a:lstStyle/>
          <a:p>
            <a:endParaRPr lang="de-DE"/>
          </a:p>
        </p:txBody>
      </p:sp>
      <p:sp>
        <p:nvSpPr>
          <p:cNvPr id="267" name="Battery Passport Dim Dot External · CX Association"/>
          <p:cNvSpPr/>
          <p:nvPr/>
        </p:nvSpPr>
        <p:spPr>
          <a:xfrm>
            <a:off x="2522029" y="4529328"/>
            <a:ext cx="82296" cy="82296"/>
          </a:xfrm>
          <a:prstGeom prst="ellipse">
            <a:avLst/>
          </a:prstGeom>
          <a:solidFill>
            <a:srgbClr val="F0B135"/>
          </a:solidFill>
          <a:ln>
            <a:noFill/>
          </a:ln>
          <a:effectLst/>
        </p:spPr>
        <p:txBody>
          <a:bodyPr rtlCol="0" anchor="ctr"/>
          <a:lstStyle/>
          <a:p>
            <a:endParaRPr lang="de-DE"/>
          </a:p>
        </p:txBody>
      </p:sp>
      <p:sp>
        <p:nvSpPr>
          <p:cNvPr id="268" name="Battery Passport Dim External · CX Association"/>
          <p:cNvSpPr txBox="1"/>
          <p:nvPr/>
        </p:nvSpPr>
        <p:spPr>
          <a:xfrm>
            <a:off x="2631758"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69" name="Battery Passport Dim Dot Business"/>
          <p:cNvSpPr/>
          <p:nvPr/>
        </p:nvSpPr>
        <p:spPr>
          <a:xfrm>
            <a:off x="2522029" y="4853432"/>
            <a:ext cx="82296" cy="82296"/>
          </a:xfrm>
          <a:prstGeom prst="ellipse">
            <a:avLst/>
          </a:prstGeom>
          <a:solidFill>
            <a:srgbClr val="F0B135"/>
          </a:solidFill>
          <a:ln>
            <a:noFill/>
          </a:ln>
          <a:effectLst/>
        </p:spPr>
        <p:txBody>
          <a:bodyPr rtlCol="0" anchor="ctr"/>
          <a:lstStyle/>
          <a:p>
            <a:endParaRPr lang="de-DE"/>
          </a:p>
        </p:txBody>
      </p:sp>
      <p:sp>
        <p:nvSpPr>
          <p:cNvPr id="270" name="Battery Passport Dim Business"/>
          <p:cNvSpPr txBox="1"/>
          <p:nvPr/>
        </p:nvSpPr>
        <p:spPr>
          <a:xfrm>
            <a:off x="2631758"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71" name="Battery Passport Dim Dot Data Provisioning"/>
          <p:cNvSpPr/>
          <p:nvPr/>
        </p:nvSpPr>
        <p:spPr>
          <a:xfrm>
            <a:off x="2522029" y="5031486"/>
            <a:ext cx="82296" cy="82296"/>
          </a:xfrm>
          <a:prstGeom prst="ellipse">
            <a:avLst/>
          </a:prstGeom>
          <a:solidFill>
            <a:srgbClr val="53BE70"/>
          </a:solidFill>
          <a:ln>
            <a:noFill/>
          </a:ln>
          <a:effectLst/>
        </p:spPr>
        <p:txBody>
          <a:bodyPr rtlCol="0" anchor="ctr"/>
          <a:lstStyle/>
          <a:p>
            <a:endParaRPr lang="de-DE"/>
          </a:p>
        </p:txBody>
      </p:sp>
      <p:sp>
        <p:nvSpPr>
          <p:cNvPr id="272" name="Battery Passport Dim Data Provisioning"/>
          <p:cNvSpPr txBox="1"/>
          <p:nvPr/>
        </p:nvSpPr>
        <p:spPr>
          <a:xfrm>
            <a:off x="2631758"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73" name="Battery Passport Dim Dot Technical"/>
          <p:cNvSpPr/>
          <p:nvPr/>
        </p:nvSpPr>
        <p:spPr>
          <a:xfrm>
            <a:off x="2522029" y="5209540"/>
            <a:ext cx="82296" cy="82296"/>
          </a:xfrm>
          <a:prstGeom prst="ellipse">
            <a:avLst/>
          </a:prstGeom>
          <a:solidFill>
            <a:srgbClr val="53BE70"/>
          </a:solidFill>
          <a:ln>
            <a:noFill/>
          </a:ln>
          <a:effectLst/>
        </p:spPr>
        <p:txBody>
          <a:bodyPr rtlCol="0" anchor="ctr"/>
          <a:lstStyle/>
          <a:p>
            <a:endParaRPr lang="de-DE"/>
          </a:p>
        </p:txBody>
      </p:sp>
      <p:sp>
        <p:nvSpPr>
          <p:cNvPr id="274" name="Battery Passport Dim Technical"/>
          <p:cNvSpPr txBox="1"/>
          <p:nvPr/>
        </p:nvSpPr>
        <p:spPr>
          <a:xfrm>
            <a:off x="2631758"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75" name="Battery Passport Dim Dot Supplier Activation"/>
          <p:cNvSpPr/>
          <p:nvPr/>
        </p:nvSpPr>
        <p:spPr>
          <a:xfrm>
            <a:off x="2522029" y="5387594"/>
            <a:ext cx="82296" cy="82296"/>
          </a:xfrm>
          <a:prstGeom prst="ellipse">
            <a:avLst/>
          </a:prstGeom>
          <a:solidFill>
            <a:srgbClr val="53BE70"/>
          </a:solidFill>
          <a:ln>
            <a:noFill/>
          </a:ln>
          <a:effectLst/>
        </p:spPr>
        <p:txBody>
          <a:bodyPr rtlCol="0" anchor="ctr"/>
          <a:lstStyle/>
          <a:p>
            <a:endParaRPr lang="de-DE"/>
          </a:p>
        </p:txBody>
      </p:sp>
      <p:sp>
        <p:nvSpPr>
          <p:cNvPr id="276" name="Battery Passport Dim Supplier Activation"/>
          <p:cNvSpPr txBox="1"/>
          <p:nvPr/>
        </p:nvSpPr>
        <p:spPr>
          <a:xfrm>
            <a:off x="2631758"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77" name="Product Passes Row Divider Dimensions"/>
          <p:cNvSpPr/>
          <p:nvPr/>
        </p:nvSpPr>
        <p:spPr>
          <a:xfrm>
            <a:off x="3882771" y="4428744"/>
            <a:ext cx="1228154" cy="6401"/>
          </a:xfrm>
          <a:prstGeom prst="rect">
            <a:avLst/>
          </a:prstGeom>
          <a:solidFill>
            <a:srgbClr val="E2E8EC"/>
          </a:solidFill>
          <a:ln>
            <a:noFill/>
          </a:ln>
          <a:effectLst/>
        </p:spPr>
        <p:txBody>
          <a:bodyPr rtlCol="0" anchor="ctr"/>
          <a:lstStyle/>
          <a:p>
            <a:endParaRPr lang="de-DE"/>
          </a:p>
        </p:txBody>
      </p:sp>
      <p:sp>
        <p:nvSpPr>
          <p:cNvPr id="278" name="Product Passes Dim Dot External · CX Association"/>
          <p:cNvSpPr/>
          <p:nvPr/>
        </p:nvSpPr>
        <p:spPr>
          <a:xfrm>
            <a:off x="3882771" y="4529328"/>
            <a:ext cx="82296" cy="82296"/>
          </a:xfrm>
          <a:prstGeom prst="ellipse">
            <a:avLst/>
          </a:prstGeom>
          <a:solidFill>
            <a:srgbClr val="F0B135"/>
          </a:solidFill>
          <a:ln>
            <a:noFill/>
          </a:ln>
          <a:effectLst/>
        </p:spPr>
        <p:txBody>
          <a:bodyPr rtlCol="0" anchor="ctr"/>
          <a:lstStyle/>
          <a:p>
            <a:endParaRPr lang="de-DE"/>
          </a:p>
        </p:txBody>
      </p:sp>
      <p:sp>
        <p:nvSpPr>
          <p:cNvPr id="279" name="Product Passes Dim External · CX Association"/>
          <p:cNvSpPr txBox="1"/>
          <p:nvPr/>
        </p:nvSpPr>
        <p:spPr>
          <a:xfrm>
            <a:off x="3992499"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80" name="Product Passes Dim Dot Business"/>
          <p:cNvSpPr/>
          <p:nvPr/>
        </p:nvSpPr>
        <p:spPr>
          <a:xfrm>
            <a:off x="3882771" y="4853432"/>
            <a:ext cx="82296" cy="82296"/>
          </a:xfrm>
          <a:prstGeom prst="ellipse">
            <a:avLst/>
          </a:prstGeom>
          <a:solidFill>
            <a:srgbClr val="F0B135"/>
          </a:solidFill>
          <a:ln>
            <a:noFill/>
          </a:ln>
          <a:effectLst/>
        </p:spPr>
        <p:txBody>
          <a:bodyPr rtlCol="0" anchor="ctr"/>
          <a:lstStyle/>
          <a:p>
            <a:endParaRPr lang="de-DE"/>
          </a:p>
        </p:txBody>
      </p:sp>
      <p:sp>
        <p:nvSpPr>
          <p:cNvPr id="281" name="Product Passes Dim Business"/>
          <p:cNvSpPr txBox="1"/>
          <p:nvPr/>
        </p:nvSpPr>
        <p:spPr>
          <a:xfrm>
            <a:off x="3992499"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82" name="Product Passes Dim Dot Data Provisioning"/>
          <p:cNvSpPr/>
          <p:nvPr/>
        </p:nvSpPr>
        <p:spPr>
          <a:xfrm>
            <a:off x="3882771" y="5031486"/>
            <a:ext cx="82296" cy="82296"/>
          </a:xfrm>
          <a:prstGeom prst="ellipse">
            <a:avLst/>
          </a:prstGeom>
          <a:solidFill>
            <a:srgbClr val="53BE70"/>
          </a:solidFill>
          <a:ln>
            <a:noFill/>
          </a:ln>
          <a:effectLst/>
        </p:spPr>
        <p:txBody>
          <a:bodyPr rtlCol="0" anchor="ctr"/>
          <a:lstStyle/>
          <a:p>
            <a:endParaRPr lang="de-DE"/>
          </a:p>
        </p:txBody>
      </p:sp>
      <p:sp>
        <p:nvSpPr>
          <p:cNvPr id="283" name="Product Passes Dim Data Provisioning"/>
          <p:cNvSpPr txBox="1"/>
          <p:nvPr/>
        </p:nvSpPr>
        <p:spPr>
          <a:xfrm>
            <a:off x="3992499"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84" name="Product Passes Dim Dot Technical"/>
          <p:cNvSpPr/>
          <p:nvPr/>
        </p:nvSpPr>
        <p:spPr>
          <a:xfrm>
            <a:off x="3882771" y="5209540"/>
            <a:ext cx="82296" cy="82296"/>
          </a:xfrm>
          <a:prstGeom prst="ellipse">
            <a:avLst/>
          </a:prstGeom>
          <a:solidFill>
            <a:srgbClr val="53BE70"/>
          </a:solidFill>
          <a:ln>
            <a:noFill/>
          </a:ln>
          <a:effectLst/>
        </p:spPr>
        <p:txBody>
          <a:bodyPr rtlCol="0" anchor="ctr"/>
          <a:lstStyle/>
          <a:p>
            <a:endParaRPr lang="de-DE"/>
          </a:p>
        </p:txBody>
      </p:sp>
      <p:sp>
        <p:nvSpPr>
          <p:cNvPr id="285" name="Product Passes Dim Technical"/>
          <p:cNvSpPr txBox="1"/>
          <p:nvPr/>
        </p:nvSpPr>
        <p:spPr>
          <a:xfrm>
            <a:off x="3992499"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86" name="Product Passes Dim Dot Supplier Activation"/>
          <p:cNvSpPr/>
          <p:nvPr/>
        </p:nvSpPr>
        <p:spPr>
          <a:xfrm>
            <a:off x="3882771" y="5387594"/>
            <a:ext cx="82296" cy="82296"/>
          </a:xfrm>
          <a:prstGeom prst="ellipse">
            <a:avLst/>
          </a:prstGeom>
          <a:solidFill>
            <a:srgbClr val="53BE70"/>
          </a:solidFill>
          <a:ln>
            <a:noFill/>
          </a:ln>
          <a:effectLst/>
        </p:spPr>
        <p:txBody>
          <a:bodyPr rtlCol="0" anchor="ctr"/>
          <a:lstStyle/>
          <a:p>
            <a:endParaRPr lang="de-DE"/>
          </a:p>
        </p:txBody>
      </p:sp>
      <p:sp>
        <p:nvSpPr>
          <p:cNvPr id="287" name="Product Passes Dim Supplier Activation"/>
          <p:cNvSpPr txBox="1"/>
          <p:nvPr/>
        </p:nvSpPr>
        <p:spPr>
          <a:xfrm>
            <a:off x="3992499"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88" name="PURIS Row Divider Dimensions"/>
          <p:cNvSpPr/>
          <p:nvPr/>
        </p:nvSpPr>
        <p:spPr>
          <a:xfrm>
            <a:off x="5243512" y="4428744"/>
            <a:ext cx="1228154" cy="6401"/>
          </a:xfrm>
          <a:prstGeom prst="rect">
            <a:avLst/>
          </a:prstGeom>
          <a:solidFill>
            <a:srgbClr val="E2E8EC"/>
          </a:solidFill>
          <a:ln>
            <a:noFill/>
          </a:ln>
          <a:effectLst/>
        </p:spPr>
        <p:txBody>
          <a:bodyPr rtlCol="0" anchor="ctr"/>
          <a:lstStyle/>
          <a:p>
            <a:endParaRPr lang="de-DE"/>
          </a:p>
        </p:txBody>
      </p:sp>
      <p:sp>
        <p:nvSpPr>
          <p:cNvPr id="289" name="PURIS Dim Dot External · CX Association"/>
          <p:cNvSpPr/>
          <p:nvPr/>
        </p:nvSpPr>
        <p:spPr>
          <a:xfrm>
            <a:off x="5243512" y="4529328"/>
            <a:ext cx="82296" cy="82296"/>
          </a:xfrm>
          <a:prstGeom prst="ellipse">
            <a:avLst/>
          </a:prstGeom>
          <a:solidFill>
            <a:srgbClr val="53BE70"/>
          </a:solidFill>
          <a:ln>
            <a:noFill/>
          </a:ln>
          <a:effectLst/>
        </p:spPr>
        <p:txBody>
          <a:bodyPr rtlCol="0" anchor="ctr"/>
          <a:lstStyle/>
          <a:p>
            <a:endParaRPr lang="de-DE"/>
          </a:p>
        </p:txBody>
      </p:sp>
      <p:sp>
        <p:nvSpPr>
          <p:cNvPr id="290" name="PURIS Dim External · CX Association"/>
          <p:cNvSpPr txBox="1"/>
          <p:nvPr/>
        </p:nvSpPr>
        <p:spPr>
          <a:xfrm>
            <a:off x="5353240"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91" name="PURIS Dim Dot Business"/>
          <p:cNvSpPr/>
          <p:nvPr/>
        </p:nvSpPr>
        <p:spPr>
          <a:xfrm>
            <a:off x="5243512" y="4853432"/>
            <a:ext cx="82296" cy="82296"/>
          </a:xfrm>
          <a:prstGeom prst="ellipse">
            <a:avLst/>
          </a:prstGeom>
          <a:solidFill>
            <a:srgbClr val="F0B135"/>
          </a:solidFill>
          <a:ln>
            <a:noFill/>
          </a:ln>
          <a:effectLst/>
        </p:spPr>
        <p:txBody>
          <a:bodyPr rtlCol="0" anchor="ctr"/>
          <a:lstStyle/>
          <a:p>
            <a:endParaRPr lang="de-DE"/>
          </a:p>
        </p:txBody>
      </p:sp>
      <p:sp>
        <p:nvSpPr>
          <p:cNvPr id="292" name="PURIS Dim Business"/>
          <p:cNvSpPr txBox="1"/>
          <p:nvPr/>
        </p:nvSpPr>
        <p:spPr>
          <a:xfrm>
            <a:off x="5353240"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93" name="PURIS Dim Dot Data Provisioning"/>
          <p:cNvSpPr/>
          <p:nvPr/>
        </p:nvSpPr>
        <p:spPr>
          <a:xfrm>
            <a:off x="5243512" y="5031486"/>
            <a:ext cx="82296" cy="82296"/>
          </a:xfrm>
          <a:prstGeom prst="ellipse">
            <a:avLst/>
          </a:prstGeom>
          <a:solidFill>
            <a:srgbClr val="F0B135"/>
          </a:solidFill>
          <a:ln>
            <a:noFill/>
          </a:ln>
          <a:effectLst/>
        </p:spPr>
        <p:txBody>
          <a:bodyPr rtlCol="0" anchor="ctr"/>
          <a:lstStyle/>
          <a:p>
            <a:endParaRPr lang="de-DE"/>
          </a:p>
        </p:txBody>
      </p:sp>
      <p:sp>
        <p:nvSpPr>
          <p:cNvPr id="294" name="PURIS Dim Data Provisioning"/>
          <p:cNvSpPr txBox="1"/>
          <p:nvPr/>
        </p:nvSpPr>
        <p:spPr>
          <a:xfrm>
            <a:off x="5353240"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95" name="PURIS Dim Dot Technical"/>
          <p:cNvSpPr/>
          <p:nvPr/>
        </p:nvSpPr>
        <p:spPr>
          <a:xfrm>
            <a:off x="5243512" y="5209540"/>
            <a:ext cx="82296" cy="82296"/>
          </a:xfrm>
          <a:prstGeom prst="ellipse">
            <a:avLst/>
          </a:prstGeom>
          <a:solidFill>
            <a:srgbClr val="F0B135"/>
          </a:solidFill>
          <a:ln>
            <a:noFill/>
          </a:ln>
          <a:effectLst/>
        </p:spPr>
        <p:txBody>
          <a:bodyPr rtlCol="0" anchor="ctr"/>
          <a:lstStyle/>
          <a:p>
            <a:endParaRPr lang="de-DE"/>
          </a:p>
        </p:txBody>
      </p:sp>
      <p:sp>
        <p:nvSpPr>
          <p:cNvPr id="296" name="PURIS Dim Technical"/>
          <p:cNvSpPr txBox="1"/>
          <p:nvPr/>
        </p:nvSpPr>
        <p:spPr>
          <a:xfrm>
            <a:off x="5353240"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97" name="PURIS Dim Dot Supplier Activation"/>
          <p:cNvSpPr/>
          <p:nvPr/>
        </p:nvSpPr>
        <p:spPr>
          <a:xfrm>
            <a:off x="5243512" y="5387594"/>
            <a:ext cx="82296" cy="82296"/>
          </a:xfrm>
          <a:prstGeom prst="ellipse">
            <a:avLst/>
          </a:prstGeom>
          <a:solidFill>
            <a:srgbClr val="F0B135"/>
          </a:solidFill>
          <a:ln>
            <a:noFill/>
          </a:ln>
          <a:effectLst/>
        </p:spPr>
        <p:txBody>
          <a:bodyPr rtlCol="0" anchor="ctr"/>
          <a:lstStyle/>
          <a:p>
            <a:endParaRPr lang="de-DE"/>
          </a:p>
        </p:txBody>
      </p:sp>
      <p:sp>
        <p:nvSpPr>
          <p:cNvPr id="298" name="PURIS Dim Supplier Activation"/>
          <p:cNvSpPr txBox="1"/>
          <p:nvPr/>
        </p:nvSpPr>
        <p:spPr>
          <a:xfrm>
            <a:off x="5353240"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99" name="Business Partner Data Mgmt Row Divider Dimensions"/>
          <p:cNvSpPr/>
          <p:nvPr/>
        </p:nvSpPr>
        <p:spPr>
          <a:xfrm>
            <a:off x="6604254" y="4428744"/>
            <a:ext cx="1228154" cy="6401"/>
          </a:xfrm>
          <a:prstGeom prst="rect">
            <a:avLst/>
          </a:prstGeom>
          <a:solidFill>
            <a:srgbClr val="E2E8EC"/>
          </a:solidFill>
          <a:ln>
            <a:noFill/>
          </a:ln>
          <a:effectLst/>
        </p:spPr>
        <p:txBody>
          <a:bodyPr rtlCol="0" anchor="ctr"/>
          <a:lstStyle/>
          <a:p>
            <a:endParaRPr lang="de-DE"/>
          </a:p>
        </p:txBody>
      </p:sp>
      <p:sp>
        <p:nvSpPr>
          <p:cNvPr id="300" name="Business Partner Data Mgmt Dim Dot External · CX Association"/>
          <p:cNvSpPr/>
          <p:nvPr/>
        </p:nvSpPr>
        <p:spPr>
          <a:xfrm>
            <a:off x="6604254" y="4529328"/>
            <a:ext cx="82296" cy="82296"/>
          </a:xfrm>
          <a:prstGeom prst="ellipse">
            <a:avLst/>
          </a:prstGeom>
          <a:solidFill>
            <a:srgbClr val="F0B135"/>
          </a:solidFill>
          <a:ln>
            <a:noFill/>
          </a:ln>
          <a:effectLst/>
        </p:spPr>
        <p:txBody>
          <a:bodyPr rtlCol="0" anchor="ctr"/>
          <a:lstStyle/>
          <a:p>
            <a:endParaRPr lang="de-DE"/>
          </a:p>
        </p:txBody>
      </p:sp>
      <p:sp>
        <p:nvSpPr>
          <p:cNvPr id="301" name="Business Partner Data Mgmt Dim External · CX Association"/>
          <p:cNvSpPr txBox="1"/>
          <p:nvPr/>
        </p:nvSpPr>
        <p:spPr>
          <a:xfrm>
            <a:off x="6713982"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02" name="Business Partner Data Mgmt Dim Dot Business"/>
          <p:cNvSpPr/>
          <p:nvPr/>
        </p:nvSpPr>
        <p:spPr>
          <a:xfrm>
            <a:off x="6604254" y="4853432"/>
            <a:ext cx="82296" cy="82296"/>
          </a:xfrm>
          <a:prstGeom prst="ellipse">
            <a:avLst/>
          </a:prstGeom>
          <a:solidFill>
            <a:srgbClr val="F0B135"/>
          </a:solidFill>
          <a:ln>
            <a:noFill/>
          </a:ln>
          <a:effectLst/>
        </p:spPr>
        <p:txBody>
          <a:bodyPr rtlCol="0" anchor="ctr"/>
          <a:lstStyle/>
          <a:p>
            <a:endParaRPr lang="de-DE"/>
          </a:p>
        </p:txBody>
      </p:sp>
      <p:sp>
        <p:nvSpPr>
          <p:cNvPr id="303" name="Business Partner Data Mgmt Dim Business"/>
          <p:cNvSpPr txBox="1"/>
          <p:nvPr/>
        </p:nvSpPr>
        <p:spPr>
          <a:xfrm>
            <a:off x="6713982"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04" name="Business Partner Data Mgmt Dim Dot Data Provisioning"/>
          <p:cNvSpPr/>
          <p:nvPr/>
        </p:nvSpPr>
        <p:spPr>
          <a:xfrm>
            <a:off x="6604254" y="5031486"/>
            <a:ext cx="82296" cy="82296"/>
          </a:xfrm>
          <a:prstGeom prst="ellipse">
            <a:avLst/>
          </a:prstGeom>
          <a:solidFill>
            <a:srgbClr val="53BE70"/>
          </a:solidFill>
          <a:ln>
            <a:noFill/>
          </a:ln>
          <a:effectLst/>
        </p:spPr>
        <p:txBody>
          <a:bodyPr rtlCol="0" anchor="ctr"/>
          <a:lstStyle/>
          <a:p>
            <a:endParaRPr lang="de-DE"/>
          </a:p>
        </p:txBody>
      </p:sp>
      <p:sp>
        <p:nvSpPr>
          <p:cNvPr id="305" name="Business Partner Data Mgmt Dim Data Provisioning"/>
          <p:cNvSpPr txBox="1"/>
          <p:nvPr/>
        </p:nvSpPr>
        <p:spPr>
          <a:xfrm>
            <a:off x="6713982"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06" name="Business Partner Data Mgmt Dim Dot Technical"/>
          <p:cNvSpPr/>
          <p:nvPr/>
        </p:nvSpPr>
        <p:spPr>
          <a:xfrm>
            <a:off x="6604254" y="5209540"/>
            <a:ext cx="82296" cy="82296"/>
          </a:xfrm>
          <a:prstGeom prst="ellipse">
            <a:avLst/>
          </a:prstGeom>
          <a:solidFill>
            <a:srgbClr val="F0B135"/>
          </a:solidFill>
          <a:ln>
            <a:noFill/>
          </a:ln>
          <a:effectLst/>
        </p:spPr>
        <p:txBody>
          <a:bodyPr rtlCol="0" anchor="ctr"/>
          <a:lstStyle/>
          <a:p>
            <a:endParaRPr lang="de-DE"/>
          </a:p>
        </p:txBody>
      </p:sp>
      <p:sp>
        <p:nvSpPr>
          <p:cNvPr id="307" name="Business Partner Data Mgmt Dim Technical"/>
          <p:cNvSpPr txBox="1"/>
          <p:nvPr/>
        </p:nvSpPr>
        <p:spPr>
          <a:xfrm>
            <a:off x="6713982"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08" name="Business Partner Data Mgmt Dim Dot Supplier Activation"/>
          <p:cNvSpPr/>
          <p:nvPr/>
        </p:nvSpPr>
        <p:spPr>
          <a:xfrm>
            <a:off x="6604254" y="5387594"/>
            <a:ext cx="82296" cy="82296"/>
          </a:xfrm>
          <a:prstGeom prst="ellipse">
            <a:avLst/>
          </a:prstGeom>
          <a:solidFill>
            <a:srgbClr val="CFD6DB"/>
          </a:solidFill>
          <a:ln>
            <a:noFill/>
          </a:ln>
          <a:effectLst/>
        </p:spPr>
        <p:txBody>
          <a:bodyPr rtlCol="0" anchor="ctr"/>
          <a:lstStyle/>
          <a:p>
            <a:endParaRPr lang="de-DE"/>
          </a:p>
        </p:txBody>
      </p:sp>
      <p:sp>
        <p:nvSpPr>
          <p:cNvPr id="309" name="Business Partner Data Mgmt Dim Supplier Activation"/>
          <p:cNvSpPr txBox="1"/>
          <p:nvPr/>
        </p:nvSpPr>
        <p:spPr>
          <a:xfrm>
            <a:off x="6713982"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10" name="Certificate Management Row Divider Dimensions"/>
          <p:cNvSpPr/>
          <p:nvPr/>
        </p:nvSpPr>
        <p:spPr>
          <a:xfrm>
            <a:off x="7964996" y="4428744"/>
            <a:ext cx="1228154" cy="6401"/>
          </a:xfrm>
          <a:prstGeom prst="rect">
            <a:avLst/>
          </a:prstGeom>
          <a:solidFill>
            <a:srgbClr val="E2E8EC"/>
          </a:solidFill>
          <a:ln>
            <a:noFill/>
          </a:ln>
          <a:effectLst/>
        </p:spPr>
        <p:txBody>
          <a:bodyPr rtlCol="0" anchor="ctr"/>
          <a:lstStyle/>
          <a:p>
            <a:endParaRPr lang="de-DE"/>
          </a:p>
        </p:txBody>
      </p:sp>
      <p:sp>
        <p:nvSpPr>
          <p:cNvPr id="311" name="Certificate Management Dim Dot External · CX Association"/>
          <p:cNvSpPr/>
          <p:nvPr/>
        </p:nvSpPr>
        <p:spPr>
          <a:xfrm>
            <a:off x="7964996" y="4529328"/>
            <a:ext cx="82296" cy="82296"/>
          </a:xfrm>
          <a:prstGeom prst="ellipse">
            <a:avLst/>
          </a:prstGeom>
          <a:solidFill>
            <a:srgbClr val="F0B135"/>
          </a:solidFill>
          <a:ln>
            <a:noFill/>
          </a:ln>
          <a:effectLst/>
        </p:spPr>
        <p:txBody>
          <a:bodyPr rtlCol="0" anchor="ctr"/>
          <a:lstStyle/>
          <a:p>
            <a:endParaRPr lang="de-DE"/>
          </a:p>
        </p:txBody>
      </p:sp>
      <p:sp>
        <p:nvSpPr>
          <p:cNvPr id="312" name="Certificate Management Dim External · CX Association"/>
          <p:cNvSpPr txBox="1"/>
          <p:nvPr/>
        </p:nvSpPr>
        <p:spPr>
          <a:xfrm>
            <a:off x="8074724"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13" name="Certificate Management Dim Dot Business"/>
          <p:cNvSpPr/>
          <p:nvPr/>
        </p:nvSpPr>
        <p:spPr>
          <a:xfrm>
            <a:off x="7964996" y="4853432"/>
            <a:ext cx="82296" cy="82296"/>
          </a:xfrm>
          <a:prstGeom prst="ellipse">
            <a:avLst/>
          </a:prstGeom>
          <a:solidFill>
            <a:srgbClr val="53BE70"/>
          </a:solidFill>
          <a:ln>
            <a:noFill/>
          </a:ln>
          <a:effectLst/>
        </p:spPr>
        <p:txBody>
          <a:bodyPr rtlCol="0" anchor="ctr"/>
          <a:lstStyle/>
          <a:p>
            <a:endParaRPr lang="de-DE"/>
          </a:p>
        </p:txBody>
      </p:sp>
      <p:sp>
        <p:nvSpPr>
          <p:cNvPr id="314" name="Certificate Management Dim Business"/>
          <p:cNvSpPr txBox="1"/>
          <p:nvPr/>
        </p:nvSpPr>
        <p:spPr>
          <a:xfrm>
            <a:off x="8074724"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15" name="Certificate Management Dim Dot Data Provisioning"/>
          <p:cNvSpPr/>
          <p:nvPr/>
        </p:nvSpPr>
        <p:spPr>
          <a:xfrm>
            <a:off x="7964996" y="5031486"/>
            <a:ext cx="82296" cy="82296"/>
          </a:xfrm>
          <a:prstGeom prst="ellipse">
            <a:avLst/>
          </a:prstGeom>
          <a:solidFill>
            <a:srgbClr val="53BE70"/>
          </a:solidFill>
          <a:ln>
            <a:noFill/>
          </a:ln>
          <a:effectLst/>
        </p:spPr>
        <p:txBody>
          <a:bodyPr rtlCol="0" anchor="ctr"/>
          <a:lstStyle/>
          <a:p>
            <a:endParaRPr lang="de-DE"/>
          </a:p>
        </p:txBody>
      </p:sp>
      <p:sp>
        <p:nvSpPr>
          <p:cNvPr id="316" name="Certificate Management Dim Data Provisioning"/>
          <p:cNvSpPr txBox="1"/>
          <p:nvPr/>
        </p:nvSpPr>
        <p:spPr>
          <a:xfrm>
            <a:off x="8074724"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17" name="Certificate Management Dim Dot Technical"/>
          <p:cNvSpPr/>
          <p:nvPr/>
        </p:nvSpPr>
        <p:spPr>
          <a:xfrm>
            <a:off x="7964996" y="5209540"/>
            <a:ext cx="82296" cy="82296"/>
          </a:xfrm>
          <a:prstGeom prst="ellipse">
            <a:avLst/>
          </a:prstGeom>
          <a:solidFill>
            <a:srgbClr val="53BE70"/>
          </a:solidFill>
          <a:ln>
            <a:noFill/>
          </a:ln>
          <a:effectLst/>
        </p:spPr>
        <p:txBody>
          <a:bodyPr rtlCol="0" anchor="ctr"/>
          <a:lstStyle/>
          <a:p>
            <a:endParaRPr lang="de-DE"/>
          </a:p>
        </p:txBody>
      </p:sp>
      <p:sp>
        <p:nvSpPr>
          <p:cNvPr id="318" name="Certificate Management Dim Technical"/>
          <p:cNvSpPr txBox="1"/>
          <p:nvPr/>
        </p:nvSpPr>
        <p:spPr>
          <a:xfrm>
            <a:off x="8074724"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19" name="Certificate Management Dim Dot Supplier Activation"/>
          <p:cNvSpPr/>
          <p:nvPr/>
        </p:nvSpPr>
        <p:spPr>
          <a:xfrm>
            <a:off x="7964996" y="5387594"/>
            <a:ext cx="82296" cy="82296"/>
          </a:xfrm>
          <a:prstGeom prst="ellipse">
            <a:avLst/>
          </a:prstGeom>
          <a:solidFill>
            <a:srgbClr val="53BE70"/>
          </a:solidFill>
          <a:ln>
            <a:noFill/>
          </a:ln>
          <a:effectLst/>
        </p:spPr>
        <p:txBody>
          <a:bodyPr rtlCol="0" anchor="ctr"/>
          <a:lstStyle/>
          <a:p>
            <a:endParaRPr lang="de-DE"/>
          </a:p>
        </p:txBody>
      </p:sp>
      <p:sp>
        <p:nvSpPr>
          <p:cNvPr id="320" name="Certificate Management Dim Supplier Activation"/>
          <p:cNvSpPr txBox="1"/>
          <p:nvPr/>
        </p:nvSpPr>
        <p:spPr>
          <a:xfrm>
            <a:off x="8074724"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21" name="Product Carbon Footprint Row Divider Dimensions"/>
          <p:cNvSpPr/>
          <p:nvPr/>
        </p:nvSpPr>
        <p:spPr>
          <a:xfrm>
            <a:off x="9325737" y="4428744"/>
            <a:ext cx="1228154" cy="6401"/>
          </a:xfrm>
          <a:prstGeom prst="rect">
            <a:avLst/>
          </a:prstGeom>
          <a:solidFill>
            <a:srgbClr val="E2E8EC"/>
          </a:solidFill>
          <a:ln>
            <a:noFill/>
          </a:ln>
          <a:effectLst/>
        </p:spPr>
        <p:txBody>
          <a:bodyPr rtlCol="0" anchor="ctr"/>
          <a:lstStyle/>
          <a:p>
            <a:endParaRPr lang="de-DE"/>
          </a:p>
        </p:txBody>
      </p:sp>
      <p:sp>
        <p:nvSpPr>
          <p:cNvPr id="322" name="Product Carbon Footprint Dim Dot External · CX Association"/>
          <p:cNvSpPr/>
          <p:nvPr/>
        </p:nvSpPr>
        <p:spPr>
          <a:xfrm>
            <a:off x="9325737" y="4529328"/>
            <a:ext cx="82296" cy="82296"/>
          </a:xfrm>
          <a:prstGeom prst="ellipse">
            <a:avLst/>
          </a:prstGeom>
          <a:solidFill>
            <a:srgbClr val="53BE70"/>
          </a:solidFill>
          <a:ln>
            <a:noFill/>
          </a:ln>
          <a:effectLst/>
        </p:spPr>
        <p:txBody>
          <a:bodyPr rtlCol="0" anchor="ctr"/>
          <a:lstStyle/>
          <a:p>
            <a:endParaRPr lang="de-DE"/>
          </a:p>
        </p:txBody>
      </p:sp>
      <p:sp>
        <p:nvSpPr>
          <p:cNvPr id="323" name="Product Carbon Footprint Dim External · CX Association"/>
          <p:cNvSpPr txBox="1"/>
          <p:nvPr/>
        </p:nvSpPr>
        <p:spPr>
          <a:xfrm>
            <a:off x="9435465"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24" name="Product Carbon Footprint Dim Dot Business"/>
          <p:cNvSpPr/>
          <p:nvPr/>
        </p:nvSpPr>
        <p:spPr>
          <a:xfrm>
            <a:off x="9325737" y="4853432"/>
            <a:ext cx="82296" cy="82296"/>
          </a:xfrm>
          <a:prstGeom prst="ellipse">
            <a:avLst/>
          </a:prstGeom>
          <a:solidFill>
            <a:srgbClr val="53BE70"/>
          </a:solidFill>
          <a:ln>
            <a:noFill/>
          </a:ln>
          <a:effectLst/>
        </p:spPr>
        <p:txBody>
          <a:bodyPr rtlCol="0" anchor="ctr"/>
          <a:lstStyle/>
          <a:p>
            <a:endParaRPr lang="de-DE"/>
          </a:p>
        </p:txBody>
      </p:sp>
      <p:sp>
        <p:nvSpPr>
          <p:cNvPr id="325" name="Product Carbon Footprint Dim Business"/>
          <p:cNvSpPr txBox="1"/>
          <p:nvPr/>
        </p:nvSpPr>
        <p:spPr>
          <a:xfrm>
            <a:off x="9435465"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26" name="Product Carbon Footprint Dim Dot Data Provisioning"/>
          <p:cNvSpPr/>
          <p:nvPr/>
        </p:nvSpPr>
        <p:spPr>
          <a:xfrm>
            <a:off x="9325737" y="5031486"/>
            <a:ext cx="82296" cy="82296"/>
          </a:xfrm>
          <a:prstGeom prst="ellipse">
            <a:avLst/>
          </a:prstGeom>
          <a:solidFill>
            <a:srgbClr val="53BE70"/>
          </a:solidFill>
          <a:ln>
            <a:noFill/>
          </a:ln>
          <a:effectLst/>
        </p:spPr>
        <p:txBody>
          <a:bodyPr rtlCol="0" anchor="ctr"/>
          <a:lstStyle/>
          <a:p>
            <a:endParaRPr lang="de-DE"/>
          </a:p>
        </p:txBody>
      </p:sp>
      <p:sp>
        <p:nvSpPr>
          <p:cNvPr id="327" name="Product Carbon Footprint Dim Data Provisioning"/>
          <p:cNvSpPr txBox="1"/>
          <p:nvPr/>
        </p:nvSpPr>
        <p:spPr>
          <a:xfrm>
            <a:off x="9435465"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28" name="Product Carbon Footprint Dim Dot Technical"/>
          <p:cNvSpPr/>
          <p:nvPr/>
        </p:nvSpPr>
        <p:spPr>
          <a:xfrm>
            <a:off x="9325737" y="5209540"/>
            <a:ext cx="82296" cy="82296"/>
          </a:xfrm>
          <a:prstGeom prst="ellipse">
            <a:avLst/>
          </a:prstGeom>
          <a:solidFill>
            <a:srgbClr val="53BE70"/>
          </a:solidFill>
          <a:ln>
            <a:noFill/>
          </a:ln>
          <a:effectLst/>
        </p:spPr>
        <p:txBody>
          <a:bodyPr rtlCol="0" anchor="ctr"/>
          <a:lstStyle/>
          <a:p>
            <a:endParaRPr lang="de-DE"/>
          </a:p>
        </p:txBody>
      </p:sp>
      <p:sp>
        <p:nvSpPr>
          <p:cNvPr id="329" name="Product Carbon Footprint Dim Technical"/>
          <p:cNvSpPr txBox="1"/>
          <p:nvPr/>
        </p:nvSpPr>
        <p:spPr>
          <a:xfrm>
            <a:off x="9435465"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30" name="Product Carbon Footprint Dim Dot Supplier Activation"/>
          <p:cNvSpPr/>
          <p:nvPr/>
        </p:nvSpPr>
        <p:spPr>
          <a:xfrm>
            <a:off x="9325737" y="5387594"/>
            <a:ext cx="82296" cy="82296"/>
          </a:xfrm>
          <a:prstGeom prst="ellipse">
            <a:avLst/>
          </a:prstGeom>
          <a:solidFill>
            <a:srgbClr val="53BE70"/>
          </a:solidFill>
          <a:ln>
            <a:noFill/>
          </a:ln>
          <a:effectLst/>
        </p:spPr>
        <p:txBody>
          <a:bodyPr rtlCol="0" anchor="ctr"/>
          <a:lstStyle/>
          <a:p>
            <a:endParaRPr lang="de-DE"/>
          </a:p>
        </p:txBody>
      </p:sp>
      <p:sp>
        <p:nvSpPr>
          <p:cNvPr id="331" name="Product Carbon Footprint Dim Supplier Activation"/>
          <p:cNvSpPr txBox="1"/>
          <p:nvPr/>
        </p:nvSpPr>
        <p:spPr>
          <a:xfrm>
            <a:off x="9435465"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32" name="N-Tier Row Divider Dimensions"/>
          <p:cNvSpPr/>
          <p:nvPr/>
        </p:nvSpPr>
        <p:spPr>
          <a:xfrm>
            <a:off x="10686478" y="4428744"/>
            <a:ext cx="1228154" cy="6401"/>
          </a:xfrm>
          <a:prstGeom prst="rect">
            <a:avLst/>
          </a:prstGeom>
          <a:solidFill>
            <a:srgbClr val="E2E8EC"/>
          </a:solidFill>
          <a:ln>
            <a:noFill/>
          </a:ln>
          <a:effectLst/>
        </p:spPr>
        <p:txBody>
          <a:bodyPr rtlCol="0" anchor="ctr"/>
          <a:lstStyle/>
          <a:p>
            <a:endParaRPr lang="de-DE"/>
          </a:p>
        </p:txBody>
      </p:sp>
      <p:sp>
        <p:nvSpPr>
          <p:cNvPr id="333" name="N-Tier Dim Dot External · CX Association"/>
          <p:cNvSpPr/>
          <p:nvPr/>
        </p:nvSpPr>
        <p:spPr>
          <a:xfrm>
            <a:off x="10686478" y="4529328"/>
            <a:ext cx="82296" cy="82296"/>
          </a:xfrm>
          <a:prstGeom prst="ellipse">
            <a:avLst/>
          </a:prstGeom>
          <a:solidFill>
            <a:srgbClr val="53BE70"/>
          </a:solidFill>
          <a:ln>
            <a:noFill/>
          </a:ln>
          <a:effectLst/>
        </p:spPr>
        <p:txBody>
          <a:bodyPr rtlCol="0" anchor="ctr"/>
          <a:lstStyle/>
          <a:p>
            <a:endParaRPr lang="de-DE"/>
          </a:p>
        </p:txBody>
      </p:sp>
      <p:sp>
        <p:nvSpPr>
          <p:cNvPr id="334" name="N-Tier Dim External · CX Association"/>
          <p:cNvSpPr txBox="1"/>
          <p:nvPr/>
        </p:nvSpPr>
        <p:spPr>
          <a:xfrm>
            <a:off x="10796206"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35" name="N-Tier Dim Dot Business"/>
          <p:cNvSpPr/>
          <p:nvPr/>
        </p:nvSpPr>
        <p:spPr>
          <a:xfrm>
            <a:off x="10686478" y="4853432"/>
            <a:ext cx="82296" cy="82296"/>
          </a:xfrm>
          <a:prstGeom prst="ellipse">
            <a:avLst/>
          </a:prstGeom>
          <a:solidFill>
            <a:srgbClr val="CFD6DB"/>
          </a:solidFill>
          <a:ln>
            <a:noFill/>
          </a:ln>
          <a:effectLst/>
        </p:spPr>
        <p:txBody>
          <a:bodyPr rtlCol="0" anchor="ctr"/>
          <a:lstStyle/>
          <a:p>
            <a:endParaRPr lang="de-DE"/>
          </a:p>
        </p:txBody>
      </p:sp>
      <p:sp>
        <p:nvSpPr>
          <p:cNvPr id="336" name="N-Tier Dim Business"/>
          <p:cNvSpPr txBox="1"/>
          <p:nvPr/>
        </p:nvSpPr>
        <p:spPr>
          <a:xfrm>
            <a:off x="10796206"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37" name="N-Tier Dim Dot Data Provisioning"/>
          <p:cNvSpPr/>
          <p:nvPr/>
        </p:nvSpPr>
        <p:spPr>
          <a:xfrm>
            <a:off x="10686478" y="5031486"/>
            <a:ext cx="82296" cy="82296"/>
          </a:xfrm>
          <a:prstGeom prst="ellipse">
            <a:avLst/>
          </a:prstGeom>
          <a:solidFill>
            <a:srgbClr val="CFD6DB"/>
          </a:solidFill>
          <a:ln>
            <a:noFill/>
          </a:ln>
          <a:effectLst/>
        </p:spPr>
        <p:txBody>
          <a:bodyPr rtlCol="0" anchor="ctr"/>
          <a:lstStyle/>
          <a:p>
            <a:endParaRPr lang="de-DE"/>
          </a:p>
        </p:txBody>
      </p:sp>
      <p:sp>
        <p:nvSpPr>
          <p:cNvPr id="338" name="N-Tier Dim Data Provisioning"/>
          <p:cNvSpPr txBox="1"/>
          <p:nvPr/>
        </p:nvSpPr>
        <p:spPr>
          <a:xfrm>
            <a:off x="10796206"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39" name="N-Tier Dim Dot Technical"/>
          <p:cNvSpPr/>
          <p:nvPr/>
        </p:nvSpPr>
        <p:spPr>
          <a:xfrm>
            <a:off x="10686478" y="5209540"/>
            <a:ext cx="82296" cy="82296"/>
          </a:xfrm>
          <a:prstGeom prst="ellipse">
            <a:avLst/>
          </a:prstGeom>
          <a:solidFill>
            <a:srgbClr val="CFD6DB"/>
          </a:solidFill>
          <a:ln>
            <a:noFill/>
          </a:ln>
          <a:effectLst/>
        </p:spPr>
        <p:txBody>
          <a:bodyPr rtlCol="0" anchor="ctr"/>
          <a:lstStyle/>
          <a:p>
            <a:endParaRPr lang="de-DE"/>
          </a:p>
        </p:txBody>
      </p:sp>
      <p:sp>
        <p:nvSpPr>
          <p:cNvPr id="340" name="N-Tier Dim Technical"/>
          <p:cNvSpPr txBox="1"/>
          <p:nvPr/>
        </p:nvSpPr>
        <p:spPr>
          <a:xfrm>
            <a:off x="10796206"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41" name="N-Tier Dim Dot Supplier Activation"/>
          <p:cNvSpPr/>
          <p:nvPr/>
        </p:nvSpPr>
        <p:spPr>
          <a:xfrm>
            <a:off x="10686478" y="5387594"/>
            <a:ext cx="82296" cy="82296"/>
          </a:xfrm>
          <a:prstGeom prst="ellipse">
            <a:avLst/>
          </a:prstGeom>
          <a:solidFill>
            <a:srgbClr val="CFD6DB"/>
          </a:solidFill>
          <a:ln>
            <a:noFill/>
          </a:ln>
          <a:effectLst/>
        </p:spPr>
        <p:txBody>
          <a:bodyPr rtlCol="0" anchor="ctr"/>
          <a:lstStyle/>
          <a:p>
            <a:endParaRPr lang="de-DE"/>
          </a:p>
        </p:txBody>
      </p:sp>
      <p:sp>
        <p:nvSpPr>
          <p:cNvPr id="342" name="N-Tier Dim Supplier Activation"/>
          <p:cNvSpPr txBox="1"/>
          <p:nvPr/>
        </p:nvSpPr>
        <p:spPr>
          <a:xfrm>
            <a:off x="10796206"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43" name="Row Label Decision required"/>
          <p:cNvSpPr txBox="1"/>
          <p:nvPr/>
        </p:nvSpPr>
        <p:spPr>
          <a:xfrm>
            <a:off x="228600" y="5647944"/>
            <a:ext cx="822960" cy="9723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Decision required</a:t>
            </a:r>
          </a:p>
        </p:txBody>
      </p:sp>
      <p:sp>
        <p:nvSpPr>
          <p:cNvPr id="344" name="Quality Row Divider Decision required"/>
          <p:cNvSpPr/>
          <p:nvPr/>
        </p:nvSpPr>
        <p:spPr>
          <a:xfrm>
            <a:off x="1161288" y="5588508"/>
            <a:ext cx="1228154" cy="6401"/>
          </a:xfrm>
          <a:prstGeom prst="rect">
            <a:avLst/>
          </a:prstGeom>
          <a:solidFill>
            <a:srgbClr val="E2E8EC"/>
          </a:solidFill>
          <a:ln>
            <a:noFill/>
          </a:ln>
          <a:effectLst/>
        </p:spPr>
        <p:txBody>
          <a:bodyPr rtlCol="0" anchor="ctr"/>
          <a:lstStyle/>
          <a:p>
            <a:endParaRPr lang="de-DE"/>
          </a:p>
        </p:txBody>
      </p:sp>
      <p:sp>
        <p:nvSpPr>
          <p:cNvPr id="345" name="Quality Decision Flag"/>
          <p:cNvSpPr/>
          <p:nvPr/>
        </p:nvSpPr>
        <p:spPr>
          <a:xfrm>
            <a:off x="1161288" y="5647944"/>
            <a:ext cx="155448" cy="155448"/>
          </a:xfrm>
          <a:prstGeom prst="ellipse">
            <a:avLst/>
          </a:prstGeom>
          <a:solidFill>
            <a:srgbClr val="001E50"/>
          </a:solidFill>
          <a:ln>
            <a:noFill/>
          </a:ln>
          <a:effectLst/>
        </p:spPr>
        <p:txBody>
          <a:bodyPr rtlCol="0" anchor="ctr"/>
          <a:lstStyle/>
          <a:p>
            <a:endParaRPr lang="de-DE"/>
          </a:p>
        </p:txBody>
      </p:sp>
      <p:sp>
        <p:nvSpPr>
          <p:cNvPr id="346" name="Quality Decision No"/>
          <p:cNvSpPr txBox="1"/>
          <p:nvPr/>
        </p:nvSpPr>
        <p:spPr>
          <a:xfrm>
            <a:off x="1161288" y="5647944"/>
            <a:ext cx="155448" cy="155448"/>
          </a:xfrm>
          <a:prstGeom prst="rect">
            <a:avLst/>
          </a:prstGeom>
          <a:noFill/>
          <a:ln>
            <a:noFill/>
          </a:ln>
        </p:spPr>
        <p:txBody>
          <a:bodyPr wrap="squar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1</a:t>
            </a:r>
          </a:p>
        </p:txBody>
      </p:sp>
      <p:sp>
        <p:nvSpPr>
          <p:cNvPr id="347" name="Quality Decision"/>
          <p:cNvSpPr txBox="1"/>
          <p:nvPr/>
        </p:nvSpPr>
        <p:spPr>
          <a:xfrm>
            <a:off x="1161288" y="5647944"/>
            <a:ext cx="1228154" cy="894588"/>
          </a:xfrm>
          <a:prstGeom prst="rect">
            <a:avLst/>
          </a:prstGeom>
          <a:noFill/>
          <a:ln>
            <a:noFill/>
          </a:ln>
        </p:spPr>
        <p:txBody>
          <a:bodyPr wrap="square" lIns="0" tIns="0" rIns="0" bIns="0" rtlCol="0" anchor="t">
            <a:noAutofit/>
          </a:bodyPr>
          <a:lstStyle/>
          <a:p>
            <a:pPr marL="0" indent="210312" algn="l">
              <a:lnSpc>
                <a:spcPts val="1150"/>
              </a:lnSpc>
              <a:buNone/>
            </a:pPr>
            <a:r>
              <a:rPr lang="de-DE" sz="10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48" name="Battery Passport Row Divider Decision required"/>
          <p:cNvSpPr/>
          <p:nvPr/>
        </p:nvSpPr>
        <p:spPr>
          <a:xfrm>
            <a:off x="2522029" y="5588508"/>
            <a:ext cx="1228154" cy="6401"/>
          </a:xfrm>
          <a:prstGeom prst="rect">
            <a:avLst/>
          </a:prstGeom>
          <a:solidFill>
            <a:srgbClr val="E2E8EC"/>
          </a:solidFill>
          <a:ln>
            <a:noFill/>
          </a:ln>
          <a:effectLst/>
        </p:spPr>
        <p:txBody>
          <a:bodyPr rtlCol="0" anchor="ctr"/>
          <a:lstStyle/>
          <a:p>
            <a:endParaRPr lang="de-DE"/>
          </a:p>
        </p:txBody>
      </p:sp>
      <p:sp>
        <p:nvSpPr>
          <p:cNvPr id="349" name="Battery Passport Decision None"/>
          <p:cNvSpPr txBox="1"/>
          <p:nvPr/>
        </p:nvSpPr>
        <p:spPr>
          <a:xfrm>
            <a:off x="2522029"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50" name="Product Passes Row Divider Decision required"/>
          <p:cNvSpPr/>
          <p:nvPr/>
        </p:nvSpPr>
        <p:spPr>
          <a:xfrm>
            <a:off x="3882771" y="5588508"/>
            <a:ext cx="1228154" cy="6401"/>
          </a:xfrm>
          <a:prstGeom prst="rect">
            <a:avLst/>
          </a:prstGeom>
          <a:solidFill>
            <a:srgbClr val="E2E8EC"/>
          </a:solidFill>
          <a:ln>
            <a:noFill/>
          </a:ln>
          <a:effectLst/>
        </p:spPr>
        <p:txBody>
          <a:bodyPr rtlCol="0" anchor="ctr"/>
          <a:lstStyle/>
          <a:p>
            <a:endParaRPr lang="de-DE"/>
          </a:p>
        </p:txBody>
      </p:sp>
      <p:sp>
        <p:nvSpPr>
          <p:cNvPr id="351" name="Product Passes Decision None"/>
          <p:cNvSpPr txBox="1"/>
          <p:nvPr/>
        </p:nvSpPr>
        <p:spPr>
          <a:xfrm>
            <a:off x="3882771"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52" name="PURIS Row Divider Decision required"/>
          <p:cNvSpPr/>
          <p:nvPr/>
        </p:nvSpPr>
        <p:spPr>
          <a:xfrm>
            <a:off x="5243512" y="5588508"/>
            <a:ext cx="1228154" cy="6401"/>
          </a:xfrm>
          <a:prstGeom prst="rect">
            <a:avLst/>
          </a:prstGeom>
          <a:solidFill>
            <a:srgbClr val="E2E8EC"/>
          </a:solidFill>
          <a:ln>
            <a:noFill/>
          </a:ln>
          <a:effectLst/>
        </p:spPr>
        <p:txBody>
          <a:bodyPr rtlCol="0" anchor="ctr"/>
          <a:lstStyle/>
          <a:p>
            <a:endParaRPr lang="de-DE"/>
          </a:p>
        </p:txBody>
      </p:sp>
      <p:sp>
        <p:nvSpPr>
          <p:cNvPr id="353" name="PURIS Decision Flag"/>
          <p:cNvSpPr/>
          <p:nvPr/>
        </p:nvSpPr>
        <p:spPr>
          <a:xfrm>
            <a:off x="5243512" y="5647944"/>
            <a:ext cx="155448" cy="155448"/>
          </a:xfrm>
          <a:prstGeom prst="ellipse">
            <a:avLst/>
          </a:prstGeom>
          <a:solidFill>
            <a:srgbClr val="001E50"/>
          </a:solidFill>
          <a:ln>
            <a:noFill/>
          </a:ln>
          <a:effectLst/>
        </p:spPr>
        <p:txBody>
          <a:bodyPr rtlCol="0" anchor="ctr"/>
          <a:lstStyle/>
          <a:p>
            <a:endParaRPr lang="de-DE"/>
          </a:p>
        </p:txBody>
      </p:sp>
      <p:sp>
        <p:nvSpPr>
          <p:cNvPr id="354" name="PURIS Decision No"/>
          <p:cNvSpPr txBox="1"/>
          <p:nvPr/>
        </p:nvSpPr>
        <p:spPr>
          <a:xfrm>
            <a:off x="5243512" y="5647944"/>
            <a:ext cx="155448" cy="155448"/>
          </a:xfrm>
          <a:prstGeom prst="rect">
            <a:avLst/>
          </a:prstGeom>
          <a:noFill/>
          <a:ln>
            <a:noFill/>
          </a:ln>
        </p:spPr>
        <p:txBody>
          <a:bodyPr wrap="squar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2</a:t>
            </a:r>
          </a:p>
        </p:txBody>
      </p:sp>
      <p:sp>
        <p:nvSpPr>
          <p:cNvPr id="355" name="PURIS Decision"/>
          <p:cNvSpPr txBox="1"/>
          <p:nvPr/>
        </p:nvSpPr>
        <p:spPr>
          <a:xfrm>
            <a:off x="5243512" y="5647944"/>
            <a:ext cx="1228154" cy="748538"/>
          </a:xfrm>
          <a:prstGeom prst="rect">
            <a:avLst/>
          </a:prstGeom>
          <a:noFill/>
          <a:ln>
            <a:noFill/>
          </a:ln>
        </p:spPr>
        <p:txBody>
          <a:bodyPr wrap="square" lIns="0" tIns="0" rIns="0" bIns="0" rtlCol="0" anchor="t">
            <a:noAutofit/>
          </a:bodyPr>
          <a:lstStyle/>
          <a:p>
            <a:pPr marL="0" indent="210312" algn="l">
              <a:lnSpc>
                <a:spcPts val="1150"/>
              </a:lnSpc>
              <a:buNone/>
            </a:pPr>
            <a:r>
              <a:rPr lang="de-DE" sz="10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356" name="Business Partner Data Mgmt Row Divider Decision required"/>
          <p:cNvSpPr/>
          <p:nvPr/>
        </p:nvSpPr>
        <p:spPr>
          <a:xfrm>
            <a:off x="6604254" y="5588508"/>
            <a:ext cx="1228154" cy="6401"/>
          </a:xfrm>
          <a:prstGeom prst="rect">
            <a:avLst/>
          </a:prstGeom>
          <a:solidFill>
            <a:srgbClr val="E2E8EC"/>
          </a:solidFill>
          <a:ln>
            <a:noFill/>
          </a:ln>
          <a:effectLst/>
        </p:spPr>
        <p:txBody>
          <a:bodyPr rtlCol="0" anchor="ctr"/>
          <a:lstStyle/>
          <a:p>
            <a:endParaRPr lang="de-DE"/>
          </a:p>
        </p:txBody>
      </p:sp>
      <p:sp>
        <p:nvSpPr>
          <p:cNvPr id="357" name="Business Partner Data Mgmt Decision None"/>
          <p:cNvSpPr txBox="1"/>
          <p:nvPr/>
        </p:nvSpPr>
        <p:spPr>
          <a:xfrm>
            <a:off x="6604254"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58" name="Certificate Management Row Divider Decision required"/>
          <p:cNvSpPr/>
          <p:nvPr/>
        </p:nvSpPr>
        <p:spPr>
          <a:xfrm>
            <a:off x="7964996" y="5588508"/>
            <a:ext cx="1228154" cy="6401"/>
          </a:xfrm>
          <a:prstGeom prst="rect">
            <a:avLst/>
          </a:prstGeom>
          <a:solidFill>
            <a:srgbClr val="E2E8EC"/>
          </a:solidFill>
          <a:ln>
            <a:noFill/>
          </a:ln>
          <a:effectLst/>
        </p:spPr>
        <p:txBody>
          <a:bodyPr rtlCol="0" anchor="ctr"/>
          <a:lstStyle/>
          <a:p>
            <a:endParaRPr lang="de-DE"/>
          </a:p>
        </p:txBody>
      </p:sp>
      <p:sp>
        <p:nvSpPr>
          <p:cNvPr id="359" name="Certificate Management Decision None"/>
          <p:cNvSpPr txBox="1"/>
          <p:nvPr/>
        </p:nvSpPr>
        <p:spPr>
          <a:xfrm>
            <a:off x="7964996"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60" name="Product Carbon Footprint Row Divider Decision required"/>
          <p:cNvSpPr/>
          <p:nvPr/>
        </p:nvSpPr>
        <p:spPr>
          <a:xfrm>
            <a:off x="9325737" y="5588508"/>
            <a:ext cx="1228154" cy="6401"/>
          </a:xfrm>
          <a:prstGeom prst="rect">
            <a:avLst/>
          </a:prstGeom>
          <a:solidFill>
            <a:srgbClr val="E2E8EC"/>
          </a:solidFill>
          <a:ln>
            <a:noFill/>
          </a:ln>
          <a:effectLst/>
        </p:spPr>
        <p:txBody>
          <a:bodyPr rtlCol="0" anchor="ctr"/>
          <a:lstStyle/>
          <a:p>
            <a:endParaRPr lang="de-DE"/>
          </a:p>
        </p:txBody>
      </p:sp>
      <p:sp>
        <p:nvSpPr>
          <p:cNvPr id="361" name="Product Carbon Footprint Decision None"/>
          <p:cNvSpPr txBox="1"/>
          <p:nvPr/>
        </p:nvSpPr>
        <p:spPr>
          <a:xfrm>
            <a:off x="9325737"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62" name="N-Tier Row Divider Decision required"/>
          <p:cNvSpPr/>
          <p:nvPr/>
        </p:nvSpPr>
        <p:spPr>
          <a:xfrm>
            <a:off x="10686478" y="5588508"/>
            <a:ext cx="1228154" cy="6401"/>
          </a:xfrm>
          <a:prstGeom prst="rect">
            <a:avLst/>
          </a:prstGeom>
          <a:solidFill>
            <a:srgbClr val="E2E8EC"/>
          </a:solidFill>
          <a:ln>
            <a:noFill/>
          </a:ln>
          <a:effectLst/>
        </p:spPr>
        <p:txBody>
          <a:bodyPr rtlCol="0" anchor="ctr"/>
          <a:lstStyle/>
          <a:p>
            <a:endParaRPr lang="de-DE"/>
          </a:p>
        </p:txBody>
      </p:sp>
      <p:sp>
        <p:nvSpPr>
          <p:cNvPr id="363" name="N-Tier Decision None"/>
          <p:cNvSpPr txBox="1"/>
          <p:nvPr/>
        </p:nvSpPr>
        <p:spPr>
          <a:xfrm>
            <a:off x="10686478"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