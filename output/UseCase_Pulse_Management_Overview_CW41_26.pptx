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Management Overview CW 41 / 2026 – one card per use case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Use Cases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41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Quality Card"/>
          <p:cNvSpPr/>
          <p:nvPr/>
        </p:nvSpPr>
        <p:spPr>
          <a:xfrm>
            <a:off x="118872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Quality Name"/>
          <p:cNvSpPr txBox="1"/>
          <p:nvPr/>
        </p:nvSpPr>
        <p:spPr>
          <a:xfrm>
            <a:off x="125730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17" name="Col Quality Abbr"/>
          <p:cNvSpPr txBox="1"/>
          <p:nvPr/>
        </p:nvSpPr>
        <p:spPr>
          <a:xfrm>
            <a:off x="1257300"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quality-cx</a:t>
            </a:r>
          </a:p>
        </p:txBody>
      </p:sp>
      <p:sp>
        <p:nvSpPr>
          <p:cNvPr id="118" name="Col Quality Domain Lead"/>
          <p:cNvSpPr txBox="1"/>
          <p:nvPr/>
        </p:nvSpPr>
        <p:spPr>
          <a:xfrm>
            <a:off x="125730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Kutritz (K-GQY)</a:t>
            </a:r>
          </a:p>
        </p:txBody>
      </p:sp>
      <p:sp>
        <p:nvSpPr>
          <p:cNvPr id="119" name="Col Quality Status Bar"/>
          <p:cNvSpPr/>
          <p:nvPr/>
        </p:nvSpPr>
        <p:spPr>
          <a:xfrm>
            <a:off x="1257300" y="2002790"/>
            <a:ext cx="1167574" cy="36576"/>
          </a:xfrm>
          <a:prstGeom prst="roundRect">
            <a:avLst>
              <a:gd name="adj" fmla="val 50000"/>
            </a:avLst>
          </a:prstGeom>
          <a:solidFill>
            <a:srgbClr val="E64343"/>
          </a:solidFill>
          <a:ln>
            <a:noFill/>
          </a:ln>
          <a:effectLst/>
        </p:spPr>
        <p:txBody>
          <a:bodyPr rtlCol="0" anchor="ctr"/>
          <a:lstStyle/>
          <a:p>
            <a:endParaRPr lang="de-DE"/>
          </a:p>
        </p:txBody>
      </p:sp>
      <p:sp>
        <p:nvSpPr>
          <p:cNvPr id="120" name="Col Battery Passport Card"/>
          <p:cNvSpPr/>
          <p:nvPr/>
        </p:nvSpPr>
        <p:spPr>
          <a:xfrm>
            <a:off x="253460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Battery Passport Name"/>
          <p:cNvSpPr txBox="1"/>
          <p:nvPr/>
        </p:nvSpPr>
        <p:spPr>
          <a:xfrm>
            <a:off x="260318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2" name="Col Battery Passport Abbr"/>
          <p:cNvSpPr txBox="1"/>
          <p:nvPr/>
        </p:nvSpPr>
        <p:spPr>
          <a:xfrm>
            <a:off x="2603182"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batt-cx</a:t>
            </a:r>
          </a:p>
        </p:txBody>
      </p:sp>
      <p:sp>
        <p:nvSpPr>
          <p:cNvPr id="123" name="Col Battery Passport Domain Lead"/>
          <p:cNvSpPr txBox="1"/>
          <p:nvPr/>
        </p:nvSpPr>
        <p:spPr>
          <a:xfrm>
            <a:off x="260318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Alp (ZG-R)</a:t>
            </a:r>
          </a:p>
        </p:txBody>
      </p:sp>
      <p:sp>
        <p:nvSpPr>
          <p:cNvPr id="124" name="Col Battery Passport Status Bar"/>
          <p:cNvSpPr/>
          <p:nvPr/>
        </p:nvSpPr>
        <p:spPr>
          <a:xfrm>
            <a:off x="260318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25" name="Col Product Passes Card"/>
          <p:cNvSpPr/>
          <p:nvPr/>
        </p:nvSpPr>
        <p:spPr>
          <a:xfrm>
            <a:off x="388048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Product Passes Name"/>
          <p:cNvSpPr txBox="1"/>
          <p:nvPr/>
        </p:nvSpPr>
        <p:spPr>
          <a:xfrm>
            <a:off x="394906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7" name="Col Product Passes Abbr"/>
          <p:cNvSpPr txBox="1"/>
          <p:nvPr/>
        </p:nvSpPr>
        <p:spPr>
          <a:xfrm>
            <a:off x="3949065"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pass-cx</a:t>
            </a:r>
          </a:p>
        </p:txBody>
      </p:sp>
      <p:sp>
        <p:nvSpPr>
          <p:cNvPr id="128" name="Col Product Passes Domain Lead"/>
          <p:cNvSpPr txBox="1"/>
          <p:nvPr/>
        </p:nvSpPr>
        <p:spPr>
          <a:xfrm>
            <a:off x="394906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Drobir (K-GEP-2)</a:t>
            </a:r>
          </a:p>
        </p:txBody>
      </p:sp>
      <p:sp>
        <p:nvSpPr>
          <p:cNvPr id="129" name="Col Product Passes Status Bar"/>
          <p:cNvSpPr/>
          <p:nvPr/>
        </p:nvSpPr>
        <p:spPr>
          <a:xfrm>
            <a:off x="3949065"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0" name="Col PURIS Card"/>
          <p:cNvSpPr/>
          <p:nvPr/>
        </p:nvSpPr>
        <p:spPr>
          <a:xfrm>
            <a:off x="522636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PURIS Name"/>
          <p:cNvSpPr txBox="1"/>
          <p:nvPr/>
        </p:nvSpPr>
        <p:spPr>
          <a:xfrm>
            <a:off x="529494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2" name="Col PURIS Abbr"/>
          <p:cNvSpPr txBox="1"/>
          <p:nvPr/>
        </p:nvSpPr>
        <p:spPr>
          <a:xfrm>
            <a:off x="529494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puris-cx</a:t>
            </a:r>
          </a:p>
        </p:txBody>
      </p:sp>
      <p:sp>
        <p:nvSpPr>
          <p:cNvPr id="133" name="Col PURIS Domain Lead"/>
          <p:cNvSpPr txBox="1"/>
          <p:nvPr/>
        </p:nvSpPr>
        <p:spPr>
          <a:xfrm>
            <a:off x="529494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Timpe (KL-GP), Behrens (BZ-PX)</a:t>
            </a:r>
          </a:p>
        </p:txBody>
      </p:sp>
      <p:sp>
        <p:nvSpPr>
          <p:cNvPr id="134" name="Col PURIS Status Bar"/>
          <p:cNvSpPr/>
          <p:nvPr/>
        </p:nvSpPr>
        <p:spPr>
          <a:xfrm>
            <a:off x="5294947"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657225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Business Partner Data Mgmt Name"/>
          <p:cNvSpPr txBox="1"/>
          <p:nvPr/>
        </p:nvSpPr>
        <p:spPr>
          <a:xfrm>
            <a:off x="664083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6640830"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Domain Lead"/>
          <p:cNvSpPr txBox="1"/>
          <p:nvPr/>
        </p:nvSpPr>
        <p:spPr>
          <a:xfrm>
            <a:off x="664083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Fehlner (I/BZ)</a:t>
            </a:r>
          </a:p>
        </p:txBody>
      </p:sp>
      <p:sp>
        <p:nvSpPr>
          <p:cNvPr id="139" name="Col Business Partner Data Mgmt Status Bar"/>
          <p:cNvSpPr/>
          <p:nvPr/>
        </p:nvSpPr>
        <p:spPr>
          <a:xfrm>
            <a:off x="6640830"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0" name="Col Certificate Management Card"/>
          <p:cNvSpPr/>
          <p:nvPr/>
        </p:nvSpPr>
        <p:spPr>
          <a:xfrm>
            <a:off x="791813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Certificate Management Name"/>
          <p:cNvSpPr txBox="1"/>
          <p:nvPr/>
        </p:nvSpPr>
        <p:spPr>
          <a:xfrm>
            <a:off x="798671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2" name="Col Certificate Management Abbr"/>
          <p:cNvSpPr txBox="1"/>
          <p:nvPr/>
        </p:nvSpPr>
        <p:spPr>
          <a:xfrm>
            <a:off x="7986712"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cert-cx</a:t>
            </a:r>
          </a:p>
        </p:txBody>
      </p:sp>
      <p:sp>
        <p:nvSpPr>
          <p:cNvPr id="143" name="Col Certificate Management Domain Lead"/>
          <p:cNvSpPr txBox="1"/>
          <p:nvPr/>
        </p:nvSpPr>
        <p:spPr>
          <a:xfrm>
            <a:off x="798671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Poetsch (K-DDX/5)</a:t>
            </a:r>
          </a:p>
        </p:txBody>
      </p:sp>
      <p:sp>
        <p:nvSpPr>
          <p:cNvPr id="144" name="Col Certificate Management Status Bar"/>
          <p:cNvSpPr/>
          <p:nvPr/>
        </p:nvSpPr>
        <p:spPr>
          <a:xfrm>
            <a:off x="798671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5" name="Col Product Carbon Footprint Card"/>
          <p:cNvSpPr/>
          <p:nvPr/>
        </p:nvSpPr>
        <p:spPr>
          <a:xfrm>
            <a:off x="926401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6" name="Col Product Carbon Footprint Name"/>
          <p:cNvSpPr txBox="1"/>
          <p:nvPr/>
        </p:nvSpPr>
        <p:spPr>
          <a:xfrm>
            <a:off x="933259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7" name="Col Product Carbon Footprint Abbr"/>
          <p:cNvSpPr txBox="1"/>
          <p:nvPr/>
        </p:nvSpPr>
        <p:spPr>
          <a:xfrm>
            <a:off x="9332595"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pcf-cx</a:t>
            </a:r>
          </a:p>
        </p:txBody>
      </p:sp>
      <p:sp>
        <p:nvSpPr>
          <p:cNvPr id="148" name="Col Product Carbon Footprint Domain Lead"/>
          <p:cNvSpPr txBox="1"/>
          <p:nvPr/>
        </p:nvSpPr>
        <p:spPr>
          <a:xfrm>
            <a:off x="933259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Dettmer (K-GEN), Voeste (K-GSS)</a:t>
            </a:r>
          </a:p>
        </p:txBody>
      </p:sp>
      <p:sp>
        <p:nvSpPr>
          <p:cNvPr id="149" name="Col Product Carbon Footprint Status Bar"/>
          <p:cNvSpPr/>
          <p:nvPr/>
        </p:nvSpPr>
        <p:spPr>
          <a:xfrm>
            <a:off x="9332595"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0" name="Col N-Tier Card"/>
          <p:cNvSpPr/>
          <p:nvPr/>
        </p:nvSpPr>
        <p:spPr>
          <a:xfrm>
            <a:off x="1060989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51" name="Col N-Tier Name"/>
          <p:cNvSpPr txBox="1"/>
          <p:nvPr/>
        </p:nvSpPr>
        <p:spPr>
          <a:xfrm>
            <a:off x="1067847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N-Tier</a:t>
            </a:r>
          </a:p>
        </p:txBody>
      </p:sp>
      <p:sp>
        <p:nvSpPr>
          <p:cNvPr id="152" name="Col N-Tier Abbr"/>
          <p:cNvSpPr txBox="1"/>
          <p:nvPr/>
        </p:nvSpPr>
        <p:spPr>
          <a:xfrm>
            <a:off x="1067847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ntier-cx</a:t>
            </a:r>
          </a:p>
        </p:txBody>
      </p:sp>
      <p:sp>
        <p:nvSpPr>
          <p:cNvPr id="153" name="Col N-Tier Domain Lead"/>
          <p:cNvSpPr txBox="1"/>
          <p:nvPr/>
        </p:nvSpPr>
        <p:spPr>
          <a:xfrm>
            <a:off x="1067847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Fink (BZI2)</a:t>
            </a:r>
          </a:p>
        </p:txBody>
      </p:sp>
      <p:sp>
        <p:nvSpPr>
          <p:cNvPr id="154" name="Col N-Tier Status Bar"/>
          <p:cNvSpPr/>
          <p:nvPr/>
        </p:nvSpPr>
        <p:spPr>
          <a:xfrm>
            <a:off x="10678477"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56" name="Head Label Domain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57" name="Row Label Overall status"/>
          <p:cNvSpPr txBox="1"/>
          <p:nvPr/>
        </p:nvSpPr>
        <p:spPr>
          <a:xfrm>
            <a:off x="274320" y="2158238"/>
            <a:ext cx="868680" cy="25937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58" name="Quality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59" name="Quality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60" name="Battery Passport Status Pill"/>
          <p:cNvSpPr/>
          <p:nvPr/>
        </p:nvSpPr>
        <p:spPr>
          <a:xfrm>
            <a:off x="260318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1" name="Battery Passport Status Text"/>
          <p:cNvSpPr txBox="1"/>
          <p:nvPr/>
        </p:nvSpPr>
        <p:spPr>
          <a:xfrm>
            <a:off x="260318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2" name="Product Passes Status Pill"/>
          <p:cNvSpPr/>
          <p:nvPr/>
        </p:nvSpPr>
        <p:spPr>
          <a:xfrm>
            <a:off x="3949065"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3" name="Product Passes Status Text"/>
          <p:cNvSpPr txBox="1"/>
          <p:nvPr/>
        </p:nvSpPr>
        <p:spPr>
          <a:xfrm>
            <a:off x="3949065"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4" name="PURIS Status Pill"/>
          <p:cNvSpPr/>
          <p:nvPr/>
        </p:nvSpPr>
        <p:spPr>
          <a:xfrm>
            <a:off x="5294947"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5" name="PURIS Status Text"/>
          <p:cNvSpPr txBox="1"/>
          <p:nvPr/>
        </p:nvSpPr>
        <p:spPr>
          <a:xfrm>
            <a:off x="5294947"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Business Partner Data Mgmt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7" name="Business Partner Data Mgmt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8" name="Certificate Management Status Pill"/>
          <p:cNvSpPr/>
          <p:nvPr/>
        </p:nvSpPr>
        <p:spPr>
          <a:xfrm>
            <a:off x="798671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9" name="Certificate Management Status Text"/>
          <p:cNvSpPr txBox="1"/>
          <p:nvPr/>
        </p:nvSpPr>
        <p:spPr>
          <a:xfrm>
            <a:off x="798671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0" name="Product Carbon Footprint Status Pill"/>
          <p:cNvSpPr/>
          <p:nvPr/>
        </p:nvSpPr>
        <p:spPr>
          <a:xfrm>
            <a:off x="9332595"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1" name="Product Carbon Footprint Status Text"/>
          <p:cNvSpPr txBox="1"/>
          <p:nvPr/>
        </p:nvSpPr>
        <p:spPr>
          <a:xfrm>
            <a:off x="9332595"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2" name="N-Tier Status Pill"/>
          <p:cNvSpPr/>
          <p:nvPr/>
        </p:nvSpPr>
        <p:spPr>
          <a:xfrm>
            <a:off x="10678477"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3" name="N-Tier Status Text"/>
          <p:cNvSpPr txBox="1"/>
          <p:nvPr/>
        </p:nvSpPr>
        <p:spPr>
          <a:xfrm>
            <a:off x="10678477"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4" name="Row Label Phase"/>
          <p:cNvSpPr txBox="1"/>
          <p:nvPr/>
        </p:nvSpPr>
        <p:spPr>
          <a:xfrm>
            <a:off x="274320" y="2481616"/>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Phase</a:t>
            </a:r>
          </a:p>
        </p:txBody>
      </p:sp>
      <p:sp>
        <p:nvSpPr>
          <p:cNvPr id="175" name="Quality Row Divider Phase"/>
          <p:cNvSpPr/>
          <p:nvPr/>
        </p:nvSpPr>
        <p:spPr>
          <a:xfrm>
            <a:off x="1257300" y="2417608"/>
            <a:ext cx="1167574" cy="6401"/>
          </a:xfrm>
          <a:prstGeom prst="rect">
            <a:avLst/>
          </a:prstGeom>
          <a:solidFill>
            <a:srgbClr val="E2E8EC"/>
          </a:solidFill>
          <a:ln>
            <a:noFill/>
          </a:ln>
          <a:effectLst/>
        </p:spPr>
        <p:txBody>
          <a:bodyPr rtlCol="0" anchor="ctr"/>
          <a:lstStyle/>
          <a:p>
            <a:endParaRPr lang="de-DE"/>
          </a:p>
        </p:txBody>
      </p:sp>
      <p:sp>
        <p:nvSpPr>
          <p:cNvPr id="176" name="Quality Phase"/>
          <p:cNvSpPr txBox="1"/>
          <p:nvPr/>
        </p:nvSpPr>
        <p:spPr>
          <a:xfrm>
            <a:off x="125730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7" name="Battery Passport Row Divider Phase"/>
          <p:cNvSpPr/>
          <p:nvPr/>
        </p:nvSpPr>
        <p:spPr>
          <a:xfrm>
            <a:off x="2603182" y="2417608"/>
            <a:ext cx="1167574" cy="6401"/>
          </a:xfrm>
          <a:prstGeom prst="rect">
            <a:avLst/>
          </a:prstGeom>
          <a:solidFill>
            <a:srgbClr val="E2E8EC"/>
          </a:solidFill>
          <a:ln>
            <a:noFill/>
          </a:ln>
          <a:effectLst/>
        </p:spPr>
        <p:txBody>
          <a:bodyPr rtlCol="0" anchor="ctr"/>
          <a:lstStyle/>
          <a:p>
            <a:endParaRPr lang="de-DE"/>
          </a:p>
        </p:txBody>
      </p:sp>
      <p:sp>
        <p:nvSpPr>
          <p:cNvPr id="178" name="Battery Passport Phase"/>
          <p:cNvSpPr txBox="1"/>
          <p:nvPr/>
        </p:nvSpPr>
        <p:spPr>
          <a:xfrm>
            <a:off x="260318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9" name="Product Passes Row Divider Phase"/>
          <p:cNvSpPr/>
          <p:nvPr/>
        </p:nvSpPr>
        <p:spPr>
          <a:xfrm>
            <a:off x="3949065" y="2417608"/>
            <a:ext cx="1167574" cy="6401"/>
          </a:xfrm>
          <a:prstGeom prst="rect">
            <a:avLst/>
          </a:prstGeom>
          <a:solidFill>
            <a:srgbClr val="E2E8EC"/>
          </a:solidFill>
          <a:ln>
            <a:noFill/>
          </a:ln>
          <a:effectLst/>
        </p:spPr>
        <p:txBody>
          <a:bodyPr rtlCol="0" anchor="ctr"/>
          <a:lstStyle/>
          <a:p>
            <a:endParaRPr lang="de-DE"/>
          </a:p>
        </p:txBody>
      </p:sp>
      <p:sp>
        <p:nvSpPr>
          <p:cNvPr id="180" name="Product Passes Phase"/>
          <p:cNvSpPr txBox="1"/>
          <p:nvPr/>
        </p:nvSpPr>
        <p:spPr>
          <a:xfrm>
            <a:off x="3949065" y="2481616"/>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81" name="PURIS Row Divider Phase"/>
          <p:cNvSpPr/>
          <p:nvPr/>
        </p:nvSpPr>
        <p:spPr>
          <a:xfrm>
            <a:off x="5294947" y="2417608"/>
            <a:ext cx="1167574" cy="6401"/>
          </a:xfrm>
          <a:prstGeom prst="rect">
            <a:avLst/>
          </a:prstGeom>
          <a:solidFill>
            <a:srgbClr val="E2E8EC"/>
          </a:solidFill>
          <a:ln>
            <a:noFill/>
          </a:ln>
          <a:effectLst/>
        </p:spPr>
        <p:txBody>
          <a:bodyPr rtlCol="0" anchor="ctr"/>
          <a:lstStyle/>
          <a:p>
            <a:endParaRPr lang="de-DE"/>
          </a:p>
        </p:txBody>
      </p:sp>
      <p:sp>
        <p:nvSpPr>
          <p:cNvPr id="182" name="PURIS Phase"/>
          <p:cNvSpPr txBox="1"/>
          <p:nvPr/>
        </p:nvSpPr>
        <p:spPr>
          <a:xfrm>
            <a:off x="5294947"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3" name="Business Partner Data Mgmt Row Divider Phase"/>
          <p:cNvSpPr/>
          <p:nvPr/>
        </p:nvSpPr>
        <p:spPr>
          <a:xfrm>
            <a:off x="6640830" y="2417608"/>
            <a:ext cx="1167574" cy="6401"/>
          </a:xfrm>
          <a:prstGeom prst="rect">
            <a:avLst/>
          </a:prstGeom>
          <a:solidFill>
            <a:srgbClr val="E2E8EC"/>
          </a:solidFill>
          <a:ln>
            <a:noFill/>
          </a:ln>
          <a:effectLst/>
        </p:spPr>
        <p:txBody>
          <a:bodyPr rtlCol="0" anchor="ctr"/>
          <a:lstStyle/>
          <a:p>
            <a:endParaRPr lang="de-DE"/>
          </a:p>
        </p:txBody>
      </p:sp>
      <p:sp>
        <p:nvSpPr>
          <p:cNvPr id="184" name="Business Partner Data Mgmt Phase"/>
          <p:cNvSpPr txBox="1"/>
          <p:nvPr/>
        </p:nvSpPr>
        <p:spPr>
          <a:xfrm>
            <a:off x="664083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5" name="Certificate Management Row Divider Phase"/>
          <p:cNvSpPr/>
          <p:nvPr/>
        </p:nvSpPr>
        <p:spPr>
          <a:xfrm>
            <a:off x="7986712" y="2417608"/>
            <a:ext cx="1167574" cy="6401"/>
          </a:xfrm>
          <a:prstGeom prst="rect">
            <a:avLst/>
          </a:prstGeom>
          <a:solidFill>
            <a:srgbClr val="E2E8EC"/>
          </a:solidFill>
          <a:ln>
            <a:noFill/>
          </a:ln>
          <a:effectLst/>
        </p:spPr>
        <p:txBody>
          <a:bodyPr rtlCol="0" anchor="ctr"/>
          <a:lstStyle/>
          <a:p>
            <a:endParaRPr lang="de-DE"/>
          </a:p>
        </p:txBody>
      </p:sp>
      <p:sp>
        <p:nvSpPr>
          <p:cNvPr id="186" name="Certificate Management Phase"/>
          <p:cNvSpPr txBox="1"/>
          <p:nvPr/>
        </p:nvSpPr>
        <p:spPr>
          <a:xfrm>
            <a:off x="798671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7" name="Product Carbon Footprint Row Divider Phase"/>
          <p:cNvSpPr/>
          <p:nvPr/>
        </p:nvSpPr>
        <p:spPr>
          <a:xfrm>
            <a:off x="9332595" y="2417608"/>
            <a:ext cx="1167574" cy="6401"/>
          </a:xfrm>
          <a:prstGeom prst="rect">
            <a:avLst/>
          </a:prstGeom>
          <a:solidFill>
            <a:srgbClr val="E2E8EC"/>
          </a:solidFill>
          <a:ln>
            <a:noFill/>
          </a:ln>
          <a:effectLst/>
        </p:spPr>
        <p:txBody>
          <a:bodyPr rtlCol="0" anchor="ctr"/>
          <a:lstStyle/>
          <a:p>
            <a:endParaRPr lang="de-DE"/>
          </a:p>
        </p:txBody>
      </p:sp>
      <p:sp>
        <p:nvSpPr>
          <p:cNvPr id="188" name="Product Carbon Footprint Phase"/>
          <p:cNvSpPr txBox="1"/>
          <p:nvPr/>
        </p:nvSpPr>
        <p:spPr>
          <a:xfrm>
            <a:off x="9332595"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9" name="N-Tier Row Divider Phase"/>
          <p:cNvSpPr/>
          <p:nvPr/>
        </p:nvSpPr>
        <p:spPr>
          <a:xfrm>
            <a:off x="10678477" y="2417608"/>
            <a:ext cx="1167574" cy="6401"/>
          </a:xfrm>
          <a:prstGeom prst="rect">
            <a:avLst/>
          </a:prstGeom>
          <a:solidFill>
            <a:srgbClr val="E2E8EC"/>
          </a:solidFill>
          <a:ln>
            <a:noFill/>
          </a:ln>
          <a:effectLst/>
        </p:spPr>
        <p:txBody>
          <a:bodyPr rtlCol="0" anchor="ctr"/>
          <a:lstStyle/>
          <a:p>
            <a:endParaRPr lang="de-DE"/>
          </a:p>
        </p:txBody>
      </p:sp>
      <p:sp>
        <p:nvSpPr>
          <p:cNvPr id="190" name="N-Tier Phase"/>
          <p:cNvSpPr txBox="1"/>
          <p:nvPr/>
        </p:nvSpPr>
        <p:spPr>
          <a:xfrm>
            <a:off x="10678477" y="2481616"/>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91" name="Row Label E2E go-live target date"/>
          <p:cNvSpPr txBox="1"/>
          <p:nvPr/>
        </p:nvSpPr>
        <p:spPr>
          <a:xfrm>
            <a:off x="274320" y="2932503"/>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E2E go-live target date</a:t>
            </a:r>
          </a:p>
        </p:txBody>
      </p:sp>
      <p:sp>
        <p:nvSpPr>
          <p:cNvPr id="192" name="Quality Row Divider E2E go-live target date"/>
          <p:cNvSpPr/>
          <p:nvPr/>
        </p:nvSpPr>
        <p:spPr>
          <a:xfrm>
            <a:off x="1257300" y="2868495"/>
            <a:ext cx="1167574" cy="6401"/>
          </a:xfrm>
          <a:prstGeom prst="rect">
            <a:avLst/>
          </a:prstGeom>
          <a:solidFill>
            <a:srgbClr val="E2E8EC"/>
          </a:solidFill>
          <a:ln>
            <a:noFill/>
          </a:ln>
          <a:effectLst/>
        </p:spPr>
        <p:txBody>
          <a:bodyPr rtlCol="0" anchor="ctr"/>
          <a:lstStyle/>
          <a:p>
            <a:endParaRPr lang="de-DE"/>
          </a:p>
        </p:txBody>
      </p:sp>
      <p:sp>
        <p:nvSpPr>
          <p:cNvPr id="193" name="Quality Go-live"/>
          <p:cNvSpPr txBox="1"/>
          <p:nvPr/>
        </p:nvSpPr>
        <p:spPr>
          <a:xfrm>
            <a:off x="1257300" y="2932503"/>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'27</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Scaling until 2030</a:t>
            </a:r>
          </a:p>
        </p:txBody>
      </p:sp>
      <p:sp>
        <p:nvSpPr>
          <p:cNvPr id="194" name="Battery Passport Row Divider E2E go-live target date"/>
          <p:cNvSpPr/>
          <p:nvPr/>
        </p:nvSpPr>
        <p:spPr>
          <a:xfrm>
            <a:off x="2603182" y="2868495"/>
            <a:ext cx="1167574" cy="6401"/>
          </a:xfrm>
          <a:prstGeom prst="rect">
            <a:avLst/>
          </a:prstGeom>
          <a:solidFill>
            <a:srgbClr val="E2E8EC"/>
          </a:solidFill>
          <a:ln>
            <a:noFill/>
          </a:ln>
          <a:effectLst/>
        </p:spPr>
        <p:txBody>
          <a:bodyPr rtlCol="0" anchor="ctr"/>
          <a:lstStyle/>
          <a:p>
            <a:endParaRPr lang="de-DE"/>
          </a:p>
        </p:txBody>
      </p:sp>
      <p:sp>
        <p:nvSpPr>
          <p:cNvPr id="195" name="Battery Passport Go-live"/>
          <p:cNvSpPr txBox="1"/>
          <p:nvPr/>
        </p:nvSpPr>
        <p:spPr>
          <a:xfrm>
            <a:off x="260318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196" name="Product Passes Row Divider E2E go-live target date"/>
          <p:cNvSpPr/>
          <p:nvPr/>
        </p:nvSpPr>
        <p:spPr>
          <a:xfrm>
            <a:off x="3949065" y="2868495"/>
            <a:ext cx="1167574" cy="6401"/>
          </a:xfrm>
          <a:prstGeom prst="rect">
            <a:avLst/>
          </a:prstGeom>
          <a:solidFill>
            <a:srgbClr val="E2E8EC"/>
          </a:solidFill>
          <a:ln>
            <a:noFill/>
          </a:ln>
          <a:effectLst/>
        </p:spPr>
        <p:txBody>
          <a:bodyPr rtlCol="0" anchor="ctr"/>
          <a:lstStyle/>
          <a:p>
            <a:endParaRPr lang="de-DE"/>
          </a:p>
        </p:txBody>
      </p:sp>
      <p:sp>
        <p:nvSpPr>
          <p:cNvPr id="197" name="Product Passes Go-live"/>
          <p:cNvSpPr txBox="1"/>
          <p:nvPr/>
        </p:nvSpPr>
        <p:spPr>
          <a:xfrm>
            <a:off x="394906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98" name="PURIS Row Divider E2E go-live target date"/>
          <p:cNvSpPr/>
          <p:nvPr/>
        </p:nvSpPr>
        <p:spPr>
          <a:xfrm>
            <a:off x="5294947" y="2868495"/>
            <a:ext cx="1167574" cy="6401"/>
          </a:xfrm>
          <a:prstGeom prst="rect">
            <a:avLst/>
          </a:prstGeom>
          <a:solidFill>
            <a:srgbClr val="E2E8EC"/>
          </a:solidFill>
          <a:ln>
            <a:noFill/>
          </a:ln>
          <a:effectLst/>
        </p:spPr>
        <p:txBody>
          <a:bodyPr rtlCol="0" anchor="ctr"/>
          <a:lstStyle/>
          <a:p>
            <a:endParaRPr lang="de-DE"/>
          </a:p>
        </p:txBody>
      </p:sp>
      <p:sp>
        <p:nvSpPr>
          <p:cNvPr id="199" name="PURIS Go-live"/>
          <p:cNvSpPr txBox="1"/>
          <p:nvPr/>
        </p:nvSpPr>
        <p:spPr>
          <a:xfrm>
            <a:off x="529494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0" name="Business Partner Data Mgmt Row Divider E2E go-live target date"/>
          <p:cNvSpPr/>
          <p:nvPr/>
        </p:nvSpPr>
        <p:spPr>
          <a:xfrm>
            <a:off x="6640830" y="2868495"/>
            <a:ext cx="1167574" cy="6401"/>
          </a:xfrm>
          <a:prstGeom prst="rect">
            <a:avLst/>
          </a:prstGeom>
          <a:solidFill>
            <a:srgbClr val="E2E8EC"/>
          </a:solidFill>
          <a:ln>
            <a:noFill/>
          </a:ln>
          <a:effectLst/>
        </p:spPr>
        <p:txBody>
          <a:bodyPr rtlCol="0" anchor="ctr"/>
          <a:lstStyle/>
          <a:p>
            <a:endParaRPr lang="de-DE"/>
          </a:p>
        </p:txBody>
      </p:sp>
      <p:sp>
        <p:nvSpPr>
          <p:cNvPr id="201" name="Business Partner Data Mgmt Go-live"/>
          <p:cNvSpPr txBox="1"/>
          <p:nvPr/>
        </p:nvSpPr>
        <p:spPr>
          <a:xfrm>
            <a:off x="6640830"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202" name="Certificate Management Row Divider E2E go-live target date"/>
          <p:cNvSpPr/>
          <p:nvPr/>
        </p:nvSpPr>
        <p:spPr>
          <a:xfrm>
            <a:off x="7986712" y="2868495"/>
            <a:ext cx="1167574" cy="6401"/>
          </a:xfrm>
          <a:prstGeom prst="rect">
            <a:avLst/>
          </a:prstGeom>
          <a:solidFill>
            <a:srgbClr val="E2E8EC"/>
          </a:solidFill>
          <a:ln>
            <a:noFill/>
          </a:ln>
          <a:effectLst/>
        </p:spPr>
        <p:txBody>
          <a:bodyPr rtlCol="0" anchor="ctr"/>
          <a:lstStyle/>
          <a:p>
            <a:endParaRPr lang="de-DE"/>
          </a:p>
        </p:txBody>
      </p:sp>
      <p:sp>
        <p:nvSpPr>
          <p:cNvPr id="203" name="Certificate Management Go-live"/>
          <p:cNvSpPr txBox="1"/>
          <p:nvPr/>
        </p:nvSpPr>
        <p:spPr>
          <a:xfrm>
            <a:off x="798671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204" name="Product Carbon Footprint Row Divider E2E go-live target date"/>
          <p:cNvSpPr/>
          <p:nvPr/>
        </p:nvSpPr>
        <p:spPr>
          <a:xfrm>
            <a:off x="9332595" y="2868495"/>
            <a:ext cx="1167574" cy="6401"/>
          </a:xfrm>
          <a:prstGeom prst="rect">
            <a:avLst/>
          </a:prstGeom>
          <a:solidFill>
            <a:srgbClr val="E2E8EC"/>
          </a:solidFill>
          <a:ln>
            <a:noFill/>
          </a:ln>
          <a:effectLst/>
        </p:spPr>
        <p:txBody>
          <a:bodyPr rtlCol="0" anchor="ctr"/>
          <a:lstStyle/>
          <a:p>
            <a:endParaRPr lang="de-DE"/>
          </a:p>
        </p:txBody>
      </p:sp>
      <p:sp>
        <p:nvSpPr>
          <p:cNvPr id="205" name="Product Carbon Footprint Go-live"/>
          <p:cNvSpPr txBox="1"/>
          <p:nvPr/>
        </p:nvSpPr>
        <p:spPr>
          <a:xfrm>
            <a:off x="933259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01 Jan 2028</a:t>
            </a:r>
          </a:p>
        </p:txBody>
      </p:sp>
      <p:sp>
        <p:nvSpPr>
          <p:cNvPr id="206" name="N-Tier Row Divider E2E go-live target date"/>
          <p:cNvSpPr/>
          <p:nvPr/>
        </p:nvSpPr>
        <p:spPr>
          <a:xfrm>
            <a:off x="10678477" y="2868495"/>
            <a:ext cx="1167574" cy="6401"/>
          </a:xfrm>
          <a:prstGeom prst="rect">
            <a:avLst/>
          </a:prstGeom>
          <a:solidFill>
            <a:srgbClr val="E2E8EC"/>
          </a:solidFill>
          <a:ln>
            <a:noFill/>
          </a:ln>
          <a:effectLst/>
        </p:spPr>
        <p:txBody>
          <a:bodyPr rtlCol="0" anchor="ctr"/>
          <a:lstStyle/>
          <a:p>
            <a:endParaRPr lang="de-DE"/>
          </a:p>
        </p:txBody>
      </p:sp>
      <p:sp>
        <p:nvSpPr>
          <p:cNvPr id="207" name="N-Tier Go-live"/>
          <p:cNvSpPr txBox="1"/>
          <p:nvPr/>
        </p:nvSpPr>
        <p:spPr>
          <a:xfrm>
            <a:off x="1067847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8" name="Row Label Suppliers enabled 2026"/>
          <p:cNvSpPr txBox="1"/>
          <p:nvPr/>
        </p:nvSpPr>
        <p:spPr>
          <a:xfrm>
            <a:off x="274320" y="3383389"/>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209" name="Quality Row Divider Suppliers enabled 2026"/>
          <p:cNvSpPr/>
          <p:nvPr/>
        </p:nvSpPr>
        <p:spPr>
          <a:xfrm>
            <a:off x="1257300" y="3319381"/>
            <a:ext cx="1167574" cy="6401"/>
          </a:xfrm>
          <a:prstGeom prst="rect">
            <a:avLst/>
          </a:prstGeom>
          <a:solidFill>
            <a:srgbClr val="E2E8EC"/>
          </a:solidFill>
          <a:ln>
            <a:noFill/>
          </a:ln>
          <a:effectLst/>
        </p:spPr>
        <p:txBody>
          <a:bodyPr rtlCol="0" anchor="ctr"/>
          <a:lstStyle/>
          <a:p>
            <a:endParaRPr lang="de-DE"/>
          </a:p>
        </p:txBody>
      </p:sp>
      <p:sp>
        <p:nvSpPr>
          <p:cNvPr id="210" name="Quality Suppliers"/>
          <p:cNvSpPr txBox="1"/>
          <p:nvPr/>
        </p:nvSpPr>
        <p:spPr>
          <a:xfrm>
            <a:off x="1257300" y="3383389"/>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2</a:t>
            </a:r>
            <a:r>
              <a:rPr lang="de-DE" sz="9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rescoped from 15</a:t>
            </a:r>
          </a:p>
        </p:txBody>
      </p:sp>
      <p:sp>
        <p:nvSpPr>
          <p:cNvPr id="211" name="Battery Passport Row Divider Suppliers enabled 2026"/>
          <p:cNvSpPr/>
          <p:nvPr/>
        </p:nvSpPr>
        <p:spPr>
          <a:xfrm>
            <a:off x="2603182" y="3319381"/>
            <a:ext cx="1167574" cy="6401"/>
          </a:xfrm>
          <a:prstGeom prst="rect">
            <a:avLst/>
          </a:prstGeom>
          <a:solidFill>
            <a:srgbClr val="E2E8EC"/>
          </a:solidFill>
          <a:ln>
            <a:noFill/>
          </a:ln>
          <a:effectLst/>
        </p:spPr>
        <p:txBody>
          <a:bodyPr rtlCol="0" anchor="ctr"/>
          <a:lstStyle/>
          <a:p>
            <a:endParaRPr lang="de-DE"/>
          </a:p>
        </p:txBody>
      </p:sp>
      <p:sp>
        <p:nvSpPr>
          <p:cNvPr id="212" name="Battery Passport Suppliers"/>
          <p:cNvSpPr txBox="1"/>
          <p:nvPr/>
        </p:nvSpPr>
        <p:spPr>
          <a:xfrm>
            <a:off x="260318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3" name="Product Passes Row Divider Suppliers enabled 2026"/>
          <p:cNvSpPr/>
          <p:nvPr/>
        </p:nvSpPr>
        <p:spPr>
          <a:xfrm>
            <a:off x="3949065" y="3319381"/>
            <a:ext cx="1167574" cy="6401"/>
          </a:xfrm>
          <a:prstGeom prst="rect">
            <a:avLst/>
          </a:prstGeom>
          <a:solidFill>
            <a:srgbClr val="E2E8EC"/>
          </a:solidFill>
          <a:ln>
            <a:noFill/>
          </a:ln>
          <a:effectLst/>
        </p:spPr>
        <p:txBody>
          <a:bodyPr rtlCol="0" anchor="ctr"/>
          <a:lstStyle/>
          <a:p>
            <a:endParaRPr lang="de-DE"/>
          </a:p>
        </p:txBody>
      </p:sp>
      <p:sp>
        <p:nvSpPr>
          <p:cNvPr id="214" name="Product Passes Suppliers"/>
          <p:cNvSpPr txBox="1"/>
          <p:nvPr/>
        </p:nvSpPr>
        <p:spPr>
          <a:xfrm>
            <a:off x="394906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5" name="PURIS Row Divider Suppliers enabled 2026"/>
          <p:cNvSpPr/>
          <p:nvPr/>
        </p:nvSpPr>
        <p:spPr>
          <a:xfrm>
            <a:off x="5294947" y="3319381"/>
            <a:ext cx="1167574" cy="6401"/>
          </a:xfrm>
          <a:prstGeom prst="rect">
            <a:avLst/>
          </a:prstGeom>
          <a:solidFill>
            <a:srgbClr val="E2E8EC"/>
          </a:solidFill>
          <a:ln>
            <a:noFill/>
          </a:ln>
          <a:effectLst/>
        </p:spPr>
        <p:txBody>
          <a:bodyPr rtlCol="0" anchor="ctr"/>
          <a:lstStyle/>
          <a:p>
            <a:endParaRPr lang="de-DE"/>
          </a:p>
        </p:txBody>
      </p:sp>
      <p:sp>
        <p:nvSpPr>
          <p:cNvPr id="216" name="PURIS Suppliers"/>
          <p:cNvSpPr txBox="1"/>
          <p:nvPr/>
        </p:nvSpPr>
        <p:spPr>
          <a:xfrm>
            <a:off x="529494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900" b="0" kern="0" dirty="0">
                <a:solidFill>
                  <a:srgbClr val="63707A"/>
                </a:solidFill>
                <a:latin typeface="Segoe UI" pitchFamily="34" charset="0"/>
                <a:ea typeface="Segoe UI" pitchFamily="34" charset="-122"/>
                <a:cs typeface="Segoe UI" pitchFamily="34" charset="-120"/>
              </a:rPr>
              <a:t>  17%</a:t>
            </a:r>
          </a:p>
        </p:txBody>
      </p:sp>
      <p:sp>
        <p:nvSpPr>
          <p:cNvPr id="217" name="Business Partner Data Mgmt Row Divider Suppliers enabled 2026"/>
          <p:cNvSpPr/>
          <p:nvPr/>
        </p:nvSpPr>
        <p:spPr>
          <a:xfrm>
            <a:off x="6640830" y="3319381"/>
            <a:ext cx="1167574" cy="6401"/>
          </a:xfrm>
          <a:prstGeom prst="rect">
            <a:avLst/>
          </a:prstGeom>
          <a:solidFill>
            <a:srgbClr val="E2E8EC"/>
          </a:solidFill>
          <a:ln>
            <a:noFill/>
          </a:ln>
          <a:effectLst/>
        </p:spPr>
        <p:txBody>
          <a:bodyPr rtlCol="0" anchor="ctr"/>
          <a:lstStyle/>
          <a:p>
            <a:endParaRPr lang="de-DE"/>
          </a:p>
        </p:txBody>
      </p:sp>
      <p:sp>
        <p:nvSpPr>
          <p:cNvPr id="218" name="Business Partner Data Mgmt Suppliers"/>
          <p:cNvSpPr txBox="1"/>
          <p:nvPr/>
        </p:nvSpPr>
        <p:spPr>
          <a:xfrm>
            <a:off x="6640830"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9" name="Certificate Management Row Divider Suppliers enabled 2026"/>
          <p:cNvSpPr/>
          <p:nvPr/>
        </p:nvSpPr>
        <p:spPr>
          <a:xfrm>
            <a:off x="7986712" y="3319381"/>
            <a:ext cx="1167574" cy="6401"/>
          </a:xfrm>
          <a:prstGeom prst="rect">
            <a:avLst/>
          </a:prstGeom>
          <a:solidFill>
            <a:srgbClr val="E2E8EC"/>
          </a:solidFill>
          <a:ln>
            <a:noFill/>
          </a:ln>
          <a:effectLst/>
        </p:spPr>
        <p:txBody>
          <a:bodyPr rtlCol="0" anchor="ctr"/>
          <a:lstStyle/>
          <a:p>
            <a:endParaRPr lang="de-DE"/>
          </a:p>
        </p:txBody>
      </p:sp>
      <p:sp>
        <p:nvSpPr>
          <p:cNvPr id="220" name="Certificate Management Suppliers"/>
          <p:cNvSpPr txBox="1"/>
          <p:nvPr/>
        </p:nvSpPr>
        <p:spPr>
          <a:xfrm>
            <a:off x="798671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82 / 100</a:t>
            </a:r>
            <a:r>
              <a:rPr lang="de-DE" sz="900" b="0" kern="0" dirty="0">
                <a:solidFill>
                  <a:srgbClr val="63707A"/>
                </a:solidFill>
                <a:latin typeface="Segoe UI" pitchFamily="34" charset="0"/>
                <a:ea typeface="Segoe UI" pitchFamily="34" charset="-122"/>
                <a:cs typeface="Segoe UI" pitchFamily="34" charset="-120"/>
              </a:rPr>
              <a:t>  82%</a:t>
            </a:r>
          </a:p>
        </p:txBody>
      </p:sp>
      <p:sp>
        <p:nvSpPr>
          <p:cNvPr id="221" name="Product Carbon Footprint Row Divider Suppliers enabled 2026"/>
          <p:cNvSpPr/>
          <p:nvPr/>
        </p:nvSpPr>
        <p:spPr>
          <a:xfrm>
            <a:off x="9332595" y="3319381"/>
            <a:ext cx="1167574" cy="6401"/>
          </a:xfrm>
          <a:prstGeom prst="rect">
            <a:avLst/>
          </a:prstGeom>
          <a:solidFill>
            <a:srgbClr val="E2E8EC"/>
          </a:solidFill>
          <a:ln>
            <a:noFill/>
          </a:ln>
          <a:effectLst/>
        </p:spPr>
        <p:txBody>
          <a:bodyPr rtlCol="0" anchor="ctr"/>
          <a:lstStyle/>
          <a:p>
            <a:endParaRPr lang="de-DE"/>
          </a:p>
        </p:txBody>
      </p:sp>
      <p:sp>
        <p:nvSpPr>
          <p:cNvPr id="222" name="Product Carbon Footprint Suppliers"/>
          <p:cNvSpPr txBox="1"/>
          <p:nvPr/>
        </p:nvSpPr>
        <p:spPr>
          <a:xfrm>
            <a:off x="933259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23" name="N-Tier Row Divider Suppliers enabled 2026"/>
          <p:cNvSpPr/>
          <p:nvPr/>
        </p:nvSpPr>
        <p:spPr>
          <a:xfrm>
            <a:off x="10678477" y="3319381"/>
            <a:ext cx="1167574" cy="6401"/>
          </a:xfrm>
          <a:prstGeom prst="rect">
            <a:avLst/>
          </a:prstGeom>
          <a:solidFill>
            <a:srgbClr val="E2E8EC"/>
          </a:solidFill>
          <a:ln>
            <a:noFill/>
          </a:ln>
          <a:effectLst/>
        </p:spPr>
        <p:txBody>
          <a:bodyPr rtlCol="0" anchor="ctr"/>
          <a:lstStyle/>
          <a:p>
            <a:endParaRPr lang="de-DE"/>
          </a:p>
        </p:txBody>
      </p:sp>
      <p:sp>
        <p:nvSpPr>
          <p:cNvPr id="224" name="N-Tier Suppliers"/>
          <p:cNvSpPr txBox="1"/>
          <p:nvPr/>
        </p:nvSpPr>
        <p:spPr>
          <a:xfrm>
            <a:off x="1067847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N/A</a:t>
            </a:r>
          </a:p>
        </p:txBody>
      </p:sp>
      <p:sp>
        <p:nvSpPr>
          <p:cNvPr id="225" name="Row Label Next critical milestone"/>
          <p:cNvSpPr txBox="1"/>
          <p:nvPr/>
        </p:nvSpPr>
        <p:spPr>
          <a:xfrm>
            <a:off x="274320" y="3834275"/>
            <a:ext cx="868680" cy="53292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26" name="Quality Row Divider Next critical milestone"/>
          <p:cNvSpPr/>
          <p:nvPr/>
        </p:nvSpPr>
        <p:spPr>
          <a:xfrm>
            <a:off x="1257300" y="3770267"/>
            <a:ext cx="1167574" cy="6401"/>
          </a:xfrm>
          <a:prstGeom prst="rect">
            <a:avLst/>
          </a:prstGeom>
          <a:solidFill>
            <a:srgbClr val="E2E8EC"/>
          </a:solidFill>
          <a:ln>
            <a:noFill/>
          </a:ln>
          <a:effectLst/>
        </p:spPr>
        <p:txBody>
          <a:bodyPr rtlCol="0" anchor="ctr"/>
          <a:lstStyle/>
          <a:p>
            <a:endParaRPr lang="de-DE"/>
          </a:p>
        </p:txBody>
      </p:sp>
      <p:sp>
        <p:nvSpPr>
          <p:cNvPr id="227" name="Quality Milestone Dot"/>
          <p:cNvSpPr/>
          <p:nvPr/>
        </p:nvSpPr>
        <p:spPr>
          <a:xfrm>
            <a:off x="1257300" y="3870851"/>
            <a:ext cx="73152" cy="73152"/>
          </a:xfrm>
          <a:prstGeom prst="ellipse">
            <a:avLst/>
          </a:prstGeom>
          <a:solidFill>
            <a:srgbClr val="E64343"/>
          </a:solidFill>
          <a:ln>
            <a:noFill/>
          </a:ln>
          <a:effectLst/>
        </p:spPr>
        <p:txBody>
          <a:bodyPr rtlCol="0" anchor="ctr"/>
          <a:lstStyle/>
          <a:p>
            <a:endParaRPr lang="de-DE"/>
          </a:p>
        </p:txBody>
      </p:sp>
      <p:sp>
        <p:nvSpPr>
          <p:cNvPr id="228" name="Quality Milestone"/>
          <p:cNvSpPr txBox="1"/>
          <p:nvPr/>
        </p:nvSpPr>
        <p:spPr>
          <a:xfrm>
            <a:off x="1394460"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SQA CX MVP scale-up</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Jan 2027</a:t>
            </a:r>
          </a:p>
        </p:txBody>
      </p:sp>
      <p:sp>
        <p:nvSpPr>
          <p:cNvPr id="229" name="Battery Passport Row Divider Next critical milestone"/>
          <p:cNvSpPr/>
          <p:nvPr/>
        </p:nvSpPr>
        <p:spPr>
          <a:xfrm>
            <a:off x="2603182" y="3770267"/>
            <a:ext cx="1167574" cy="6401"/>
          </a:xfrm>
          <a:prstGeom prst="rect">
            <a:avLst/>
          </a:prstGeom>
          <a:solidFill>
            <a:srgbClr val="E2E8EC"/>
          </a:solidFill>
          <a:ln>
            <a:noFill/>
          </a:ln>
          <a:effectLst/>
        </p:spPr>
        <p:txBody>
          <a:bodyPr rtlCol="0" anchor="ctr"/>
          <a:lstStyle/>
          <a:p>
            <a:endParaRPr lang="de-DE"/>
          </a:p>
        </p:txBody>
      </p:sp>
      <p:sp>
        <p:nvSpPr>
          <p:cNvPr id="230" name="Battery Passport Milestone"/>
          <p:cNvSpPr txBox="1"/>
          <p:nvPr/>
        </p:nvSpPr>
        <p:spPr>
          <a:xfrm>
            <a:off x="2603182"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1" name="Product Passes Row Divider Next critical milestone"/>
          <p:cNvSpPr/>
          <p:nvPr/>
        </p:nvSpPr>
        <p:spPr>
          <a:xfrm>
            <a:off x="3949065" y="3770267"/>
            <a:ext cx="1167574" cy="6401"/>
          </a:xfrm>
          <a:prstGeom prst="rect">
            <a:avLst/>
          </a:prstGeom>
          <a:solidFill>
            <a:srgbClr val="E2E8EC"/>
          </a:solidFill>
          <a:ln>
            <a:noFill/>
          </a:ln>
          <a:effectLst/>
        </p:spPr>
        <p:txBody>
          <a:bodyPr rtlCol="0" anchor="ctr"/>
          <a:lstStyle/>
          <a:p>
            <a:endParaRPr lang="de-DE"/>
          </a:p>
        </p:txBody>
      </p:sp>
      <p:sp>
        <p:nvSpPr>
          <p:cNvPr id="232" name="Product Passes Milestone Dot"/>
          <p:cNvSpPr/>
          <p:nvPr/>
        </p:nvSpPr>
        <p:spPr>
          <a:xfrm>
            <a:off x="3949065" y="3870851"/>
            <a:ext cx="73152" cy="73152"/>
          </a:xfrm>
          <a:prstGeom prst="ellipse">
            <a:avLst/>
          </a:prstGeom>
          <a:solidFill>
            <a:srgbClr val="F0B135"/>
          </a:solidFill>
          <a:ln>
            <a:noFill/>
          </a:ln>
          <a:effectLst/>
        </p:spPr>
        <p:txBody>
          <a:bodyPr rtlCol="0" anchor="ctr"/>
          <a:lstStyle/>
          <a:p>
            <a:endParaRPr lang="de-DE"/>
          </a:p>
        </p:txBody>
      </p:sp>
      <p:sp>
        <p:nvSpPr>
          <p:cNvPr id="233" name="Product Passes Milestone"/>
          <p:cNvSpPr txBox="1"/>
          <p:nvPr/>
        </p:nvSpPr>
        <p:spPr>
          <a:xfrm>
            <a:off x="4086225"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Product passes prioritized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4" name="PURIS Row Divider Next critical milestone"/>
          <p:cNvSpPr/>
          <p:nvPr/>
        </p:nvSpPr>
        <p:spPr>
          <a:xfrm>
            <a:off x="5294947" y="3770267"/>
            <a:ext cx="1167574" cy="6401"/>
          </a:xfrm>
          <a:prstGeom prst="rect">
            <a:avLst/>
          </a:prstGeom>
          <a:solidFill>
            <a:srgbClr val="E2E8EC"/>
          </a:solidFill>
          <a:ln>
            <a:noFill/>
          </a:ln>
          <a:effectLst/>
        </p:spPr>
        <p:txBody>
          <a:bodyPr rtlCol="0" anchor="ctr"/>
          <a:lstStyle/>
          <a:p>
            <a:endParaRPr lang="de-DE"/>
          </a:p>
        </p:txBody>
      </p:sp>
      <p:sp>
        <p:nvSpPr>
          <p:cNvPr id="235" name="PURIS Milestone Dot"/>
          <p:cNvSpPr/>
          <p:nvPr/>
        </p:nvSpPr>
        <p:spPr>
          <a:xfrm>
            <a:off x="5294947" y="3870851"/>
            <a:ext cx="73152" cy="73152"/>
          </a:xfrm>
          <a:prstGeom prst="ellipse">
            <a:avLst/>
          </a:prstGeom>
          <a:solidFill>
            <a:srgbClr val="F0B135"/>
          </a:solidFill>
          <a:ln>
            <a:noFill/>
          </a:ln>
          <a:effectLst/>
        </p:spPr>
        <p:txBody>
          <a:bodyPr rtlCol="0" anchor="ctr"/>
          <a:lstStyle/>
          <a:p>
            <a:endParaRPr lang="de-DE"/>
          </a:p>
        </p:txBody>
      </p:sp>
      <p:sp>
        <p:nvSpPr>
          <p:cNvPr id="236" name="PURIS Milestone"/>
          <p:cNvSpPr txBox="1"/>
          <p:nvPr/>
        </p:nvSpPr>
        <p:spPr>
          <a:xfrm>
            <a:off x="5432108"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 ready</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9 Oct 2026</a:t>
            </a:r>
          </a:p>
        </p:txBody>
      </p:sp>
      <p:sp>
        <p:nvSpPr>
          <p:cNvPr id="237" name="Business Partner Data Mgmt Row Divider Next critical milestone"/>
          <p:cNvSpPr/>
          <p:nvPr/>
        </p:nvSpPr>
        <p:spPr>
          <a:xfrm>
            <a:off x="6640830" y="3770267"/>
            <a:ext cx="1167574" cy="6401"/>
          </a:xfrm>
          <a:prstGeom prst="rect">
            <a:avLst/>
          </a:prstGeom>
          <a:solidFill>
            <a:srgbClr val="E2E8EC"/>
          </a:solidFill>
          <a:ln>
            <a:noFill/>
          </a:ln>
          <a:effectLst/>
        </p:spPr>
        <p:txBody>
          <a:bodyPr rtlCol="0" anchor="ctr"/>
          <a:lstStyle/>
          <a:p>
            <a:endParaRPr lang="de-DE"/>
          </a:p>
        </p:txBody>
      </p:sp>
      <p:sp>
        <p:nvSpPr>
          <p:cNvPr id="238" name="Business Partner Data Mgmt Milestone"/>
          <p:cNvSpPr txBox="1"/>
          <p:nvPr/>
        </p:nvSpPr>
        <p:spPr>
          <a:xfrm>
            <a:off x="6640830"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9" name="Certificate Management Row Divider Next critical milestone"/>
          <p:cNvSpPr/>
          <p:nvPr/>
        </p:nvSpPr>
        <p:spPr>
          <a:xfrm>
            <a:off x="7986712" y="3770267"/>
            <a:ext cx="1167574" cy="6401"/>
          </a:xfrm>
          <a:prstGeom prst="rect">
            <a:avLst/>
          </a:prstGeom>
          <a:solidFill>
            <a:srgbClr val="E2E8EC"/>
          </a:solidFill>
          <a:ln>
            <a:noFill/>
          </a:ln>
          <a:effectLst/>
        </p:spPr>
        <p:txBody>
          <a:bodyPr rtlCol="0" anchor="ctr"/>
          <a:lstStyle/>
          <a:p>
            <a:endParaRPr lang="de-DE"/>
          </a:p>
        </p:txBody>
      </p:sp>
      <p:sp>
        <p:nvSpPr>
          <p:cNvPr id="240" name="Certificate Management Milestone Dot"/>
          <p:cNvSpPr/>
          <p:nvPr/>
        </p:nvSpPr>
        <p:spPr>
          <a:xfrm>
            <a:off x="7986712" y="3870851"/>
            <a:ext cx="73152" cy="73152"/>
          </a:xfrm>
          <a:prstGeom prst="ellipse">
            <a:avLst/>
          </a:prstGeom>
          <a:solidFill>
            <a:srgbClr val="F0B135"/>
          </a:solidFill>
          <a:ln>
            <a:noFill/>
          </a:ln>
          <a:effectLst/>
        </p:spPr>
        <p:txBody>
          <a:bodyPr rtlCol="0" anchor="ctr"/>
          <a:lstStyle/>
          <a:p>
            <a:endParaRPr lang="de-DE"/>
          </a:p>
        </p:txBody>
      </p:sp>
      <p:sp>
        <p:nvSpPr>
          <p:cNvPr id="241" name="Certificate Management Milestone"/>
          <p:cNvSpPr txBox="1"/>
          <p:nvPr/>
        </p:nvSpPr>
        <p:spPr>
          <a:xfrm>
            <a:off x="8123872"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Sep 2026</a:t>
            </a:r>
          </a:p>
        </p:txBody>
      </p:sp>
      <p:sp>
        <p:nvSpPr>
          <p:cNvPr id="242" name="Product Carbon Footprint Row Divider Next critical milestone"/>
          <p:cNvSpPr/>
          <p:nvPr/>
        </p:nvSpPr>
        <p:spPr>
          <a:xfrm>
            <a:off x="9332595" y="3770267"/>
            <a:ext cx="1167574" cy="6401"/>
          </a:xfrm>
          <a:prstGeom prst="rect">
            <a:avLst/>
          </a:prstGeom>
          <a:solidFill>
            <a:srgbClr val="E2E8EC"/>
          </a:solidFill>
          <a:ln>
            <a:noFill/>
          </a:ln>
          <a:effectLst/>
        </p:spPr>
        <p:txBody>
          <a:bodyPr rtlCol="0" anchor="ctr"/>
          <a:lstStyle/>
          <a:p>
            <a:endParaRPr lang="de-DE"/>
          </a:p>
        </p:txBody>
      </p:sp>
      <p:sp>
        <p:nvSpPr>
          <p:cNvPr id="243" name="Product Carbon Footprint Milestone"/>
          <p:cNvSpPr txBox="1"/>
          <p:nvPr/>
        </p:nvSpPr>
        <p:spPr>
          <a:xfrm>
            <a:off x="9332595"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4" name="N-Tier Row Divider Next critical milestone"/>
          <p:cNvSpPr/>
          <p:nvPr/>
        </p:nvSpPr>
        <p:spPr>
          <a:xfrm>
            <a:off x="10678477" y="3770267"/>
            <a:ext cx="1167574" cy="6401"/>
          </a:xfrm>
          <a:prstGeom prst="rect">
            <a:avLst/>
          </a:prstGeom>
          <a:solidFill>
            <a:srgbClr val="E2E8EC"/>
          </a:solidFill>
          <a:ln>
            <a:noFill/>
          </a:ln>
          <a:effectLst/>
        </p:spPr>
        <p:txBody>
          <a:bodyPr rtlCol="0" anchor="ctr"/>
          <a:lstStyle/>
          <a:p>
            <a:endParaRPr lang="de-DE"/>
          </a:p>
        </p:txBody>
      </p:sp>
      <p:sp>
        <p:nvSpPr>
          <p:cNvPr id="245" name="N-Tier Milestone"/>
          <p:cNvSpPr txBox="1"/>
          <p:nvPr/>
        </p:nvSpPr>
        <p:spPr>
          <a:xfrm>
            <a:off x="10678477"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6" name="Row Label Dimensions"/>
          <p:cNvSpPr txBox="1"/>
          <p:nvPr/>
        </p:nvSpPr>
        <p:spPr>
          <a:xfrm>
            <a:off x="274320" y="4431211"/>
            <a:ext cx="868680" cy="115395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47" name="Quality Row Divider Dimensions"/>
          <p:cNvSpPr/>
          <p:nvPr/>
        </p:nvSpPr>
        <p:spPr>
          <a:xfrm>
            <a:off x="1257300" y="4367203"/>
            <a:ext cx="1167574" cy="6401"/>
          </a:xfrm>
          <a:prstGeom prst="rect">
            <a:avLst/>
          </a:prstGeom>
          <a:solidFill>
            <a:srgbClr val="E2E8EC"/>
          </a:solidFill>
          <a:ln>
            <a:noFill/>
          </a:ln>
          <a:effectLst/>
        </p:spPr>
        <p:txBody>
          <a:bodyPr rtlCol="0" anchor="ctr"/>
          <a:lstStyle/>
          <a:p>
            <a:endParaRPr lang="de-DE"/>
          </a:p>
        </p:txBody>
      </p:sp>
      <p:sp>
        <p:nvSpPr>
          <p:cNvPr id="248" name="Quality Dim Dot External · CX Association"/>
          <p:cNvSpPr/>
          <p:nvPr/>
        </p:nvSpPr>
        <p:spPr>
          <a:xfrm>
            <a:off x="1257300" y="4467787"/>
            <a:ext cx="73152" cy="73152"/>
          </a:xfrm>
          <a:prstGeom prst="ellipse">
            <a:avLst/>
          </a:prstGeom>
          <a:solidFill>
            <a:srgbClr val="53BE70"/>
          </a:solidFill>
          <a:ln>
            <a:noFill/>
          </a:ln>
          <a:effectLst/>
        </p:spPr>
        <p:txBody>
          <a:bodyPr rtlCol="0" anchor="ctr"/>
          <a:lstStyle/>
          <a:p>
            <a:endParaRPr lang="de-DE"/>
          </a:p>
        </p:txBody>
      </p:sp>
      <p:sp>
        <p:nvSpPr>
          <p:cNvPr id="249" name="Quality Dim External · CX Association"/>
          <p:cNvSpPr txBox="1"/>
          <p:nvPr/>
        </p:nvSpPr>
        <p:spPr>
          <a:xfrm>
            <a:off x="139446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0" name="Quality Dim Dot Business"/>
          <p:cNvSpPr/>
          <p:nvPr/>
        </p:nvSpPr>
        <p:spPr>
          <a:xfrm>
            <a:off x="1257300" y="4805607"/>
            <a:ext cx="73152" cy="73152"/>
          </a:xfrm>
          <a:prstGeom prst="ellipse">
            <a:avLst/>
          </a:prstGeom>
          <a:solidFill>
            <a:srgbClr val="F0B135"/>
          </a:solidFill>
          <a:ln>
            <a:noFill/>
          </a:ln>
          <a:effectLst/>
        </p:spPr>
        <p:txBody>
          <a:bodyPr rtlCol="0" anchor="ctr"/>
          <a:lstStyle/>
          <a:p>
            <a:endParaRPr lang="de-DE"/>
          </a:p>
        </p:txBody>
      </p:sp>
      <p:sp>
        <p:nvSpPr>
          <p:cNvPr id="251" name="Quality Dim Business"/>
          <p:cNvSpPr txBox="1"/>
          <p:nvPr/>
        </p:nvSpPr>
        <p:spPr>
          <a:xfrm>
            <a:off x="139446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2" name="Quality Dim Dot Data Provisioning"/>
          <p:cNvSpPr/>
          <p:nvPr/>
        </p:nvSpPr>
        <p:spPr>
          <a:xfrm>
            <a:off x="1257300" y="4997377"/>
            <a:ext cx="73152" cy="73152"/>
          </a:xfrm>
          <a:prstGeom prst="ellipse">
            <a:avLst/>
          </a:prstGeom>
          <a:solidFill>
            <a:srgbClr val="F0B135"/>
          </a:solidFill>
          <a:ln>
            <a:noFill/>
          </a:ln>
          <a:effectLst/>
        </p:spPr>
        <p:txBody>
          <a:bodyPr rtlCol="0" anchor="ctr"/>
          <a:lstStyle/>
          <a:p>
            <a:endParaRPr lang="de-DE"/>
          </a:p>
        </p:txBody>
      </p:sp>
      <p:sp>
        <p:nvSpPr>
          <p:cNvPr id="253" name="Quality Dim Data Provisioning"/>
          <p:cNvSpPr txBox="1"/>
          <p:nvPr/>
        </p:nvSpPr>
        <p:spPr>
          <a:xfrm>
            <a:off x="139446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54" name="Quality Dim Dot Technical"/>
          <p:cNvSpPr/>
          <p:nvPr/>
        </p:nvSpPr>
        <p:spPr>
          <a:xfrm>
            <a:off x="1257300" y="5189147"/>
            <a:ext cx="73152" cy="73152"/>
          </a:xfrm>
          <a:prstGeom prst="ellipse">
            <a:avLst/>
          </a:prstGeom>
          <a:solidFill>
            <a:srgbClr val="F0B135"/>
          </a:solidFill>
          <a:ln>
            <a:noFill/>
          </a:ln>
          <a:effectLst/>
        </p:spPr>
        <p:txBody>
          <a:bodyPr rtlCol="0" anchor="ctr"/>
          <a:lstStyle/>
          <a:p>
            <a:endParaRPr lang="de-DE"/>
          </a:p>
        </p:txBody>
      </p:sp>
      <p:sp>
        <p:nvSpPr>
          <p:cNvPr id="255" name="Quality Dim Technical"/>
          <p:cNvSpPr txBox="1"/>
          <p:nvPr/>
        </p:nvSpPr>
        <p:spPr>
          <a:xfrm>
            <a:off x="139446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6" name="Quality Dim Dot Supplier Activation"/>
          <p:cNvSpPr/>
          <p:nvPr/>
        </p:nvSpPr>
        <p:spPr>
          <a:xfrm>
            <a:off x="1257300" y="5380917"/>
            <a:ext cx="73152" cy="73152"/>
          </a:xfrm>
          <a:prstGeom prst="ellipse">
            <a:avLst/>
          </a:prstGeom>
          <a:solidFill>
            <a:srgbClr val="F0B135"/>
          </a:solidFill>
          <a:ln>
            <a:noFill/>
          </a:ln>
          <a:effectLst/>
        </p:spPr>
        <p:txBody>
          <a:bodyPr rtlCol="0" anchor="ctr"/>
          <a:lstStyle/>
          <a:p>
            <a:endParaRPr lang="de-DE"/>
          </a:p>
        </p:txBody>
      </p:sp>
      <p:sp>
        <p:nvSpPr>
          <p:cNvPr id="257" name="Quality Dim Supplier Activation"/>
          <p:cNvSpPr txBox="1"/>
          <p:nvPr/>
        </p:nvSpPr>
        <p:spPr>
          <a:xfrm>
            <a:off x="139446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58" name="Battery Passport Row Divider Dimensions"/>
          <p:cNvSpPr/>
          <p:nvPr/>
        </p:nvSpPr>
        <p:spPr>
          <a:xfrm>
            <a:off x="2603182" y="4367203"/>
            <a:ext cx="1167574" cy="6401"/>
          </a:xfrm>
          <a:prstGeom prst="rect">
            <a:avLst/>
          </a:prstGeom>
          <a:solidFill>
            <a:srgbClr val="E2E8EC"/>
          </a:solidFill>
          <a:ln>
            <a:noFill/>
          </a:ln>
          <a:effectLst/>
        </p:spPr>
        <p:txBody>
          <a:bodyPr rtlCol="0" anchor="ctr"/>
          <a:lstStyle/>
          <a:p>
            <a:endParaRPr lang="de-DE"/>
          </a:p>
        </p:txBody>
      </p:sp>
      <p:sp>
        <p:nvSpPr>
          <p:cNvPr id="259" name="Battery Passport Dim Dot External · CX Association"/>
          <p:cNvSpPr/>
          <p:nvPr/>
        </p:nvSpPr>
        <p:spPr>
          <a:xfrm>
            <a:off x="2603182" y="4467787"/>
            <a:ext cx="73152" cy="73152"/>
          </a:xfrm>
          <a:prstGeom prst="ellipse">
            <a:avLst/>
          </a:prstGeom>
          <a:solidFill>
            <a:srgbClr val="F0B135"/>
          </a:solidFill>
          <a:ln>
            <a:noFill/>
          </a:ln>
          <a:effectLst/>
        </p:spPr>
        <p:txBody>
          <a:bodyPr rtlCol="0" anchor="ctr"/>
          <a:lstStyle/>
          <a:p>
            <a:endParaRPr lang="de-DE"/>
          </a:p>
        </p:txBody>
      </p:sp>
      <p:sp>
        <p:nvSpPr>
          <p:cNvPr id="260" name="Battery Passport Dim External · CX Association"/>
          <p:cNvSpPr txBox="1"/>
          <p:nvPr/>
        </p:nvSpPr>
        <p:spPr>
          <a:xfrm>
            <a:off x="274034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1" name="Battery Passport Dim Dot Business"/>
          <p:cNvSpPr/>
          <p:nvPr/>
        </p:nvSpPr>
        <p:spPr>
          <a:xfrm>
            <a:off x="2603182" y="4805607"/>
            <a:ext cx="73152" cy="73152"/>
          </a:xfrm>
          <a:prstGeom prst="ellipse">
            <a:avLst/>
          </a:prstGeom>
          <a:solidFill>
            <a:srgbClr val="F0B135"/>
          </a:solidFill>
          <a:ln>
            <a:noFill/>
          </a:ln>
          <a:effectLst/>
        </p:spPr>
        <p:txBody>
          <a:bodyPr rtlCol="0" anchor="ctr"/>
          <a:lstStyle/>
          <a:p>
            <a:endParaRPr lang="de-DE"/>
          </a:p>
        </p:txBody>
      </p:sp>
      <p:sp>
        <p:nvSpPr>
          <p:cNvPr id="262" name="Battery Passport Dim Business"/>
          <p:cNvSpPr txBox="1"/>
          <p:nvPr/>
        </p:nvSpPr>
        <p:spPr>
          <a:xfrm>
            <a:off x="274034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3" name="Battery Passport Dim Dot Data Provisioning"/>
          <p:cNvSpPr/>
          <p:nvPr/>
        </p:nvSpPr>
        <p:spPr>
          <a:xfrm>
            <a:off x="2603182" y="4997377"/>
            <a:ext cx="73152" cy="73152"/>
          </a:xfrm>
          <a:prstGeom prst="ellipse">
            <a:avLst/>
          </a:prstGeom>
          <a:solidFill>
            <a:srgbClr val="53BE70"/>
          </a:solidFill>
          <a:ln>
            <a:noFill/>
          </a:ln>
          <a:effectLst/>
        </p:spPr>
        <p:txBody>
          <a:bodyPr rtlCol="0" anchor="ctr"/>
          <a:lstStyle/>
          <a:p>
            <a:endParaRPr lang="de-DE"/>
          </a:p>
        </p:txBody>
      </p:sp>
      <p:sp>
        <p:nvSpPr>
          <p:cNvPr id="264" name="Battery Passport Dim Data Provisioning"/>
          <p:cNvSpPr txBox="1"/>
          <p:nvPr/>
        </p:nvSpPr>
        <p:spPr>
          <a:xfrm>
            <a:off x="274034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65" name="Battery Passport Dim Dot Technical"/>
          <p:cNvSpPr/>
          <p:nvPr/>
        </p:nvSpPr>
        <p:spPr>
          <a:xfrm>
            <a:off x="2603182" y="5189147"/>
            <a:ext cx="73152" cy="73152"/>
          </a:xfrm>
          <a:prstGeom prst="ellipse">
            <a:avLst/>
          </a:prstGeom>
          <a:solidFill>
            <a:srgbClr val="53BE70"/>
          </a:solidFill>
          <a:ln>
            <a:noFill/>
          </a:ln>
          <a:effectLst/>
        </p:spPr>
        <p:txBody>
          <a:bodyPr rtlCol="0" anchor="ctr"/>
          <a:lstStyle/>
          <a:p>
            <a:endParaRPr lang="de-DE"/>
          </a:p>
        </p:txBody>
      </p:sp>
      <p:sp>
        <p:nvSpPr>
          <p:cNvPr id="266" name="Battery Passport Dim Technical"/>
          <p:cNvSpPr txBox="1"/>
          <p:nvPr/>
        </p:nvSpPr>
        <p:spPr>
          <a:xfrm>
            <a:off x="274034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67" name="Battery Passport Dim Dot Supplier Activation"/>
          <p:cNvSpPr/>
          <p:nvPr/>
        </p:nvSpPr>
        <p:spPr>
          <a:xfrm>
            <a:off x="2603182" y="5380917"/>
            <a:ext cx="73152" cy="73152"/>
          </a:xfrm>
          <a:prstGeom prst="ellipse">
            <a:avLst/>
          </a:prstGeom>
          <a:solidFill>
            <a:srgbClr val="53BE70"/>
          </a:solidFill>
          <a:ln>
            <a:noFill/>
          </a:ln>
          <a:effectLst/>
        </p:spPr>
        <p:txBody>
          <a:bodyPr rtlCol="0" anchor="ctr"/>
          <a:lstStyle/>
          <a:p>
            <a:endParaRPr lang="de-DE"/>
          </a:p>
        </p:txBody>
      </p:sp>
      <p:sp>
        <p:nvSpPr>
          <p:cNvPr id="268" name="Battery Passport Dim Supplier Activation"/>
          <p:cNvSpPr txBox="1"/>
          <p:nvPr/>
        </p:nvSpPr>
        <p:spPr>
          <a:xfrm>
            <a:off x="274034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69" name="Product Passes Row Divider Dimensions"/>
          <p:cNvSpPr/>
          <p:nvPr/>
        </p:nvSpPr>
        <p:spPr>
          <a:xfrm>
            <a:off x="3949065" y="4367203"/>
            <a:ext cx="1167574" cy="6401"/>
          </a:xfrm>
          <a:prstGeom prst="rect">
            <a:avLst/>
          </a:prstGeom>
          <a:solidFill>
            <a:srgbClr val="E2E8EC"/>
          </a:solidFill>
          <a:ln>
            <a:noFill/>
          </a:ln>
          <a:effectLst/>
        </p:spPr>
        <p:txBody>
          <a:bodyPr rtlCol="0" anchor="ctr"/>
          <a:lstStyle/>
          <a:p>
            <a:endParaRPr lang="de-DE"/>
          </a:p>
        </p:txBody>
      </p:sp>
      <p:sp>
        <p:nvSpPr>
          <p:cNvPr id="270" name="Product Passes Dim Dot External · CX Association"/>
          <p:cNvSpPr/>
          <p:nvPr/>
        </p:nvSpPr>
        <p:spPr>
          <a:xfrm>
            <a:off x="3949065" y="4467787"/>
            <a:ext cx="73152" cy="73152"/>
          </a:xfrm>
          <a:prstGeom prst="ellipse">
            <a:avLst/>
          </a:prstGeom>
          <a:solidFill>
            <a:srgbClr val="F0B135"/>
          </a:solidFill>
          <a:ln>
            <a:noFill/>
          </a:ln>
          <a:effectLst/>
        </p:spPr>
        <p:txBody>
          <a:bodyPr rtlCol="0" anchor="ctr"/>
          <a:lstStyle/>
          <a:p>
            <a:endParaRPr lang="de-DE"/>
          </a:p>
        </p:txBody>
      </p:sp>
      <p:sp>
        <p:nvSpPr>
          <p:cNvPr id="271" name="Product Passes Dim External · CX Association"/>
          <p:cNvSpPr txBox="1"/>
          <p:nvPr/>
        </p:nvSpPr>
        <p:spPr>
          <a:xfrm>
            <a:off x="408622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72" name="Product Passes Dim Dot Business"/>
          <p:cNvSpPr/>
          <p:nvPr/>
        </p:nvSpPr>
        <p:spPr>
          <a:xfrm>
            <a:off x="3949065" y="4805607"/>
            <a:ext cx="73152" cy="73152"/>
          </a:xfrm>
          <a:prstGeom prst="ellipse">
            <a:avLst/>
          </a:prstGeom>
          <a:solidFill>
            <a:srgbClr val="F0B135"/>
          </a:solidFill>
          <a:ln>
            <a:noFill/>
          </a:ln>
          <a:effectLst/>
        </p:spPr>
        <p:txBody>
          <a:bodyPr rtlCol="0" anchor="ctr"/>
          <a:lstStyle/>
          <a:p>
            <a:endParaRPr lang="de-DE"/>
          </a:p>
        </p:txBody>
      </p:sp>
      <p:sp>
        <p:nvSpPr>
          <p:cNvPr id="273" name="Product Passes Dim Business"/>
          <p:cNvSpPr txBox="1"/>
          <p:nvPr/>
        </p:nvSpPr>
        <p:spPr>
          <a:xfrm>
            <a:off x="408622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74" name="Product Passes Dim Dot Data Provisioning"/>
          <p:cNvSpPr/>
          <p:nvPr/>
        </p:nvSpPr>
        <p:spPr>
          <a:xfrm>
            <a:off x="3949065" y="4997377"/>
            <a:ext cx="73152" cy="73152"/>
          </a:xfrm>
          <a:prstGeom prst="ellipse">
            <a:avLst/>
          </a:prstGeom>
          <a:solidFill>
            <a:srgbClr val="53BE70"/>
          </a:solidFill>
          <a:ln>
            <a:noFill/>
          </a:ln>
          <a:effectLst/>
        </p:spPr>
        <p:txBody>
          <a:bodyPr rtlCol="0" anchor="ctr"/>
          <a:lstStyle/>
          <a:p>
            <a:endParaRPr lang="de-DE"/>
          </a:p>
        </p:txBody>
      </p:sp>
      <p:sp>
        <p:nvSpPr>
          <p:cNvPr id="275" name="Product Passes Dim Data Provisioning"/>
          <p:cNvSpPr txBox="1"/>
          <p:nvPr/>
        </p:nvSpPr>
        <p:spPr>
          <a:xfrm>
            <a:off x="408622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76" name="Product Passes Dim Dot Technical"/>
          <p:cNvSpPr/>
          <p:nvPr/>
        </p:nvSpPr>
        <p:spPr>
          <a:xfrm>
            <a:off x="3949065" y="5189147"/>
            <a:ext cx="73152" cy="73152"/>
          </a:xfrm>
          <a:prstGeom prst="ellipse">
            <a:avLst/>
          </a:prstGeom>
          <a:solidFill>
            <a:srgbClr val="53BE70"/>
          </a:solidFill>
          <a:ln>
            <a:noFill/>
          </a:ln>
          <a:effectLst/>
        </p:spPr>
        <p:txBody>
          <a:bodyPr rtlCol="0" anchor="ctr"/>
          <a:lstStyle/>
          <a:p>
            <a:endParaRPr lang="de-DE"/>
          </a:p>
        </p:txBody>
      </p:sp>
      <p:sp>
        <p:nvSpPr>
          <p:cNvPr id="277" name="Product Passes Dim Technical"/>
          <p:cNvSpPr txBox="1"/>
          <p:nvPr/>
        </p:nvSpPr>
        <p:spPr>
          <a:xfrm>
            <a:off x="408622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8" name="Product Passes Dim Dot Supplier Activation"/>
          <p:cNvSpPr/>
          <p:nvPr/>
        </p:nvSpPr>
        <p:spPr>
          <a:xfrm>
            <a:off x="3949065" y="5380917"/>
            <a:ext cx="73152" cy="73152"/>
          </a:xfrm>
          <a:prstGeom prst="ellipse">
            <a:avLst/>
          </a:prstGeom>
          <a:solidFill>
            <a:srgbClr val="53BE70"/>
          </a:solidFill>
          <a:ln>
            <a:noFill/>
          </a:ln>
          <a:effectLst/>
        </p:spPr>
        <p:txBody>
          <a:bodyPr rtlCol="0" anchor="ctr"/>
          <a:lstStyle/>
          <a:p>
            <a:endParaRPr lang="de-DE"/>
          </a:p>
        </p:txBody>
      </p:sp>
      <p:sp>
        <p:nvSpPr>
          <p:cNvPr id="279" name="Product Passes Dim Supplier Activation"/>
          <p:cNvSpPr txBox="1"/>
          <p:nvPr/>
        </p:nvSpPr>
        <p:spPr>
          <a:xfrm>
            <a:off x="408622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80" name="PURIS Row Divider Dimensions"/>
          <p:cNvSpPr/>
          <p:nvPr/>
        </p:nvSpPr>
        <p:spPr>
          <a:xfrm>
            <a:off x="5294947" y="4367203"/>
            <a:ext cx="1167574" cy="6401"/>
          </a:xfrm>
          <a:prstGeom prst="rect">
            <a:avLst/>
          </a:prstGeom>
          <a:solidFill>
            <a:srgbClr val="E2E8EC"/>
          </a:solidFill>
          <a:ln>
            <a:noFill/>
          </a:ln>
          <a:effectLst/>
        </p:spPr>
        <p:txBody>
          <a:bodyPr rtlCol="0" anchor="ctr"/>
          <a:lstStyle/>
          <a:p>
            <a:endParaRPr lang="de-DE"/>
          </a:p>
        </p:txBody>
      </p:sp>
      <p:sp>
        <p:nvSpPr>
          <p:cNvPr id="281" name="PURIS Dim Dot External · CX Association"/>
          <p:cNvSpPr/>
          <p:nvPr/>
        </p:nvSpPr>
        <p:spPr>
          <a:xfrm>
            <a:off x="5294947" y="4467787"/>
            <a:ext cx="73152" cy="73152"/>
          </a:xfrm>
          <a:prstGeom prst="ellipse">
            <a:avLst/>
          </a:prstGeom>
          <a:solidFill>
            <a:srgbClr val="53BE70"/>
          </a:solidFill>
          <a:ln>
            <a:noFill/>
          </a:ln>
          <a:effectLst/>
        </p:spPr>
        <p:txBody>
          <a:bodyPr rtlCol="0" anchor="ctr"/>
          <a:lstStyle/>
          <a:p>
            <a:endParaRPr lang="de-DE"/>
          </a:p>
        </p:txBody>
      </p:sp>
      <p:sp>
        <p:nvSpPr>
          <p:cNvPr id="282" name="PURIS Dim External · CX Association"/>
          <p:cNvSpPr txBox="1"/>
          <p:nvPr/>
        </p:nvSpPr>
        <p:spPr>
          <a:xfrm>
            <a:off x="5432108"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83" name="PURIS Dim Dot Business"/>
          <p:cNvSpPr/>
          <p:nvPr/>
        </p:nvSpPr>
        <p:spPr>
          <a:xfrm>
            <a:off x="5294947" y="4805607"/>
            <a:ext cx="73152" cy="73152"/>
          </a:xfrm>
          <a:prstGeom prst="ellipse">
            <a:avLst/>
          </a:prstGeom>
          <a:solidFill>
            <a:srgbClr val="F0B135"/>
          </a:solidFill>
          <a:ln>
            <a:noFill/>
          </a:ln>
          <a:effectLst/>
        </p:spPr>
        <p:txBody>
          <a:bodyPr rtlCol="0" anchor="ctr"/>
          <a:lstStyle/>
          <a:p>
            <a:endParaRPr lang="de-DE"/>
          </a:p>
        </p:txBody>
      </p:sp>
      <p:sp>
        <p:nvSpPr>
          <p:cNvPr id="284" name="PURIS Dim Business"/>
          <p:cNvSpPr txBox="1"/>
          <p:nvPr/>
        </p:nvSpPr>
        <p:spPr>
          <a:xfrm>
            <a:off x="5432108"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85" name="PURIS Dim Dot Data Provisioning"/>
          <p:cNvSpPr/>
          <p:nvPr/>
        </p:nvSpPr>
        <p:spPr>
          <a:xfrm>
            <a:off x="5294947" y="4997377"/>
            <a:ext cx="73152" cy="73152"/>
          </a:xfrm>
          <a:prstGeom prst="ellipse">
            <a:avLst/>
          </a:prstGeom>
          <a:solidFill>
            <a:srgbClr val="F0B135"/>
          </a:solidFill>
          <a:ln>
            <a:noFill/>
          </a:ln>
          <a:effectLst/>
        </p:spPr>
        <p:txBody>
          <a:bodyPr rtlCol="0" anchor="ctr"/>
          <a:lstStyle/>
          <a:p>
            <a:endParaRPr lang="de-DE"/>
          </a:p>
        </p:txBody>
      </p:sp>
      <p:sp>
        <p:nvSpPr>
          <p:cNvPr id="286" name="PURIS Dim Data Provisioning"/>
          <p:cNvSpPr txBox="1"/>
          <p:nvPr/>
        </p:nvSpPr>
        <p:spPr>
          <a:xfrm>
            <a:off x="5432108"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87" name="PURIS Dim Dot Technical"/>
          <p:cNvSpPr/>
          <p:nvPr/>
        </p:nvSpPr>
        <p:spPr>
          <a:xfrm>
            <a:off x="5294947" y="5189147"/>
            <a:ext cx="73152" cy="73152"/>
          </a:xfrm>
          <a:prstGeom prst="ellipse">
            <a:avLst/>
          </a:prstGeom>
          <a:solidFill>
            <a:srgbClr val="F0B135"/>
          </a:solidFill>
          <a:ln>
            <a:noFill/>
          </a:ln>
          <a:effectLst/>
        </p:spPr>
        <p:txBody>
          <a:bodyPr rtlCol="0" anchor="ctr"/>
          <a:lstStyle/>
          <a:p>
            <a:endParaRPr lang="de-DE"/>
          </a:p>
        </p:txBody>
      </p:sp>
      <p:sp>
        <p:nvSpPr>
          <p:cNvPr id="288" name="PURIS Dim Technical"/>
          <p:cNvSpPr txBox="1"/>
          <p:nvPr/>
        </p:nvSpPr>
        <p:spPr>
          <a:xfrm>
            <a:off x="5432108"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89" name="PURIS Dim Dot Supplier Activation"/>
          <p:cNvSpPr/>
          <p:nvPr/>
        </p:nvSpPr>
        <p:spPr>
          <a:xfrm>
            <a:off x="5294947" y="5380917"/>
            <a:ext cx="73152" cy="73152"/>
          </a:xfrm>
          <a:prstGeom prst="ellipse">
            <a:avLst/>
          </a:prstGeom>
          <a:solidFill>
            <a:srgbClr val="F0B135"/>
          </a:solidFill>
          <a:ln>
            <a:noFill/>
          </a:ln>
          <a:effectLst/>
        </p:spPr>
        <p:txBody>
          <a:bodyPr rtlCol="0" anchor="ctr"/>
          <a:lstStyle/>
          <a:p>
            <a:endParaRPr lang="de-DE"/>
          </a:p>
        </p:txBody>
      </p:sp>
      <p:sp>
        <p:nvSpPr>
          <p:cNvPr id="290" name="PURIS Dim Supplier Activation"/>
          <p:cNvSpPr txBox="1"/>
          <p:nvPr/>
        </p:nvSpPr>
        <p:spPr>
          <a:xfrm>
            <a:off x="5432108"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91" name="Business Partner Data Mgmt Row Divider Dimensions"/>
          <p:cNvSpPr/>
          <p:nvPr/>
        </p:nvSpPr>
        <p:spPr>
          <a:xfrm>
            <a:off x="6640830" y="4367203"/>
            <a:ext cx="1167574" cy="6401"/>
          </a:xfrm>
          <a:prstGeom prst="rect">
            <a:avLst/>
          </a:prstGeom>
          <a:solidFill>
            <a:srgbClr val="E2E8EC"/>
          </a:solidFill>
          <a:ln>
            <a:noFill/>
          </a:ln>
          <a:effectLst/>
        </p:spPr>
        <p:txBody>
          <a:bodyPr rtlCol="0" anchor="ctr"/>
          <a:lstStyle/>
          <a:p>
            <a:endParaRPr lang="de-DE"/>
          </a:p>
        </p:txBody>
      </p:sp>
      <p:sp>
        <p:nvSpPr>
          <p:cNvPr id="292" name="Business Partner Data Mgmt Dim Dot External · CX Association"/>
          <p:cNvSpPr/>
          <p:nvPr/>
        </p:nvSpPr>
        <p:spPr>
          <a:xfrm>
            <a:off x="6640830" y="4467787"/>
            <a:ext cx="73152" cy="73152"/>
          </a:xfrm>
          <a:prstGeom prst="ellipse">
            <a:avLst/>
          </a:prstGeom>
          <a:solidFill>
            <a:srgbClr val="F0B135"/>
          </a:solidFill>
          <a:ln>
            <a:noFill/>
          </a:ln>
          <a:effectLst/>
        </p:spPr>
        <p:txBody>
          <a:bodyPr rtlCol="0" anchor="ctr"/>
          <a:lstStyle/>
          <a:p>
            <a:endParaRPr lang="de-DE"/>
          </a:p>
        </p:txBody>
      </p:sp>
      <p:sp>
        <p:nvSpPr>
          <p:cNvPr id="293" name="Business Partner Data Mgmt Dim External · CX Association"/>
          <p:cNvSpPr txBox="1"/>
          <p:nvPr/>
        </p:nvSpPr>
        <p:spPr>
          <a:xfrm>
            <a:off x="677799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94" name="Business Partner Data Mgmt Dim Dot Business"/>
          <p:cNvSpPr/>
          <p:nvPr/>
        </p:nvSpPr>
        <p:spPr>
          <a:xfrm>
            <a:off x="6640830" y="4805607"/>
            <a:ext cx="73152" cy="73152"/>
          </a:xfrm>
          <a:prstGeom prst="ellipse">
            <a:avLst/>
          </a:prstGeom>
          <a:solidFill>
            <a:srgbClr val="F0B135"/>
          </a:solidFill>
          <a:ln>
            <a:noFill/>
          </a:ln>
          <a:effectLst/>
        </p:spPr>
        <p:txBody>
          <a:bodyPr rtlCol="0" anchor="ctr"/>
          <a:lstStyle/>
          <a:p>
            <a:endParaRPr lang="de-DE"/>
          </a:p>
        </p:txBody>
      </p:sp>
      <p:sp>
        <p:nvSpPr>
          <p:cNvPr id="295" name="Business Partner Data Mgmt Dim Business"/>
          <p:cNvSpPr txBox="1"/>
          <p:nvPr/>
        </p:nvSpPr>
        <p:spPr>
          <a:xfrm>
            <a:off x="677799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96" name="Business Partner Data Mgmt Dim Dot Data Provisioning"/>
          <p:cNvSpPr/>
          <p:nvPr/>
        </p:nvSpPr>
        <p:spPr>
          <a:xfrm>
            <a:off x="6640830" y="4997377"/>
            <a:ext cx="73152" cy="73152"/>
          </a:xfrm>
          <a:prstGeom prst="ellipse">
            <a:avLst/>
          </a:prstGeom>
          <a:solidFill>
            <a:srgbClr val="53BE70"/>
          </a:solidFill>
          <a:ln>
            <a:noFill/>
          </a:ln>
          <a:effectLst/>
        </p:spPr>
        <p:txBody>
          <a:bodyPr rtlCol="0" anchor="ctr"/>
          <a:lstStyle/>
          <a:p>
            <a:endParaRPr lang="de-DE"/>
          </a:p>
        </p:txBody>
      </p:sp>
      <p:sp>
        <p:nvSpPr>
          <p:cNvPr id="297" name="Business Partner Data Mgmt Dim Data Provisioning"/>
          <p:cNvSpPr txBox="1"/>
          <p:nvPr/>
        </p:nvSpPr>
        <p:spPr>
          <a:xfrm>
            <a:off x="677799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98" name="Business Partner Data Mgmt Dim Dot Technical"/>
          <p:cNvSpPr/>
          <p:nvPr/>
        </p:nvSpPr>
        <p:spPr>
          <a:xfrm>
            <a:off x="6640830" y="5189147"/>
            <a:ext cx="73152" cy="73152"/>
          </a:xfrm>
          <a:prstGeom prst="ellipse">
            <a:avLst/>
          </a:prstGeom>
          <a:solidFill>
            <a:srgbClr val="F0B135"/>
          </a:solidFill>
          <a:ln>
            <a:noFill/>
          </a:ln>
          <a:effectLst/>
        </p:spPr>
        <p:txBody>
          <a:bodyPr rtlCol="0" anchor="ctr"/>
          <a:lstStyle/>
          <a:p>
            <a:endParaRPr lang="de-DE"/>
          </a:p>
        </p:txBody>
      </p:sp>
      <p:sp>
        <p:nvSpPr>
          <p:cNvPr id="299" name="Business Partner Data Mgmt Dim Technical"/>
          <p:cNvSpPr txBox="1"/>
          <p:nvPr/>
        </p:nvSpPr>
        <p:spPr>
          <a:xfrm>
            <a:off x="677799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00" name="Business Partner Data Mgmt Dim Dot Supplier Activation"/>
          <p:cNvSpPr/>
          <p:nvPr/>
        </p:nvSpPr>
        <p:spPr>
          <a:xfrm>
            <a:off x="6640830" y="5380917"/>
            <a:ext cx="73152" cy="73152"/>
          </a:xfrm>
          <a:prstGeom prst="ellipse">
            <a:avLst/>
          </a:prstGeom>
          <a:solidFill>
            <a:srgbClr val="CFD6DB"/>
          </a:solidFill>
          <a:ln>
            <a:noFill/>
          </a:ln>
          <a:effectLst/>
        </p:spPr>
        <p:txBody>
          <a:bodyPr rtlCol="0" anchor="ctr"/>
          <a:lstStyle/>
          <a:p>
            <a:endParaRPr lang="de-DE"/>
          </a:p>
        </p:txBody>
      </p:sp>
      <p:sp>
        <p:nvSpPr>
          <p:cNvPr id="301" name="Business Partner Data Mgmt Dim Supplier Activation"/>
          <p:cNvSpPr txBox="1"/>
          <p:nvPr/>
        </p:nvSpPr>
        <p:spPr>
          <a:xfrm>
            <a:off x="677799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02" name="Certificate Management Row Divider Dimensions"/>
          <p:cNvSpPr/>
          <p:nvPr/>
        </p:nvSpPr>
        <p:spPr>
          <a:xfrm>
            <a:off x="7986712" y="4367203"/>
            <a:ext cx="1167574" cy="6401"/>
          </a:xfrm>
          <a:prstGeom prst="rect">
            <a:avLst/>
          </a:prstGeom>
          <a:solidFill>
            <a:srgbClr val="E2E8EC"/>
          </a:solidFill>
          <a:ln>
            <a:noFill/>
          </a:ln>
          <a:effectLst/>
        </p:spPr>
        <p:txBody>
          <a:bodyPr rtlCol="0" anchor="ctr"/>
          <a:lstStyle/>
          <a:p>
            <a:endParaRPr lang="de-DE"/>
          </a:p>
        </p:txBody>
      </p:sp>
      <p:sp>
        <p:nvSpPr>
          <p:cNvPr id="303" name="Certificate Management Dim Dot External · CX Association"/>
          <p:cNvSpPr/>
          <p:nvPr/>
        </p:nvSpPr>
        <p:spPr>
          <a:xfrm>
            <a:off x="7986712" y="4467787"/>
            <a:ext cx="73152" cy="73152"/>
          </a:xfrm>
          <a:prstGeom prst="ellipse">
            <a:avLst/>
          </a:prstGeom>
          <a:solidFill>
            <a:srgbClr val="F0B135"/>
          </a:solidFill>
          <a:ln>
            <a:noFill/>
          </a:ln>
          <a:effectLst/>
        </p:spPr>
        <p:txBody>
          <a:bodyPr rtlCol="0" anchor="ctr"/>
          <a:lstStyle/>
          <a:p>
            <a:endParaRPr lang="de-DE"/>
          </a:p>
        </p:txBody>
      </p:sp>
      <p:sp>
        <p:nvSpPr>
          <p:cNvPr id="304" name="Certificate Management Dim External · CX Association"/>
          <p:cNvSpPr txBox="1"/>
          <p:nvPr/>
        </p:nvSpPr>
        <p:spPr>
          <a:xfrm>
            <a:off x="812387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05" name="Certificate Management Dim Dot Business"/>
          <p:cNvSpPr/>
          <p:nvPr/>
        </p:nvSpPr>
        <p:spPr>
          <a:xfrm>
            <a:off x="7986712" y="4805607"/>
            <a:ext cx="73152" cy="73152"/>
          </a:xfrm>
          <a:prstGeom prst="ellipse">
            <a:avLst/>
          </a:prstGeom>
          <a:solidFill>
            <a:srgbClr val="53BE70"/>
          </a:solidFill>
          <a:ln>
            <a:noFill/>
          </a:ln>
          <a:effectLst/>
        </p:spPr>
        <p:txBody>
          <a:bodyPr rtlCol="0" anchor="ctr"/>
          <a:lstStyle/>
          <a:p>
            <a:endParaRPr lang="de-DE"/>
          </a:p>
        </p:txBody>
      </p:sp>
      <p:sp>
        <p:nvSpPr>
          <p:cNvPr id="306" name="Certificate Management Dim Business"/>
          <p:cNvSpPr txBox="1"/>
          <p:nvPr/>
        </p:nvSpPr>
        <p:spPr>
          <a:xfrm>
            <a:off x="812387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07" name="Certificate Management Dim Dot Data Provisioning"/>
          <p:cNvSpPr/>
          <p:nvPr/>
        </p:nvSpPr>
        <p:spPr>
          <a:xfrm>
            <a:off x="7986712" y="4997377"/>
            <a:ext cx="73152" cy="73152"/>
          </a:xfrm>
          <a:prstGeom prst="ellipse">
            <a:avLst/>
          </a:prstGeom>
          <a:solidFill>
            <a:srgbClr val="53BE70"/>
          </a:solidFill>
          <a:ln>
            <a:noFill/>
          </a:ln>
          <a:effectLst/>
        </p:spPr>
        <p:txBody>
          <a:bodyPr rtlCol="0" anchor="ctr"/>
          <a:lstStyle/>
          <a:p>
            <a:endParaRPr lang="de-DE"/>
          </a:p>
        </p:txBody>
      </p:sp>
      <p:sp>
        <p:nvSpPr>
          <p:cNvPr id="308" name="Certificate Management Dim Data Provisioning"/>
          <p:cNvSpPr txBox="1"/>
          <p:nvPr/>
        </p:nvSpPr>
        <p:spPr>
          <a:xfrm>
            <a:off x="812387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09" name="Certificate Management Dim Dot Technical"/>
          <p:cNvSpPr/>
          <p:nvPr/>
        </p:nvSpPr>
        <p:spPr>
          <a:xfrm>
            <a:off x="7986712" y="5189147"/>
            <a:ext cx="73152" cy="73152"/>
          </a:xfrm>
          <a:prstGeom prst="ellipse">
            <a:avLst/>
          </a:prstGeom>
          <a:solidFill>
            <a:srgbClr val="53BE70"/>
          </a:solidFill>
          <a:ln>
            <a:noFill/>
          </a:ln>
          <a:effectLst/>
        </p:spPr>
        <p:txBody>
          <a:bodyPr rtlCol="0" anchor="ctr"/>
          <a:lstStyle/>
          <a:p>
            <a:endParaRPr lang="de-DE"/>
          </a:p>
        </p:txBody>
      </p:sp>
      <p:sp>
        <p:nvSpPr>
          <p:cNvPr id="310" name="Certificate Management Dim Technical"/>
          <p:cNvSpPr txBox="1"/>
          <p:nvPr/>
        </p:nvSpPr>
        <p:spPr>
          <a:xfrm>
            <a:off x="812387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11" name="Certificate Management Dim Dot Supplier Activation"/>
          <p:cNvSpPr/>
          <p:nvPr/>
        </p:nvSpPr>
        <p:spPr>
          <a:xfrm>
            <a:off x="7986712" y="5380917"/>
            <a:ext cx="73152" cy="73152"/>
          </a:xfrm>
          <a:prstGeom prst="ellipse">
            <a:avLst/>
          </a:prstGeom>
          <a:solidFill>
            <a:srgbClr val="53BE70"/>
          </a:solidFill>
          <a:ln>
            <a:noFill/>
          </a:ln>
          <a:effectLst/>
        </p:spPr>
        <p:txBody>
          <a:bodyPr rtlCol="0" anchor="ctr"/>
          <a:lstStyle/>
          <a:p>
            <a:endParaRPr lang="de-DE"/>
          </a:p>
        </p:txBody>
      </p:sp>
      <p:sp>
        <p:nvSpPr>
          <p:cNvPr id="312" name="Certificate Management Dim Supplier Activation"/>
          <p:cNvSpPr txBox="1"/>
          <p:nvPr/>
        </p:nvSpPr>
        <p:spPr>
          <a:xfrm>
            <a:off x="812387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13" name="Product Carbon Footprint Row Divider Dimensions"/>
          <p:cNvSpPr/>
          <p:nvPr/>
        </p:nvSpPr>
        <p:spPr>
          <a:xfrm>
            <a:off x="9332595" y="4367203"/>
            <a:ext cx="1167574" cy="6401"/>
          </a:xfrm>
          <a:prstGeom prst="rect">
            <a:avLst/>
          </a:prstGeom>
          <a:solidFill>
            <a:srgbClr val="E2E8EC"/>
          </a:solidFill>
          <a:ln>
            <a:noFill/>
          </a:ln>
          <a:effectLst/>
        </p:spPr>
        <p:txBody>
          <a:bodyPr rtlCol="0" anchor="ctr"/>
          <a:lstStyle/>
          <a:p>
            <a:endParaRPr lang="de-DE"/>
          </a:p>
        </p:txBody>
      </p:sp>
      <p:sp>
        <p:nvSpPr>
          <p:cNvPr id="314" name="Product Carbon Footprint Dim Dot External · CX Association"/>
          <p:cNvSpPr/>
          <p:nvPr/>
        </p:nvSpPr>
        <p:spPr>
          <a:xfrm>
            <a:off x="9332595" y="4467787"/>
            <a:ext cx="73152" cy="73152"/>
          </a:xfrm>
          <a:prstGeom prst="ellipse">
            <a:avLst/>
          </a:prstGeom>
          <a:solidFill>
            <a:srgbClr val="53BE70"/>
          </a:solidFill>
          <a:ln>
            <a:noFill/>
          </a:ln>
          <a:effectLst/>
        </p:spPr>
        <p:txBody>
          <a:bodyPr rtlCol="0" anchor="ctr"/>
          <a:lstStyle/>
          <a:p>
            <a:endParaRPr lang="de-DE"/>
          </a:p>
        </p:txBody>
      </p:sp>
      <p:sp>
        <p:nvSpPr>
          <p:cNvPr id="315" name="Product Carbon Footprint Dim External · CX Association"/>
          <p:cNvSpPr txBox="1"/>
          <p:nvPr/>
        </p:nvSpPr>
        <p:spPr>
          <a:xfrm>
            <a:off x="946975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16" name="Product Carbon Footprint Dim Dot Business"/>
          <p:cNvSpPr/>
          <p:nvPr/>
        </p:nvSpPr>
        <p:spPr>
          <a:xfrm>
            <a:off x="9332595" y="4805607"/>
            <a:ext cx="73152" cy="73152"/>
          </a:xfrm>
          <a:prstGeom prst="ellipse">
            <a:avLst/>
          </a:prstGeom>
          <a:solidFill>
            <a:srgbClr val="53BE70"/>
          </a:solidFill>
          <a:ln>
            <a:noFill/>
          </a:ln>
          <a:effectLst/>
        </p:spPr>
        <p:txBody>
          <a:bodyPr rtlCol="0" anchor="ctr"/>
          <a:lstStyle/>
          <a:p>
            <a:endParaRPr lang="de-DE"/>
          </a:p>
        </p:txBody>
      </p:sp>
      <p:sp>
        <p:nvSpPr>
          <p:cNvPr id="317" name="Product Carbon Footprint Dim Business"/>
          <p:cNvSpPr txBox="1"/>
          <p:nvPr/>
        </p:nvSpPr>
        <p:spPr>
          <a:xfrm>
            <a:off x="946975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18" name="Product Carbon Footprint Dim Dot Data Provisioning"/>
          <p:cNvSpPr/>
          <p:nvPr/>
        </p:nvSpPr>
        <p:spPr>
          <a:xfrm>
            <a:off x="9332595" y="4997377"/>
            <a:ext cx="73152" cy="73152"/>
          </a:xfrm>
          <a:prstGeom prst="ellipse">
            <a:avLst/>
          </a:prstGeom>
          <a:solidFill>
            <a:srgbClr val="53BE70"/>
          </a:solidFill>
          <a:ln>
            <a:noFill/>
          </a:ln>
          <a:effectLst/>
        </p:spPr>
        <p:txBody>
          <a:bodyPr rtlCol="0" anchor="ctr"/>
          <a:lstStyle/>
          <a:p>
            <a:endParaRPr lang="de-DE"/>
          </a:p>
        </p:txBody>
      </p:sp>
      <p:sp>
        <p:nvSpPr>
          <p:cNvPr id="319" name="Product Carbon Footprint Dim Data Provisioning"/>
          <p:cNvSpPr txBox="1"/>
          <p:nvPr/>
        </p:nvSpPr>
        <p:spPr>
          <a:xfrm>
            <a:off x="946975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20" name="Product Carbon Footprint Dim Dot Technical"/>
          <p:cNvSpPr/>
          <p:nvPr/>
        </p:nvSpPr>
        <p:spPr>
          <a:xfrm>
            <a:off x="9332595" y="5189147"/>
            <a:ext cx="73152" cy="73152"/>
          </a:xfrm>
          <a:prstGeom prst="ellipse">
            <a:avLst/>
          </a:prstGeom>
          <a:solidFill>
            <a:srgbClr val="53BE70"/>
          </a:solidFill>
          <a:ln>
            <a:noFill/>
          </a:ln>
          <a:effectLst/>
        </p:spPr>
        <p:txBody>
          <a:bodyPr rtlCol="0" anchor="ctr"/>
          <a:lstStyle/>
          <a:p>
            <a:endParaRPr lang="de-DE"/>
          </a:p>
        </p:txBody>
      </p:sp>
      <p:sp>
        <p:nvSpPr>
          <p:cNvPr id="321" name="Product Carbon Footprint Dim Technical"/>
          <p:cNvSpPr txBox="1"/>
          <p:nvPr/>
        </p:nvSpPr>
        <p:spPr>
          <a:xfrm>
            <a:off x="946975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22" name="Product Carbon Footprint Dim Dot Supplier Activation"/>
          <p:cNvSpPr/>
          <p:nvPr/>
        </p:nvSpPr>
        <p:spPr>
          <a:xfrm>
            <a:off x="9332595" y="5380917"/>
            <a:ext cx="73152" cy="73152"/>
          </a:xfrm>
          <a:prstGeom prst="ellipse">
            <a:avLst/>
          </a:prstGeom>
          <a:solidFill>
            <a:srgbClr val="53BE70"/>
          </a:solidFill>
          <a:ln>
            <a:noFill/>
          </a:ln>
          <a:effectLst/>
        </p:spPr>
        <p:txBody>
          <a:bodyPr rtlCol="0" anchor="ctr"/>
          <a:lstStyle/>
          <a:p>
            <a:endParaRPr lang="de-DE"/>
          </a:p>
        </p:txBody>
      </p:sp>
      <p:sp>
        <p:nvSpPr>
          <p:cNvPr id="323" name="Product Carbon Footprint Dim Supplier Activation"/>
          <p:cNvSpPr txBox="1"/>
          <p:nvPr/>
        </p:nvSpPr>
        <p:spPr>
          <a:xfrm>
            <a:off x="946975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24" name="N-Tier Row Divider Dimensions"/>
          <p:cNvSpPr/>
          <p:nvPr/>
        </p:nvSpPr>
        <p:spPr>
          <a:xfrm>
            <a:off x="10678477" y="4367203"/>
            <a:ext cx="1167574" cy="6401"/>
          </a:xfrm>
          <a:prstGeom prst="rect">
            <a:avLst/>
          </a:prstGeom>
          <a:solidFill>
            <a:srgbClr val="E2E8EC"/>
          </a:solidFill>
          <a:ln>
            <a:noFill/>
          </a:ln>
          <a:effectLst/>
        </p:spPr>
        <p:txBody>
          <a:bodyPr rtlCol="0" anchor="ctr"/>
          <a:lstStyle/>
          <a:p>
            <a:endParaRPr lang="de-DE"/>
          </a:p>
        </p:txBody>
      </p:sp>
      <p:sp>
        <p:nvSpPr>
          <p:cNvPr id="325" name="N-Tier Dim Dot External · CX Association"/>
          <p:cNvSpPr/>
          <p:nvPr/>
        </p:nvSpPr>
        <p:spPr>
          <a:xfrm>
            <a:off x="10678477" y="4467787"/>
            <a:ext cx="73152" cy="73152"/>
          </a:xfrm>
          <a:prstGeom prst="ellipse">
            <a:avLst/>
          </a:prstGeom>
          <a:solidFill>
            <a:srgbClr val="53BE70"/>
          </a:solidFill>
          <a:ln>
            <a:noFill/>
          </a:ln>
          <a:effectLst/>
        </p:spPr>
        <p:txBody>
          <a:bodyPr rtlCol="0" anchor="ctr"/>
          <a:lstStyle/>
          <a:p>
            <a:endParaRPr lang="de-DE"/>
          </a:p>
        </p:txBody>
      </p:sp>
      <p:sp>
        <p:nvSpPr>
          <p:cNvPr id="326" name="N-Tier Dim External · CX Association"/>
          <p:cNvSpPr txBox="1"/>
          <p:nvPr/>
        </p:nvSpPr>
        <p:spPr>
          <a:xfrm>
            <a:off x="10815637"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27" name="N-Tier Dim Dot Business"/>
          <p:cNvSpPr/>
          <p:nvPr/>
        </p:nvSpPr>
        <p:spPr>
          <a:xfrm>
            <a:off x="10678477" y="4805607"/>
            <a:ext cx="73152" cy="73152"/>
          </a:xfrm>
          <a:prstGeom prst="ellipse">
            <a:avLst/>
          </a:prstGeom>
          <a:solidFill>
            <a:srgbClr val="CFD6DB"/>
          </a:solidFill>
          <a:ln>
            <a:noFill/>
          </a:ln>
          <a:effectLst/>
        </p:spPr>
        <p:txBody>
          <a:bodyPr rtlCol="0" anchor="ctr"/>
          <a:lstStyle/>
          <a:p>
            <a:endParaRPr lang="de-DE"/>
          </a:p>
        </p:txBody>
      </p:sp>
      <p:sp>
        <p:nvSpPr>
          <p:cNvPr id="328" name="N-Tier Dim Business"/>
          <p:cNvSpPr txBox="1"/>
          <p:nvPr/>
        </p:nvSpPr>
        <p:spPr>
          <a:xfrm>
            <a:off x="10815637"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29" name="N-Tier Dim Dot Data Provisioning"/>
          <p:cNvSpPr/>
          <p:nvPr/>
        </p:nvSpPr>
        <p:spPr>
          <a:xfrm>
            <a:off x="10678477" y="4997377"/>
            <a:ext cx="73152" cy="73152"/>
          </a:xfrm>
          <a:prstGeom prst="ellipse">
            <a:avLst/>
          </a:prstGeom>
          <a:solidFill>
            <a:srgbClr val="CFD6DB"/>
          </a:solidFill>
          <a:ln>
            <a:noFill/>
          </a:ln>
          <a:effectLst/>
        </p:spPr>
        <p:txBody>
          <a:bodyPr rtlCol="0" anchor="ctr"/>
          <a:lstStyle/>
          <a:p>
            <a:endParaRPr lang="de-DE"/>
          </a:p>
        </p:txBody>
      </p:sp>
      <p:sp>
        <p:nvSpPr>
          <p:cNvPr id="330" name="N-Tier Dim Data Provisioning"/>
          <p:cNvSpPr txBox="1"/>
          <p:nvPr/>
        </p:nvSpPr>
        <p:spPr>
          <a:xfrm>
            <a:off x="10815637"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31" name="N-Tier Dim Dot Technical"/>
          <p:cNvSpPr/>
          <p:nvPr/>
        </p:nvSpPr>
        <p:spPr>
          <a:xfrm>
            <a:off x="10678477" y="5189147"/>
            <a:ext cx="73152" cy="73152"/>
          </a:xfrm>
          <a:prstGeom prst="ellipse">
            <a:avLst/>
          </a:prstGeom>
          <a:solidFill>
            <a:srgbClr val="CFD6DB"/>
          </a:solidFill>
          <a:ln>
            <a:noFill/>
          </a:ln>
          <a:effectLst/>
        </p:spPr>
        <p:txBody>
          <a:bodyPr rtlCol="0" anchor="ctr"/>
          <a:lstStyle/>
          <a:p>
            <a:endParaRPr lang="de-DE"/>
          </a:p>
        </p:txBody>
      </p:sp>
      <p:sp>
        <p:nvSpPr>
          <p:cNvPr id="332" name="N-Tier Dim Technical"/>
          <p:cNvSpPr txBox="1"/>
          <p:nvPr/>
        </p:nvSpPr>
        <p:spPr>
          <a:xfrm>
            <a:off x="10815637"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33" name="N-Tier Dim Dot Supplier Activation"/>
          <p:cNvSpPr/>
          <p:nvPr/>
        </p:nvSpPr>
        <p:spPr>
          <a:xfrm>
            <a:off x="10678477" y="5380917"/>
            <a:ext cx="73152" cy="73152"/>
          </a:xfrm>
          <a:prstGeom prst="ellipse">
            <a:avLst/>
          </a:prstGeom>
          <a:solidFill>
            <a:srgbClr val="CFD6DB"/>
          </a:solidFill>
          <a:ln>
            <a:noFill/>
          </a:ln>
          <a:effectLst/>
        </p:spPr>
        <p:txBody>
          <a:bodyPr rtlCol="0" anchor="ctr"/>
          <a:lstStyle/>
          <a:p>
            <a:endParaRPr lang="de-DE"/>
          </a:p>
        </p:txBody>
      </p:sp>
      <p:sp>
        <p:nvSpPr>
          <p:cNvPr id="334" name="N-Tier Dim Supplier Activation"/>
          <p:cNvSpPr txBox="1"/>
          <p:nvPr/>
        </p:nvSpPr>
        <p:spPr>
          <a:xfrm>
            <a:off x="10815637"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35" name="Row Label Decision required"/>
          <p:cNvSpPr txBox="1"/>
          <p:nvPr/>
        </p:nvSpPr>
        <p:spPr>
          <a:xfrm>
            <a:off x="274320" y="5649178"/>
            <a:ext cx="868680" cy="9710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336" name="Quality Row Divider Decision required"/>
          <p:cNvSpPr/>
          <p:nvPr/>
        </p:nvSpPr>
        <p:spPr>
          <a:xfrm>
            <a:off x="1257300" y="5585170"/>
            <a:ext cx="1167574" cy="6401"/>
          </a:xfrm>
          <a:prstGeom prst="rect">
            <a:avLst/>
          </a:prstGeom>
          <a:solidFill>
            <a:srgbClr val="E2E8EC"/>
          </a:solidFill>
          <a:ln>
            <a:noFill/>
          </a:ln>
          <a:effectLst/>
        </p:spPr>
        <p:txBody>
          <a:bodyPr rtlCol="0" anchor="ctr"/>
          <a:lstStyle/>
          <a:p>
            <a:endParaRPr lang="de-DE"/>
          </a:p>
        </p:txBody>
      </p:sp>
      <p:sp>
        <p:nvSpPr>
          <p:cNvPr id="337" name="Quality Decision 1 Flag"/>
          <p:cNvSpPr/>
          <p:nvPr/>
        </p:nvSpPr>
        <p:spPr>
          <a:xfrm>
            <a:off x="1257300" y="5649178"/>
            <a:ext cx="146304" cy="146304"/>
          </a:xfrm>
          <a:prstGeom prst="ellipse">
            <a:avLst/>
          </a:prstGeom>
          <a:solidFill>
            <a:srgbClr val="001E50"/>
          </a:solidFill>
          <a:ln>
            <a:noFill/>
          </a:ln>
          <a:effectLst/>
        </p:spPr>
        <p:txBody>
          <a:bodyPr rtlCol="0" anchor="ctr"/>
          <a:lstStyle/>
          <a:p>
            <a:endParaRPr lang="de-DE"/>
          </a:p>
        </p:txBody>
      </p:sp>
      <p:sp>
        <p:nvSpPr>
          <p:cNvPr id="338" name="Quality Decision 1 No"/>
          <p:cNvSpPr txBox="1"/>
          <p:nvPr/>
        </p:nvSpPr>
        <p:spPr>
          <a:xfrm>
            <a:off x="1257300"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39" name="Quality Decision 1"/>
          <p:cNvSpPr txBox="1"/>
          <p:nvPr/>
        </p:nvSpPr>
        <p:spPr>
          <a:xfrm>
            <a:off x="1257300" y="5649178"/>
            <a:ext cx="1167574" cy="8945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 rescoping from 15 to 2 suppliers until the Early Warning Production MVP is live?</a:t>
            </a:r>
          </a:p>
        </p:txBody>
      </p:sp>
      <p:sp>
        <p:nvSpPr>
          <p:cNvPr id="340" name="Battery Passport Row Divider Decision required"/>
          <p:cNvSpPr/>
          <p:nvPr/>
        </p:nvSpPr>
        <p:spPr>
          <a:xfrm>
            <a:off x="2603182" y="5585170"/>
            <a:ext cx="1167574" cy="6401"/>
          </a:xfrm>
          <a:prstGeom prst="rect">
            <a:avLst/>
          </a:prstGeom>
          <a:solidFill>
            <a:srgbClr val="E2E8EC"/>
          </a:solidFill>
          <a:ln>
            <a:noFill/>
          </a:ln>
          <a:effectLst/>
        </p:spPr>
        <p:txBody>
          <a:bodyPr rtlCol="0" anchor="ctr"/>
          <a:lstStyle/>
          <a:p>
            <a:endParaRPr lang="de-DE"/>
          </a:p>
        </p:txBody>
      </p:sp>
      <p:sp>
        <p:nvSpPr>
          <p:cNvPr id="341" name="Battery Passport Decision None"/>
          <p:cNvSpPr txBox="1"/>
          <p:nvPr/>
        </p:nvSpPr>
        <p:spPr>
          <a:xfrm>
            <a:off x="260318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2" name="Product Passes Row Divider Decision required"/>
          <p:cNvSpPr/>
          <p:nvPr/>
        </p:nvSpPr>
        <p:spPr>
          <a:xfrm>
            <a:off x="3949065" y="5585170"/>
            <a:ext cx="1167574" cy="6401"/>
          </a:xfrm>
          <a:prstGeom prst="rect">
            <a:avLst/>
          </a:prstGeom>
          <a:solidFill>
            <a:srgbClr val="E2E8EC"/>
          </a:solidFill>
          <a:ln>
            <a:noFill/>
          </a:ln>
          <a:effectLst/>
        </p:spPr>
        <p:txBody>
          <a:bodyPr rtlCol="0" anchor="ctr"/>
          <a:lstStyle/>
          <a:p>
            <a:endParaRPr lang="de-DE"/>
          </a:p>
        </p:txBody>
      </p:sp>
      <p:sp>
        <p:nvSpPr>
          <p:cNvPr id="343" name="Product Passes Decision None"/>
          <p:cNvSpPr txBox="1"/>
          <p:nvPr/>
        </p:nvSpPr>
        <p:spPr>
          <a:xfrm>
            <a:off x="394906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4" name="PURIS Row Divider Decision required"/>
          <p:cNvSpPr/>
          <p:nvPr/>
        </p:nvSpPr>
        <p:spPr>
          <a:xfrm>
            <a:off x="5294947" y="5585170"/>
            <a:ext cx="1167574" cy="6401"/>
          </a:xfrm>
          <a:prstGeom prst="rect">
            <a:avLst/>
          </a:prstGeom>
          <a:solidFill>
            <a:srgbClr val="E2E8EC"/>
          </a:solidFill>
          <a:ln>
            <a:noFill/>
          </a:ln>
          <a:effectLst/>
        </p:spPr>
        <p:txBody>
          <a:bodyPr rtlCol="0" anchor="ctr"/>
          <a:lstStyle/>
          <a:p>
            <a:endParaRPr lang="de-DE"/>
          </a:p>
        </p:txBody>
      </p:sp>
      <p:sp>
        <p:nvSpPr>
          <p:cNvPr id="345" name="PURIS Decision 2 Flag"/>
          <p:cNvSpPr/>
          <p:nvPr/>
        </p:nvSpPr>
        <p:spPr>
          <a:xfrm>
            <a:off x="5294947" y="5649178"/>
            <a:ext cx="146304" cy="146304"/>
          </a:xfrm>
          <a:prstGeom prst="ellipse">
            <a:avLst/>
          </a:prstGeom>
          <a:solidFill>
            <a:srgbClr val="001E50"/>
          </a:solidFill>
          <a:ln>
            <a:noFill/>
          </a:ln>
          <a:effectLst/>
        </p:spPr>
        <p:txBody>
          <a:bodyPr rtlCol="0" anchor="ctr"/>
          <a:lstStyle/>
          <a:p>
            <a:endParaRPr lang="de-DE"/>
          </a:p>
        </p:txBody>
      </p:sp>
      <p:sp>
        <p:nvSpPr>
          <p:cNvPr id="346" name="PURIS Decision 2 No"/>
          <p:cNvSpPr txBox="1"/>
          <p:nvPr/>
        </p:nvSpPr>
        <p:spPr>
          <a:xfrm>
            <a:off x="5294947"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347" name="PURIS Decision 2"/>
          <p:cNvSpPr txBox="1"/>
          <p:nvPr/>
        </p:nvSpPr>
        <p:spPr>
          <a:xfrm>
            <a:off x="5294947" y="5649178"/>
            <a:ext cx="1167574" cy="6024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Who decides how and when on the WINGS connectivity rollout roadmap?</a:t>
            </a:r>
          </a:p>
        </p:txBody>
      </p:sp>
      <p:sp>
        <p:nvSpPr>
          <p:cNvPr id="348" name="Business Partner Data Mgmt Row Divider Decision required"/>
          <p:cNvSpPr/>
          <p:nvPr/>
        </p:nvSpPr>
        <p:spPr>
          <a:xfrm>
            <a:off x="6640830" y="5585170"/>
            <a:ext cx="1167574" cy="6401"/>
          </a:xfrm>
          <a:prstGeom prst="rect">
            <a:avLst/>
          </a:prstGeom>
          <a:solidFill>
            <a:srgbClr val="E2E8EC"/>
          </a:solidFill>
          <a:ln>
            <a:noFill/>
          </a:ln>
          <a:effectLst/>
        </p:spPr>
        <p:txBody>
          <a:bodyPr rtlCol="0" anchor="ctr"/>
          <a:lstStyle/>
          <a:p>
            <a:endParaRPr lang="de-DE"/>
          </a:p>
        </p:txBody>
      </p:sp>
      <p:sp>
        <p:nvSpPr>
          <p:cNvPr id="349" name="Business Partner Data Mgmt Decision None"/>
          <p:cNvSpPr txBox="1"/>
          <p:nvPr/>
        </p:nvSpPr>
        <p:spPr>
          <a:xfrm>
            <a:off x="6640830"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0" name="Certificate Management Row Divider Decision required"/>
          <p:cNvSpPr/>
          <p:nvPr/>
        </p:nvSpPr>
        <p:spPr>
          <a:xfrm>
            <a:off x="7986712" y="5585170"/>
            <a:ext cx="1167574" cy="6401"/>
          </a:xfrm>
          <a:prstGeom prst="rect">
            <a:avLst/>
          </a:prstGeom>
          <a:solidFill>
            <a:srgbClr val="E2E8EC"/>
          </a:solidFill>
          <a:ln>
            <a:noFill/>
          </a:ln>
          <a:effectLst/>
        </p:spPr>
        <p:txBody>
          <a:bodyPr rtlCol="0" anchor="ctr"/>
          <a:lstStyle/>
          <a:p>
            <a:endParaRPr lang="de-DE"/>
          </a:p>
        </p:txBody>
      </p:sp>
      <p:sp>
        <p:nvSpPr>
          <p:cNvPr id="351" name="Certificate Management Decision None"/>
          <p:cNvSpPr txBox="1"/>
          <p:nvPr/>
        </p:nvSpPr>
        <p:spPr>
          <a:xfrm>
            <a:off x="798671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2" name="Product Carbon Footprint Row Divider Decision required"/>
          <p:cNvSpPr/>
          <p:nvPr/>
        </p:nvSpPr>
        <p:spPr>
          <a:xfrm>
            <a:off x="9332595" y="5585170"/>
            <a:ext cx="1167574" cy="6401"/>
          </a:xfrm>
          <a:prstGeom prst="rect">
            <a:avLst/>
          </a:prstGeom>
          <a:solidFill>
            <a:srgbClr val="E2E8EC"/>
          </a:solidFill>
          <a:ln>
            <a:noFill/>
          </a:ln>
          <a:effectLst/>
        </p:spPr>
        <p:txBody>
          <a:bodyPr rtlCol="0" anchor="ctr"/>
          <a:lstStyle/>
          <a:p>
            <a:endParaRPr lang="de-DE"/>
          </a:p>
        </p:txBody>
      </p:sp>
      <p:sp>
        <p:nvSpPr>
          <p:cNvPr id="353" name="Product Carbon Footprint Decision None"/>
          <p:cNvSpPr txBox="1"/>
          <p:nvPr/>
        </p:nvSpPr>
        <p:spPr>
          <a:xfrm>
            <a:off x="933259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4" name="N-Tier Row Divider Decision required"/>
          <p:cNvSpPr/>
          <p:nvPr/>
        </p:nvSpPr>
        <p:spPr>
          <a:xfrm>
            <a:off x="10678477" y="5585170"/>
            <a:ext cx="1167574" cy="6401"/>
          </a:xfrm>
          <a:prstGeom prst="rect">
            <a:avLst/>
          </a:prstGeom>
          <a:solidFill>
            <a:srgbClr val="E2E8EC"/>
          </a:solidFill>
          <a:ln>
            <a:noFill/>
          </a:ln>
          <a:effectLst/>
        </p:spPr>
        <p:txBody>
          <a:bodyPr rtlCol="0" anchor="ctr"/>
          <a:lstStyle/>
          <a:p>
            <a:endParaRPr lang="de-DE"/>
          </a:p>
        </p:txBody>
      </p:sp>
      <p:sp>
        <p:nvSpPr>
          <p:cNvPr id="355" name="N-Tier Decision None"/>
          <p:cNvSpPr txBox="1"/>
          <p:nvPr/>
        </p:nvSpPr>
        <p:spPr>
          <a:xfrm>
            <a:off x="10678477"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