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41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ENABLING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Behrens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Pietschmann</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47" name="Row Label Overall status"/>
          <p:cNvSpPr txBox="1"/>
          <p:nvPr/>
        </p:nvSpPr>
        <p:spPr>
          <a:xfrm>
            <a:off x="274320" y="2158238"/>
            <a:ext cx="868680" cy="23324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5491"/>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91483"/>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91483"/>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91483"/>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5491"/>
            <a:ext cx="161620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data provided operationally as shoppable products</a:t>
            </a:r>
          </a:p>
        </p:txBody>
      </p:sp>
      <p:sp>
        <p:nvSpPr>
          <p:cNvPr id="167" name="Hub &amp; Spoke Row Divider Goal"/>
          <p:cNvSpPr/>
          <p:nvPr/>
        </p:nvSpPr>
        <p:spPr>
          <a:xfrm>
            <a:off x="6640830" y="2391483"/>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91483"/>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for brands and data consumers</a:t>
            </a:r>
          </a:p>
        </p:txBody>
      </p:sp>
      <p:sp>
        <p:nvSpPr>
          <p:cNvPr id="171" name="Architecture Row Divider Goal"/>
          <p:cNvSpPr/>
          <p:nvPr/>
        </p:nvSpPr>
        <p:spPr>
          <a:xfrm>
            <a:off x="10229850" y="2391483"/>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549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3026301"/>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p:txBody>
      </p:sp>
      <p:sp>
        <p:nvSpPr>
          <p:cNvPr id="174" name="Supplier Activation Row Divider Key KPI"/>
          <p:cNvSpPr/>
          <p:nvPr/>
        </p:nvSpPr>
        <p:spPr>
          <a:xfrm>
            <a:off x="1257300" y="2962293"/>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Contracts by end of Q3 2026</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240 of 280 suppliers</a:t>
            </a:r>
          </a:p>
        </p:txBody>
      </p:sp>
      <p:sp>
        <p:nvSpPr>
          <p:cNvPr id="176" name="Portfolio, AI+, C-X NEXT, DigiTrace Row Divider Key KPI"/>
          <p:cNvSpPr/>
          <p:nvPr/>
        </p:nvSpPr>
        <p:spPr>
          <a:xfrm>
            <a:off x="3051810" y="2962293"/>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PR74 benefit / costs</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~650 T€ / ~340 T€</a:t>
            </a:r>
          </a:p>
        </p:txBody>
      </p:sp>
      <p:sp>
        <p:nvSpPr>
          <p:cNvPr id="178" name="Data Provisioning Row Divider Key KPI"/>
          <p:cNvSpPr/>
          <p:nvPr/>
        </p:nvSpPr>
        <p:spPr>
          <a:xfrm>
            <a:off x="4846320" y="2962293"/>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6 named &amp; approved</a:t>
            </a:r>
          </a:p>
        </p:txBody>
      </p:sp>
      <p:sp>
        <p:nvSpPr>
          <p:cNvPr id="180" name="Hub &amp; Spoke Row Divider Key KPI"/>
          <p:cNvSpPr/>
          <p:nvPr/>
        </p:nvSpPr>
        <p:spPr>
          <a:xfrm>
            <a:off x="6640830" y="2962293"/>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connected</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8 of 17 signed</a:t>
            </a:r>
          </a:p>
        </p:txBody>
      </p:sp>
      <p:sp>
        <p:nvSpPr>
          <p:cNvPr id="182" name="Legal &amp; Contracts Row Divider Key KPI"/>
          <p:cNvSpPr/>
          <p:nvPr/>
        </p:nvSpPr>
        <p:spPr>
          <a:xfrm>
            <a:off x="8435340" y="2962293"/>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302630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Target 01 Jan 2028</a:t>
            </a:r>
          </a:p>
        </p:txBody>
      </p:sp>
      <p:sp>
        <p:nvSpPr>
          <p:cNvPr id="184" name="Architecture Row Divider Key KPI"/>
          <p:cNvSpPr/>
          <p:nvPr/>
        </p:nvSpPr>
        <p:spPr>
          <a:xfrm>
            <a:off x="10229850" y="2962293"/>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302630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Suppliers enabled 2026"/>
          <p:cNvSpPr txBox="1"/>
          <p:nvPr/>
        </p:nvSpPr>
        <p:spPr>
          <a:xfrm>
            <a:off x="274320" y="3451062"/>
            <a:ext cx="868680" cy="3607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187" name="Supplier Activation Row Divider Suppliers enabled 2026"/>
          <p:cNvSpPr/>
          <p:nvPr/>
        </p:nvSpPr>
        <p:spPr>
          <a:xfrm>
            <a:off x="1257300" y="3387054"/>
            <a:ext cx="1616202" cy="6401"/>
          </a:xfrm>
          <a:prstGeom prst="rect">
            <a:avLst/>
          </a:prstGeom>
          <a:solidFill>
            <a:srgbClr val="E2E8EC"/>
          </a:solidFill>
          <a:ln>
            <a:noFill/>
          </a:ln>
          <a:effectLst/>
        </p:spPr>
        <p:txBody>
          <a:bodyPr rtlCol="0" anchor="ctr"/>
          <a:lstStyle/>
          <a:p>
            <a:endParaRPr lang="de-DE"/>
          </a:p>
        </p:txBody>
      </p:sp>
      <p:sp>
        <p:nvSpPr>
          <p:cNvPr id="188" name="Supplier Activation Suppliers"/>
          <p:cNvSpPr txBox="1"/>
          <p:nvPr/>
        </p:nvSpPr>
        <p:spPr>
          <a:xfrm>
            <a:off x="1257300" y="345106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 / 400</a:t>
            </a:r>
            <a:r>
              <a:rPr lang="de-DE" sz="900" b="0" kern="0" dirty="0">
                <a:solidFill>
                  <a:srgbClr val="63707A"/>
                </a:solidFill>
                <a:latin typeface="Segoe UI" pitchFamily="34" charset="0"/>
                <a:ea typeface="Segoe UI" pitchFamily="34" charset="-122"/>
                <a:cs typeface="Segoe UI" pitchFamily="34" charset="-120"/>
              </a:rPr>
              <a:t>  55%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228 company groups</a:t>
            </a:r>
          </a:p>
        </p:txBody>
      </p:sp>
      <p:sp>
        <p:nvSpPr>
          <p:cNvPr id="189" name="Portfolio, AI+, C-X NEXT, DigiTrace Row Divider Suppliers enabled 2026"/>
          <p:cNvSpPr/>
          <p:nvPr/>
        </p:nvSpPr>
        <p:spPr>
          <a:xfrm>
            <a:off x="3051810" y="3387054"/>
            <a:ext cx="1616202" cy="6401"/>
          </a:xfrm>
          <a:prstGeom prst="rect">
            <a:avLst/>
          </a:prstGeom>
          <a:solidFill>
            <a:srgbClr val="E2E8EC"/>
          </a:solidFill>
          <a:ln>
            <a:noFill/>
          </a:ln>
          <a:effectLst/>
        </p:spPr>
        <p:txBody>
          <a:bodyPr rtlCol="0" anchor="ctr"/>
          <a:lstStyle/>
          <a:p>
            <a:endParaRPr lang="de-DE"/>
          </a:p>
        </p:txBody>
      </p:sp>
      <p:sp>
        <p:nvSpPr>
          <p:cNvPr id="190" name="Portfolio, AI+, C-X NEXT, DigiTrace Suppliers"/>
          <p:cNvSpPr txBox="1"/>
          <p:nvPr/>
        </p:nvSpPr>
        <p:spPr>
          <a:xfrm>
            <a:off x="305181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1" name="Data Provisioning Row Divider Suppliers enabled 2026"/>
          <p:cNvSpPr/>
          <p:nvPr/>
        </p:nvSpPr>
        <p:spPr>
          <a:xfrm>
            <a:off x="4846320" y="3387054"/>
            <a:ext cx="1616202" cy="6401"/>
          </a:xfrm>
          <a:prstGeom prst="rect">
            <a:avLst/>
          </a:prstGeom>
          <a:solidFill>
            <a:srgbClr val="E2E8EC"/>
          </a:solidFill>
          <a:ln>
            <a:noFill/>
          </a:ln>
          <a:effectLst/>
        </p:spPr>
        <p:txBody>
          <a:bodyPr rtlCol="0" anchor="ctr"/>
          <a:lstStyle/>
          <a:p>
            <a:endParaRPr lang="de-DE"/>
          </a:p>
        </p:txBody>
      </p:sp>
      <p:sp>
        <p:nvSpPr>
          <p:cNvPr id="192" name="Data Provisioning Suppliers"/>
          <p:cNvSpPr txBox="1"/>
          <p:nvPr/>
        </p:nvSpPr>
        <p:spPr>
          <a:xfrm>
            <a:off x="484632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3" name="Hub &amp; Spoke Row Divider Suppliers enabled 2026"/>
          <p:cNvSpPr/>
          <p:nvPr/>
        </p:nvSpPr>
        <p:spPr>
          <a:xfrm>
            <a:off x="6640830" y="3387054"/>
            <a:ext cx="1616202" cy="6401"/>
          </a:xfrm>
          <a:prstGeom prst="rect">
            <a:avLst/>
          </a:prstGeom>
          <a:solidFill>
            <a:srgbClr val="E2E8EC"/>
          </a:solidFill>
          <a:ln>
            <a:noFill/>
          </a:ln>
          <a:effectLst/>
        </p:spPr>
        <p:txBody>
          <a:bodyPr rtlCol="0" anchor="ctr"/>
          <a:lstStyle/>
          <a:p>
            <a:endParaRPr lang="de-DE"/>
          </a:p>
        </p:txBody>
      </p:sp>
      <p:sp>
        <p:nvSpPr>
          <p:cNvPr id="194" name="Hub &amp; Spoke Suppliers"/>
          <p:cNvSpPr txBox="1"/>
          <p:nvPr/>
        </p:nvSpPr>
        <p:spPr>
          <a:xfrm>
            <a:off x="664083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5" name="Legal &amp; Contracts Row Divider Suppliers enabled 2026"/>
          <p:cNvSpPr/>
          <p:nvPr/>
        </p:nvSpPr>
        <p:spPr>
          <a:xfrm>
            <a:off x="8435340" y="3387054"/>
            <a:ext cx="1616202" cy="6401"/>
          </a:xfrm>
          <a:prstGeom prst="rect">
            <a:avLst/>
          </a:prstGeom>
          <a:solidFill>
            <a:srgbClr val="E2E8EC"/>
          </a:solidFill>
          <a:ln>
            <a:noFill/>
          </a:ln>
          <a:effectLst/>
        </p:spPr>
        <p:txBody>
          <a:bodyPr rtlCol="0" anchor="ctr"/>
          <a:lstStyle/>
          <a:p>
            <a:endParaRPr lang="de-DE"/>
          </a:p>
        </p:txBody>
      </p:sp>
      <p:sp>
        <p:nvSpPr>
          <p:cNvPr id="196" name="Legal &amp; Contracts Suppliers"/>
          <p:cNvSpPr txBox="1"/>
          <p:nvPr/>
        </p:nvSpPr>
        <p:spPr>
          <a:xfrm>
            <a:off x="843534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7" name="Architecture Row Divider Suppliers enabled 2026"/>
          <p:cNvSpPr/>
          <p:nvPr/>
        </p:nvSpPr>
        <p:spPr>
          <a:xfrm>
            <a:off x="10229850" y="3387054"/>
            <a:ext cx="1616202" cy="6401"/>
          </a:xfrm>
          <a:prstGeom prst="rect">
            <a:avLst/>
          </a:prstGeom>
          <a:solidFill>
            <a:srgbClr val="E2E8EC"/>
          </a:solidFill>
          <a:ln>
            <a:noFill/>
          </a:ln>
          <a:effectLst/>
        </p:spPr>
        <p:txBody>
          <a:bodyPr rtlCol="0" anchor="ctr"/>
          <a:lstStyle/>
          <a:p>
            <a:endParaRPr lang="de-DE"/>
          </a:p>
        </p:txBody>
      </p:sp>
      <p:sp>
        <p:nvSpPr>
          <p:cNvPr id="198" name="Architecture Suppliers"/>
          <p:cNvSpPr txBox="1"/>
          <p:nvPr/>
        </p:nvSpPr>
        <p:spPr>
          <a:xfrm>
            <a:off x="10229850" y="345106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9" name="Row Label Next critical milestone"/>
          <p:cNvSpPr txBox="1"/>
          <p:nvPr/>
        </p:nvSpPr>
        <p:spPr>
          <a:xfrm>
            <a:off x="274320" y="3875822"/>
            <a:ext cx="868680" cy="50680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00" name="Supplier Activation Row Divider Next critical milestone"/>
          <p:cNvSpPr/>
          <p:nvPr/>
        </p:nvSpPr>
        <p:spPr>
          <a:xfrm>
            <a:off x="1257300" y="3811814"/>
            <a:ext cx="1616202" cy="6401"/>
          </a:xfrm>
          <a:prstGeom prst="rect">
            <a:avLst/>
          </a:prstGeom>
          <a:solidFill>
            <a:srgbClr val="E2E8EC"/>
          </a:solidFill>
          <a:ln>
            <a:noFill/>
          </a:ln>
          <a:effectLst/>
        </p:spPr>
        <p:txBody>
          <a:bodyPr rtlCol="0" anchor="ctr"/>
          <a:lstStyle/>
          <a:p>
            <a:endParaRPr lang="de-DE"/>
          </a:p>
        </p:txBody>
      </p:sp>
      <p:sp>
        <p:nvSpPr>
          <p:cNvPr id="201" name="Supplier Activation Milestone Dot"/>
          <p:cNvSpPr/>
          <p:nvPr/>
        </p:nvSpPr>
        <p:spPr>
          <a:xfrm>
            <a:off x="1257300" y="3912398"/>
            <a:ext cx="73152" cy="73152"/>
          </a:xfrm>
          <a:prstGeom prst="ellipse">
            <a:avLst/>
          </a:prstGeom>
          <a:solidFill>
            <a:srgbClr val="E64343"/>
          </a:solidFill>
          <a:ln>
            <a:noFill/>
          </a:ln>
          <a:effectLst/>
        </p:spPr>
        <p:txBody>
          <a:bodyPr rtlCol="0" anchor="ctr"/>
          <a:lstStyle/>
          <a:p>
            <a:endParaRPr lang="de-DE"/>
          </a:p>
        </p:txBody>
      </p:sp>
      <p:sp>
        <p:nvSpPr>
          <p:cNvPr id="202" name="Supplier Activation Milestone"/>
          <p:cNvSpPr txBox="1"/>
          <p:nvPr/>
        </p:nvSpPr>
        <p:spPr>
          <a:xfrm>
            <a:off x="139446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03" name="Portfolio, AI+, C-X NEXT, DigiTrace Row Divider Next critical milestone"/>
          <p:cNvSpPr/>
          <p:nvPr/>
        </p:nvSpPr>
        <p:spPr>
          <a:xfrm>
            <a:off x="3051810" y="3811814"/>
            <a:ext cx="1616202" cy="6401"/>
          </a:xfrm>
          <a:prstGeom prst="rect">
            <a:avLst/>
          </a:prstGeom>
          <a:solidFill>
            <a:srgbClr val="E2E8EC"/>
          </a:solidFill>
          <a:ln>
            <a:noFill/>
          </a:ln>
          <a:effectLst/>
        </p:spPr>
        <p:txBody>
          <a:bodyPr rtlCol="0" anchor="ctr"/>
          <a:lstStyle/>
          <a:p>
            <a:endParaRPr lang="de-DE"/>
          </a:p>
        </p:txBody>
      </p:sp>
      <p:sp>
        <p:nvSpPr>
          <p:cNvPr id="204" name="Portfolio, AI+, C-X NEXT, DigiTrace Milestone Dot"/>
          <p:cNvSpPr/>
          <p:nvPr/>
        </p:nvSpPr>
        <p:spPr>
          <a:xfrm>
            <a:off x="3051810" y="3912398"/>
            <a:ext cx="73152" cy="73152"/>
          </a:xfrm>
          <a:prstGeom prst="ellipse">
            <a:avLst/>
          </a:prstGeom>
          <a:solidFill>
            <a:srgbClr val="E64343"/>
          </a:solidFill>
          <a:ln>
            <a:noFill/>
          </a:ln>
          <a:effectLst/>
        </p:spPr>
        <p:txBody>
          <a:bodyPr rtlCol="0" anchor="ctr"/>
          <a:lstStyle/>
          <a:p>
            <a:endParaRPr lang="de-DE"/>
          </a:p>
        </p:txBody>
      </p:sp>
      <p:sp>
        <p:nvSpPr>
          <p:cNvPr id="205" name="Portfolio, AI+, C-X NEXT, DigiTrace Milestone"/>
          <p:cNvSpPr txBox="1"/>
          <p:nvPr/>
        </p:nvSpPr>
        <p:spPr>
          <a:xfrm>
            <a:off x="318897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206" name="Data Provisioning Row Divider Next critical milestone"/>
          <p:cNvSpPr/>
          <p:nvPr/>
        </p:nvSpPr>
        <p:spPr>
          <a:xfrm>
            <a:off x="4846320" y="3811814"/>
            <a:ext cx="1616202" cy="6401"/>
          </a:xfrm>
          <a:prstGeom prst="rect">
            <a:avLst/>
          </a:prstGeom>
          <a:solidFill>
            <a:srgbClr val="E2E8EC"/>
          </a:solidFill>
          <a:ln>
            <a:noFill/>
          </a:ln>
          <a:effectLst/>
        </p:spPr>
        <p:txBody>
          <a:bodyPr rtlCol="0" anchor="ctr"/>
          <a:lstStyle/>
          <a:p>
            <a:endParaRPr lang="de-DE"/>
          </a:p>
        </p:txBody>
      </p:sp>
      <p:sp>
        <p:nvSpPr>
          <p:cNvPr id="207" name="Data Provisioning Milestone"/>
          <p:cNvSpPr txBox="1"/>
          <p:nvPr/>
        </p:nvSpPr>
        <p:spPr>
          <a:xfrm>
            <a:off x="484632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8" name="Hub &amp; Spoke Row Divider Next critical milestone"/>
          <p:cNvSpPr/>
          <p:nvPr/>
        </p:nvSpPr>
        <p:spPr>
          <a:xfrm>
            <a:off x="6640830" y="3811814"/>
            <a:ext cx="1616202" cy="6401"/>
          </a:xfrm>
          <a:prstGeom prst="rect">
            <a:avLst/>
          </a:prstGeom>
          <a:solidFill>
            <a:srgbClr val="E2E8EC"/>
          </a:solidFill>
          <a:ln>
            <a:noFill/>
          </a:ln>
          <a:effectLst/>
        </p:spPr>
        <p:txBody>
          <a:bodyPr rtlCol="0" anchor="ctr"/>
          <a:lstStyle/>
          <a:p>
            <a:endParaRPr lang="de-DE"/>
          </a:p>
        </p:txBody>
      </p:sp>
      <p:sp>
        <p:nvSpPr>
          <p:cNvPr id="209" name="Hub &amp; Spoke Milestone Dot"/>
          <p:cNvSpPr/>
          <p:nvPr/>
        </p:nvSpPr>
        <p:spPr>
          <a:xfrm>
            <a:off x="6640830" y="3912398"/>
            <a:ext cx="73152" cy="73152"/>
          </a:xfrm>
          <a:prstGeom prst="ellipse">
            <a:avLst/>
          </a:prstGeom>
          <a:solidFill>
            <a:srgbClr val="F0B135"/>
          </a:solidFill>
          <a:ln>
            <a:noFill/>
          </a:ln>
          <a:effectLst/>
        </p:spPr>
        <p:txBody>
          <a:bodyPr rtlCol="0" anchor="ctr"/>
          <a:lstStyle/>
          <a:p>
            <a:endParaRPr lang="de-DE"/>
          </a:p>
        </p:txBody>
      </p:sp>
      <p:sp>
        <p:nvSpPr>
          <p:cNvPr id="210" name="Hub &amp; Spoke Milestone"/>
          <p:cNvSpPr txBox="1"/>
          <p:nvPr/>
        </p:nvSpPr>
        <p:spPr>
          <a:xfrm>
            <a:off x="6777990" y="3875822"/>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11" name="Legal &amp; Contracts Row Divider Next critical milestone"/>
          <p:cNvSpPr/>
          <p:nvPr/>
        </p:nvSpPr>
        <p:spPr>
          <a:xfrm>
            <a:off x="8435340" y="3811814"/>
            <a:ext cx="1616202" cy="6401"/>
          </a:xfrm>
          <a:prstGeom prst="rect">
            <a:avLst/>
          </a:prstGeom>
          <a:solidFill>
            <a:srgbClr val="E2E8EC"/>
          </a:solidFill>
          <a:ln>
            <a:noFill/>
          </a:ln>
          <a:effectLst/>
        </p:spPr>
        <p:txBody>
          <a:bodyPr rtlCol="0" anchor="ctr"/>
          <a:lstStyle/>
          <a:p>
            <a:endParaRPr lang="de-DE"/>
          </a:p>
        </p:txBody>
      </p:sp>
      <p:sp>
        <p:nvSpPr>
          <p:cNvPr id="212" name="Legal &amp; Contracts Milestone Dot"/>
          <p:cNvSpPr/>
          <p:nvPr/>
        </p:nvSpPr>
        <p:spPr>
          <a:xfrm>
            <a:off x="8435340" y="3912398"/>
            <a:ext cx="73152" cy="73152"/>
          </a:xfrm>
          <a:prstGeom prst="ellipse">
            <a:avLst/>
          </a:prstGeom>
          <a:solidFill>
            <a:srgbClr val="F0B135"/>
          </a:solidFill>
          <a:ln>
            <a:noFill/>
          </a:ln>
          <a:effectLst/>
        </p:spPr>
        <p:txBody>
          <a:bodyPr rtlCol="0" anchor="ctr"/>
          <a:lstStyle/>
          <a:p>
            <a:endParaRPr lang="de-DE"/>
          </a:p>
        </p:txBody>
      </p:sp>
      <p:sp>
        <p:nvSpPr>
          <p:cNvPr id="213" name="Legal &amp; Contracts Milestone"/>
          <p:cNvSpPr txBox="1"/>
          <p:nvPr/>
        </p:nvSpPr>
        <p:spPr>
          <a:xfrm>
            <a:off x="8572500" y="3875822"/>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14" name="Architecture Row Divider Next critical milestone"/>
          <p:cNvSpPr/>
          <p:nvPr/>
        </p:nvSpPr>
        <p:spPr>
          <a:xfrm>
            <a:off x="10229850" y="3811814"/>
            <a:ext cx="1616202" cy="6401"/>
          </a:xfrm>
          <a:prstGeom prst="rect">
            <a:avLst/>
          </a:prstGeom>
          <a:solidFill>
            <a:srgbClr val="E2E8EC"/>
          </a:solidFill>
          <a:ln>
            <a:noFill/>
          </a:ln>
          <a:effectLst/>
        </p:spPr>
        <p:txBody>
          <a:bodyPr rtlCol="0" anchor="ctr"/>
          <a:lstStyle/>
          <a:p>
            <a:endParaRPr lang="de-DE"/>
          </a:p>
        </p:txBody>
      </p:sp>
      <p:sp>
        <p:nvSpPr>
          <p:cNvPr id="215" name="Architecture Milestone"/>
          <p:cNvSpPr txBox="1"/>
          <p:nvPr/>
        </p:nvSpPr>
        <p:spPr>
          <a:xfrm>
            <a:off x="10229850" y="3875822"/>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16" name="Row Label Dimensions"/>
          <p:cNvSpPr txBox="1"/>
          <p:nvPr/>
        </p:nvSpPr>
        <p:spPr>
          <a:xfrm>
            <a:off x="274320" y="4446633"/>
            <a:ext cx="868680" cy="101835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17" name="Supplier Activation Row Divider Dimensions"/>
          <p:cNvSpPr/>
          <p:nvPr/>
        </p:nvSpPr>
        <p:spPr>
          <a:xfrm>
            <a:off x="1257300" y="4382625"/>
            <a:ext cx="1616202" cy="6401"/>
          </a:xfrm>
          <a:prstGeom prst="rect">
            <a:avLst/>
          </a:prstGeom>
          <a:solidFill>
            <a:srgbClr val="E2E8EC"/>
          </a:solidFill>
          <a:ln>
            <a:noFill/>
          </a:ln>
          <a:effectLst/>
        </p:spPr>
        <p:txBody>
          <a:bodyPr rtlCol="0" anchor="ctr"/>
          <a:lstStyle/>
          <a:p>
            <a:endParaRPr lang="de-DE"/>
          </a:p>
        </p:txBody>
      </p:sp>
      <p:sp>
        <p:nvSpPr>
          <p:cNvPr id="218" name="Supplier Activation Dim Dot External · CX Association"/>
          <p:cNvSpPr/>
          <p:nvPr/>
        </p:nvSpPr>
        <p:spPr>
          <a:xfrm>
            <a:off x="1257300" y="4483209"/>
            <a:ext cx="73152" cy="73152"/>
          </a:xfrm>
          <a:prstGeom prst="ellipse">
            <a:avLst/>
          </a:prstGeom>
          <a:solidFill>
            <a:srgbClr val="E64343"/>
          </a:solidFill>
          <a:ln>
            <a:noFill/>
          </a:ln>
          <a:effectLst/>
        </p:spPr>
        <p:txBody>
          <a:bodyPr rtlCol="0" anchor="ctr"/>
          <a:lstStyle/>
          <a:p>
            <a:endParaRPr lang="de-DE"/>
          </a:p>
        </p:txBody>
      </p:sp>
      <p:sp>
        <p:nvSpPr>
          <p:cNvPr id="219" name="Supplier Activation Dim External · CX Association"/>
          <p:cNvSpPr txBox="1"/>
          <p:nvPr/>
        </p:nvSpPr>
        <p:spPr>
          <a:xfrm>
            <a:off x="139446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Supplier Activation Dim Dot Business"/>
          <p:cNvSpPr/>
          <p:nvPr/>
        </p:nvSpPr>
        <p:spPr>
          <a:xfrm>
            <a:off x="1257300" y="4848461"/>
            <a:ext cx="73152" cy="73152"/>
          </a:xfrm>
          <a:prstGeom prst="ellipse">
            <a:avLst/>
          </a:prstGeom>
          <a:solidFill>
            <a:srgbClr val="F0B135"/>
          </a:solidFill>
          <a:ln>
            <a:noFill/>
          </a:ln>
          <a:effectLst/>
        </p:spPr>
        <p:txBody>
          <a:bodyPr rtlCol="0" anchor="ctr"/>
          <a:lstStyle/>
          <a:p>
            <a:endParaRPr lang="de-DE"/>
          </a:p>
        </p:txBody>
      </p:sp>
      <p:sp>
        <p:nvSpPr>
          <p:cNvPr id="221" name="Supplier Activation Dim Business"/>
          <p:cNvSpPr txBox="1"/>
          <p:nvPr/>
        </p:nvSpPr>
        <p:spPr>
          <a:xfrm>
            <a:off x="139446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Supplier Activation Dim Dot Use Cases"/>
          <p:cNvSpPr/>
          <p:nvPr/>
        </p:nvSpPr>
        <p:spPr>
          <a:xfrm>
            <a:off x="1257300" y="5067663"/>
            <a:ext cx="73152" cy="73152"/>
          </a:xfrm>
          <a:prstGeom prst="ellipse">
            <a:avLst/>
          </a:prstGeom>
          <a:solidFill>
            <a:srgbClr val="CFD6DB"/>
          </a:solidFill>
          <a:ln>
            <a:noFill/>
          </a:ln>
          <a:effectLst/>
        </p:spPr>
        <p:txBody>
          <a:bodyPr rtlCol="0" anchor="ctr"/>
          <a:lstStyle/>
          <a:p>
            <a:endParaRPr lang="de-DE"/>
          </a:p>
        </p:txBody>
      </p:sp>
      <p:sp>
        <p:nvSpPr>
          <p:cNvPr id="223" name="Supplier Activation Dim Use Cases"/>
          <p:cNvSpPr txBox="1"/>
          <p:nvPr/>
        </p:nvSpPr>
        <p:spPr>
          <a:xfrm>
            <a:off x="139446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4" name="Supplier Activation Dim Dot Technical"/>
          <p:cNvSpPr/>
          <p:nvPr/>
        </p:nvSpPr>
        <p:spPr>
          <a:xfrm>
            <a:off x="1257300" y="5286865"/>
            <a:ext cx="73152" cy="73152"/>
          </a:xfrm>
          <a:prstGeom prst="ellipse">
            <a:avLst/>
          </a:prstGeom>
          <a:solidFill>
            <a:srgbClr val="CFD6DB"/>
          </a:solidFill>
          <a:ln>
            <a:noFill/>
          </a:ln>
          <a:effectLst/>
        </p:spPr>
        <p:txBody>
          <a:bodyPr rtlCol="0" anchor="ctr"/>
          <a:lstStyle/>
          <a:p>
            <a:endParaRPr lang="de-DE"/>
          </a:p>
        </p:txBody>
      </p:sp>
      <p:sp>
        <p:nvSpPr>
          <p:cNvPr id="225" name="Supplier Activation Dim Technical"/>
          <p:cNvSpPr txBox="1"/>
          <p:nvPr/>
        </p:nvSpPr>
        <p:spPr>
          <a:xfrm>
            <a:off x="139446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ortfolio, AI+, C-X NEXT, DigiTrace Row Divider Dimensions"/>
          <p:cNvSpPr/>
          <p:nvPr/>
        </p:nvSpPr>
        <p:spPr>
          <a:xfrm>
            <a:off x="3051810" y="4382625"/>
            <a:ext cx="1616202" cy="6401"/>
          </a:xfrm>
          <a:prstGeom prst="rect">
            <a:avLst/>
          </a:prstGeom>
          <a:solidFill>
            <a:srgbClr val="E2E8EC"/>
          </a:solidFill>
          <a:ln>
            <a:noFill/>
          </a:ln>
          <a:effectLst/>
        </p:spPr>
        <p:txBody>
          <a:bodyPr rtlCol="0" anchor="ctr"/>
          <a:lstStyle/>
          <a:p>
            <a:endParaRPr lang="de-DE"/>
          </a:p>
        </p:txBody>
      </p:sp>
      <p:sp>
        <p:nvSpPr>
          <p:cNvPr id="227" name="Portfolio, AI+, C-X NEXT, DigiTrace Dim Dot External · CX Association"/>
          <p:cNvSpPr/>
          <p:nvPr/>
        </p:nvSpPr>
        <p:spPr>
          <a:xfrm>
            <a:off x="3051810" y="4483209"/>
            <a:ext cx="73152" cy="73152"/>
          </a:xfrm>
          <a:prstGeom prst="ellipse">
            <a:avLst/>
          </a:prstGeom>
          <a:solidFill>
            <a:srgbClr val="53BE70"/>
          </a:solidFill>
          <a:ln>
            <a:noFill/>
          </a:ln>
          <a:effectLst/>
        </p:spPr>
        <p:txBody>
          <a:bodyPr rtlCol="0" anchor="ctr"/>
          <a:lstStyle/>
          <a:p>
            <a:endParaRPr lang="de-DE"/>
          </a:p>
        </p:txBody>
      </p:sp>
      <p:sp>
        <p:nvSpPr>
          <p:cNvPr id="228" name="Portfolio, AI+, C-X NEXT, DigiTrace Dim External · CX Association"/>
          <p:cNvSpPr txBox="1"/>
          <p:nvPr/>
        </p:nvSpPr>
        <p:spPr>
          <a:xfrm>
            <a:off x="318897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9" name="Portfolio, AI+, C-X NEXT, DigiTrace Dim Dot Business"/>
          <p:cNvSpPr/>
          <p:nvPr/>
        </p:nvSpPr>
        <p:spPr>
          <a:xfrm>
            <a:off x="3051810" y="4848461"/>
            <a:ext cx="73152" cy="73152"/>
          </a:xfrm>
          <a:prstGeom prst="ellipse">
            <a:avLst/>
          </a:prstGeom>
          <a:solidFill>
            <a:srgbClr val="F0B135"/>
          </a:solidFill>
          <a:ln>
            <a:noFill/>
          </a:ln>
          <a:effectLst/>
        </p:spPr>
        <p:txBody>
          <a:bodyPr rtlCol="0" anchor="ctr"/>
          <a:lstStyle/>
          <a:p>
            <a:endParaRPr lang="de-DE"/>
          </a:p>
        </p:txBody>
      </p:sp>
      <p:sp>
        <p:nvSpPr>
          <p:cNvPr id="230" name="Portfolio, AI+, C-X NEXT, DigiTrace Dim Business"/>
          <p:cNvSpPr txBox="1"/>
          <p:nvPr/>
        </p:nvSpPr>
        <p:spPr>
          <a:xfrm>
            <a:off x="318897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1" name="Portfolio, AI+, C-X NEXT, DigiTrace Dim Dot Use Cases"/>
          <p:cNvSpPr/>
          <p:nvPr/>
        </p:nvSpPr>
        <p:spPr>
          <a:xfrm>
            <a:off x="3051810" y="5067663"/>
            <a:ext cx="73152" cy="73152"/>
          </a:xfrm>
          <a:prstGeom prst="ellipse">
            <a:avLst/>
          </a:prstGeom>
          <a:solidFill>
            <a:srgbClr val="F0B135"/>
          </a:solidFill>
          <a:ln>
            <a:noFill/>
          </a:ln>
          <a:effectLst/>
        </p:spPr>
        <p:txBody>
          <a:bodyPr rtlCol="0" anchor="ctr"/>
          <a:lstStyle/>
          <a:p>
            <a:endParaRPr lang="de-DE"/>
          </a:p>
        </p:txBody>
      </p:sp>
      <p:sp>
        <p:nvSpPr>
          <p:cNvPr id="232" name="Portfolio, AI+, C-X NEXT, DigiTrace Dim Use Cases"/>
          <p:cNvSpPr txBox="1"/>
          <p:nvPr/>
        </p:nvSpPr>
        <p:spPr>
          <a:xfrm>
            <a:off x="318897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3" name="Portfolio, AI+, C-X NEXT, DigiTrace Dim Dot Technical"/>
          <p:cNvSpPr/>
          <p:nvPr/>
        </p:nvSpPr>
        <p:spPr>
          <a:xfrm>
            <a:off x="3051810" y="5286865"/>
            <a:ext cx="73152" cy="73152"/>
          </a:xfrm>
          <a:prstGeom prst="ellipse">
            <a:avLst/>
          </a:prstGeom>
          <a:solidFill>
            <a:srgbClr val="53BE70"/>
          </a:solidFill>
          <a:ln>
            <a:noFill/>
          </a:ln>
          <a:effectLst/>
        </p:spPr>
        <p:txBody>
          <a:bodyPr rtlCol="0" anchor="ctr"/>
          <a:lstStyle/>
          <a:p>
            <a:endParaRPr lang="de-DE"/>
          </a:p>
        </p:txBody>
      </p:sp>
      <p:sp>
        <p:nvSpPr>
          <p:cNvPr id="234" name="Portfolio, AI+, C-X NEXT, DigiTrace Dim Technical"/>
          <p:cNvSpPr txBox="1"/>
          <p:nvPr/>
        </p:nvSpPr>
        <p:spPr>
          <a:xfrm>
            <a:off x="318897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5" name="Data Provisioning Row Divider Dimensions"/>
          <p:cNvSpPr/>
          <p:nvPr/>
        </p:nvSpPr>
        <p:spPr>
          <a:xfrm>
            <a:off x="4846320" y="4382625"/>
            <a:ext cx="1616202" cy="6401"/>
          </a:xfrm>
          <a:prstGeom prst="rect">
            <a:avLst/>
          </a:prstGeom>
          <a:solidFill>
            <a:srgbClr val="E2E8EC"/>
          </a:solidFill>
          <a:ln>
            <a:noFill/>
          </a:ln>
          <a:effectLst/>
        </p:spPr>
        <p:txBody>
          <a:bodyPr rtlCol="0" anchor="ctr"/>
          <a:lstStyle/>
          <a:p>
            <a:endParaRPr lang="de-DE"/>
          </a:p>
        </p:txBody>
      </p:sp>
      <p:sp>
        <p:nvSpPr>
          <p:cNvPr id="236" name="Data Provisioning Dim Dot External · CX Association"/>
          <p:cNvSpPr/>
          <p:nvPr/>
        </p:nvSpPr>
        <p:spPr>
          <a:xfrm>
            <a:off x="4846320" y="4483209"/>
            <a:ext cx="73152" cy="73152"/>
          </a:xfrm>
          <a:prstGeom prst="ellipse">
            <a:avLst/>
          </a:prstGeom>
          <a:solidFill>
            <a:srgbClr val="53BE70"/>
          </a:solidFill>
          <a:ln>
            <a:noFill/>
          </a:ln>
          <a:effectLst/>
        </p:spPr>
        <p:txBody>
          <a:bodyPr rtlCol="0" anchor="ctr"/>
          <a:lstStyle/>
          <a:p>
            <a:endParaRPr lang="de-DE"/>
          </a:p>
        </p:txBody>
      </p:sp>
      <p:sp>
        <p:nvSpPr>
          <p:cNvPr id="237" name="Data Provisioning Dim External · CX Association"/>
          <p:cNvSpPr txBox="1"/>
          <p:nvPr/>
        </p:nvSpPr>
        <p:spPr>
          <a:xfrm>
            <a:off x="498348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8" name="Data Provisioning Dim Dot Business"/>
          <p:cNvSpPr/>
          <p:nvPr/>
        </p:nvSpPr>
        <p:spPr>
          <a:xfrm>
            <a:off x="4846320" y="4848461"/>
            <a:ext cx="73152" cy="73152"/>
          </a:xfrm>
          <a:prstGeom prst="ellipse">
            <a:avLst/>
          </a:prstGeom>
          <a:solidFill>
            <a:srgbClr val="53BE70"/>
          </a:solidFill>
          <a:ln>
            <a:noFill/>
          </a:ln>
          <a:effectLst/>
        </p:spPr>
        <p:txBody>
          <a:bodyPr rtlCol="0" anchor="ctr"/>
          <a:lstStyle/>
          <a:p>
            <a:endParaRPr lang="de-DE"/>
          </a:p>
        </p:txBody>
      </p:sp>
      <p:sp>
        <p:nvSpPr>
          <p:cNvPr id="239" name="Data Provisioning Dim Business"/>
          <p:cNvSpPr txBox="1"/>
          <p:nvPr/>
        </p:nvSpPr>
        <p:spPr>
          <a:xfrm>
            <a:off x="498348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0" name="Data Provisioning Dim Dot Use Cases"/>
          <p:cNvSpPr/>
          <p:nvPr/>
        </p:nvSpPr>
        <p:spPr>
          <a:xfrm>
            <a:off x="4846320" y="5067663"/>
            <a:ext cx="73152" cy="73152"/>
          </a:xfrm>
          <a:prstGeom prst="ellipse">
            <a:avLst/>
          </a:prstGeom>
          <a:solidFill>
            <a:srgbClr val="F0B135"/>
          </a:solidFill>
          <a:ln>
            <a:noFill/>
          </a:ln>
          <a:effectLst/>
        </p:spPr>
        <p:txBody>
          <a:bodyPr rtlCol="0" anchor="ctr"/>
          <a:lstStyle/>
          <a:p>
            <a:endParaRPr lang="de-DE"/>
          </a:p>
        </p:txBody>
      </p:sp>
      <p:sp>
        <p:nvSpPr>
          <p:cNvPr id="241" name="Data Provisioning Dim Use Cases"/>
          <p:cNvSpPr txBox="1"/>
          <p:nvPr/>
        </p:nvSpPr>
        <p:spPr>
          <a:xfrm>
            <a:off x="498348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2" name="Data Provisioning Dim Dot Technical"/>
          <p:cNvSpPr/>
          <p:nvPr/>
        </p:nvSpPr>
        <p:spPr>
          <a:xfrm>
            <a:off x="4846320" y="5286865"/>
            <a:ext cx="73152" cy="73152"/>
          </a:xfrm>
          <a:prstGeom prst="ellipse">
            <a:avLst/>
          </a:prstGeom>
          <a:solidFill>
            <a:srgbClr val="CFD6DB"/>
          </a:solidFill>
          <a:ln>
            <a:noFill/>
          </a:ln>
          <a:effectLst/>
        </p:spPr>
        <p:txBody>
          <a:bodyPr rtlCol="0" anchor="ctr"/>
          <a:lstStyle/>
          <a:p>
            <a:endParaRPr lang="de-DE"/>
          </a:p>
        </p:txBody>
      </p:sp>
      <p:sp>
        <p:nvSpPr>
          <p:cNvPr id="243" name="Data Provisioning Dim Technical"/>
          <p:cNvSpPr txBox="1"/>
          <p:nvPr/>
        </p:nvSpPr>
        <p:spPr>
          <a:xfrm>
            <a:off x="498348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4" name="Hub &amp; Spoke Row Divider Dimensions"/>
          <p:cNvSpPr/>
          <p:nvPr/>
        </p:nvSpPr>
        <p:spPr>
          <a:xfrm>
            <a:off x="6640830" y="4382625"/>
            <a:ext cx="1616202" cy="6401"/>
          </a:xfrm>
          <a:prstGeom prst="rect">
            <a:avLst/>
          </a:prstGeom>
          <a:solidFill>
            <a:srgbClr val="E2E8EC"/>
          </a:solidFill>
          <a:ln>
            <a:noFill/>
          </a:ln>
          <a:effectLst/>
        </p:spPr>
        <p:txBody>
          <a:bodyPr rtlCol="0" anchor="ctr"/>
          <a:lstStyle/>
          <a:p>
            <a:endParaRPr lang="de-DE"/>
          </a:p>
        </p:txBody>
      </p:sp>
      <p:sp>
        <p:nvSpPr>
          <p:cNvPr id="245" name="Hub &amp; Spoke Dim Dot External · CX Association"/>
          <p:cNvSpPr/>
          <p:nvPr/>
        </p:nvSpPr>
        <p:spPr>
          <a:xfrm>
            <a:off x="6640830" y="4483209"/>
            <a:ext cx="73152" cy="73152"/>
          </a:xfrm>
          <a:prstGeom prst="ellipse">
            <a:avLst/>
          </a:prstGeom>
          <a:solidFill>
            <a:srgbClr val="53BE70"/>
          </a:solidFill>
          <a:ln>
            <a:noFill/>
          </a:ln>
          <a:effectLst/>
        </p:spPr>
        <p:txBody>
          <a:bodyPr rtlCol="0" anchor="ctr"/>
          <a:lstStyle/>
          <a:p>
            <a:endParaRPr lang="de-DE"/>
          </a:p>
        </p:txBody>
      </p:sp>
      <p:sp>
        <p:nvSpPr>
          <p:cNvPr id="246" name="Hub &amp; Spoke Dim External · CX Association"/>
          <p:cNvSpPr txBox="1"/>
          <p:nvPr/>
        </p:nvSpPr>
        <p:spPr>
          <a:xfrm>
            <a:off x="677799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7" name="Hub &amp; Spoke Dim Dot Business"/>
          <p:cNvSpPr/>
          <p:nvPr/>
        </p:nvSpPr>
        <p:spPr>
          <a:xfrm>
            <a:off x="6640830" y="4848461"/>
            <a:ext cx="73152" cy="73152"/>
          </a:xfrm>
          <a:prstGeom prst="ellipse">
            <a:avLst/>
          </a:prstGeom>
          <a:solidFill>
            <a:srgbClr val="F0B135"/>
          </a:solidFill>
          <a:ln>
            <a:noFill/>
          </a:ln>
          <a:effectLst/>
        </p:spPr>
        <p:txBody>
          <a:bodyPr rtlCol="0" anchor="ctr"/>
          <a:lstStyle/>
          <a:p>
            <a:endParaRPr lang="de-DE"/>
          </a:p>
        </p:txBody>
      </p:sp>
      <p:sp>
        <p:nvSpPr>
          <p:cNvPr id="248" name="Hub &amp; Spoke Dim Business"/>
          <p:cNvSpPr txBox="1"/>
          <p:nvPr/>
        </p:nvSpPr>
        <p:spPr>
          <a:xfrm>
            <a:off x="677799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9" name="Hub &amp; Spoke Dim Dot Use Cases"/>
          <p:cNvSpPr/>
          <p:nvPr/>
        </p:nvSpPr>
        <p:spPr>
          <a:xfrm>
            <a:off x="6640830" y="5067663"/>
            <a:ext cx="73152" cy="73152"/>
          </a:xfrm>
          <a:prstGeom prst="ellipse">
            <a:avLst/>
          </a:prstGeom>
          <a:solidFill>
            <a:srgbClr val="CFD6DB"/>
          </a:solidFill>
          <a:ln>
            <a:noFill/>
          </a:ln>
          <a:effectLst/>
        </p:spPr>
        <p:txBody>
          <a:bodyPr rtlCol="0" anchor="ctr"/>
          <a:lstStyle/>
          <a:p>
            <a:endParaRPr lang="de-DE"/>
          </a:p>
        </p:txBody>
      </p:sp>
      <p:sp>
        <p:nvSpPr>
          <p:cNvPr id="250" name="Hub &amp; Spoke Dim Use Cases"/>
          <p:cNvSpPr txBox="1"/>
          <p:nvPr/>
        </p:nvSpPr>
        <p:spPr>
          <a:xfrm>
            <a:off x="677799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1" name="Hub &amp; Spoke Dim Dot Technical"/>
          <p:cNvSpPr/>
          <p:nvPr/>
        </p:nvSpPr>
        <p:spPr>
          <a:xfrm>
            <a:off x="6640830" y="5286865"/>
            <a:ext cx="73152" cy="73152"/>
          </a:xfrm>
          <a:prstGeom prst="ellipse">
            <a:avLst/>
          </a:prstGeom>
          <a:solidFill>
            <a:srgbClr val="CFD6DB"/>
          </a:solidFill>
          <a:ln>
            <a:noFill/>
          </a:ln>
          <a:effectLst/>
        </p:spPr>
        <p:txBody>
          <a:bodyPr rtlCol="0" anchor="ctr"/>
          <a:lstStyle/>
          <a:p>
            <a:endParaRPr lang="de-DE"/>
          </a:p>
        </p:txBody>
      </p:sp>
      <p:sp>
        <p:nvSpPr>
          <p:cNvPr id="252" name="Hub &amp; Spoke Dim Technical"/>
          <p:cNvSpPr txBox="1"/>
          <p:nvPr/>
        </p:nvSpPr>
        <p:spPr>
          <a:xfrm>
            <a:off x="677799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3" name="Legal &amp; Contracts Row Divider Dimensions"/>
          <p:cNvSpPr/>
          <p:nvPr/>
        </p:nvSpPr>
        <p:spPr>
          <a:xfrm>
            <a:off x="8435340" y="4382625"/>
            <a:ext cx="1616202" cy="6401"/>
          </a:xfrm>
          <a:prstGeom prst="rect">
            <a:avLst/>
          </a:prstGeom>
          <a:solidFill>
            <a:srgbClr val="E2E8EC"/>
          </a:solidFill>
          <a:ln>
            <a:noFill/>
          </a:ln>
          <a:effectLst/>
        </p:spPr>
        <p:txBody>
          <a:bodyPr rtlCol="0" anchor="ctr"/>
          <a:lstStyle/>
          <a:p>
            <a:endParaRPr lang="de-DE"/>
          </a:p>
        </p:txBody>
      </p:sp>
      <p:sp>
        <p:nvSpPr>
          <p:cNvPr id="254" name="Legal &amp; Contracts Dim Dot External · CX Association"/>
          <p:cNvSpPr/>
          <p:nvPr/>
        </p:nvSpPr>
        <p:spPr>
          <a:xfrm>
            <a:off x="8435340" y="4483209"/>
            <a:ext cx="73152" cy="73152"/>
          </a:xfrm>
          <a:prstGeom prst="ellipse">
            <a:avLst/>
          </a:prstGeom>
          <a:solidFill>
            <a:srgbClr val="53BE70"/>
          </a:solidFill>
          <a:ln>
            <a:noFill/>
          </a:ln>
          <a:effectLst/>
        </p:spPr>
        <p:txBody>
          <a:bodyPr rtlCol="0" anchor="ctr"/>
          <a:lstStyle/>
          <a:p>
            <a:endParaRPr lang="de-DE"/>
          </a:p>
        </p:txBody>
      </p:sp>
      <p:sp>
        <p:nvSpPr>
          <p:cNvPr id="255" name="Legal &amp; Contracts Dim External · CX Association"/>
          <p:cNvSpPr txBox="1"/>
          <p:nvPr/>
        </p:nvSpPr>
        <p:spPr>
          <a:xfrm>
            <a:off x="857250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6" name="Legal &amp; Contracts Dim Dot Business"/>
          <p:cNvSpPr/>
          <p:nvPr/>
        </p:nvSpPr>
        <p:spPr>
          <a:xfrm>
            <a:off x="8435340" y="4848461"/>
            <a:ext cx="73152" cy="73152"/>
          </a:xfrm>
          <a:prstGeom prst="ellipse">
            <a:avLst/>
          </a:prstGeom>
          <a:solidFill>
            <a:srgbClr val="F0B135"/>
          </a:solidFill>
          <a:ln>
            <a:noFill/>
          </a:ln>
          <a:effectLst/>
        </p:spPr>
        <p:txBody>
          <a:bodyPr rtlCol="0" anchor="ctr"/>
          <a:lstStyle/>
          <a:p>
            <a:endParaRPr lang="de-DE"/>
          </a:p>
        </p:txBody>
      </p:sp>
      <p:sp>
        <p:nvSpPr>
          <p:cNvPr id="257" name="Legal &amp; Contracts Dim Business"/>
          <p:cNvSpPr txBox="1"/>
          <p:nvPr/>
        </p:nvSpPr>
        <p:spPr>
          <a:xfrm>
            <a:off x="857250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8" name="Legal &amp; Contracts Dim Dot Use Cases"/>
          <p:cNvSpPr/>
          <p:nvPr/>
        </p:nvSpPr>
        <p:spPr>
          <a:xfrm>
            <a:off x="8435340" y="5067663"/>
            <a:ext cx="73152" cy="73152"/>
          </a:xfrm>
          <a:prstGeom prst="ellipse">
            <a:avLst/>
          </a:prstGeom>
          <a:solidFill>
            <a:srgbClr val="53BE70"/>
          </a:solidFill>
          <a:ln>
            <a:noFill/>
          </a:ln>
          <a:effectLst/>
        </p:spPr>
        <p:txBody>
          <a:bodyPr rtlCol="0" anchor="ctr"/>
          <a:lstStyle/>
          <a:p>
            <a:endParaRPr lang="de-DE"/>
          </a:p>
        </p:txBody>
      </p:sp>
      <p:sp>
        <p:nvSpPr>
          <p:cNvPr id="259" name="Legal &amp; Contracts Dim Use Cases"/>
          <p:cNvSpPr txBox="1"/>
          <p:nvPr/>
        </p:nvSpPr>
        <p:spPr>
          <a:xfrm>
            <a:off x="857250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0" name="Legal &amp; Contracts Dim Dot Technical"/>
          <p:cNvSpPr/>
          <p:nvPr/>
        </p:nvSpPr>
        <p:spPr>
          <a:xfrm>
            <a:off x="8435340" y="5286865"/>
            <a:ext cx="73152" cy="73152"/>
          </a:xfrm>
          <a:prstGeom prst="ellipse">
            <a:avLst/>
          </a:prstGeom>
          <a:solidFill>
            <a:srgbClr val="F0B135"/>
          </a:solidFill>
          <a:ln>
            <a:noFill/>
          </a:ln>
          <a:effectLst/>
        </p:spPr>
        <p:txBody>
          <a:bodyPr rtlCol="0" anchor="ctr"/>
          <a:lstStyle/>
          <a:p>
            <a:endParaRPr lang="de-DE"/>
          </a:p>
        </p:txBody>
      </p:sp>
      <p:sp>
        <p:nvSpPr>
          <p:cNvPr id="261" name="Legal &amp; Contracts Dim Technical"/>
          <p:cNvSpPr txBox="1"/>
          <p:nvPr/>
        </p:nvSpPr>
        <p:spPr>
          <a:xfrm>
            <a:off x="857250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2" name="Architecture Row Divider Dimensions"/>
          <p:cNvSpPr/>
          <p:nvPr/>
        </p:nvSpPr>
        <p:spPr>
          <a:xfrm>
            <a:off x="10229850" y="4382625"/>
            <a:ext cx="1616202" cy="6401"/>
          </a:xfrm>
          <a:prstGeom prst="rect">
            <a:avLst/>
          </a:prstGeom>
          <a:solidFill>
            <a:srgbClr val="E2E8EC"/>
          </a:solidFill>
          <a:ln>
            <a:noFill/>
          </a:ln>
          <a:effectLst/>
        </p:spPr>
        <p:txBody>
          <a:bodyPr rtlCol="0" anchor="ctr"/>
          <a:lstStyle/>
          <a:p>
            <a:endParaRPr lang="de-DE"/>
          </a:p>
        </p:txBody>
      </p:sp>
      <p:sp>
        <p:nvSpPr>
          <p:cNvPr id="263" name="Architecture Dim Dot External · CX Association"/>
          <p:cNvSpPr/>
          <p:nvPr/>
        </p:nvSpPr>
        <p:spPr>
          <a:xfrm>
            <a:off x="10229850" y="4483209"/>
            <a:ext cx="73152" cy="73152"/>
          </a:xfrm>
          <a:prstGeom prst="ellipse">
            <a:avLst/>
          </a:prstGeom>
          <a:solidFill>
            <a:srgbClr val="53BE70"/>
          </a:solidFill>
          <a:ln>
            <a:noFill/>
          </a:ln>
          <a:effectLst/>
        </p:spPr>
        <p:txBody>
          <a:bodyPr rtlCol="0" anchor="ctr"/>
          <a:lstStyle/>
          <a:p>
            <a:endParaRPr lang="de-DE"/>
          </a:p>
        </p:txBody>
      </p:sp>
      <p:sp>
        <p:nvSpPr>
          <p:cNvPr id="264" name="Architecture Dim External · CX Association"/>
          <p:cNvSpPr txBox="1"/>
          <p:nvPr/>
        </p:nvSpPr>
        <p:spPr>
          <a:xfrm>
            <a:off x="10367010" y="44466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Architecture Dim Dot Business"/>
          <p:cNvSpPr/>
          <p:nvPr/>
        </p:nvSpPr>
        <p:spPr>
          <a:xfrm>
            <a:off x="10229850" y="4848461"/>
            <a:ext cx="73152" cy="73152"/>
          </a:xfrm>
          <a:prstGeom prst="ellipse">
            <a:avLst/>
          </a:prstGeom>
          <a:solidFill>
            <a:srgbClr val="53BE70"/>
          </a:solidFill>
          <a:ln>
            <a:noFill/>
          </a:ln>
          <a:effectLst/>
        </p:spPr>
        <p:txBody>
          <a:bodyPr rtlCol="0" anchor="ctr"/>
          <a:lstStyle/>
          <a:p>
            <a:endParaRPr lang="de-DE"/>
          </a:p>
        </p:txBody>
      </p:sp>
      <p:sp>
        <p:nvSpPr>
          <p:cNvPr id="266" name="Architecture Dim Business"/>
          <p:cNvSpPr txBox="1"/>
          <p:nvPr/>
        </p:nvSpPr>
        <p:spPr>
          <a:xfrm>
            <a:off x="10367010" y="48118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Architecture Dim Dot Use Cases"/>
          <p:cNvSpPr/>
          <p:nvPr/>
        </p:nvSpPr>
        <p:spPr>
          <a:xfrm>
            <a:off x="10229850" y="5067663"/>
            <a:ext cx="73152" cy="73152"/>
          </a:xfrm>
          <a:prstGeom prst="ellipse">
            <a:avLst/>
          </a:prstGeom>
          <a:solidFill>
            <a:srgbClr val="53BE70"/>
          </a:solidFill>
          <a:ln>
            <a:noFill/>
          </a:ln>
          <a:effectLst/>
        </p:spPr>
        <p:txBody>
          <a:bodyPr rtlCol="0" anchor="ctr"/>
          <a:lstStyle/>
          <a:p>
            <a:endParaRPr lang="de-DE"/>
          </a:p>
        </p:txBody>
      </p:sp>
      <p:sp>
        <p:nvSpPr>
          <p:cNvPr id="268" name="Architecture Dim Use Cases"/>
          <p:cNvSpPr txBox="1"/>
          <p:nvPr/>
        </p:nvSpPr>
        <p:spPr>
          <a:xfrm>
            <a:off x="10367010" y="50310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9" name="Architecture Dim Dot Technical"/>
          <p:cNvSpPr/>
          <p:nvPr/>
        </p:nvSpPr>
        <p:spPr>
          <a:xfrm>
            <a:off x="10229850" y="5286865"/>
            <a:ext cx="73152" cy="73152"/>
          </a:xfrm>
          <a:prstGeom prst="ellipse">
            <a:avLst/>
          </a:prstGeom>
          <a:solidFill>
            <a:srgbClr val="F0B135"/>
          </a:solidFill>
          <a:ln>
            <a:noFill/>
          </a:ln>
          <a:effectLst/>
        </p:spPr>
        <p:txBody>
          <a:bodyPr rtlCol="0" anchor="ctr"/>
          <a:lstStyle/>
          <a:p>
            <a:endParaRPr lang="de-DE"/>
          </a:p>
        </p:txBody>
      </p:sp>
      <p:sp>
        <p:nvSpPr>
          <p:cNvPr id="270" name="Architecture Dim Technical"/>
          <p:cNvSpPr txBox="1"/>
          <p:nvPr/>
        </p:nvSpPr>
        <p:spPr>
          <a:xfrm>
            <a:off x="10367010" y="52502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Row Label Decision required"/>
          <p:cNvSpPr txBox="1"/>
          <p:nvPr/>
        </p:nvSpPr>
        <p:spPr>
          <a:xfrm>
            <a:off x="274320" y="5528999"/>
            <a:ext cx="868680" cy="109125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72" name="Supplier Activation Row Divider Decision required"/>
          <p:cNvSpPr/>
          <p:nvPr/>
        </p:nvSpPr>
        <p:spPr>
          <a:xfrm>
            <a:off x="1257300" y="5464991"/>
            <a:ext cx="1616202" cy="6401"/>
          </a:xfrm>
          <a:prstGeom prst="rect">
            <a:avLst/>
          </a:prstGeom>
          <a:solidFill>
            <a:srgbClr val="E2E8EC"/>
          </a:solidFill>
          <a:ln>
            <a:noFill/>
          </a:ln>
          <a:effectLst/>
        </p:spPr>
        <p:txBody>
          <a:bodyPr rtlCol="0" anchor="ctr"/>
          <a:lstStyle/>
          <a:p>
            <a:endParaRPr lang="de-DE"/>
          </a:p>
        </p:txBody>
      </p:sp>
      <p:sp>
        <p:nvSpPr>
          <p:cNvPr id="273" name="Supplier Activation Decision None"/>
          <p:cNvSpPr txBox="1"/>
          <p:nvPr/>
        </p:nvSpPr>
        <p:spPr>
          <a:xfrm>
            <a:off x="125730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4" name="Portfolio, AI+, C-X NEXT, DigiTrace Row Divider Decision required"/>
          <p:cNvSpPr/>
          <p:nvPr/>
        </p:nvSpPr>
        <p:spPr>
          <a:xfrm>
            <a:off x="3051810" y="5464991"/>
            <a:ext cx="1616202" cy="6401"/>
          </a:xfrm>
          <a:prstGeom prst="rect">
            <a:avLst/>
          </a:prstGeom>
          <a:solidFill>
            <a:srgbClr val="E2E8EC"/>
          </a:solidFill>
          <a:ln>
            <a:noFill/>
          </a:ln>
          <a:effectLst/>
        </p:spPr>
        <p:txBody>
          <a:bodyPr rtlCol="0" anchor="ctr"/>
          <a:lstStyle/>
          <a:p>
            <a:endParaRPr lang="de-DE"/>
          </a:p>
        </p:txBody>
      </p:sp>
      <p:sp>
        <p:nvSpPr>
          <p:cNvPr id="275" name="Portfolio, AI+, C-X NEXT, DigiTrace Decision 1 Flag"/>
          <p:cNvSpPr/>
          <p:nvPr/>
        </p:nvSpPr>
        <p:spPr>
          <a:xfrm>
            <a:off x="3051810" y="5528999"/>
            <a:ext cx="146304" cy="146304"/>
          </a:xfrm>
          <a:prstGeom prst="ellipse">
            <a:avLst/>
          </a:prstGeom>
          <a:solidFill>
            <a:srgbClr val="001E50"/>
          </a:solidFill>
          <a:ln>
            <a:noFill/>
          </a:ln>
          <a:effectLst/>
        </p:spPr>
        <p:txBody>
          <a:bodyPr rtlCol="0" anchor="ctr"/>
          <a:lstStyle/>
          <a:p>
            <a:endParaRPr lang="de-DE"/>
          </a:p>
        </p:txBody>
      </p:sp>
      <p:sp>
        <p:nvSpPr>
          <p:cNvPr id="276" name="Portfolio, AI+, C-X NEXT, DigiTrace Decision 1 No"/>
          <p:cNvSpPr txBox="1"/>
          <p:nvPr/>
        </p:nvSpPr>
        <p:spPr>
          <a:xfrm>
            <a:off x="3051810" y="5528999"/>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77" name="Portfolio, AI+, C-X NEXT, DigiTrace Decision 1"/>
          <p:cNvSpPr txBox="1"/>
          <p:nvPr/>
        </p:nvSpPr>
        <p:spPr>
          <a:xfrm>
            <a:off x="3051810" y="5528999"/>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78" name="Portfolio, AI+, C-X NEXT, DigiTrace Decision 2 Flag"/>
          <p:cNvSpPr/>
          <p:nvPr/>
        </p:nvSpPr>
        <p:spPr>
          <a:xfrm>
            <a:off x="3051810" y="5894251"/>
            <a:ext cx="146304" cy="146304"/>
          </a:xfrm>
          <a:prstGeom prst="ellipse">
            <a:avLst/>
          </a:prstGeom>
          <a:solidFill>
            <a:srgbClr val="001E50"/>
          </a:solidFill>
          <a:ln>
            <a:noFill/>
          </a:ln>
          <a:effectLst/>
        </p:spPr>
        <p:txBody>
          <a:bodyPr rtlCol="0" anchor="ctr"/>
          <a:lstStyle/>
          <a:p>
            <a:endParaRPr lang="de-DE"/>
          </a:p>
        </p:txBody>
      </p:sp>
      <p:sp>
        <p:nvSpPr>
          <p:cNvPr id="279" name="Portfolio, AI+, C-X NEXT, DigiTrace Decision 2 No"/>
          <p:cNvSpPr txBox="1"/>
          <p:nvPr/>
        </p:nvSpPr>
        <p:spPr>
          <a:xfrm>
            <a:off x="3051810" y="5894251"/>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80" name="Portfolio, AI+, C-X NEXT, DigiTrace Decision 2"/>
          <p:cNvSpPr txBox="1"/>
          <p:nvPr/>
        </p:nvSpPr>
        <p:spPr>
          <a:xfrm>
            <a:off x="3051810" y="5894251"/>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81" name="Portfolio, AI+, C-X NEXT, DigiTrace Decision 3 Flag"/>
          <p:cNvSpPr/>
          <p:nvPr/>
        </p:nvSpPr>
        <p:spPr>
          <a:xfrm>
            <a:off x="3051810" y="6259503"/>
            <a:ext cx="146304" cy="146304"/>
          </a:xfrm>
          <a:prstGeom prst="ellipse">
            <a:avLst/>
          </a:prstGeom>
          <a:solidFill>
            <a:srgbClr val="001E50"/>
          </a:solidFill>
          <a:ln>
            <a:noFill/>
          </a:ln>
          <a:effectLst/>
        </p:spPr>
        <p:txBody>
          <a:bodyPr rtlCol="0" anchor="ctr"/>
          <a:lstStyle/>
          <a:p>
            <a:endParaRPr lang="de-DE"/>
          </a:p>
        </p:txBody>
      </p:sp>
      <p:sp>
        <p:nvSpPr>
          <p:cNvPr id="282" name="Portfolio, AI+, C-X NEXT, DigiTrace Decision 3 No"/>
          <p:cNvSpPr txBox="1"/>
          <p:nvPr/>
        </p:nvSpPr>
        <p:spPr>
          <a:xfrm>
            <a:off x="3051810" y="6259503"/>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83" name="Portfolio, AI+, C-X NEXT, DigiTrace Decision 3"/>
          <p:cNvSpPr txBox="1"/>
          <p:nvPr/>
        </p:nvSpPr>
        <p:spPr>
          <a:xfrm>
            <a:off x="3051810" y="6259503"/>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84" name="Data Provisioning Row Divider Decision required"/>
          <p:cNvSpPr/>
          <p:nvPr/>
        </p:nvSpPr>
        <p:spPr>
          <a:xfrm>
            <a:off x="4846320" y="5464991"/>
            <a:ext cx="1616202" cy="6401"/>
          </a:xfrm>
          <a:prstGeom prst="rect">
            <a:avLst/>
          </a:prstGeom>
          <a:solidFill>
            <a:srgbClr val="E2E8EC"/>
          </a:solidFill>
          <a:ln>
            <a:noFill/>
          </a:ln>
          <a:effectLst/>
        </p:spPr>
        <p:txBody>
          <a:bodyPr rtlCol="0" anchor="ctr"/>
          <a:lstStyle/>
          <a:p>
            <a:endParaRPr lang="de-DE"/>
          </a:p>
        </p:txBody>
      </p:sp>
      <p:sp>
        <p:nvSpPr>
          <p:cNvPr id="285" name="Data Provisioning Decision None"/>
          <p:cNvSpPr txBox="1"/>
          <p:nvPr/>
        </p:nvSpPr>
        <p:spPr>
          <a:xfrm>
            <a:off x="484632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6" name="Hub &amp; Spoke Row Divider Decision required"/>
          <p:cNvSpPr/>
          <p:nvPr/>
        </p:nvSpPr>
        <p:spPr>
          <a:xfrm>
            <a:off x="6640830" y="5464991"/>
            <a:ext cx="1616202" cy="6401"/>
          </a:xfrm>
          <a:prstGeom prst="rect">
            <a:avLst/>
          </a:prstGeom>
          <a:solidFill>
            <a:srgbClr val="E2E8EC"/>
          </a:solidFill>
          <a:ln>
            <a:noFill/>
          </a:ln>
          <a:effectLst/>
        </p:spPr>
        <p:txBody>
          <a:bodyPr rtlCol="0" anchor="ctr"/>
          <a:lstStyle/>
          <a:p>
            <a:endParaRPr lang="de-DE"/>
          </a:p>
        </p:txBody>
      </p:sp>
      <p:sp>
        <p:nvSpPr>
          <p:cNvPr id="287" name="Hub &amp; Spoke Decision None"/>
          <p:cNvSpPr txBox="1"/>
          <p:nvPr/>
        </p:nvSpPr>
        <p:spPr>
          <a:xfrm>
            <a:off x="664083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8" name="Legal &amp; Contracts Row Divider Decision required"/>
          <p:cNvSpPr/>
          <p:nvPr/>
        </p:nvSpPr>
        <p:spPr>
          <a:xfrm>
            <a:off x="8435340" y="5464991"/>
            <a:ext cx="1616202" cy="6401"/>
          </a:xfrm>
          <a:prstGeom prst="rect">
            <a:avLst/>
          </a:prstGeom>
          <a:solidFill>
            <a:srgbClr val="E2E8EC"/>
          </a:solidFill>
          <a:ln>
            <a:noFill/>
          </a:ln>
          <a:effectLst/>
        </p:spPr>
        <p:txBody>
          <a:bodyPr rtlCol="0" anchor="ctr"/>
          <a:lstStyle/>
          <a:p>
            <a:endParaRPr lang="de-DE"/>
          </a:p>
        </p:txBody>
      </p:sp>
      <p:sp>
        <p:nvSpPr>
          <p:cNvPr id="289" name="Legal &amp; Contracts Decision None"/>
          <p:cNvSpPr txBox="1"/>
          <p:nvPr/>
        </p:nvSpPr>
        <p:spPr>
          <a:xfrm>
            <a:off x="843534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0" name="Architecture Row Divider Decision required"/>
          <p:cNvSpPr/>
          <p:nvPr/>
        </p:nvSpPr>
        <p:spPr>
          <a:xfrm>
            <a:off x="10229850" y="5464991"/>
            <a:ext cx="1616202" cy="6401"/>
          </a:xfrm>
          <a:prstGeom prst="rect">
            <a:avLst/>
          </a:prstGeom>
          <a:solidFill>
            <a:srgbClr val="E2E8EC"/>
          </a:solidFill>
          <a:ln>
            <a:noFill/>
          </a:ln>
          <a:effectLst/>
        </p:spPr>
        <p:txBody>
          <a:bodyPr rtlCol="0" anchor="ctr"/>
          <a:lstStyle/>
          <a:p>
            <a:endParaRPr lang="de-DE"/>
          </a:p>
        </p:txBody>
      </p:sp>
      <p:sp>
        <p:nvSpPr>
          <p:cNvPr id="291" name="Architecture Decision None"/>
          <p:cNvSpPr txBox="1"/>
          <p:nvPr/>
        </p:nvSpPr>
        <p:spPr>
          <a:xfrm>
            <a:off x="10229850" y="552899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