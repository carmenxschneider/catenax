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Enabling Pulse Management Overview CW 42 / 2026 – one card per enabling stream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42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Portfolio, AI+, C-X NEXT, DigiTrace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Portfolio, AI+, C-X NEXT, DigiTrace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17" name="Col Portfolio, AI+, C-X NEXT, DigiTrace Abbr"/>
          <p:cNvSpPr txBox="1"/>
          <p:nvPr/>
        </p:nvSpPr>
        <p:spPr>
          <a:xfrm>
            <a:off x="125730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18" name="Col Portfolio, AI+, C-X NEXT, DigiTrace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19" name="Col Portfolio, AI+, C-X NEXT, DigiTrace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Supplier Activation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Supplier Activation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22" name="Col Supplier Activation Abbr"/>
          <p:cNvSpPr txBox="1"/>
          <p:nvPr/>
        </p:nvSpPr>
        <p:spPr>
          <a:xfrm>
            <a:off x="305181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23" name="Col Supplier Activation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Stuhrmann (BZ-PX)</a:t>
            </a:r>
          </a:p>
        </p:txBody>
      </p:sp>
      <p:sp>
        <p:nvSpPr>
          <p:cNvPr id="124" name="Col Supplier Activation Status Bar"/>
          <p:cNvSpPr/>
          <p:nvPr/>
        </p:nvSpPr>
        <p:spPr>
          <a:xfrm>
            <a:off x="305181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Kraus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Brunke (K-ILX-6), Schiffelbaum (A-IIED-EJ)</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Fischer (K-DCC/B)</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Workstream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Workstream Lead</a:t>
            </a:r>
          </a:p>
        </p:txBody>
      </p:sp>
      <p:sp>
        <p:nvSpPr>
          <p:cNvPr id="147" name="Row Label Overall status"/>
          <p:cNvSpPr txBox="1"/>
          <p:nvPr/>
        </p:nvSpPr>
        <p:spPr>
          <a:xfrm>
            <a:off x="274320" y="2158238"/>
            <a:ext cx="868680" cy="220846"/>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Portfolio, AI+, C-X NEXT, DigiTrace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Portfolio, AI+, C-X NEXT, DigiTrace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Supplier Activation Status Pill"/>
          <p:cNvSpPr/>
          <p:nvPr/>
        </p:nvSpPr>
        <p:spPr>
          <a:xfrm>
            <a:off x="305181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1" name="Supplier Activation Status Text"/>
          <p:cNvSpPr txBox="1"/>
          <p:nvPr/>
        </p:nvSpPr>
        <p:spPr>
          <a:xfrm>
            <a:off x="305181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43092"/>
            <a:ext cx="868680" cy="46114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Portfolio, AI+, C-X NEXT, DigiTrace Row Divider Goal"/>
          <p:cNvSpPr/>
          <p:nvPr/>
        </p:nvSpPr>
        <p:spPr>
          <a:xfrm>
            <a:off x="1257300" y="2379084"/>
            <a:ext cx="1616202" cy="6401"/>
          </a:xfrm>
          <a:prstGeom prst="rect">
            <a:avLst/>
          </a:prstGeom>
          <a:solidFill>
            <a:srgbClr val="E2E8EC"/>
          </a:solidFill>
          <a:ln>
            <a:noFill/>
          </a:ln>
          <a:effectLst/>
        </p:spPr>
        <p:txBody>
          <a:bodyPr rtlCol="0" anchor="ctr"/>
          <a:lstStyle/>
          <a:p>
            <a:endParaRPr lang="de-DE"/>
          </a:p>
        </p:txBody>
      </p:sp>
      <p:sp>
        <p:nvSpPr>
          <p:cNvPr id="162" name="Portfolio, AI+, C-X NEXT, DigiTrace Goal"/>
          <p:cNvSpPr txBox="1"/>
          <p:nvPr/>
        </p:nvSpPr>
        <p:spPr>
          <a:xfrm>
            <a:off x="125730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3" name="Supplier Activation Row Divider Goal"/>
          <p:cNvSpPr/>
          <p:nvPr/>
        </p:nvSpPr>
        <p:spPr>
          <a:xfrm>
            <a:off x="3051810" y="2379084"/>
            <a:ext cx="1616202" cy="6401"/>
          </a:xfrm>
          <a:prstGeom prst="rect">
            <a:avLst/>
          </a:prstGeom>
          <a:solidFill>
            <a:srgbClr val="E2E8EC"/>
          </a:solidFill>
          <a:ln>
            <a:noFill/>
          </a:ln>
          <a:effectLst/>
        </p:spPr>
        <p:txBody>
          <a:bodyPr rtlCol="0" anchor="ctr"/>
          <a:lstStyle/>
          <a:p>
            <a:endParaRPr lang="de-DE"/>
          </a:p>
        </p:txBody>
      </p:sp>
      <p:sp>
        <p:nvSpPr>
          <p:cNvPr id="164" name="Supplier Activation Goal"/>
          <p:cNvSpPr txBox="1"/>
          <p:nvPr/>
        </p:nvSpPr>
        <p:spPr>
          <a:xfrm>
            <a:off x="305181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5" name="Data Provisioning Row Divider Goal"/>
          <p:cNvSpPr/>
          <p:nvPr/>
        </p:nvSpPr>
        <p:spPr>
          <a:xfrm>
            <a:off x="4846320" y="2379084"/>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79084"/>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79084"/>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79084"/>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43092"/>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968247"/>
            <a:ext cx="868680" cy="57533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Portfolio, AI+, C-X NEXT, DigiTrace Row Divider Key KPI"/>
          <p:cNvSpPr/>
          <p:nvPr/>
        </p:nvSpPr>
        <p:spPr>
          <a:xfrm>
            <a:off x="1257300" y="2904239"/>
            <a:ext cx="1616202" cy="6401"/>
          </a:xfrm>
          <a:prstGeom prst="rect">
            <a:avLst/>
          </a:prstGeom>
          <a:solidFill>
            <a:srgbClr val="E2E8EC"/>
          </a:solidFill>
          <a:ln>
            <a:noFill/>
          </a:ln>
          <a:effectLst/>
        </p:spPr>
        <p:txBody>
          <a:bodyPr rtlCol="0" anchor="ctr"/>
          <a:lstStyle/>
          <a:p>
            <a:endParaRPr lang="de-DE"/>
          </a:p>
        </p:txBody>
      </p:sp>
      <p:sp>
        <p:nvSpPr>
          <p:cNvPr id="175" name="Portfolio, AI+, C-X NEXT, DigiTrace KPI"/>
          <p:cNvSpPr txBox="1"/>
          <p:nvPr/>
        </p:nvSpPr>
        <p:spPr>
          <a:xfrm>
            <a:off x="125730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6" name="Supplier Activation Row Divider Key KPI"/>
          <p:cNvSpPr/>
          <p:nvPr/>
        </p:nvSpPr>
        <p:spPr>
          <a:xfrm>
            <a:off x="3051810" y="2904239"/>
            <a:ext cx="1616202" cy="6401"/>
          </a:xfrm>
          <a:prstGeom prst="rect">
            <a:avLst/>
          </a:prstGeom>
          <a:solidFill>
            <a:srgbClr val="E2E8EC"/>
          </a:solidFill>
          <a:ln>
            <a:noFill/>
          </a:ln>
          <a:effectLst/>
        </p:spPr>
        <p:txBody>
          <a:bodyPr rtlCol="0" anchor="ctr"/>
          <a:lstStyle/>
          <a:p>
            <a:endParaRPr lang="de-DE"/>
          </a:p>
        </p:txBody>
      </p:sp>
      <p:sp>
        <p:nvSpPr>
          <p:cNvPr id="177" name="Supplier Activation KPI"/>
          <p:cNvSpPr txBox="1"/>
          <p:nvPr/>
        </p:nvSpPr>
        <p:spPr>
          <a:xfrm>
            <a:off x="305181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8" name="Data Provisioning Row Divider Key KPI"/>
          <p:cNvSpPr/>
          <p:nvPr/>
        </p:nvSpPr>
        <p:spPr>
          <a:xfrm>
            <a:off x="4846320" y="2904239"/>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904239"/>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904239"/>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968247"/>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904239"/>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968247"/>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Next critical milestone"/>
          <p:cNvSpPr txBox="1"/>
          <p:nvPr/>
        </p:nvSpPr>
        <p:spPr>
          <a:xfrm>
            <a:off x="274320" y="3607586"/>
            <a:ext cx="868680" cy="721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187" name="Portfolio, AI+, C-X NEXT, DigiTrace Row Divider Next critical milestone"/>
          <p:cNvSpPr/>
          <p:nvPr/>
        </p:nvSpPr>
        <p:spPr>
          <a:xfrm>
            <a:off x="1257300" y="3543578"/>
            <a:ext cx="1616202" cy="6401"/>
          </a:xfrm>
          <a:prstGeom prst="rect">
            <a:avLst/>
          </a:prstGeom>
          <a:solidFill>
            <a:srgbClr val="E2E8EC"/>
          </a:solidFill>
          <a:ln>
            <a:noFill/>
          </a:ln>
          <a:effectLst/>
        </p:spPr>
        <p:txBody>
          <a:bodyPr rtlCol="0" anchor="ctr"/>
          <a:lstStyle/>
          <a:p>
            <a:endParaRPr lang="de-DE"/>
          </a:p>
        </p:txBody>
      </p:sp>
      <p:sp>
        <p:nvSpPr>
          <p:cNvPr id="188" name="Portfolio, AI+, C-X NEXT, DigiTrace Milestone Dot"/>
          <p:cNvSpPr/>
          <p:nvPr/>
        </p:nvSpPr>
        <p:spPr>
          <a:xfrm>
            <a:off x="1257300" y="3644162"/>
            <a:ext cx="73152" cy="73152"/>
          </a:xfrm>
          <a:prstGeom prst="ellipse">
            <a:avLst/>
          </a:prstGeom>
          <a:solidFill>
            <a:srgbClr val="E64343"/>
          </a:solidFill>
          <a:ln>
            <a:noFill/>
          </a:ln>
          <a:effectLst/>
        </p:spPr>
        <p:txBody>
          <a:bodyPr rtlCol="0" anchor="ctr"/>
          <a:lstStyle/>
          <a:p>
            <a:endParaRPr lang="de-DE"/>
          </a:p>
        </p:txBody>
      </p:sp>
      <p:sp>
        <p:nvSpPr>
          <p:cNvPr id="189" name="Portfolio, AI+, C-X NEXT, DigiTrace Milestone"/>
          <p:cNvSpPr txBox="1"/>
          <p:nvPr/>
        </p:nvSpPr>
        <p:spPr>
          <a:xfrm>
            <a:off x="139446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190" name="Supplier Activation Row Divider Next critical milestone"/>
          <p:cNvSpPr/>
          <p:nvPr/>
        </p:nvSpPr>
        <p:spPr>
          <a:xfrm>
            <a:off x="3051810" y="3543578"/>
            <a:ext cx="1616202" cy="6401"/>
          </a:xfrm>
          <a:prstGeom prst="rect">
            <a:avLst/>
          </a:prstGeom>
          <a:solidFill>
            <a:srgbClr val="E2E8EC"/>
          </a:solidFill>
          <a:ln>
            <a:noFill/>
          </a:ln>
          <a:effectLst/>
        </p:spPr>
        <p:txBody>
          <a:bodyPr rtlCol="0" anchor="ctr"/>
          <a:lstStyle/>
          <a:p>
            <a:endParaRPr lang="de-DE"/>
          </a:p>
        </p:txBody>
      </p:sp>
      <p:sp>
        <p:nvSpPr>
          <p:cNvPr id="191" name="Supplier Activation Milestone Dot"/>
          <p:cNvSpPr/>
          <p:nvPr/>
        </p:nvSpPr>
        <p:spPr>
          <a:xfrm>
            <a:off x="3051810" y="3644162"/>
            <a:ext cx="73152" cy="73152"/>
          </a:xfrm>
          <a:prstGeom prst="ellipse">
            <a:avLst/>
          </a:prstGeom>
          <a:solidFill>
            <a:srgbClr val="F0B135"/>
          </a:solidFill>
          <a:ln>
            <a:noFill/>
          </a:ln>
          <a:effectLst/>
        </p:spPr>
        <p:txBody>
          <a:bodyPr rtlCol="0" anchor="ctr"/>
          <a:lstStyle/>
          <a:p>
            <a:endParaRPr lang="de-DE"/>
          </a:p>
        </p:txBody>
      </p:sp>
      <p:sp>
        <p:nvSpPr>
          <p:cNvPr id="192" name="Supplier Activation Milestone"/>
          <p:cNvSpPr txBox="1"/>
          <p:nvPr/>
        </p:nvSpPr>
        <p:spPr>
          <a:xfrm>
            <a:off x="318897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193" name="Data Provisioning Row Divider Next critical milestone"/>
          <p:cNvSpPr/>
          <p:nvPr/>
        </p:nvSpPr>
        <p:spPr>
          <a:xfrm>
            <a:off x="4846320" y="3543578"/>
            <a:ext cx="1616202" cy="6401"/>
          </a:xfrm>
          <a:prstGeom prst="rect">
            <a:avLst/>
          </a:prstGeom>
          <a:solidFill>
            <a:srgbClr val="E2E8EC"/>
          </a:solidFill>
          <a:ln>
            <a:noFill/>
          </a:ln>
          <a:effectLst/>
        </p:spPr>
        <p:txBody>
          <a:bodyPr rtlCol="0" anchor="ctr"/>
          <a:lstStyle/>
          <a:p>
            <a:endParaRPr lang="de-DE"/>
          </a:p>
        </p:txBody>
      </p:sp>
      <p:sp>
        <p:nvSpPr>
          <p:cNvPr id="194" name="Data Provisioning Milestone"/>
          <p:cNvSpPr txBox="1"/>
          <p:nvPr/>
        </p:nvSpPr>
        <p:spPr>
          <a:xfrm>
            <a:off x="4846320" y="360758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195" name="Hub &amp; Spoke Row Divider Next critical milestone"/>
          <p:cNvSpPr/>
          <p:nvPr/>
        </p:nvSpPr>
        <p:spPr>
          <a:xfrm>
            <a:off x="6640830" y="3543578"/>
            <a:ext cx="1616202" cy="6401"/>
          </a:xfrm>
          <a:prstGeom prst="rect">
            <a:avLst/>
          </a:prstGeom>
          <a:solidFill>
            <a:srgbClr val="E2E8EC"/>
          </a:solidFill>
          <a:ln>
            <a:noFill/>
          </a:ln>
          <a:effectLst/>
        </p:spPr>
        <p:txBody>
          <a:bodyPr rtlCol="0" anchor="ctr"/>
          <a:lstStyle/>
          <a:p>
            <a:endParaRPr lang="de-DE"/>
          </a:p>
        </p:txBody>
      </p:sp>
      <p:sp>
        <p:nvSpPr>
          <p:cNvPr id="196" name="Hub &amp; Spoke Milestone Dot"/>
          <p:cNvSpPr/>
          <p:nvPr/>
        </p:nvSpPr>
        <p:spPr>
          <a:xfrm>
            <a:off x="6640830" y="3644162"/>
            <a:ext cx="73152" cy="73152"/>
          </a:xfrm>
          <a:prstGeom prst="ellipse">
            <a:avLst/>
          </a:prstGeom>
          <a:solidFill>
            <a:srgbClr val="F0B135"/>
          </a:solidFill>
          <a:ln>
            <a:noFill/>
          </a:ln>
          <a:effectLst/>
        </p:spPr>
        <p:txBody>
          <a:bodyPr rtlCol="0" anchor="ctr"/>
          <a:lstStyle/>
          <a:p>
            <a:endParaRPr lang="de-DE"/>
          </a:p>
        </p:txBody>
      </p:sp>
      <p:sp>
        <p:nvSpPr>
          <p:cNvPr id="197" name="Hub &amp; Spoke Milestone"/>
          <p:cNvSpPr txBox="1"/>
          <p:nvPr/>
        </p:nvSpPr>
        <p:spPr>
          <a:xfrm>
            <a:off x="6777990" y="3607586"/>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198" name="Legal &amp; Contracts Row Divider Next critical milestone"/>
          <p:cNvSpPr/>
          <p:nvPr/>
        </p:nvSpPr>
        <p:spPr>
          <a:xfrm>
            <a:off x="8435340" y="3543578"/>
            <a:ext cx="1616202" cy="6401"/>
          </a:xfrm>
          <a:prstGeom prst="rect">
            <a:avLst/>
          </a:prstGeom>
          <a:solidFill>
            <a:srgbClr val="E2E8EC"/>
          </a:solidFill>
          <a:ln>
            <a:noFill/>
          </a:ln>
          <a:effectLst/>
        </p:spPr>
        <p:txBody>
          <a:bodyPr rtlCol="0" anchor="ctr"/>
          <a:lstStyle/>
          <a:p>
            <a:endParaRPr lang="de-DE"/>
          </a:p>
        </p:txBody>
      </p:sp>
      <p:sp>
        <p:nvSpPr>
          <p:cNvPr id="199" name="Legal &amp; Contracts Milestone Dot"/>
          <p:cNvSpPr/>
          <p:nvPr/>
        </p:nvSpPr>
        <p:spPr>
          <a:xfrm>
            <a:off x="8435340" y="3644162"/>
            <a:ext cx="73152" cy="73152"/>
          </a:xfrm>
          <a:prstGeom prst="ellipse">
            <a:avLst/>
          </a:prstGeom>
          <a:solidFill>
            <a:srgbClr val="F0B135"/>
          </a:solidFill>
          <a:ln>
            <a:noFill/>
          </a:ln>
          <a:effectLst/>
        </p:spPr>
        <p:txBody>
          <a:bodyPr rtlCol="0" anchor="ctr"/>
          <a:lstStyle/>
          <a:p>
            <a:endParaRPr lang="de-DE"/>
          </a:p>
        </p:txBody>
      </p:sp>
      <p:sp>
        <p:nvSpPr>
          <p:cNvPr id="200" name="Legal &amp; Contracts Milestone"/>
          <p:cNvSpPr txBox="1"/>
          <p:nvPr/>
        </p:nvSpPr>
        <p:spPr>
          <a:xfrm>
            <a:off x="8572500" y="360758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01" name="Architecture Row Divider Next critical milestone"/>
          <p:cNvSpPr/>
          <p:nvPr/>
        </p:nvSpPr>
        <p:spPr>
          <a:xfrm>
            <a:off x="10229850" y="3543578"/>
            <a:ext cx="1616202" cy="6401"/>
          </a:xfrm>
          <a:prstGeom prst="rect">
            <a:avLst/>
          </a:prstGeom>
          <a:solidFill>
            <a:srgbClr val="E2E8EC"/>
          </a:solidFill>
          <a:ln>
            <a:noFill/>
          </a:ln>
          <a:effectLst/>
        </p:spPr>
        <p:txBody>
          <a:bodyPr rtlCol="0" anchor="ctr"/>
          <a:lstStyle/>
          <a:p>
            <a:endParaRPr lang="de-DE"/>
          </a:p>
        </p:txBody>
      </p:sp>
      <p:sp>
        <p:nvSpPr>
          <p:cNvPr id="202" name="Architecture Milestone"/>
          <p:cNvSpPr txBox="1"/>
          <p:nvPr/>
        </p:nvSpPr>
        <p:spPr>
          <a:xfrm>
            <a:off x="10229850" y="360758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3" name="Row Label Dimensions"/>
          <p:cNvSpPr txBox="1"/>
          <p:nvPr/>
        </p:nvSpPr>
        <p:spPr>
          <a:xfrm>
            <a:off x="274320" y="4392975"/>
            <a:ext cx="868680" cy="1122381"/>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04" name="Portfolio, AI+, C-X NEXT, DigiTrace Row Divider Dimensions"/>
          <p:cNvSpPr/>
          <p:nvPr/>
        </p:nvSpPr>
        <p:spPr>
          <a:xfrm>
            <a:off x="1257300" y="4328967"/>
            <a:ext cx="1616202" cy="6401"/>
          </a:xfrm>
          <a:prstGeom prst="rect">
            <a:avLst/>
          </a:prstGeom>
          <a:solidFill>
            <a:srgbClr val="E2E8EC"/>
          </a:solidFill>
          <a:ln>
            <a:noFill/>
          </a:ln>
          <a:effectLst/>
        </p:spPr>
        <p:txBody>
          <a:bodyPr rtlCol="0" anchor="ctr"/>
          <a:lstStyle/>
          <a:p>
            <a:endParaRPr lang="de-DE"/>
          </a:p>
        </p:txBody>
      </p:sp>
      <p:sp>
        <p:nvSpPr>
          <p:cNvPr id="205" name="Portfolio, AI+, C-X NEXT, DigiTrace Dim Dot External · CX Association"/>
          <p:cNvSpPr/>
          <p:nvPr/>
        </p:nvSpPr>
        <p:spPr>
          <a:xfrm>
            <a:off x="1257300" y="4429551"/>
            <a:ext cx="73152" cy="73152"/>
          </a:xfrm>
          <a:prstGeom prst="ellipse">
            <a:avLst/>
          </a:prstGeom>
          <a:solidFill>
            <a:srgbClr val="53BE70"/>
          </a:solidFill>
          <a:ln>
            <a:noFill/>
          </a:ln>
          <a:effectLst/>
        </p:spPr>
        <p:txBody>
          <a:bodyPr rtlCol="0" anchor="ctr"/>
          <a:lstStyle/>
          <a:p>
            <a:endParaRPr lang="de-DE"/>
          </a:p>
        </p:txBody>
      </p:sp>
      <p:sp>
        <p:nvSpPr>
          <p:cNvPr id="206" name="Portfolio, AI+, C-X NEXT, DigiTrace Dim External · CX Association"/>
          <p:cNvSpPr txBox="1"/>
          <p:nvPr/>
        </p:nvSpPr>
        <p:spPr>
          <a:xfrm>
            <a:off x="139446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07" name="Portfolio, AI+, C-X NEXT, DigiTrace Dim Dot Business"/>
          <p:cNvSpPr/>
          <p:nvPr/>
        </p:nvSpPr>
        <p:spPr>
          <a:xfrm>
            <a:off x="1257300" y="4834073"/>
            <a:ext cx="73152" cy="73152"/>
          </a:xfrm>
          <a:prstGeom prst="ellipse">
            <a:avLst/>
          </a:prstGeom>
          <a:solidFill>
            <a:srgbClr val="F0B135"/>
          </a:solidFill>
          <a:ln>
            <a:noFill/>
          </a:ln>
          <a:effectLst/>
        </p:spPr>
        <p:txBody>
          <a:bodyPr rtlCol="0" anchor="ctr"/>
          <a:lstStyle/>
          <a:p>
            <a:endParaRPr lang="de-DE"/>
          </a:p>
        </p:txBody>
      </p:sp>
      <p:sp>
        <p:nvSpPr>
          <p:cNvPr id="208" name="Portfolio, AI+, C-X NEXT, DigiTrace Dim Business"/>
          <p:cNvSpPr txBox="1"/>
          <p:nvPr/>
        </p:nvSpPr>
        <p:spPr>
          <a:xfrm>
            <a:off x="139446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09" name="Portfolio, AI+, C-X NEXT, DigiTrace Dim Dot Use Cases"/>
          <p:cNvSpPr/>
          <p:nvPr/>
        </p:nvSpPr>
        <p:spPr>
          <a:xfrm>
            <a:off x="1257300" y="5092546"/>
            <a:ext cx="73152" cy="73152"/>
          </a:xfrm>
          <a:prstGeom prst="ellipse">
            <a:avLst/>
          </a:prstGeom>
          <a:solidFill>
            <a:srgbClr val="F0B135"/>
          </a:solidFill>
          <a:ln>
            <a:noFill/>
          </a:ln>
          <a:effectLst/>
        </p:spPr>
        <p:txBody>
          <a:bodyPr rtlCol="0" anchor="ctr"/>
          <a:lstStyle/>
          <a:p>
            <a:endParaRPr lang="de-DE"/>
          </a:p>
        </p:txBody>
      </p:sp>
      <p:sp>
        <p:nvSpPr>
          <p:cNvPr id="210" name="Portfolio, AI+, C-X NEXT, DigiTrace Dim Use Cases"/>
          <p:cNvSpPr txBox="1"/>
          <p:nvPr/>
        </p:nvSpPr>
        <p:spPr>
          <a:xfrm>
            <a:off x="139446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11" name="Portfolio, AI+, C-X NEXT, DigiTrace Dim Dot Technical"/>
          <p:cNvSpPr/>
          <p:nvPr/>
        </p:nvSpPr>
        <p:spPr>
          <a:xfrm>
            <a:off x="1257300" y="5351018"/>
            <a:ext cx="73152" cy="73152"/>
          </a:xfrm>
          <a:prstGeom prst="ellipse">
            <a:avLst/>
          </a:prstGeom>
          <a:solidFill>
            <a:srgbClr val="53BE70"/>
          </a:solidFill>
          <a:ln>
            <a:noFill/>
          </a:ln>
          <a:effectLst/>
        </p:spPr>
        <p:txBody>
          <a:bodyPr rtlCol="0" anchor="ctr"/>
          <a:lstStyle/>
          <a:p>
            <a:endParaRPr lang="de-DE"/>
          </a:p>
        </p:txBody>
      </p:sp>
      <p:sp>
        <p:nvSpPr>
          <p:cNvPr id="212" name="Portfolio, AI+, C-X NEXT, DigiTrace Dim Technical"/>
          <p:cNvSpPr txBox="1"/>
          <p:nvPr/>
        </p:nvSpPr>
        <p:spPr>
          <a:xfrm>
            <a:off x="139446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13" name="Supplier Activation Row Divider Dimensions"/>
          <p:cNvSpPr/>
          <p:nvPr/>
        </p:nvSpPr>
        <p:spPr>
          <a:xfrm>
            <a:off x="3051810" y="4328967"/>
            <a:ext cx="1616202" cy="6401"/>
          </a:xfrm>
          <a:prstGeom prst="rect">
            <a:avLst/>
          </a:prstGeom>
          <a:solidFill>
            <a:srgbClr val="E2E8EC"/>
          </a:solidFill>
          <a:ln>
            <a:noFill/>
          </a:ln>
          <a:effectLst/>
        </p:spPr>
        <p:txBody>
          <a:bodyPr rtlCol="0" anchor="ctr"/>
          <a:lstStyle/>
          <a:p>
            <a:endParaRPr lang="de-DE"/>
          </a:p>
        </p:txBody>
      </p:sp>
      <p:sp>
        <p:nvSpPr>
          <p:cNvPr id="214" name="Supplier Activation Dim Dot External · CX Association"/>
          <p:cNvSpPr/>
          <p:nvPr/>
        </p:nvSpPr>
        <p:spPr>
          <a:xfrm>
            <a:off x="3051810" y="4429551"/>
            <a:ext cx="73152" cy="73152"/>
          </a:xfrm>
          <a:prstGeom prst="ellipse">
            <a:avLst/>
          </a:prstGeom>
          <a:solidFill>
            <a:srgbClr val="F0B135"/>
          </a:solidFill>
          <a:ln>
            <a:noFill/>
          </a:ln>
          <a:effectLst/>
        </p:spPr>
        <p:txBody>
          <a:bodyPr rtlCol="0" anchor="ctr"/>
          <a:lstStyle/>
          <a:p>
            <a:endParaRPr lang="de-DE"/>
          </a:p>
        </p:txBody>
      </p:sp>
      <p:sp>
        <p:nvSpPr>
          <p:cNvPr id="215" name="Supplier Activation Dim External · CX Association"/>
          <p:cNvSpPr txBox="1"/>
          <p:nvPr/>
        </p:nvSpPr>
        <p:spPr>
          <a:xfrm>
            <a:off x="318897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16" name="Supplier Activation Dim Dot Business"/>
          <p:cNvSpPr/>
          <p:nvPr/>
        </p:nvSpPr>
        <p:spPr>
          <a:xfrm>
            <a:off x="3051810" y="4834073"/>
            <a:ext cx="73152" cy="73152"/>
          </a:xfrm>
          <a:prstGeom prst="ellipse">
            <a:avLst/>
          </a:prstGeom>
          <a:solidFill>
            <a:srgbClr val="F0B135"/>
          </a:solidFill>
          <a:ln>
            <a:noFill/>
          </a:ln>
          <a:effectLst/>
        </p:spPr>
        <p:txBody>
          <a:bodyPr rtlCol="0" anchor="ctr"/>
          <a:lstStyle/>
          <a:p>
            <a:endParaRPr lang="de-DE"/>
          </a:p>
        </p:txBody>
      </p:sp>
      <p:sp>
        <p:nvSpPr>
          <p:cNvPr id="217" name="Supplier Activation Dim Business"/>
          <p:cNvSpPr txBox="1"/>
          <p:nvPr/>
        </p:nvSpPr>
        <p:spPr>
          <a:xfrm>
            <a:off x="318897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18" name="Supplier Activation Dim Dot Use Cases"/>
          <p:cNvSpPr/>
          <p:nvPr/>
        </p:nvSpPr>
        <p:spPr>
          <a:xfrm>
            <a:off x="3051810" y="5092546"/>
            <a:ext cx="73152" cy="73152"/>
          </a:xfrm>
          <a:prstGeom prst="ellipse">
            <a:avLst/>
          </a:prstGeom>
          <a:solidFill>
            <a:srgbClr val="CFD6DB"/>
          </a:solidFill>
          <a:ln>
            <a:noFill/>
          </a:ln>
          <a:effectLst/>
        </p:spPr>
        <p:txBody>
          <a:bodyPr rtlCol="0" anchor="ctr"/>
          <a:lstStyle/>
          <a:p>
            <a:endParaRPr lang="de-DE"/>
          </a:p>
        </p:txBody>
      </p:sp>
      <p:sp>
        <p:nvSpPr>
          <p:cNvPr id="219" name="Supplier Activation Dim Use Cases"/>
          <p:cNvSpPr txBox="1"/>
          <p:nvPr/>
        </p:nvSpPr>
        <p:spPr>
          <a:xfrm>
            <a:off x="318897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0" name="Supplier Activation Dim Dot Technical"/>
          <p:cNvSpPr/>
          <p:nvPr/>
        </p:nvSpPr>
        <p:spPr>
          <a:xfrm>
            <a:off x="3051810" y="5351018"/>
            <a:ext cx="73152" cy="73152"/>
          </a:xfrm>
          <a:prstGeom prst="ellipse">
            <a:avLst/>
          </a:prstGeom>
          <a:solidFill>
            <a:srgbClr val="CFD6DB"/>
          </a:solidFill>
          <a:ln>
            <a:noFill/>
          </a:ln>
          <a:effectLst/>
        </p:spPr>
        <p:txBody>
          <a:bodyPr rtlCol="0" anchor="ctr"/>
          <a:lstStyle/>
          <a:p>
            <a:endParaRPr lang="de-DE"/>
          </a:p>
        </p:txBody>
      </p:sp>
      <p:sp>
        <p:nvSpPr>
          <p:cNvPr id="221" name="Supplier Activation Dim Technical"/>
          <p:cNvSpPr txBox="1"/>
          <p:nvPr/>
        </p:nvSpPr>
        <p:spPr>
          <a:xfrm>
            <a:off x="318897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2" name="Data Provisioning Row Divider Dimensions"/>
          <p:cNvSpPr/>
          <p:nvPr/>
        </p:nvSpPr>
        <p:spPr>
          <a:xfrm>
            <a:off x="4846320" y="4328967"/>
            <a:ext cx="1616202" cy="6401"/>
          </a:xfrm>
          <a:prstGeom prst="rect">
            <a:avLst/>
          </a:prstGeom>
          <a:solidFill>
            <a:srgbClr val="E2E8EC"/>
          </a:solidFill>
          <a:ln>
            <a:noFill/>
          </a:ln>
          <a:effectLst/>
        </p:spPr>
        <p:txBody>
          <a:bodyPr rtlCol="0" anchor="ctr"/>
          <a:lstStyle/>
          <a:p>
            <a:endParaRPr lang="de-DE"/>
          </a:p>
        </p:txBody>
      </p:sp>
      <p:sp>
        <p:nvSpPr>
          <p:cNvPr id="223" name="Data Provisioning Dim Dot External · CX Association"/>
          <p:cNvSpPr/>
          <p:nvPr/>
        </p:nvSpPr>
        <p:spPr>
          <a:xfrm>
            <a:off x="4846320" y="4429551"/>
            <a:ext cx="73152" cy="73152"/>
          </a:xfrm>
          <a:prstGeom prst="ellipse">
            <a:avLst/>
          </a:prstGeom>
          <a:solidFill>
            <a:srgbClr val="53BE70"/>
          </a:solidFill>
          <a:ln>
            <a:noFill/>
          </a:ln>
          <a:effectLst/>
        </p:spPr>
        <p:txBody>
          <a:bodyPr rtlCol="0" anchor="ctr"/>
          <a:lstStyle/>
          <a:p>
            <a:endParaRPr lang="de-DE"/>
          </a:p>
        </p:txBody>
      </p:sp>
      <p:sp>
        <p:nvSpPr>
          <p:cNvPr id="224" name="Data Provisioning Dim External · CX Association"/>
          <p:cNvSpPr txBox="1"/>
          <p:nvPr/>
        </p:nvSpPr>
        <p:spPr>
          <a:xfrm>
            <a:off x="498348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5" name="Data Provisioning Dim Dot Business"/>
          <p:cNvSpPr/>
          <p:nvPr/>
        </p:nvSpPr>
        <p:spPr>
          <a:xfrm>
            <a:off x="4846320" y="4834073"/>
            <a:ext cx="73152" cy="73152"/>
          </a:xfrm>
          <a:prstGeom prst="ellipse">
            <a:avLst/>
          </a:prstGeom>
          <a:solidFill>
            <a:srgbClr val="53BE70"/>
          </a:solidFill>
          <a:ln>
            <a:noFill/>
          </a:ln>
          <a:effectLst/>
        </p:spPr>
        <p:txBody>
          <a:bodyPr rtlCol="0" anchor="ctr"/>
          <a:lstStyle/>
          <a:p>
            <a:endParaRPr lang="de-DE"/>
          </a:p>
        </p:txBody>
      </p:sp>
      <p:sp>
        <p:nvSpPr>
          <p:cNvPr id="226" name="Data Provisioning Dim Business"/>
          <p:cNvSpPr txBox="1"/>
          <p:nvPr/>
        </p:nvSpPr>
        <p:spPr>
          <a:xfrm>
            <a:off x="498348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7" name="Data Provisioning Dim Dot Use Cases"/>
          <p:cNvSpPr/>
          <p:nvPr/>
        </p:nvSpPr>
        <p:spPr>
          <a:xfrm>
            <a:off x="4846320" y="5092546"/>
            <a:ext cx="73152" cy="73152"/>
          </a:xfrm>
          <a:prstGeom prst="ellipse">
            <a:avLst/>
          </a:prstGeom>
          <a:solidFill>
            <a:srgbClr val="F0B135"/>
          </a:solidFill>
          <a:ln>
            <a:noFill/>
          </a:ln>
          <a:effectLst/>
        </p:spPr>
        <p:txBody>
          <a:bodyPr rtlCol="0" anchor="ctr"/>
          <a:lstStyle/>
          <a:p>
            <a:endParaRPr lang="de-DE"/>
          </a:p>
        </p:txBody>
      </p:sp>
      <p:sp>
        <p:nvSpPr>
          <p:cNvPr id="228" name="Data Provisioning Dim Use Cases"/>
          <p:cNvSpPr txBox="1"/>
          <p:nvPr/>
        </p:nvSpPr>
        <p:spPr>
          <a:xfrm>
            <a:off x="498348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9" name="Data Provisioning Dim Dot Technical"/>
          <p:cNvSpPr/>
          <p:nvPr/>
        </p:nvSpPr>
        <p:spPr>
          <a:xfrm>
            <a:off x="4846320" y="5351018"/>
            <a:ext cx="73152" cy="73152"/>
          </a:xfrm>
          <a:prstGeom prst="ellipse">
            <a:avLst/>
          </a:prstGeom>
          <a:solidFill>
            <a:srgbClr val="CFD6DB"/>
          </a:solidFill>
          <a:ln>
            <a:noFill/>
          </a:ln>
          <a:effectLst/>
        </p:spPr>
        <p:txBody>
          <a:bodyPr rtlCol="0" anchor="ctr"/>
          <a:lstStyle/>
          <a:p>
            <a:endParaRPr lang="de-DE"/>
          </a:p>
        </p:txBody>
      </p:sp>
      <p:sp>
        <p:nvSpPr>
          <p:cNvPr id="230" name="Data Provisioning Dim Technical"/>
          <p:cNvSpPr txBox="1"/>
          <p:nvPr/>
        </p:nvSpPr>
        <p:spPr>
          <a:xfrm>
            <a:off x="498348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1" name="Hub &amp; Spoke Row Divider Dimensions"/>
          <p:cNvSpPr/>
          <p:nvPr/>
        </p:nvSpPr>
        <p:spPr>
          <a:xfrm>
            <a:off x="6640830" y="4328967"/>
            <a:ext cx="1616202" cy="6401"/>
          </a:xfrm>
          <a:prstGeom prst="rect">
            <a:avLst/>
          </a:prstGeom>
          <a:solidFill>
            <a:srgbClr val="E2E8EC"/>
          </a:solidFill>
          <a:ln>
            <a:noFill/>
          </a:ln>
          <a:effectLst/>
        </p:spPr>
        <p:txBody>
          <a:bodyPr rtlCol="0" anchor="ctr"/>
          <a:lstStyle/>
          <a:p>
            <a:endParaRPr lang="de-DE"/>
          </a:p>
        </p:txBody>
      </p:sp>
      <p:sp>
        <p:nvSpPr>
          <p:cNvPr id="232" name="Hub &amp; Spoke Dim Dot External · CX Association"/>
          <p:cNvSpPr/>
          <p:nvPr/>
        </p:nvSpPr>
        <p:spPr>
          <a:xfrm>
            <a:off x="6640830" y="4429551"/>
            <a:ext cx="73152" cy="73152"/>
          </a:xfrm>
          <a:prstGeom prst="ellipse">
            <a:avLst/>
          </a:prstGeom>
          <a:solidFill>
            <a:srgbClr val="53BE70"/>
          </a:solidFill>
          <a:ln>
            <a:noFill/>
          </a:ln>
          <a:effectLst/>
        </p:spPr>
        <p:txBody>
          <a:bodyPr rtlCol="0" anchor="ctr"/>
          <a:lstStyle/>
          <a:p>
            <a:endParaRPr lang="de-DE"/>
          </a:p>
        </p:txBody>
      </p:sp>
      <p:sp>
        <p:nvSpPr>
          <p:cNvPr id="233" name="Hub &amp; Spoke Dim External · CX Association"/>
          <p:cNvSpPr txBox="1"/>
          <p:nvPr/>
        </p:nvSpPr>
        <p:spPr>
          <a:xfrm>
            <a:off x="677799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4" name="Hub &amp; Spoke Dim Dot Business"/>
          <p:cNvSpPr/>
          <p:nvPr/>
        </p:nvSpPr>
        <p:spPr>
          <a:xfrm>
            <a:off x="6640830" y="4834073"/>
            <a:ext cx="73152" cy="73152"/>
          </a:xfrm>
          <a:prstGeom prst="ellipse">
            <a:avLst/>
          </a:prstGeom>
          <a:solidFill>
            <a:srgbClr val="F0B135"/>
          </a:solidFill>
          <a:ln>
            <a:noFill/>
          </a:ln>
          <a:effectLst/>
        </p:spPr>
        <p:txBody>
          <a:bodyPr rtlCol="0" anchor="ctr"/>
          <a:lstStyle/>
          <a:p>
            <a:endParaRPr lang="de-DE"/>
          </a:p>
        </p:txBody>
      </p:sp>
      <p:sp>
        <p:nvSpPr>
          <p:cNvPr id="235" name="Hub &amp; Spoke Dim Business"/>
          <p:cNvSpPr txBox="1"/>
          <p:nvPr/>
        </p:nvSpPr>
        <p:spPr>
          <a:xfrm>
            <a:off x="677799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6" name="Hub &amp; Spoke Dim Dot Use Cases"/>
          <p:cNvSpPr/>
          <p:nvPr/>
        </p:nvSpPr>
        <p:spPr>
          <a:xfrm>
            <a:off x="6640830" y="5092546"/>
            <a:ext cx="73152" cy="73152"/>
          </a:xfrm>
          <a:prstGeom prst="ellipse">
            <a:avLst/>
          </a:prstGeom>
          <a:solidFill>
            <a:srgbClr val="CFD6DB"/>
          </a:solidFill>
          <a:ln>
            <a:noFill/>
          </a:ln>
          <a:effectLst/>
        </p:spPr>
        <p:txBody>
          <a:bodyPr rtlCol="0" anchor="ctr"/>
          <a:lstStyle/>
          <a:p>
            <a:endParaRPr lang="de-DE"/>
          </a:p>
        </p:txBody>
      </p:sp>
      <p:sp>
        <p:nvSpPr>
          <p:cNvPr id="237" name="Hub &amp; Spoke Dim Use Cases"/>
          <p:cNvSpPr txBox="1"/>
          <p:nvPr/>
        </p:nvSpPr>
        <p:spPr>
          <a:xfrm>
            <a:off x="677799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8" name="Hub &amp; Spoke Dim Dot Technical"/>
          <p:cNvSpPr/>
          <p:nvPr/>
        </p:nvSpPr>
        <p:spPr>
          <a:xfrm>
            <a:off x="6640830" y="5351018"/>
            <a:ext cx="73152" cy="73152"/>
          </a:xfrm>
          <a:prstGeom prst="ellipse">
            <a:avLst/>
          </a:prstGeom>
          <a:solidFill>
            <a:srgbClr val="CFD6DB"/>
          </a:solidFill>
          <a:ln>
            <a:noFill/>
          </a:ln>
          <a:effectLst/>
        </p:spPr>
        <p:txBody>
          <a:bodyPr rtlCol="0" anchor="ctr"/>
          <a:lstStyle/>
          <a:p>
            <a:endParaRPr lang="de-DE"/>
          </a:p>
        </p:txBody>
      </p:sp>
      <p:sp>
        <p:nvSpPr>
          <p:cNvPr id="239" name="Hub &amp; Spoke Dim Technical"/>
          <p:cNvSpPr txBox="1"/>
          <p:nvPr/>
        </p:nvSpPr>
        <p:spPr>
          <a:xfrm>
            <a:off x="677799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0" name="Legal &amp; Contracts Row Divider Dimensions"/>
          <p:cNvSpPr/>
          <p:nvPr/>
        </p:nvSpPr>
        <p:spPr>
          <a:xfrm>
            <a:off x="8435340" y="4328967"/>
            <a:ext cx="1616202" cy="6401"/>
          </a:xfrm>
          <a:prstGeom prst="rect">
            <a:avLst/>
          </a:prstGeom>
          <a:solidFill>
            <a:srgbClr val="E2E8EC"/>
          </a:solidFill>
          <a:ln>
            <a:noFill/>
          </a:ln>
          <a:effectLst/>
        </p:spPr>
        <p:txBody>
          <a:bodyPr rtlCol="0" anchor="ctr"/>
          <a:lstStyle/>
          <a:p>
            <a:endParaRPr lang="de-DE"/>
          </a:p>
        </p:txBody>
      </p:sp>
      <p:sp>
        <p:nvSpPr>
          <p:cNvPr id="241" name="Legal &amp; Contracts Dim Dot External · CX Association"/>
          <p:cNvSpPr/>
          <p:nvPr/>
        </p:nvSpPr>
        <p:spPr>
          <a:xfrm>
            <a:off x="8435340" y="4429551"/>
            <a:ext cx="73152" cy="73152"/>
          </a:xfrm>
          <a:prstGeom prst="ellipse">
            <a:avLst/>
          </a:prstGeom>
          <a:solidFill>
            <a:srgbClr val="53BE70"/>
          </a:solidFill>
          <a:ln>
            <a:noFill/>
          </a:ln>
          <a:effectLst/>
        </p:spPr>
        <p:txBody>
          <a:bodyPr rtlCol="0" anchor="ctr"/>
          <a:lstStyle/>
          <a:p>
            <a:endParaRPr lang="de-DE"/>
          </a:p>
        </p:txBody>
      </p:sp>
      <p:sp>
        <p:nvSpPr>
          <p:cNvPr id="242" name="Legal &amp; Contracts Dim External · CX Association"/>
          <p:cNvSpPr txBox="1"/>
          <p:nvPr/>
        </p:nvSpPr>
        <p:spPr>
          <a:xfrm>
            <a:off x="857250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3" name="Legal &amp; Contracts Dim Dot Business"/>
          <p:cNvSpPr/>
          <p:nvPr/>
        </p:nvSpPr>
        <p:spPr>
          <a:xfrm>
            <a:off x="8435340" y="4834073"/>
            <a:ext cx="73152" cy="73152"/>
          </a:xfrm>
          <a:prstGeom prst="ellipse">
            <a:avLst/>
          </a:prstGeom>
          <a:solidFill>
            <a:srgbClr val="F0B135"/>
          </a:solidFill>
          <a:ln>
            <a:noFill/>
          </a:ln>
          <a:effectLst/>
        </p:spPr>
        <p:txBody>
          <a:bodyPr rtlCol="0" anchor="ctr"/>
          <a:lstStyle/>
          <a:p>
            <a:endParaRPr lang="de-DE"/>
          </a:p>
        </p:txBody>
      </p:sp>
      <p:sp>
        <p:nvSpPr>
          <p:cNvPr id="244" name="Legal &amp; Contracts Dim Business"/>
          <p:cNvSpPr txBox="1"/>
          <p:nvPr/>
        </p:nvSpPr>
        <p:spPr>
          <a:xfrm>
            <a:off x="857250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5" name="Legal &amp; Contracts Dim Dot Use Cases"/>
          <p:cNvSpPr/>
          <p:nvPr/>
        </p:nvSpPr>
        <p:spPr>
          <a:xfrm>
            <a:off x="8435340" y="5092546"/>
            <a:ext cx="73152" cy="73152"/>
          </a:xfrm>
          <a:prstGeom prst="ellipse">
            <a:avLst/>
          </a:prstGeom>
          <a:solidFill>
            <a:srgbClr val="53BE70"/>
          </a:solidFill>
          <a:ln>
            <a:noFill/>
          </a:ln>
          <a:effectLst/>
        </p:spPr>
        <p:txBody>
          <a:bodyPr rtlCol="0" anchor="ctr"/>
          <a:lstStyle/>
          <a:p>
            <a:endParaRPr lang="de-DE"/>
          </a:p>
        </p:txBody>
      </p:sp>
      <p:sp>
        <p:nvSpPr>
          <p:cNvPr id="246" name="Legal &amp; Contracts Dim Use Cases"/>
          <p:cNvSpPr txBox="1"/>
          <p:nvPr/>
        </p:nvSpPr>
        <p:spPr>
          <a:xfrm>
            <a:off x="857250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7" name="Legal &amp; Contracts Dim Dot Technical"/>
          <p:cNvSpPr/>
          <p:nvPr/>
        </p:nvSpPr>
        <p:spPr>
          <a:xfrm>
            <a:off x="8435340" y="5351018"/>
            <a:ext cx="73152" cy="73152"/>
          </a:xfrm>
          <a:prstGeom prst="ellipse">
            <a:avLst/>
          </a:prstGeom>
          <a:solidFill>
            <a:srgbClr val="F0B135"/>
          </a:solidFill>
          <a:ln>
            <a:noFill/>
          </a:ln>
          <a:effectLst/>
        </p:spPr>
        <p:txBody>
          <a:bodyPr rtlCol="0" anchor="ctr"/>
          <a:lstStyle/>
          <a:p>
            <a:endParaRPr lang="de-DE"/>
          </a:p>
        </p:txBody>
      </p:sp>
      <p:sp>
        <p:nvSpPr>
          <p:cNvPr id="248" name="Legal &amp; Contracts Dim Technical"/>
          <p:cNvSpPr txBox="1"/>
          <p:nvPr/>
        </p:nvSpPr>
        <p:spPr>
          <a:xfrm>
            <a:off x="857250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9" name="Architecture Row Divider Dimensions"/>
          <p:cNvSpPr/>
          <p:nvPr/>
        </p:nvSpPr>
        <p:spPr>
          <a:xfrm>
            <a:off x="10229850" y="4328967"/>
            <a:ext cx="1616202" cy="6401"/>
          </a:xfrm>
          <a:prstGeom prst="rect">
            <a:avLst/>
          </a:prstGeom>
          <a:solidFill>
            <a:srgbClr val="E2E8EC"/>
          </a:solidFill>
          <a:ln>
            <a:noFill/>
          </a:ln>
          <a:effectLst/>
        </p:spPr>
        <p:txBody>
          <a:bodyPr rtlCol="0" anchor="ctr"/>
          <a:lstStyle/>
          <a:p>
            <a:endParaRPr lang="de-DE"/>
          </a:p>
        </p:txBody>
      </p:sp>
      <p:sp>
        <p:nvSpPr>
          <p:cNvPr id="250" name="Architecture Dim Dot External · CX Association"/>
          <p:cNvSpPr/>
          <p:nvPr/>
        </p:nvSpPr>
        <p:spPr>
          <a:xfrm>
            <a:off x="10229850" y="4429551"/>
            <a:ext cx="73152" cy="73152"/>
          </a:xfrm>
          <a:prstGeom prst="ellipse">
            <a:avLst/>
          </a:prstGeom>
          <a:solidFill>
            <a:srgbClr val="53BE70"/>
          </a:solidFill>
          <a:ln>
            <a:noFill/>
          </a:ln>
          <a:effectLst/>
        </p:spPr>
        <p:txBody>
          <a:bodyPr rtlCol="0" anchor="ctr"/>
          <a:lstStyle/>
          <a:p>
            <a:endParaRPr lang="de-DE"/>
          </a:p>
        </p:txBody>
      </p:sp>
      <p:sp>
        <p:nvSpPr>
          <p:cNvPr id="251" name="Architecture Dim External · CX Association"/>
          <p:cNvSpPr txBox="1"/>
          <p:nvPr/>
        </p:nvSpPr>
        <p:spPr>
          <a:xfrm>
            <a:off x="10367010" y="4392975"/>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2" name="Architecture Dim Dot Business"/>
          <p:cNvSpPr/>
          <p:nvPr/>
        </p:nvSpPr>
        <p:spPr>
          <a:xfrm>
            <a:off x="10229850" y="4834073"/>
            <a:ext cx="73152" cy="73152"/>
          </a:xfrm>
          <a:prstGeom prst="ellipse">
            <a:avLst/>
          </a:prstGeom>
          <a:solidFill>
            <a:srgbClr val="53BE70"/>
          </a:solidFill>
          <a:ln>
            <a:noFill/>
          </a:ln>
          <a:effectLst/>
        </p:spPr>
        <p:txBody>
          <a:bodyPr rtlCol="0" anchor="ctr"/>
          <a:lstStyle/>
          <a:p>
            <a:endParaRPr lang="de-DE"/>
          </a:p>
        </p:txBody>
      </p:sp>
      <p:sp>
        <p:nvSpPr>
          <p:cNvPr id="253" name="Architecture Dim Business"/>
          <p:cNvSpPr txBox="1"/>
          <p:nvPr/>
        </p:nvSpPr>
        <p:spPr>
          <a:xfrm>
            <a:off x="10367010" y="479749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4" name="Architecture Dim Dot Use Cases"/>
          <p:cNvSpPr/>
          <p:nvPr/>
        </p:nvSpPr>
        <p:spPr>
          <a:xfrm>
            <a:off x="10229850" y="5092546"/>
            <a:ext cx="73152" cy="73152"/>
          </a:xfrm>
          <a:prstGeom prst="ellipse">
            <a:avLst/>
          </a:prstGeom>
          <a:solidFill>
            <a:srgbClr val="53BE70"/>
          </a:solidFill>
          <a:ln>
            <a:noFill/>
          </a:ln>
          <a:effectLst/>
        </p:spPr>
        <p:txBody>
          <a:bodyPr rtlCol="0" anchor="ctr"/>
          <a:lstStyle/>
          <a:p>
            <a:endParaRPr lang="de-DE"/>
          </a:p>
        </p:txBody>
      </p:sp>
      <p:sp>
        <p:nvSpPr>
          <p:cNvPr id="255" name="Architecture Dim Use Cases"/>
          <p:cNvSpPr txBox="1"/>
          <p:nvPr/>
        </p:nvSpPr>
        <p:spPr>
          <a:xfrm>
            <a:off x="10367010" y="5055970"/>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6" name="Architecture Dim Dot Technical"/>
          <p:cNvSpPr/>
          <p:nvPr/>
        </p:nvSpPr>
        <p:spPr>
          <a:xfrm>
            <a:off x="10229850" y="5351018"/>
            <a:ext cx="73152" cy="73152"/>
          </a:xfrm>
          <a:prstGeom prst="ellipse">
            <a:avLst/>
          </a:prstGeom>
          <a:solidFill>
            <a:srgbClr val="F0B135"/>
          </a:solidFill>
          <a:ln>
            <a:noFill/>
          </a:ln>
          <a:effectLst/>
        </p:spPr>
        <p:txBody>
          <a:bodyPr rtlCol="0" anchor="ctr"/>
          <a:lstStyle/>
          <a:p>
            <a:endParaRPr lang="de-DE"/>
          </a:p>
        </p:txBody>
      </p:sp>
      <p:sp>
        <p:nvSpPr>
          <p:cNvPr id="257" name="Architecture Dim Technical"/>
          <p:cNvSpPr txBox="1"/>
          <p:nvPr/>
        </p:nvSpPr>
        <p:spPr>
          <a:xfrm>
            <a:off x="10367010" y="5314442"/>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8"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59" name="Portfolio, AI+, C-X NEXT, DigiTrace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60" name="Portfolio, AI+, C-X NEXT, DigiTrace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61" name="Portfolio, AI+, C-X NEXT, DigiTrace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62" name="Portfolio, AI+, C-X NEXT, DigiTrace Decision 1"/>
          <p:cNvSpPr txBox="1"/>
          <p:nvPr/>
        </p:nvSpPr>
        <p:spPr>
          <a:xfrm>
            <a:off x="125730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63" name="Portfolio, AI+, C-X NEXT, DigiTrace Decision 2 Flag"/>
          <p:cNvSpPr/>
          <p:nvPr/>
        </p:nvSpPr>
        <p:spPr>
          <a:xfrm>
            <a:off x="1257300" y="5926328"/>
            <a:ext cx="146304" cy="146304"/>
          </a:xfrm>
          <a:prstGeom prst="ellipse">
            <a:avLst/>
          </a:prstGeom>
          <a:solidFill>
            <a:srgbClr val="001E50"/>
          </a:solidFill>
          <a:ln>
            <a:noFill/>
          </a:ln>
          <a:effectLst/>
        </p:spPr>
        <p:txBody>
          <a:bodyPr rtlCol="0" anchor="ctr"/>
          <a:lstStyle/>
          <a:p>
            <a:endParaRPr lang="de-DE"/>
          </a:p>
        </p:txBody>
      </p:sp>
      <p:sp>
        <p:nvSpPr>
          <p:cNvPr id="264" name="Portfolio, AI+, C-X NEXT, DigiTrace Decision 2 No"/>
          <p:cNvSpPr txBox="1"/>
          <p:nvPr/>
        </p:nvSpPr>
        <p:spPr>
          <a:xfrm>
            <a:off x="125730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65" name="Portfolio, AI+, C-X NEXT, DigiTrace Decision 2"/>
          <p:cNvSpPr txBox="1"/>
          <p:nvPr/>
        </p:nvSpPr>
        <p:spPr>
          <a:xfrm>
            <a:off x="125730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66" name="Portfolio, AI+, C-X NEXT, DigiTrace Decision 3 Flag"/>
          <p:cNvSpPr/>
          <p:nvPr/>
        </p:nvSpPr>
        <p:spPr>
          <a:xfrm>
            <a:off x="1257300" y="6273292"/>
            <a:ext cx="146304" cy="146304"/>
          </a:xfrm>
          <a:prstGeom prst="ellipse">
            <a:avLst/>
          </a:prstGeom>
          <a:solidFill>
            <a:srgbClr val="001E50"/>
          </a:solidFill>
          <a:ln>
            <a:noFill/>
          </a:ln>
          <a:effectLst/>
        </p:spPr>
        <p:txBody>
          <a:bodyPr rtlCol="0" anchor="ctr"/>
          <a:lstStyle/>
          <a:p>
            <a:endParaRPr lang="de-DE"/>
          </a:p>
        </p:txBody>
      </p:sp>
      <p:sp>
        <p:nvSpPr>
          <p:cNvPr id="267" name="Portfolio, AI+, C-X NEXT, DigiTrace Decision 3 No"/>
          <p:cNvSpPr txBox="1"/>
          <p:nvPr/>
        </p:nvSpPr>
        <p:spPr>
          <a:xfrm>
            <a:off x="125730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68" name="Portfolio, AI+, C-X NEXT, DigiTrace Decision 3"/>
          <p:cNvSpPr txBox="1"/>
          <p:nvPr/>
        </p:nvSpPr>
        <p:spPr>
          <a:xfrm>
            <a:off x="125730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69" name="Supplier Activation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70" name="Supplier Activation Decision None"/>
          <p:cNvSpPr txBox="1"/>
          <p:nvPr/>
        </p:nvSpPr>
        <p:spPr>
          <a:xfrm>
            <a:off x="305181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1"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72"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3"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74"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5"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76"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77"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78"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