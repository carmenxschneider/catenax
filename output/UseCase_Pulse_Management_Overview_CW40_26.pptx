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Management Overview CW 40 / 2026 – one column per use case (read top to bottom), one KPI per row, sorted by overall status.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E7E6E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320040" y="237744"/>
            <a:ext cx="3657600" cy="109728"/>
          </a:xfrm>
          <a:prstGeom prst="rect">
            <a:avLst/>
          </a:prstGeom>
          <a:noFill/>
          <a:ln>
            <a:noFill/>
          </a:ln>
        </p:spPr>
        <p:txBody>
          <a:bodyPr wrap="square" lIns="0" tIns="0" rIns="0" bIns="0" rtlCol="0" anchor="ctr">
            <a:noAutofit/>
          </a:bodyPr>
          <a:lstStyle/>
          <a:p>
            <a:pPr marL="0" indent="0" algn="l">
              <a:buNone/>
            </a:pPr>
            <a:r>
              <a:rPr lang="de-DE" sz="750" b="1" kern="0" spc="75" dirty="0">
                <a:solidFill>
                  <a:srgbClr val="001E50"/>
                </a:solidFill>
                <a:latin typeface="Segoe UI" pitchFamily="34" charset="0"/>
                <a:ea typeface="Segoe UI" pitchFamily="34" charset="-122"/>
                <a:cs typeface="Segoe UI" pitchFamily="34" charset="-120"/>
              </a:rPr>
              <a:t>USE CASE PULSE · CATENA-X</a:t>
            </a:r>
          </a:p>
        </p:txBody>
      </p:sp>
      <p:sp>
        <p:nvSpPr>
          <p:cNvPr id="102" name="Headline"/>
          <p:cNvSpPr txBox="1"/>
          <p:nvPr/>
        </p:nvSpPr>
        <p:spPr>
          <a:xfrm>
            <a:off x="320040" y="384048"/>
            <a:ext cx="7306056" cy="347472"/>
          </a:xfrm>
          <a:prstGeom prst="rect">
            <a:avLst/>
          </a:prstGeom>
          <a:noFill/>
          <a:ln>
            <a:noFill/>
          </a:ln>
        </p:spPr>
        <p:txBody>
          <a:bodyPr wrap="square" lIns="0" tIns="0" rIns="0" bIns="0" rtlCol="0" anchor="ctr">
            <a:noAutofit/>
          </a:bodyPr>
          <a:lstStyle/>
          <a:p>
            <a:pPr marL="0" indent="0" algn="l">
              <a:buNone/>
            </a:pPr>
            <a:r>
              <a:rPr lang="de-DE" sz="2600" b="1" kern="0" spc="-26" dirty="0">
                <a:solidFill>
                  <a:srgbClr val="10151A"/>
                </a:solidFill>
                <a:latin typeface="Segoe UI" pitchFamily="34" charset="0"/>
                <a:ea typeface="Segoe UI" pitchFamily="34" charset="-122"/>
                <a:cs typeface="Segoe UI" pitchFamily="34" charset="-120"/>
              </a:rPr>
              <a:t>Management Overview</a:t>
            </a:r>
          </a:p>
        </p:txBody>
      </p:sp>
      <p:sp>
        <p:nvSpPr>
          <p:cNvPr id="103" name="Subline"/>
          <p:cNvSpPr txBox="1"/>
          <p:nvPr/>
        </p:nvSpPr>
        <p:spPr>
          <a:xfrm>
            <a:off x="320040" y="768096"/>
            <a:ext cx="5486400" cy="146304"/>
          </a:xfrm>
          <a:prstGeom prst="rect">
            <a:avLst/>
          </a:prstGeom>
          <a:noFill/>
          <a:ln>
            <a:noFill/>
          </a:ln>
        </p:spPr>
        <p:txBody>
          <a:bodyPr wrap="square" lIns="0" tIns="0" rIns="0" bIns="0" rtlCol="0" anchor="ctr">
            <a:noAutofit/>
          </a:bodyPr>
          <a:lstStyle/>
          <a:p>
            <a:pPr marL="0" indent="0" algn="l">
              <a:buNone/>
            </a:pPr>
            <a:r>
              <a:rPr lang="de-DE" sz="950" b="0" kern="0" dirty="0">
                <a:solidFill>
                  <a:srgbClr val="63707A"/>
                </a:solidFill>
                <a:latin typeface="Segoe UI" pitchFamily="34" charset="0"/>
                <a:ea typeface="Segoe UI" pitchFamily="34" charset="-122"/>
                <a:cs typeface="Segoe UI" pitchFamily="34" charset="-120"/>
              </a:rPr>
              <a:t>Management report on the status of all Catena-X use cases</a:t>
            </a:r>
          </a:p>
        </p:txBody>
      </p:sp>
      <p:sp>
        <p:nvSpPr>
          <p:cNvPr id="104" name="Legend Box"/>
          <p:cNvSpPr/>
          <p:nvPr/>
        </p:nvSpPr>
        <p:spPr>
          <a:xfrm>
            <a:off x="7479792" y="237744"/>
            <a:ext cx="3227832" cy="667512"/>
          </a:xfrm>
          <a:prstGeom prst="roundRect">
            <a:avLst>
              <a:gd name="adj" fmla="val 11363"/>
            </a:avLst>
          </a:prstGeom>
          <a:solidFill>
            <a:srgbClr val="FFFFFF"/>
          </a:solidFill>
          <a:ln w="9525">
            <a:solidFill>
              <a:srgbClr val="E2E8EC"/>
            </a:solidFill>
          </a:ln>
          <a:effectLst/>
        </p:spPr>
        <p:txBody>
          <a:bodyPr rtlCol="0" anchor="ctr"/>
          <a:lstStyle/>
          <a:p>
            <a:endParaRPr lang="de-DE"/>
          </a:p>
        </p:txBody>
      </p:sp>
      <p:sp>
        <p:nvSpPr>
          <p:cNvPr id="105" name="Legend Title"/>
          <p:cNvSpPr txBox="1"/>
          <p:nvPr/>
        </p:nvSpPr>
        <p:spPr>
          <a:xfrm>
            <a:off x="7589520" y="283464"/>
            <a:ext cx="3017520" cy="91440"/>
          </a:xfrm>
          <a:prstGeom prst="rect">
            <a:avLst/>
          </a:prstGeom>
          <a:noFill/>
          <a:ln>
            <a:noFill/>
          </a:ln>
        </p:spPr>
        <p:txBody>
          <a:bodyPr wrap="square" lIns="0" tIns="0" rIns="0" bIns="0" rtlCol="0" anchor="t">
            <a:noAutofit/>
          </a:bodyPr>
          <a:lstStyle/>
          <a:p>
            <a:pPr marL="0" indent="0" algn="l">
              <a:buNone/>
            </a:pPr>
            <a:r>
              <a:rPr lang="de-DE" sz="650" b="1" kern="0" dirty="0">
                <a:solidFill>
                  <a:srgbClr val="63707A"/>
                </a:solidFill>
                <a:latin typeface="Segoe UI" pitchFamily="34" charset="0"/>
                <a:ea typeface="Segoe UI" pitchFamily="34" charset="-122"/>
                <a:cs typeface="Segoe UI" pitchFamily="34" charset="-120"/>
              </a:rPr>
              <a:t>Status legend</a:t>
            </a:r>
          </a:p>
        </p:txBody>
      </p:sp>
      <p:sp>
        <p:nvSpPr>
          <p:cNvPr id="106" name="Legend Dot On Track"/>
          <p:cNvSpPr/>
          <p:nvPr/>
        </p:nvSpPr>
        <p:spPr>
          <a:xfrm>
            <a:off x="7589520" y="516636"/>
            <a:ext cx="82296" cy="82296"/>
          </a:xfrm>
          <a:prstGeom prst="ellipse">
            <a:avLst/>
          </a:prstGeom>
          <a:solidFill>
            <a:srgbClr val="53BE70"/>
          </a:solidFill>
          <a:ln>
            <a:noFill/>
          </a:ln>
          <a:effectLst/>
        </p:spPr>
        <p:txBody>
          <a:bodyPr rtlCol="0" anchor="ctr"/>
          <a:lstStyle/>
          <a:p>
            <a:endParaRPr lang="de-DE"/>
          </a:p>
        </p:txBody>
      </p:sp>
      <p:sp>
        <p:nvSpPr>
          <p:cNvPr id="107" name="Legend On Track"/>
          <p:cNvSpPr txBox="1"/>
          <p:nvPr/>
        </p:nvSpPr>
        <p:spPr>
          <a:xfrm>
            <a:off x="7717536"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On Track</a:t>
            </a:r>
          </a:p>
        </p:txBody>
      </p:sp>
      <p:sp>
        <p:nvSpPr>
          <p:cNvPr id="108" name="Legend Dot Problem Solving"/>
          <p:cNvSpPr/>
          <p:nvPr/>
        </p:nvSpPr>
        <p:spPr>
          <a:xfrm>
            <a:off x="8622792" y="516636"/>
            <a:ext cx="82296" cy="82296"/>
          </a:xfrm>
          <a:prstGeom prst="ellipse">
            <a:avLst/>
          </a:prstGeom>
          <a:solidFill>
            <a:srgbClr val="F0B135"/>
          </a:solidFill>
          <a:ln>
            <a:noFill/>
          </a:ln>
          <a:effectLst/>
        </p:spPr>
        <p:txBody>
          <a:bodyPr rtlCol="0" anchor="ctr"/>
          <a:lstStyle/>
          <a:p>
            <a:endParaRPr lang="de-DE"/>
          </a:p>
        </p:txBody>
      </p:sp>
      <p:sp>
        <p:nvSpPr>
          <p:cNvPr id="109" name="Legend Problem Solving"/>
          <p:cNvSpPr txBox="1"/>
          <p:nvPr/>
        </p:nvSpPr>
        <p:spPr>
          <a:xfrm>
            <a:off x="8750808"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Problem Solving</a:t>
            </a:r>
          </a:p>
        </p:txBody>
      </p:sp>
      <p:sp>
        <p:nvSpPr>
          <p:cNvPr id="110" name="Legend Dot Escalation needed"/>
          <p:cNvSpPr/>
          <p:nvPr/>
        </p:nvSpPr>
        <p:spPr>
          <a:xfrm>
            <a:off x="9656064" y="516636"/>
            <a:ext cx="82296" cy="82296"/>
          </a:xfrm>
          <a:prstGeom prst="ellipse">
            <a:avLst/>
          </a:prstGeom>
          <a:solidFill>
            <a:srgbClr val="E64343"/>
          </a:solidFill>
          <a:ln>
            <a:noFill/>
          </a:ln>
          <a:effectLst/>
        </p:spPr>
        <p:txBody>
          <a:bodyPr rtlCol="0" anchor="ctr"/>
          <a:lstStyle/>
          <a:p>
            <a:endParaRPr lang="de-DE"/>
          </a:p>
        </p:txBody>
      </p:sp>
      <p:sp>
        <p:nvSpPr>
          <p:cNvPr id="111" name="Legend Escalation needed"/>
          <p:cNvSpPr txBox="1"/>
          <p:nvPr/>
        </p:nvSpPr>
        <p:spPr>
          <a:xfrm>
            <a:off x="9784080"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Escalation needed</a:t>
            </a:r>
          </a:p>
        </p:txBody>
      </p:sp>
      <p:sp>
        <p:nvSpPr>
          <p:cNvPr id="112" name="Legend Dot Not Started"/>
          <p:cNvSpPr/>
          <p:nvPr/>
        </p:nvSpPr>
        <p:spPr>
          <a:xfrm>
            <a:off x="7589520" y="699516"/>
            <a:ext cx="82296" cy="82296"/>
          </a:xfrm>
          <a:prstGeom prst="ellipse">
            <a:avLst/>
          </a:prstGeom>
          <a:solidFill>
            <a:srgbClr val="CFD6DB"/>
          </a:solidFill>
          <a:ln>
            <a:noFill/>
          </a:ln>
          <a:effectLst/>
        </p:spPr>
        <p:txBody>
          <a:bodyPr rtlCol="0" anchor="ctr"/>
          <a:lstStyle/>
          <a:p>
            <a:endParaRPr lang="de-DE"/>
          </a:p>
        </p:txBody>
      </p:sp>
      <p:sp>
        <p:nvSpPr>
          <p:cNvPr id="113" name="Legend Not Started"/>
          <p:cNvSpPr txBox="1"/>
          <p:nvPr/>
        </p:nvSpPr>
        <p:spPr>
          <a:xfrm>
            <a:off x="7717536" y="68580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Not Started</a:t>
            </a:r>
          </a:p>
        </p:txBody>
      </p:sp>
      <p:sp>
        <p:nvSpPr>
          <p:cNvPr id="114" name="Legend Dot Completed"/>
          <p:cNvSpPr/>
          <p:nvPr/>
        </p:nvSpPr>
        <p:spPr>
          <a:xfrm>
            <a:off x="8622792" y="699516"/>
            <a:ext cx="82296" cy="82296"/>
          </a:xfrm>
          <a:prstGeom prst="ellipse">
            <a:avLst/>
          </a:prstGeom>
          <a:solidFill>
            <a:srgbClr val="001E50"/>
          </a:solidFill>
          <a:ln>
            <a:noFill/>
          </a:ln>
          <a:effectLst/>
        </p:spPr>
        <p:txBody>
          <a:bodyPr rtlCol="0" anchor="ctr"/>
          <a:lstStyle/>
          <a:p>
            <a:endParaRPr lang="de-DE"/>
          </a:p>
        </p:txBody>
      </p:sp>
      <p:sp>
        <p:nvSpPr>
          <p:cNvPr id="115" name="Legend Completed"/>
          <p:cNvSpPr txBox="1"/>
          <p:nvPr/>
        </p:nvSpPr>
        <p:spPr>
          <a:xfrm>
            <a:off x="8750808" y="68580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Completed</a:t>
            </a:r>
          </a:p>
        </p:txBody>
      </p:sp>
      <p:sp>
        <p:nvSpPr>
          <p:cNvPr id="116" name="Date Box"/>
          <p:cNvSpPr/>
          <p:nvPr/>
        </p:nvSpPr>
        <p:spPr>
          <a:xfrm>
            <a:off x="10780776" y="237744"/>
            <a:ext cx="1088136" cy="667512"/>
          </a:xfrm>
          <a:prstGeom prst="roundRect">
            <a:avLst>
              <a:gd name="adj" fmla="val 11363"/>
            </a:avLst>
          </a:prstGeom>
          <a:solidFill>
            <a:srgbClr val="FFFFFF"/>
          </a:solidFill>
          <a:ln w="9525">
            <a:solidFill>
              <a:srgbClr val="E2E8EC"/>
            </a:solidFill>
          </a:ln>
          <a:effectLst/>
        </p:spPr>
        <p:txBody>
          <a:bodyPr rtlCol="0" anchor="ctr"/>
          <a:lstStyle/>
          <a:p>
            <a:endParaRPr lang="de-DE"/>
          </a:p>
        </p:txBody>
      </p:sp>
      <p:sp>
        <p:nvSpPr>
          <p:cNvPr id="117" name="Date Label"/>
          <p:cNvSpPr txBox="1"/>
          <p:nvPr/>
        </p:nvSpPr>
        <p:spPr>
          <a:xfrm>
            <a:off x="10872216" y="420624"/>
            <a:ext cx="914400" cy="100584"/>
          </a:xfrm>
          <a:prstGeom prst="rect">
            <a:avLst/>
          </a:prstGeom>
          <a:noFill/>
          <a:ln>
            <a:noFill/>
          </a:ln>
        </p:spPr>
        <p:txBody>
          <a:bodyPr wrap="square" lIns="0" tIns="0" rIns="0" bIns="0" rtlCol="0" anchor="t">
            <a:noAutofit/>
          </a:bodyPr>
          <a:lstStyle/>
          <a:p>
            <a:pPr marL="0" indent="0" algn="l">
              <a:buNone/>
            </a:pPr>
            <a:r>
              <a:rPr lang="de-DE" sz="650" b="1" kern="0" dirty="0">
                <a:solidFill>
                  <a:srgbClr val="63707A"/>
                </a:solidFill>
                <a:latin typeface="Segoe UI" pitchFamily="34" charset="0"/>
                <a:ea typeface="Segoe UI" pitchFamily="34" charset="-122"/>
                <a:cs typeface="Segoe UI" pitchFamily="34" charset="-120"/>
              </a:rPr>
              <a:t>Date</a:t>
            </a:r>
          </a:p>
        </p:txBody>
      </p:sp>
      <p:sp>
        <p:nvSpPr>
          <p:cNvPr id="118" name="Date Value"/>
          <p:cNvSpPr txBox="1"/>
          <p:nvPr/>
        </p:nvSpPr>
        <p:spPr>
          <a:xfrm>
            <a:off x="10872216" y="548640"/>
            <a:ext cx="914400" cy="182880"/>
          </a:xfrm>
          <a:prstGeom prst="rect">
            <a:avLst/>
          </a:prstGeom>
          <a:noFill/>
          <a:ln>
            <a:noFill/>
          </a:ln>
        </p:spPr>
        <p:txBody>
          <a:bodyPr wrap="square" lIns="0" tIns="0" rIns="0" bIns="0" rtlCol="0" anchor="t">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CW 40 / 2026</a:t>
            </a:r>
          </a:p>
        </p:txBody>
      </p:sp>
      <p:sp>
        <p:nvSpPr>
          <p:cNvPr id="119" name="Col Quality Card"/>
          <p:cNvSpPr/>
          <p:nvPr/>
        </p:nvSpPr>
        <p:spPr>
          <a:xfrm>
            <a:off x="1517904"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20" name="Col Quality Name"/>
          <p:cNvSpPr txBox="1"/>
          <p:nvPr/>
        </p:nvSpPr>
        <p:spPr>
          <a:xfrm>
            <a:off x="1600200"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Quality</a:t>
            </a:r>
          </a:p>
        </p:txBody>
      </p:sp>
      <p:sp>
        <p:nvSpPr>
          <p:cNvPr id="121" name="Col Quality Abbr"/>
          <p:cNvSpPr txBox="1"/>
          <p:nvPr/>
        </p:nvSpPr>
        <p:spPr>
          <a:xfrm>
            <a:off x="1600200"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quality-cx</a:t>
            </a:r>
          </a:p>
        </p:txBody>
      </p:sp>
      <p:sp>
        <p:nvSpPr>
          <p:cNvPr id="122" name="Col Quality Status Bar"/>
          <p:cNvSpPr/>
          <p:nvPr/>
        </p:nvSpPr>
        <p:spPr>
          <a:xfrm>
            <a:off x="1600200" y="1837944"/>
            <a:ext cx="1252728" cy="36576"/>
          </a:xfrm>
          <a:prstGeom prst="roundRect">
            <a:avLst>
              <a:gd name="adj" fmla="val 50000"/>
            </a:avLst>
          </a:prstGeom>
          <a:solidFill>
            <a:srgbClr val="E64343"/>
          </a:solidFill>
          <a:ln>
            <a:noFill/>
          </a:ln>
          <a:effectLst/>
        </p:spPr>
        <p:txBody>
          <a:bodyPr rtlCol="0" anchor="ctr"/>
          <a:lstStyle/>
          <a:p>
            <a:endParaRPr lang="de-DE"/>
          </a:p>
        </p:txBody>
      </p:sp>
      <p:sp>
        <p:nvSpPr>
          <p:cNvPr id="123" name="Col Battery Passport Card"/>
          <p:cNvSpPr/>
          <p:nvPr/>
        </p:nvSpPr>
        <p:spPr>
          <a:xfrm>
            <a:off x="3008376"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24" name="Col Battery Passport Name"/>
          <p:cNvSpPr txBox="1"/>
          <p:nvPr/>
        </p:nvSpPr>
        <p:spPr>
          <a:xfrm>
            <a:off x="3090672"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Battery Passport</a:t>
            </a:r>
          </a:p>
        </p:txBody>
      </p:sp>
      <p:sp>
        <p:nvSpPr>
          <p:cNvPr id="125" name="Col Battery Passport Abbr"/>
          <p:cNvSpPr txBox="1"/>
          <p:nvPr/>
        </p:nvSpPr>
        <p:spPr>
          <a:xfrm>
            <a:off x="3090672"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battpass-cx</a:t>
            </a:r>
          </a:p>
        </p:txBody>
      </p:sp>
      <p:sp>
        <p:nvSpPr>
          <p:cNvPr id="126" name="Col Battery Passport Status Bar"/>
          <p:cNvSpPr/>
          <p:nvPr/>
        </p:nvSpPr>
        <p:spPr>
          <a:xfrm>
            <a:off x="3090672" y="1837944"/>
            <a:ext cx="1252728" cy="36576"/>
          </a:xfrm>
          <a:prstGeom prst="roundRect">
            <a:avLst>
              <a:gd name="adj" fmla="val 50000"/>
            </a:avLst>
          </a:prstGeom>
          <a:solidFill>
            <a:srgbClr val="F0B135"/>
          </a:solidFill>
          <a:ln>
            <a:noFill/>
          </a:ln>
          <a:effectLst/>
        </p:spPr>
        <p:txBody>
          <a:bodyPr rtlCol="0" anchor="ctr"/>
          <a:lstStyle/>
          <a:p>
            <a:endParaRPr lang="de-DE"/>
          </a:p>
        </p:txBody>
      </p:sp>
      <p:sp>
        <p:nvSpPr>
          <p:cNvPr id="127" name="Col Product Passes Card"/>
          <p:cNvSpPr/>
          <p:nvPr/>
        </p:nvSpPr>
        <p:spPr>
          <a:xfrm>
            <a:off x="4498848"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28" name="Col Product Passes Name"/>
          <p:cNvSpPr txBox="1"/>
          <p:nvPr/>
        </p:nvSpPr>
        <p:spPr>
          <a:xfrm>
            <a:off x="4581144"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Passes</a:t>
            </a:r>
          </a:p>
        </p:txBody>
      </p:sp>
      <p:sp>
        <p:nvSpPr>
          <p:cNvPr id="129" name="Col Product Passes Abbr"/>
          <p:cNvSpPr txBox="1"/>
          <p:nvPr/>
        </p:nvSpPr>
        <p:spPr>
          <a:xfrm>
            <a:off x="4581144"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pass-cx</a:t>
            </a:r>
          </a:p>
        </p:txBody>
      </p:sp>
      <p:sp>
        <p:nvSpPr>
          <p:cNvPr id="130" name="Col Product Passes Status Bar"/>
          <p:cNvSpPr/>
          <p:nvPr/>
        </p:nvSpPr>
        <p:spPr>
          <a:xfrm>
            <a:off x="4581144" y="1837944"/>
            <a:ext cx="1252728" cy="36576"/>
          </a:xfrm>
          <a:prstGeom prst="roundRect">
            <a:avLst>
              <a:gd name="adj" fmla="val 50000"/>
            </a:avLst>
          </a:prstGeom>
          <a:solidFill>
            <a:srgbClr val="F0B135"/>
          </a:solidFill>
          <a:ln>
            <a:noFill/>
          </a:ln>
          <a:effectLst/>
        </p:spPr>
        <p:txBody>
          <a:bodyPr rtlCol="0" anchor="ctr"/>
          <a:lstStyle/>
          <a:p>
            <a:endParaRPr lang="de-DE"/>
          </a:p>
        </p:txBody>
      </p:sp>
      <p:sp>
        <p:nvSpPr>
          <p:cNvPr id="131" name="Col PURIS Card"/>
          <p:cNvSpPr/>
          <p:nvPr/>
        </p:nvSpPr>
        <p:spPr>
          <a:xfrm>
            <a:off x="5989320"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32" name="Col PURIS Name"/>
          <p:cNvSpPr txBox="1"/>
          <p:nvPr/>
        </p:nvSpPr>
        <p:spPr>
          <a:xfrm>
            <a:off x="6071616"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PURIS</a:t>
            </a:r>
          </a:p>
        </p:txBody>
      </p:sp>
      <p:sp>
        <p:nvSpPr>
          <p:cNvPr id="133" name="Col PURIS Abbr"/>
          <p:cNvSpPr txBox="1"/>
          <p:nvPr/>
        </p:nvSpPr>
        <p:spPr>
          <a:xfrm>
            <a:off x="6071616"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puris-cx</a:t>
            </a:r>
          </a:p>
        </p:txBody>
      </p:sp>
      <p:sp>
        <p:nvSpPr>
          <p:cNvPr id="134" name="Col PURIS Status Bar"/>
          <p:cNvSpPr/>
          <p:nvPr/>
        </p:nvSpPr>
        <p:spPr>
          <a:xfrm>
            <a:off x="6071616" y="1837944"/>
            <a:ext cx="1252728" cy="36576"/>
          </a:xfrm>
          <a:prstGeom prst="roundRect">
            <a:avLst>
              <a:gd name="adj" fmla="val 50000"/>
            </a:avLst>
          </a:prstGeom>
          <a:solidFill>
            <a:srgbClr val="F0B135"/>
          </a:solidFill>
          <a:ln>
            <a:noFill/>
          </a:ln>
          <a:effectLst/>
        </p:spPr>
        <p:txBody>
          <a:bodyPr rtlCol="0" anchor="ctr"/>
          <a:lstStyle/>
          <a:p>
            <a:endParaRPr lang="de-DE"/>
          </a:p>
        </p:txBody>
      </p:sp>
      <p:sp>
        <p:nvSpPr>
          <p:cNvPr id="135" name="Col Business Partner Data Mgmt Card"/>
          <p:cNvSpPr/>
          <p:nvPr/>
        </p:nvSpPr>
        <p:spPr>
          <a:xfrm>
            <a:off x="7479792"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36" name="Col Business Partner Data Mgmt Name"/>
          <p:cNvSpPr txBox="1"/>
          <p:nvPr/>
        </p:nvSpPr>
        <p:spPr>
          <a:xfrm>
            <a:off x="7562088"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Business Partner Data Mgmt</a:t>
            </a:r>
          </a:p>
        </p:txBody>
      </p:sp>
      <p:sp>
        <p:nvSpPr>
          <p:cNvPr id="137" name="Col Business Partner Data Mgmt Abbr"/>
          <p:cNvSpPr txBox="1"/>
          <p:nvPr/>
        </p:nvSpPr>
        <p:spPr>
          <a:xfrm>
            <a:off x="7562088"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bpdm-cx</a:t>
            </a:r>
          </a:p>
        </p:txBody>
      </p:sp>
      <p:sp>
        <p:nvSpPr>
          <p:cNvPr id="138" name="Col Business Partner Data Mgmt Status Bar"/>
          <p:cNvSpPr/>
          <p:nvPr/>
        </p:nvSpPr>
        <p:spPr>
          <a:xfrm>
            <a:off x="7562088" y="1837944"/>
            <a:ext cx="1252728" cy="36576"/>
          </a:xfrm>
          <a:prstGeom prst="roundRect">
            <a:avLst>
              <a:gd name="adj" fmla="val 50000"/>
            </a:avLst>
          </a:prstGeom>
          <a:solidFill>
            <a:srgbClr val="F0B135"/>
          </a:solidFill>
          <a:ln>
            <a:noFill/>
          </a:ln>
          <a:effectLst/>
        </p:spPr>
        <p:txBody>
          <a:bodyPr rtlCol="0" anchor="ctr"/>
          <a:lstStyle/>
          <a:p>
            <a:endParaRPr lang="de-DE"/>
          </a:p>
        </p:txBody>
      </p:sp>
      <p:sp>
        <p:nvSpPr>
          <p:cNvPr id="139" name="Col Certificate Management Card"/>
          <p:cNvSpPr/>
          <p:nvPr/>
        </p:nvSpPr>
        <p:spPr>
          <a:xfrm>
            <a:off x="8970264"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40" name="Col Certificate Management Name"/>
          <p:cNvSpPr txBox="1"/>
          <p:nvPr/>
        </p:nvSpPr>
        <p:spPr>
          <a:xfrm>
            <a:off x="9052560"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Certificate Management</a:t>
            </a:r>
          </a:p>
        </p:txBody>
      </p:sp>
      <p:sp>
        <p:nvSpPr>
          <p:cNvPr id="141" name="Col Certificate Management Abbr"/>
          <p:cNvSpPr txBox="1"/>
          <p:nvPr/>
        </p:nvSpPr>
        <p:spPr>
          <a:xfrm>
            <a:off x="9052560"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cert-mgmt</a:t>
            </a:r>
          </a:p>
        </p:txBody>
      </p:sp>
      <p:sp>
        <p:nvSpPr>
          <p:cNvPr id="142" name="Col Certificate Management Status Bar"/>
          <p:cNvSpPr/>
          <p:nvPr/>
        </p:nvSpPr>
        <p:spPr>
          <a:xfrm>
            <a:off x="9052560" y="1837944"/>
            <a:ext cx="1252728" cy="36576"/>
          </a:xfrm>
          <a:prstGeom prst="roundRect">
            <a:avLst>
              <a:gd name="adj" fmla="val 50000"/>
            </a:avLst>
          </a:prstGeom>
          <a:solidFill>
            <a:srgbClr val="F0B135"/>
          </a:solidFill>
          <a:ln>
            <a:noFill/>
          </a:ln>
          <a:effectLst/>
        </p:spPr>
        <p:txBody>
          <a:bodyPr rtlCol="0" anchor="ctr"/>
          <a:lstStyle/>
          <a:p>
            <a:endParaRPr lang="de-DE"/>
          </a:p>
        </p:txBody>
      </p:sp>
      <p:sp>
        <p:nvSpPr>
          <p:cNvPr id="143" name="Col Product Carbon Footprint Card"/>
          <p:cNvSpPr/>
          <p:nvPr/>
        </p:nvSpPr>
        <p:spPr>
          <a:xfrm>
            <a:off x="10460736" y="978408"/>
            <a:ext cx="1417320" cy="5641848"/>
          </a:xfrm>
          <a:prstGeom prst="roundRect">
            <a:avLst>
              <a:gd name="adj" fmla="val 4500"/>
            </a:avLst>
          </a:prstGeom>
          <a:solidFill>
            <a:srgbClr val="FFFFFF"/>
          </a:solidFill>
          <a:ln w="6350">
            <a:solidFill>
              <a:srgbClr val="E2E8EC"/>
            </a:solidFill>
          </a:ln>
          <a:effectLst/>
        </p:spPr>
        <p:txBody>
          <a:bodyPr rtlCol="0" anchor="ctr"/>
          <a:lstStyle/>
          <a:p>
            <a:endParaRPr lang="de-DE"/>
          </a:p>
        </p:txBody>
      </p:sp>
      <p:sp>
        <p:nvSpPr>
          <p:cNvPr id="144" name="Col Product Carbon Footprint Name"/>
          <p:cNvSpPr txBox="1"/>
          <p:nvPr/>
        </p:nvSpPr>
        <p:spPr>
          <a:xfrm>
            <a:off x="10543032" y="1069848"/>
            <a:ext cx="1252728" cy="530352"/>
          </a:xfrm>
          <a:prstGeom prst="rect">
            <a:avLst/>
          </a:prstGeom>
          <a:noFill/>
          <a:ln>
            <a:noFill/>
          </a:ln>
        </p:spPr>
        <p:txBody>
          <a:bodyPr wrap="square" lIns="0" tIns="0" rIns="0" bIns="0" rtlCol="0" anchor="b">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Carbon Footprint</a:t>
            </a:r>
          </a:p>
        </p:txBody>
      </p:sp>
      <p:sp>
        <p:nvSpPr>
          <p:cNvPr id="145" name="Col Product Carbon Footprint Abbr"/>
          <p:cNvSpPr txBox="1"/>
          <p:nvPr/>
        </p:nvSpPr>
        <p:spPr>
          <a:xfrm>
            <a:off x="10543032" y="1627632"/>
            <a:ext cx="1252728" cy="146304"/>
          </a:xfrm>
          <a:prstGeom prst="rect">
            <a:avLst/>
          </a:prstGeom>
          <a:noFill/>
          <a:ln>
            <a:noFill/>
          </a:ln>
        </p:spPr>
        <p:txBody>
          <a:bodyPr wrap="square" lIns="0" tIns="0" rIns="0" bIns="0" rtlCol="0" anchor="ctr">
            <a:noAutofit/>
          </a:bodyPr>
          <a:lstStyle/>
          <a:p>
            <a:pPr marL="0" indent="0" algn="l">
              <a:buNone/>
            </a:pPr>
            <a:r>
              <a:rPr lang="de-DE" sz="800" b="0" kern="0" dirty="0">
                <a:solidFill>
                  <a:srgbClr val="63707A"/>
                </a:solidFill>
                <a:latin typeface="Segoe UI" pitchFamily="34" charset="0"/>
                <a:ea typeface="Segoe UI" pitchFamily="34" charset="-122"/>
                <a:cs typeface="Segoe UI" pitchFamily="34" charset="-120"/>
              </a:rPr>
              <a:t>pcf-cx</a:t>
            </a:r>
          </a:p>
        </p:txBody>
      </p:sp>
      <p:sp>
        <p:nvSpPr>
          <p:cNvPr id="146" name="Col Product Carbon Footprint Status Bar"/>
          <p:cNvSpPr/>
          <p:nvPr/>
        </p:nvSpPr>
        <p:spPr>
          <a:xfrm>
            <a:off x="10543032" y="1837944"/>
            <a:ext cx="1252728" cy="36576"/>
          </a:xfrm>
          <a:prstGeom prst="roundRect">
            <a:avLst>
              <a:gd name="adj" fmla="val 50000"/>
            </a:avLst>
          </a:prstGeom>
          <a:solidFill>
            <a:srgbClr val="53BE70"/>
          </a:solidFill>
          <a:ln>
            <a:noFill/>
          </a:ln>
          <a:effectLst/>
        </p:spPr>
        <p:txBody>
          <a:bodyPr rtlCol="0" anchor="ctr"/>
          <a:lstStyle/>
          <a:p>
            <a:endParaRPr lang="de-DE"/>
          </a:p>
        </p:txBody>
      </p:sp>
      <p:sp>
        <p:nvSpPr>
          <p:cNvPr id="147" name="Row Label Overall status"/>
          <p:cNvSpPr txBox="1"/>
          <p:nvPr/>
        </p:nvSpPr>
        <p:spPr>
          <a:xfrm>
            <a:off x="365760" y="2011680"/>
            <a:ext cx="1078992" cy="215537"/>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Overall status</a:t>
            </a:r>
          </a:p>
        </p:txBody>
      </p:sp>
      <p:sp>
        <p:nvSpPr>
          <p:cNvPr id="148" name="Quality Status Pill"/>
          <p:cNvSpPr/>
          <p:nvPr/>
        </p:nvSpPr>
        <p:spPr>
          <a:xfrm>
            <a:off x="1600200" y="1984248"/>
            <a:ext cx="1252728" cy="201168"/>
          </a:xfrm>
          <a:prstGeom prst="roundRect">
            <a:avLst>
              <a:gd name="adj" fmla="val 50000"/>
            </a:avLst>
          </a:prstGeom>
          <a:solidFill>
            <a:srgbClr val="E64343"/>
          </a:solidFill>
          <a:ln>
            <a:noFill/>
          </a:ln>
          <a:effectLst/>
        </p:spPr>
        <p:txBody>
          <a:bodyPr rtlCol="0" anchor="ctr"/>
          <a:lstStyle/>
          <a:p>
            <a:endParaRPr lang="de-DE"/>
          </a:p>
        </p:txBody>
      </p:sp>
      <p:sp>
        <p:nvSpPr>
          <p:cNvPr id="149" name="Quality Status Dot"/>
          <p:cNvSpPr/>
          <p:nvPr/>
        </p:nvSpPr>
        <p:spPr>
          <a:xfrm>
            <a:off x="1673352" y="2064715"/>
            <a:ext cx="41148" cy="41148"/>
          </a:xfrm>
          <a:prstGeom prst="ellipse">
            <a:avLst/>
          </a:prstGeom>
          <a:solidFill>
            <a:srgbClr val="FFFFFF"/>
          </a:solidFill>
          <a:ln>
            <a:noFill/>
          </a:ln>
          <a:effectLst/>
        </p:spPr>
        <p:txBody>
          <a:bodyPr rtlCol="0" anchor="ctr"/>
          <a:lstStyle/>
          <a:p>
            <a:endParaRPr lang="de-DE"/>
          </a:p>
        </p:txBody>
      </p:sp>
      <p:sp>
        <p:nvSpPr>
          <p:cNvPr id="150" name="Quality Status Text"/>
          <p:cNvSpPr txBox="1"/>
          <p:nvPr/>
        </p:nvSpPr>
        <p:spPr>
          <a:xfrm>
            <a:off x="1755648" y="1984248"/>
            <a:ext cx="1069848"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1" name="Battery Passport Status Pill"/>
          <p:cNvSpPr/>
          <p:nvPr/>
        </p:nvSpPr>
        <p:spPr>
          <a:xfrm>
            <a:off x="3090672" y="1984248"/>
            <a:ext cx="1161288" cy="201168"/>
          </a:xfrm>
          <a:prstGeom prst="roundRect">
            <a:avLst>
              <a:gd name="adj" fmla="val 50000"/>
            </a:avLst>
          </a:prstGeom>
          <a:solidFill>
            <a:srgbClr val="F0B135"/>
          </a:solidFill>
          <a:ln>
            <a:noFill/>
          </a:ln>
          <a:effectLst/>
        </p:spPr>
        <p:txBody>
          <a:bodyPr rtlCol="0" anchor="ctr"/>
          <a:lstStyle/>
          <a:p>
            <a:endParaRPr lang="de-DE"/>
          </a:p>
        </p:txBody>
      </p:sp>
      <p:sp>
        <p:nvSpPr>
          <p:cNvPr id="152" name="Battery Passport Status Dot"/>
          <p:cNvSpPr/>
          <p:nvPr/>
        </p:nvSpPr>
        <p:spPr>
          <a:xfrm>
            <a:off x="3163824" y="2064715"/>
            <a:ext cx="41148" cy="41148"/>
          </a:xfrm>
          <a:prstGeom prst="ellipse">
            <a:avLst/>
          </a:prstGeom>
          <a:solidFill>
            <a:srgbClr val="FFFFFF"/>
          </a:solidFill>
          <a:ln>
            <a:noFill/>
          </a:ln>
          <a:effectLst/>
        </p:spPr>
        <p:txBody>
          <a:bodyPr rtlCol="0" anchor="ctr"/>
          <a:lstStyle/>
          <a:p>
            <a:endParaRPr lang="de-DE"/>
          </a:p>
        </p:txBody>
      </p:sp>
      <p:sp>
        <p:nvSpPr>
          <p:cNvPr id="153" name="Battery Passport Status Text"/>
          <p:cNvSpPr txBox="1"/>
          <p:nvPr/>
        </p:nvSpPr>
        <p:spPr>
          <a:xfrm>
            <a:off x="3246120" y="1984248"/>
            <a:ext cx="978408"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4" name="Product Passes Status Pill"/>
          <p:cNvSpPr/>
          <p:nvPr/>
        </p:nvSpPr>
        <p:spPr>
          <a:xfrm>
            <a:off x="4581144" y="1984248"/>
            <a:ext cx="1161288" cy="201168"/>
          </a:xfrm>
          <a:prstGeom prst="roundRect">
            <a:avLst>
              <a:gd name="adj" fmla="val 50000"/>
            </a:avLst>
          </a:prstGeom>
          <a:solidFill>
            <a:srgbClr val="F0B135"/>
          </a:solidFill>
          <a:ln>
            <a:noFill/>
          </a:ln>
          <a:effectLst/>
        </p:spPr>
        <p:txBody>
          <a:bodyPr rtlCol="0" anchor="ctr"/>
          <a:lstStyle/>
          <a:p>
            <a:endParaRPr lang="de-DE"/>
          </a:p>
        </p:txBody>
      </p:sp>
      <p:sp>
        <p:nvSpPr>
          <p:cNvPr id="155" name="Product Passes Status Dot"/>
          <p:cNvSpPr/>
          <p:nvPr/>
        </p:nvSpPr>
        <p:spPr>
          <a:xfrm>
            <a:off x="4654296" y="2064715"/>
            <a:ext cx="41148" cy="41148"/>
          </a:xfrm>
          <a:prstGeom prst="ellipse">
            <a:avLst/>
          </a:prstGeom>
          <a:solidFill>
            <a:srgbClr val="FFFFFF"/>
          </a:solidFill>
          <a:ln>
            <a:noFill/>
          </a:ln>
          <a:effectLst/>
        </p:spPr>
        <p:txBody>
          <a:bodyPr rtlCol="0" anchor="ctr"/>
          <a:lstStyle/>
          <a:p>
            <a:endParaRPr lang="de-DE"/>
          </a:p>
        </p:txBody>
      </p:sp>
      <p:sp>
        <p:nvSpPr>
          <p:cNvPr id="156" name="Product Passes Status Text"/>
          <p:cNvSpPr txBox="1"/>
          <p:nvPr/>
        </p:nvSpPr>
        <p:spPr>
          <a:xfrm>
            <a:off x="4736592" y="1984248"/>
            <a:ext cx="978408"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7" name="PURIS Status Pill"/>
          <p:cNvSpPr/>
          <p:nvPr/>
        </p:nvSpPr>
        <p:spPr>
          <a:xfrm>
            <a:off x="6071616" y="1984248"/>
            <a:ext cx="1161288" cy="201168"/>
          </a:xfrm>
          <a:prstGeom prst="roundRect">
            <a:avLst>
              <a:gd name="adj" fmla="val 50000"/>
            </a:avLst>
          </a:prstGeom>
          <a:solidFill>
            <a:srgbClr val="F0B135"/>
          </a:solidFill>
          <a:ln>
            <a:noFill/>
          </a:ln>
          <a:effectLst/>
        </p:spPr>
        <p:txBody>
          <a:bodyPr rtlCol="0" anchor="ctr"/>
          <a:lstStyle/>
          <a:p>
            <a:endParaRPr lang="de-DE"/>
          </a:p>
        </p:txBody>
      </p:sp>
      <p:sp>
        <p:nvSpPr>
          <p:cNvPr id="158" name="PURIS Status Dot"/>
          <p:cNvSpPr/>
          <p:nvPr/>
        </p:nvSpPr>
        <p:spPr>
          <a:xfrm>
            <a:off x="6144768" y="2064715"/>
            <a:ext cx="41148" cy="41148"/>
          </a:xfrm>
          <a:prstGeom prst="ellipse">
            <a:avLst/>
          </a:prstGeom>
          <a:solidFill>
            <a:srgbClr val="FFFFFF"/>
          </a:solidFill>
          <a:ln>
            <a:noFill/>
          </a:ln>
          <a:effectLst/>
        </p:spPr>
        <p:txBody>
          <a:bodyPr rtlCol="0" anchor="ctr"/>
          <a:lstStyle/>
          <a:p>
            <a:endParaRPr lang="de-DE"/>
          </a:p>
        </p:txBody>
      </p:sp>
      <p:sp>
        <p:nvSpPr>
          <p:cNvPr id="159" name="PURIS Status Text"/>
          <p:cNvSpPr txBox="1"/>
          <p:nvPr/>
        </p:nvSpPr>
        <p:spPr>
          <a:xfrm>
            <a:off x="6227064" y="1984248"/>
            <a:ext cx="978408"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Business Partner Data Mgmt Status Pill"/>
          <p:cNvSpPr/>
          <p:nvPr/>
        </p:nvSpPr>
        <p:spPr>
          <a:xfrm>
            <a:off x="7562088" y="1984248"/>
            <a:ext cx="1161288" cy="201168"/>
          </a:xfrm>
          <a:prstGeom prst="roundRect">
            <a:avLst>
              <a:gd name="adj" fmla="val 50000"/>
            </a:avLst>
          </a:prstGeom>
          <a:solidFill>
            <a:srgbClr val="F0B135"/>
          </a:solidFill>
          <a:ln>
            <a:noFill/>
          </a:ln>
          <a:effectLst/>
        </p:spPr>
        <p:txBody>
          <a:bodyPr rtlCol="0" anchor="ctr"/>
          <a:lstStyle/>
          <a:p>
            <a:endParaRPr lang="de-DE"/>
          </a:p>
        </p:txBody>
      </p:sp>
      <p:sp>
        <p:nvSpPr>
          <p:cNvPr id="161" name="Business Partner Data Mgmt Status Dot"/>
          <p:cNvSpPr/>
          <p:nvPr/>
        </p:nvSpPr>
        <p:spPr>
          <a:xfrm>
            <a:off x="7635240" y="2064715"/>
            <a:ext cx="41148" cy="41148"/>
          </a:xfrm>
          <a:prstGeom prst="ellipse">
            <a:avLst/>
          </a:prstGeom>
          <a:solidFill>
            <a:srgbClr val="FFFFFF"/>
          </a:solidFill>
          <a:ln>
            <a:noFill/>
          </a:ln>
          <a:effectLst/>
        </p:spPr>
        <p:txBody>
          <a:bodyPr rtlCol="0" anchor="ctr"/>
          <a:lstStyle/>
          <a:p>
            <a:endParaRPr lang="de-DE"/>
          </a:p>
        </p:txBody>
      </p:sp>
      <p:sp>
        <p:nvSpPr>
          <p:cNvPr id="162" name="Business Partner Data Mgmt Status Text"/>
          <p:cNvSpPr txBox="1"/>
          <p:nvPr/>
        </p:nvSpPr>
        <p:spPr>
          <a:xfrm>
            <a:off x="7717536" y="1984248"/>
            <a:ext cx="978408"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3" name="Certificate Management Status Pill"/>
          <p:cNvSpPr/>
          <p:nvPr/>
        </p:nvSpPr>
        <p:spPr>
          <a:xfrm>
            <a:off x="9052560" y="1984248"/>
            <a:ext cx="1161288" cy="201168"/>
          </a:xfrm>
          <a:prstGeom prst="roundRect">
            <a:avLst>
              <a:gd name="adj" fmla="val 50000"/>
            </a:avLst>
          </a:prstGeom>
          <a:solidFill>
            <a:srgbClr val="F0B135"/>
          </a:solidFill>
          <a:ln>
            <a:noFill/>
          </a:ln>
          <a:effectLst/>
        </p:spPr>
        <p:txBody>
          <a:bodyPr rtlCol="0" anchor="ctr"/>
          <a:lstStyle/>
          <a:p>
            <a:endParaRPr lang="de-DE"/>
          </a:p>
        </p:txBody>
      </p:sp>
      <p:sp>
        <p:nvSpPr>
          <p:cNvPr id="164" name="Certificate Management Status Dot"/>
          <p:cNvSpPr/>
          <p:nvPr/>
        </p:nvSpPr>
        <p:spPr>
          <a:xfrm>
            <a:off x="9125712" y="2064715"/>
            <a:ext cx="41148" cy="41148"/>
          </a:xfrm>
          <a:prstGeom prst="ellipse">
            <a:avLst/>
          </a:prstGeom>
          <a:solidFill>
            <a:srgbClr val="FFFFFF"/>
          </a:solidFill>
          <a:ln>
            <a:noFill/>
          </a:ln>
          <a:effectLst/>
        </p:spPr>
        <p:txBody>
          <a:bodyPr rtlCol="0" anchor="ctr"/>
          <a:lstStyle/>
          <a:p>
            <a:endParaRPr lang="de-DE"/>
          </a:p>
        </p:txBody>
      </p:sp>
      <p:sp>
        <p:nvSpPr>
          <p:cNvPr id="165" name="Certificate Management Status Text"/>
          <p:cNvSpPr txBox="1"/>
          <p:nvPr/>
        </p:nvSpPr>
        <p:spPr>
          <a:xfrm>
            <a:off x="9208008" y="1984248"/>
            <a:ext cx="978408"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6" name="Product Carbon Footprint Status Pill"/>
          <p:cNvSpPr/>
          <p:nvPr/>
        </p:nvSpPr>
        <p:spPr>
          <a:xfrm>
            <a:off x="10543032" y="1984248"/>
            <a:ext cx="726034" cy="201168"/>
          </a:xfrm>
          <a:prstGeom prst="roundRect">
            <a:avLst>
              <a:gd name="adj" fmla="val 50000"/>
            </a:avLst>
          </a:prstGeom>
          <a:solidFill>
            <a:srgbClr val="53BE70"/>
          </a:solidFill>
          <a:ln>
            <a:noFill/>
          </a:ln>
          <a:effectLst/>
        </p:spPr>
        <p:txBody>
          <a:bodyPr rtlCol="0" anchor="ctr"/>
          <a:lstStyle/>
          <a:p>
            <a:endParaRPr lang="de-DE"/>
          </a:p>
        </p:txBody>
      </p:sp>
      <p:sp>
        <p:nvSpPr>
          <p:cNvPr id="167" name="Product Carbon Footprint Status Dot"/>
          <p:cNvSpPr/>
          <p:nvPr/>
        </p:nvSpPr>
        <p:spPr>
          <a:xfrm>
            <a:off x="10616184" y="2064715"/>
            <a:ext cx="41148" cy="41148"/>
          </a:xfrm>
          <a:prstGeom prst="ellipse">
            <a:avLst/>
          </a:prstGeom>
          <a:solidFill>
            <a:srgbClr val="FFFFFF"/>
          </a:solidFill>
          <a:ln>
            <a:noFill/>
          </a:ln>
          <a:effectLst/>
        </p:spPr>
        <p:txBody>
          <a:bodyPr rtlCol="0" anchor="ctr"/>
          <a:lstStyle/>
          <a:p>
            <a:endParaRPr lang="de-DE"/>
          </a:p>
        </p:txBody>
      </p:sp>
      <p:sp>
        <p:nvSpPr>
          <p:cNvPr id="168" name="Product Carbon Footprint Status Text"/>
          <p:cNvSpPr txBox="1"/>
          <p:nvPr/>
        </p:nvSpPr>
        <p:spPr>
          <a:xfrm>
            <a:off x="10698480" y="1984248"/>
            <a:ext cx="543154" cy="201168"/>
          </a:xfrm>
          <a:prstGeom prst="rect">
            <a:avLst/>
          </a:prstGeom>
          <a:noFill/>
          <a:ln>
            <a:noFill/>
          </a:ln>
        </p:spPr>
        <p:txBody>
          <a:bodyPr wrap="none" lIns="0" tIns="0" rIns="0" bIns="0" rtlCol="0" anchor="ctr">
            <a:noAutofit/>
          </a:bodyPr>
          <a:lstStyle/>
          <a:p>
            <a:pPr marL="0" indent="0" algn="l">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69" name="Row Label Phase"/>
          <p:cNvSpPr txBox="1"/>
          <p:nvPr/>
        </p:nvSpPr>
        <p:spPr>
          <a:xfrm>
            <a:off x="365760" y="2373521"/>
            <a:ext cx="1078992" cy="17896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Phase</a:t>
            </a:r>
          </a:p>
        </p:txBody>
      </p:sp>
      <p:sp>
        <p:nvSpPr>
          <p:cNvPr id="170" name="Quality Row Divider Phase"/>
          <p:cNvSpPr/>
          <p:nvPr/>
        </p:nvSpPr>
        <p:spPr>
          <a:xfrm>
            <a:off x="1600200" y="2272937"/>
            <a:ext cx="1252728" cy="6401"/>
          </a:xfrm>
          <a:prstGeom prst="rect">
            <a:avLst/>
          </a:prstGeom>
          <a:solidFill>
            <a:srgbClr val="E2E8EC"/>
          </a:solidFill>
          <a:ln>
            <a:noFill/>
          </a:ln>
          <a:effectLst/>
        </p:spPr>
        <p:txBody>
          <a:bodyPr rtlCol="0" anchor="ctr"/>
          <a:lstStyle/>
          <a:p>
            <a:endParaRPr lang="de-DE"/>
          </a:p>
        </p:txBody>
      </p:sp>
      <p:sp>
        <p:nvSpPr>
          <p:cNvPr id="171" name="Quality Phase"/>
          <p:cNvSpPr txBox="1"/>
          <p:nvPr/>
        </p:nvSpPr>
        <p:spPr>
          <a:xfrm>
            <a:off x="1600200"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2" name="Battery Passport Row Divider Phase"/>
          <p:cNvSpPr/>
          <p:nvPr/>
        </p:nvSpPr>
        <p:spPr>
          <a:xfrm>
            <a:off x="3090672" y="2272937"/>
            <a:ext cx="1252728" cy="6401"/>
          </a:xfrm>
          <a:prstGeom prst="rect">
            <a:avLst/>
          </a:prstGeom>
          <a:solidFill>
            <a:srgbClr val="E2E8EC"/>
          </a:solidFill>
          <a:ln>
            <a:noFill/>
          </a:ln>
          <a:effectLst/>
        </p:spPr>
        <p:txBody>
          <a:bodyPr rtlCol="0" anchor="ctr"/>
          <a:lstStyle/>
          <a:p>
            <a:endParaRPr lang="de-DE"/>
          </a:p>
        </p:txBody>
      </p:sp>
      <p:sp>
        <p:nvSpPr>
          <p:cNvPr id="173" name="Battery Passport Phase"/>
          <p:cNvSpPr txBox="1"/>
          <p:nvPr/>
        </p:nvSpPr>
        <p:spPr>
          <a:xfrm>
            <a:off x="3090672"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Pilot</a:t>
            </a:r>
          </a:p>
        </p:txBody>
      </p:sp>
      <p:sp>
        <p:nvSpPr>
          <p:cNvPr id="174" name="Product Passes Row Divider Phase"/>
          <p:cNvSpPr/>
          <p:nvPr/>
        </p:nvSpPr>
        <p:spPr>
          <a:xfrm>
            <a:off x="4581144" y="2272937"/>
            <a:ext cx="1252728" cy="6401"/>
          </a:xfrm>
          <a:prstGeom prst="rect">
            <a:avLst/>
          </a:prstGeom>
          <a:solidFill>
            <a:srgbClr val="E2E8EC"/>
          </a:solidFill>
          <a:ln>
            <a:noFill/>
          </a:ln>
          <a:effectLst/>
        </p:spPr>
        <p:txBody>
          <a:bodyPr rtlCol="0" anchor="ctr"/>
          <a:lstStyle/>
          <a:p>
            <a:endParaRPr lang="de-DE"/>
          </a:p>
        </p:txBody>
      </p:sp>
      <p:sp>
        <p:nvSpPr>
          <p:cNvPr id="175" name="Product Passes Phase"/>
          <p:cNvSpPr txBox="1"/>
          <p:nvPr/>
        </p:nvSpPr>
        <p:spPr>
          <a:xfrm>
            <a:off x="4581144"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Definition</a:t>
            </a:r>
          </a:p>
        </p:txBody>
      </p:sp>
      <p:sp>
        <p:nvSpPr>
          <p:cNvPr id="176" name="PURIS Row Divider Phase"/>
          <p:cNvSpPr/>
          <p:nvPr/>
        </p:nvSpPr>
        <p:spPr>
          <a:xfrm>
            <a:off x="6071616" y="2272937"/>
            <a:ext cx="1252728" cy="6401"/>
          </a:xfrm>
          <a:prstGeom prst="rect">
            <a:avLst/>
          </a:prstGeom>
          <a:solidFill>
            <a:srgbClr val="E2E8EC"/>
          </a:solidFill>
          <a:ln>
            <a:noFill/>
          </a:ln>
          <a:effectLst/>
        </p:spPr>
        <p:txBody>
          <a:bodyPr rtlCol="0" anchor="ctr"/>
          <a:lstStyle/>
          <a:p>
            <a:endParaRPr lang="de-DE"/>
          </a:p>
        </p:txBody>
      </p:sp>
      <p:sp>
        <p:nvSpPr>
          <p:cNvPr id="177" name="PURIS Phase"/>
          <p:cNvSpPr txBox="1"/>
          <p:nvPr/>
        </p:nvSpPr>
        <p:spPr>
          <a:xfrm>
            <a:off x="6071616"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8" name="Business Partner Data Mgmt Row Divider Phase"/>
          <p:cNvSpPr/>
          <p:nvPr/>
        </p:nvSpPr>
        <p:spPr>
          <a:xfrm>
            <a:off x="7562088" y="2272937"/>
            <a:ext cx="1252728" cy="6401"/>
          </a:xfrm>
          <a:prstGeom prst="rect">
            <a:avLst/>
          </a:prstGeom>
          <a:solidFill>
            <a:srgbClr val="E2E8EC"/>
          </a:solidFill>
          <a:ln>
            <a:noFill/>
          </a:ln>
          <a:effectLst/>
        </p:spPr>
        <p:txBody>
          <a:bodyPr rtlCol="0" anchor="ctr"/>
          <a:lstStyle/>
          <a:p>
            <a:endParaRPr lang="de-DE"/>
          </a:p>
        </p:txBody>
      </p:sp>
      <p:sp>
        <p:nvSpPr>
          <p:cNvPr id="179" name="Business Partner Data Mgmt Phase"/>
          <p:cNvSpPr txBox="1"/>
          <p:nvPr/>
        </p:nvSpPr>
        <p:spPr>
          <a:xfrm>
            <a:off x="7562088"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Implementation</a:t>
            </a:r>
          </a:p>
        </p:txBody>
      </p:sp>
      <p:sp>
        <p:nvSpPr>
          <p:cNvPr id="180" name="Certificate Management Row Divider Phase"/>
          <p:cNvSpPr/>
          <p:nvPr/>
        </p:nvSpPr>
        <p:spPr>
          <a:xfrm>
            <a:off x="9052560" y="2272937"/>
            <a:ext cx="1252728" cy="6401"/>
          </a:xfrm>
          <a:prstGeom prst="rect">
            <a:avLst/>
          </a:prstGeom>
          <a:solidFill>
            <a:srgbClr val="E2E8EC"/>
          </a:solidFill>
          <a:ln>
            <a:noFill/>
          </a:ln>
          <a:effectLst/>
        </p:spPr>
        <p:txBody>
          <a:bodyPr rtlCol="0" anchor="ctr"/>
          <a:lstStyle/>
          <a:p>
            <a:endParaRPr lang="de-DE"/>
          </a:p>
        </p:txBody>
      </p:sp>
      <p:sp>
        <p:nvSpPr>
          <p:cNvPr id="181" name="Certificate Management Phase"/>
          <p:cNvSpPr txBox="1"/>
          <p:nvPr/>
        </p:nvSpPr>
        <p:spPr>
          <a:xfrm>
            <a:off x="9052560"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Scaling</a:t>
            </a:r>
          </a:p>
        </p:txBody>
      </p:sp>
      <p:sp>
        <p:nvSpPr>
          <p:cNvPr id="182" name="Product Carbon Footprint Row Divider Phase"/>
          <p:cNvSpPr/>
          <p:nvPr/>
        </p:nvSpPr>
        <p:spPr>
          <a:xfrm>
            <a:off x="10543032" y="2272937"/>
            <a:ext cx="1252728" cy="6401"/>
          </a:xfrm>
          <a:prstGeom prst="rect">
            <a:avLst/>
          </a:prstGeom>
          <a:solidFill>
            <a:srgbClr val="E2E8EC"/>
          </a:solidFill>
          <a:ln>
            <a:noFill/>
          </a:ln>
          <a:effectLst/>
        </p:spPr>
        <p:txBody>
          <a:bodyPr rtlCol="0" anchor="ctr"/>
          <a:lstStyle/>
          <a:p>
            <a:endParaRPr lang="de-DE"/>
          </a:p>
        </p:txBody>
      </p:sp>
      <p:sp>
        <p:nvSpPr>
          <p:cNvPr id="183" name="Product Carbon Footprint Phase"/>
          <p:cNvSpPr txBox="1"/>
          <p:nvPr/>
        </p:nvSpPr>
        <p:spPr>
          <a:xfrm>
            <a:off x="10543032" y="2373521"/>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4" name="Row Label Next milestone"/>
          <p:cNvSpPr txBox="1"/>
          <p:nvPr/>
        </p:nvSpPr>
        <p:spPr>
          <a:xfrm>
            <a:off x="365760" y="2698786"/>
            <a:ext cx="1078992" cy="61787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Next milestone</a:t>
            </a:r>
          </a:p>
        </p:txBody>
      </p:sp>
      <p:sp>
        <p:nvSpPr>
          <p:cNvPr id="185" name="Quality Row Divider Next milestone"/>
          <p:cNvSpPr/>
          <p:nvPr/>
        </p:nvSpPr>
        <p:spPr>
          <a:xfrm>
            <a:off x="1600200" y="2598202"/>
            <a:ext cx="1252728" cy="6401"/>
          </a:xfrm>
          <a:prstGeom prst="rect">
            <a:avLst/>
          </a:prstGeom>
          <a:solidFill>
            <a:srgbClr val="E2E8EC"/>
          </a:solidFill>
          <a:ln>
            <a:noFill/>
          </a:ln>
          <a:effectLst/>
        </p:spPr>
        <p:txBody>
          <a:bodyPr rtlCol="0" anchor="ctr"/>
          <a:lstStyle/>
          <a:p>
            <a:endParaRPr lang="de-DE"/>
          </a:p>
        </p:txBody>
      </p:sp>
      <p:sp>
        <p:nvSpPr>
          <p:cNvPr id="186" name="Quality Milestone Dot"/>
          <p:cNvSpPr/>
          <p:nvPr/>
        </p:nvSpPr>
        <p:spPr>
          <a:xfrm>
            <a:off x="1600200" y="2735362"/>
            <a:ext cx="82296" cy="82296"/>
          </a:xfrm>
          <a:prstGeom prst="ellipse">
            <a:avLst/>
          </a:prstGeom>
          <a:solidFill>
            <a:srgbClr val="F0B135"/>
          </a:solidFill>
          <a:ln>
            <a:noFill/>
          </a:ln>
          <a:effectLst/>
        </p:spPr>
        <p:txBody>
          <a:bodyPr rtlCol="0" anchor="ctr"/>
          <a:lstStyle/>
          <a:p>
            <a:endParaRPr lang="de-DE"/>
          </a:p>
        </p:txBody>
      </p:sp>
      <p:sp>
        <p:nvSpPr>
          <p:cNvPr id="187" name="Quality Milestone"/>
          <p:cNvSpPr txBox="1"/>
          <p:nvPr/>
        </p:nvSpPr>
        <p:spPr>
          <a:xfrm>
            <a:off x="1737360"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Domain expertise aligned</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30 Sep 2026</a:t>
            </a:r>
          </a:p>
        </p:txBody>
      </p:sp>
      <p:sp>
        <p:nvSpPr>
          <p:cNvPr id="188" name="Battery Passport Row Divider Next milestone"/>
          <p:cNvSpPr/>
          <p:nvPr/>
        </p:nvSpPr>
        <p:spPr>
          <a:xfrm>
            <a:off x="3090672" y="2598202"/>
            <a:ext cx="1252728" cy="6401"/>
          </a:xfrm>
          <a:prstGeom prst="rect">
            <a:avLst/>
          </a:prstGeom>
          <a:solidFill>
            <a:srgbClr val="E2E8EC"/>
          </a:solidFill>
          <a:ln>
            <a:noFill/>
          </a:ln>
          <a:effectLst/>
        </p:spPr>
        <p:txBody>
          <a:bodyPr rtlCol="0" anchor="ctr"/>
          <a:lstStyle/>
          <a:p>
            <a:endParaRPr lang="de-DE"/>
          </a:p>
        </p:txBody>
      </p:sp>
      <p:sp>
        <p:nvSpPr>
          <p:cNvPr id="189" name="Battery Passport Milestone Dot"/>
          <p:cNvSpPr/>
          <p:nvPr/>
        </p:nvSpPr>
        <p:spPr>
          <a:xfrm>
            <a:off x="3090672" y="2735362"/>
            <a:ext cx="82296" cy="82296"/>
          </a:xfrm>
          <a:prstGeom prst="ellipse">
            <a:avLst/>
          </a:prstGeom>
          <a:solidFill>
            <a:srgbClr val="53BE70"/>
          </a:solidFill>
          <a:ln>
            <a:noFill/>
          </a:ln>
          <a:effectLst/>
        </p:spPr>
        <p:txBody>
          <a:bodyPr rtlCol="0" anchor="ctr"/>
          <a:lstStyle/>
          <a:p>
            <a:endParaRPr lang="de-DE"/>
          </a:p>
        </p:txBody>
      </p:sp>
      <p:sp>
        <p:nvSpPr>
          <p:cNvPr id="190" name="Battery Passport Milestone"/>
          <p:cNvSpPr txBox="1"/>
          <p:nvPr/>
        </p:nvSpPr>
        <p:spPr>
          <a:xfrm>
            <a:off x="3227832"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 requirements done</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31 Oct 2026</a:t>
            </a:r>
          </a:p>
        </p:txBody>
      </p:sp>
      <p:sp>
        <p:nvSpPr>
          <p:cNvPr id="191" name="Product Passes Row Divider Next milestone"/>
          <p:cNvSpPr/>
          <p:nvPr/>
        </p:nvSpPr>
        <p:spPr>
          <a:xfrm>
            <a:off x="4581144" y="2598202"/>
            <a:ext cx="1252728" cy="6401"/>
          </a:xfrm>
          <a:prstGeom prst="rect">
            <a:avLst/>
          </a:prstGeom>
          <a:solidFill>
            <a:srgbClr val="E2E8EC"/>
          </a:solidFill>
          <a:ln>
            <a:noFill/>
          </a:ln>
          <a:effectLst/>
        </p:spPr>
        <p:txBody>
          <a:bodyPr rtlCol="0" anchor="ctr"/>
          <a:lstStyle/>
          <a:p>
            <a:endParaRPr lang="de-DE"/>
          </a:p>
        </p:txBody>
      </p:sp>
      <p:sp>
        <p:nvSpPr>
          <p:cNvPr id="192" name="Product Passes Milestone Dot"/>
          <p:cNvSpPr/>
          <p:nvPr/>
        </p:nvSpPr>
        <p:spPr>
          <a:xfrm>
            <a:off x="4581144" y="2735362"/>
            <a:ext cx="82296" cy="82296"/>
          </a:xfrm>
          <a:prstGeom prst="ellipse">
            <a:avLst/>
          </a:prstGeom>
          <a:solidFill>
            <a:srgbClr val="F0B135"/>
          </a:solidFill>
          <a:ln>
            <a:noFill/>
          </a:ln>
          <a:effectLst/>
        </p:spPr>
        <p:txBody>
          <a:bodyPr rtlCol="0" anchor="ctr"/>
          <a:lstStyle/>
          <a:p>
            <a:endParaRPr lang="de-DE"/>
          </a:p>
        </p:txBody>
      </p:sp>
      <p:sp>
        <p:nvSpPr>
          <p:cNvPr id="193" name="Product Passes Milestone"/>
          <p:cNvSpPr txBox="1"/>
          <p:nvPr/>
        </p:nvSpPr>
        <p:spPr>
          <a:xfrm>
            <a:off x="4718304"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Klärung &amp; Prio Produktpässe</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31 Oct 2026</a:t>
            </a:r>
          </a:p>
        </p:txBody>
      </p:sp>
      <p:sp>
        <p:nvSpPr>
          <p:cNvPr id="194" name="PURIS Row Divider Next milestone"/>
          <p:cNvSpPr/>
          <p:nvPr/>
        </p:nvSpPr>
        <p:spPr>
          <a:xfrm>
            <a:off x="6071616" y="2598202"/>
            <a:ext cx="1252728" cy="6401"/>
          </a:xfrm>
          <a:prstGeom prst="rect">
            <a:avLst/>
          </a:prstGeom>
          <a:solidFill>
            <a:srgbClr val="E2E8EC"/>
          </a:solidFill>
          <a:ln>
            <a:noFill/>
          </a:ln>
          <a:effectLst/>
        </p:spPr>
        <p:txBody>
          <a:bodyPr rtlCol="0" anchor="ctr"/>
          <a:lstStyle/>
          <a:p>
            <a:endParaRPr lang="de-DE"/>
          </a:p>
        </p:txBody>
      </p:sp>
      <p:sp>
        <p:nvSpPr>
          <p:cNvPr id="195" name="PURIS Milestone Dot"/>
          <p:cNvSpPr/>
          <p:nvPr/>
        </p:nvSpPr>
        <p:spPr>
          <a:xfrm>
            <a:off x="6071616" y="2735362"/>
            <a:ext cx="82296" cy="82296"/>
          </a:xfrm>
          <a:prstGeom prst="ellipse">
            <a:avLst/>
          </a:prstGeom>
          <a:solidFill>
            <a:srgbClr val="F0B135"/>
          </a:solidFill>
          <a:ln>
            <a:noFill/>
          </a:ln>
          <a:effectLst/>
        </p:spPr>
        <p:txBody>
          <a:bodyPr rtlCol="0" anchor="ctr"/>
          <a:lstStyle/>
          <a:p>
            <a:endParaRPr lang="de-DE"/>
          </a:p>
        </p:txBody>
      </p:sp>
      <p:sp>
        <p:nvSpPr>
          <p:cNvPr id="196" name="PURIS Milestone"/>
          <p:cNvSpPr txBox="1"/>
          <p:nvPr/>
        </p:nvSpPr>
        <p:spPr>
          <a:xfrm>
            <a:off x="6208776"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Plan for existing challenges</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9 Oct 2026</a:t>
            </a:r>
          </a:p>
        </p:txBody>
      </p:sp>
      <p:sp>
        <p:nvSpPr>
          <p:cNvPr id="197" name="Business Partner Data Mgmt Row Divider Next milestone"/>
          <p:cNvSpPr/>
          <p:nvPr/>
        </p:nvSpPr>
        <p:spPr>
          <a:xfrm>
            <a:off x="7562088" y="2598202"/>
            <a:ext cx="1252728" cy="6401"/>
          </a:xfrm>
          <a:prstGeom prst="rect">
            <a:avLst/>
          </a:prstGeom>
          <a:solidFill>
            <a:srgbClr val="E2E8EC"/>
          </a:solidFill>
          <a:ln>
            <a:noFill/>
          </a:ln>
          <a:effectLst/>
        </p:spPr>
        <p:txBody>
          <a:bodyPr rtlCol="0" anchor="ctr"/>
          <a:lstStyle/>
          <a:p>
            <a:endParaRPr lang="de-DE"/>
          </a:p>
        </p:txBody>
      </p:sp>
      <p:sp>
        <p:nvSpPr>
          <p:cNvPr id="198" name="Business Partner Data Mgmt Milestone Dot"/>
          <p:cNvSpPr/>
          <p:nvPr/>
        </p:nvSpPr>
        <p:spPr>
          <a:xfrm>
            <a:off x="7562088" y="2735362"/>
            <a:ext cx="82296" cy="82296"/>
          </a:xfrm>
          <a:prstGeom prst="ellipse">
            <a:avLst/>
          </a:prstGeom>
          <a:solidFill>
            <a:srgbClr val="53BE70"/>
          </a:solidFill>
          <a:ln>
            <a:noFill/>
          </a:ln>
          <a:effectLst/>
        </p:spPr>
        <p:txBody>
          <a:bodyPr rtlCol="0" anchor="ctr"/>
          <a:lstStyle/>
          <a:p>
            <a:endParaRPr lang="de-DE"/>
          </a:p>
        </p:txBody>
      </p:sp>
      <p:sp>
        <p:nvSpPr>
          <p:cNvPr id="199" name="Business Partner Data Mgmt Milestone"/>
          <p:cNvSpPr txBox="1"/>
          <p:nvPr/>
        </p:nvSpPr>
        <p:spPr>
          <a:xfrm>
            <a:off x="7699248"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Define BPDM target picture</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31 Oct 2026</a:t>
            </a:r>
          </a:p>
        </p:txBody>
      </p:sp>
      <p:sp>
        <p:nvSpPr>
          <p:cNvPr id="200" name="Certificate Management Row Divider Next milestone"/>
          <p:cNvSpPr/>
          <p:nvPr/>
        </p:nvSpPr>
        <p:spPr>
          <a:xfrm>
            <a:off x="9052560" y="2598202"/>
            <a:ext cx="1252728" cy="6401"/>
          </a:xfrm>
          <a:prstGeom prst="rect">
            <a:avLst/>
          </a:prstGeom>
          <a:solidFill>
            <a:srgbClr val="E2E8EC"/>
          </a:solidFill>
          <a:ln>
            <a:noFill/>
          </a:ln>
          <a:effectLst/>
        </p:spPr>
        <p:txBody>
          <a:bodyPr rtlCol="0" anchor="ctr"/>
          <a:lstStyle/>
          <a:p>
            <a:endParaRPr lang="de-DE"/>
          </a:p>
        </p:txBody>
      </p:sp>
      <p:sp>
        <p:nvSpPr>
          <p:cNvPr id="201" name="Certificate Management Milestone Dot"/>
          <p:cNvSpPr/>
          <p:nvPr/>
        </p:nvSpPr>
        <p:spPr>
          <a:xfrm>
            <a:off x="9052560" y="2735362"/>
            <a:ext cx="82296" cy="82296"/>
          </a:xfrm>
          <a:prstGeom prst="ellipse">
            <a:avLst/>
          </a:prstGeom>
          <a:solidFill>
            <a:srgbClr val="53BE70"/>
          </a:solidFill>
          <a:ln>
            <a:noFill/>
          </a:ln>
          <a:effectLst/>
        </p:spPr>
        <p:txBody>
          <a:bodyPr rtlCol="0" anchor="ctr"/>
          <a:lstStyle/>
          <a:p>
            <a:endParaRPr lang="de-DE"/>
          </a:p>
        </p:txBody>
      </p:sp>
      <p:sp>
        <p:nvSpPr>
          <p:cNvPr id="202" name="Certificate Management Milestone"/>
          <p:cNvSpPr txBox="1"/>
          <p:nvPr/>
        </p:nvSpPr>
        <p:spPr>
          <a:xfrm>
            <a:off x="9189720"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Official CX CCM release</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Sep 2026</a:t>
            </a:r>
          </a:p>
        </p:txBody>
      </p:sp>
      <p:sp>
        <p:nvSpPr>
          <p:cNvPr id="203" name="Product Carbon Footprint Row Divider Next milestone"/>
          <p:cNvSpPr/>
          <p:nvPr/>
        </p:nvSpPr>
        <p:spPr>
          <a:xfrm>
            <a:off x="10543032" y="2598202"/>
            <a:ext cx="1252728" cy="6401"/>
          </a:xfrm>
          <a:prstGeom prst="rect">
            <a:avLst/>
          </a:prstGeom>
          <a:solidFill>
            <a:srgbClr val="E2E8EC"/>
          </a:solidFill>
          <a:ln>
            <a:noFill/>
          </a:ln>
          <a:effectLst/>
        </p:spPr>
        <p:txBody>
          <a:bodyPr rtlCol="0" anchor="ctr"/>
          <a:lstStyle/>
          <a:p>
            <a:endParaRPr lang="de-DE"/>
          </a:p>
        </p:txBody>
      </p:sp>
      <p:sp>
        <p:nvSpPr>
          <p:cNvPr id="204" name="Product Carbon Footprint Milestone Dot"/>
          <p:cNvSpPr/>
          <p:nvPr/>
        </p:nvSpPr>
        <p:spPr>
          <a:xfrm>
            <a:off x="10543032" y="2735362"/>
            <a:ext cx="82296" cy="82296"/>
          </a:xfrm>
          <a:prstGeom prst="ellipse">
            <a:avLst/>
          </a:prstGeom>
          <a:solidFill>
            <a:srgbClr val="53BE70"/>
          </a:solidFill>
          <a:ln>
            <a:noFill/>
          </a:ln>
          <a:effectLst/>
        </p:spPr>
        <p:txBody>
          <a:bodyPr rtlCol="0" anchor="ctr"/>
          <a:lstStyle/>
          <a:p>
            <a:endParaRPr lang="de-DE"/>
          </a:p>
        </p:txBody>
      </p:sp>
      <p:sp>
        <p:nvSpPr>
          <p:cNvPr id="205" name="Product Carbon Footprint Milestone"/>
          <p:cNvSpPr txBox="1"/>
          <p:nvPr/>
        </p:nvSpPr>
        <p:spPr>
          <a:xfrm>
            <a:off x="10680192" y="2698786"/>
            <a:ext cx="1115568" cy="63616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 pilot 1</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15 Oct 2026</a:t>
            </a:r>
          </a:p>
        </p:txBody>
      </p:sp>
      <p:sp>
        <p:nvSpPr>
          <p:cNvPr id="206" name="Row Label Dimensions"/>
          <p:cNvSpPr txBox="1"/>
          <p:nvPr/>
        </p:nvSpPr>
        <p:spPr>
          <a:xfrm>
            <a:off x="365760" y="3462963"/>
            <a:ext cx="1078992" cy="98363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Dimensions</a:t>
            </a:r>
          </a:p>
        </p:txBody>
      </p:sp>
      <p:sp>
        <p:nvSpPr>
          <p:cNvPr id="207" name="Quality Row Divider Dimensions"/>
          <p:cNvSpPr/>
          <p:nvPr/>
        </p:nvSpPr>
        <p:spPr>
          <a:xfrm>
            <a:off x="1600200" y="3362379"/>
            <a:ext cx="1252728" cy="6401"/>
          </a:xfrm>
          <a:prstGeom prst="rect">
            <a:avLst/>
          </a:prstGeom>
          <a:solidFill>
            <a:srgbClr val="E2E8EC"/>
          </a:solidFill>
          <a:ln>
            <a:noFill/>
          </a:ln>
          <a:effectLst/>
        </p:spPr>
        <p:txBody>
          <a:bodyPr rtlCol="0" anchor="ctr"/>
          <a:lstStyle/>
          <a:p>
            <a:endParaRPr lang="de-DE"/>
          </a:p>
        </p:txBody>
      </p:sp>
      <p:sp>
        <p:nvSpPr>
          <p:cNvPr id="208" name="Quality Dim Dot External · CX Association"/>
          <p:cNvSpPr/>
          <p:nvPr/>
        </p:nvSpPr>
        <p:spPr>
          <a:xfrm>
            <a:off x="1600200" y="3499539"/>
            <a:ext cx="82296" cy="82296"/>
          </a:xfrm>
          <a:prstGeom prst="ellipse">
            <a:avLst/>
          </a:prstGeom>
          <a:solidFill>
            <a:srgbClr val="53BE70"/>
          </a:solidFill>
          <a:ln>
            <a:noFill/>
          </a:ln>
          <a:effectLst/>
        </p:spPr>
        <p:txBody>
          <a:bodyPr rtlCol="0" anchor="ctr"/>
          <a:lstStyle/>
          <a:p>
            <a:endParaRPr lang="de-DE"/>
          </a:p>
        </p:txBody>
      </p:sp>
      <p:sp>
        <p:nvSpPr>
          <p:cNvPr id="209" name="Quality Dim External · CX Association"/>
          <p:cNvSpPr txBox="1"/>
          <p:nvPr/>
        </p:nvSpPr>
        <p:spPr>
          <a:xfrm>
            <a:off x="1737360"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10" name="Quality Dim Dot Business"/>
          <p:cNvSpPr/>
          <p:nvPr/>
        </p:nvSpPr>
        <p:spPr>
          <a:xfrm>
            <a:off x="1600200" y="3819579"/>
            <a:ext cx="82296" cy="82296"/>
          </a:xfrm>
          <a:prstGeom prst="ellipse">
            <a:avLst/>
          </a:prstGeom>
          <a:solidFill>
            <a:srgbClr val="F0B135"/>
          </a:solidFill>
          <a:ln>
            <a:noFill/>
          </a:ln>
          <a:effectLst/>
        </p:spPr>
        <p:txBody>
          <a:bodyPr rtlCol="0" anchor="ctr"/>
          <a:lstStyle/>
          <a:p>
            <a:endParaRPr lang="de-DE"/>
          </a:p>
        </p:txBody>
      </p:sp>
      <p:sp>
        <p:nvSpPr>
          <p:cNvPr id="211" name="Quality Dim Business"/>
          <p:cNvSpPr txBox="1"/>
          <p:nvPr/>
        </p:nvSpPr>
        <p:spPr>
          <a:xfrm>
            <a:off x="1737360"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12" name="Quality Dim Dot Data Provisioning"/>
          <p:cNvSpPr/>
          <p:nvPr/>
        </p:nvSpPr>
        <p:spPr>
          <a:xfrm>
            <a:off x="1600200" y="3988743"/>
            <a:ext cx="82296" cy="82296"/>
          </a:xfrm>
          <a:prstGeom prst="ellipse">
            <a:avLst/>
          </a:prstGeom>
          <a:solidFill>
            <a:srgbClr val="F0B135"/>
          </a:solidFill>
          <a:ln>
            <a:noFill/>
          </a:ln>
          <a:effectLst/>
        </p:spPr>
        <p:txBody>
          <a:bodyPr rtlCol="0" anchor="ctr"/>
          <a:lstStyle/>
          <a:p>
            <a:endParaRPr lang="de-DE"/>
          </a:p>
        </p:txBody>
      </p:sp>
      <p:sp>
        <p:nvSpPr>
          <p:cNvPr id="213" name="Quality Dim Data Provisioning"/>
          <p:cNvSpPr txBox="1"/>
          <p:nvPr/>
        </p:nvSpPr>
        <p:spPr>
          <a:xfrm>
            <a:off x="1737360"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14" name="Quality Dim Dot Technical"/>
          <p:cNvSpPr/>
          <p:nvPr/>
        </p:nvSpPr>
        <p:spPr>
          <a:xfrm>
            <a:off x="1600200" y="4157907"/>
            <a:ext cx="82296" cy="82296"/>
          </a:xfrm>
          <a:prstGeom prst="ellipse">
            <a:avLst/>
          </a:prstGeom>
          <a:solidFill>
            <a:srgbClr val="F0B135"/>
          </a:solidFill>
          <a:ln>
            <a:noFill/>
          </a:ln>
          <a:effectLst/>
        </p:spPr>
        <p:txBody>
          <a:bodyPr rtlCol="0" anchor="ctr"/>
          <a:lstStyle/>
          <a:p>
            <a:endParaRPr lang="de-DE"/>
          </a:p>
        </p:txBody>
      </p:sp>
      <p:sp>
        <p:nvSpPr>
          <p:cNvPr id="215" name="Quality Dim Technical"/>
          <p:cNvSpPr txBox="1"/>
          <p:nvPr/>
        </p:nvSpPr>
        <p:spPr>
          <a:xfrm>
            <a:off x="1737360"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16" name="Quality Dim Dot Supplier Activation"/>
          <p:cNvSpPr/>
          <p:nvPr/>
        </p:nvSpPr>
        <p:spPr>
          <a:xfrm>
            <a:off x="1600200" y="4327071"/>
            <a:ext cx="82296" cy="82296"/>
          </a:xfrm>
          <a:prstGeom prst="ellipse">
            <a:avLst/>
          </a:prstGeom>
          <a:solidFill>
            <a:srgbClr val="F0B135"/>
          </a:solidFill>
          <a:ln>
            <a:noFill/>
          </a:ln>
          <a:effectLst/>
        </p:spPr>
        <p:txBody>
          <a:bodyPr rtlCol="0" anchor="ctr"/>
          <a:lstStyle/>
          <a:p>
            <a:endParaRPr lang="de-DE"/>
          </a:p>
        </p:txBody>
      </p:sp>
      <p:sp>
        <p:nvSpPr>
          <p:cNvPr id="217" name="Quality Dim Supplier Activation"/>
          <p:cNvSpPr txBox="1"/>
          <p:nvPr/>
        </p:nvSpPr>
        <p:spPr>
          <a:xfrm>
            <a:off x="1737360"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18" name="Battery Passport Row Divider Dimensions"/>
          <p:cNvSpPr/>
          <p:nvPr/>
        </p:nvSpPr>
        <p:spPr>
          <a:xfrm>
            <a:off x="3090672" y="3362379"/>
            <a:ext cx="1252728" cy="6401"/>
          </a:xfrm>
          <a:prstGeom prst="rect">
            <a:avLst/>
          </a:prstGeom>
          <a:solidFill>
            <a:srgbClr val="E2E8EC"/>
          </a:solidFill>
          <a:ln>
            <a:noFill/>
          </a:ln>
          <a:effectLst/>
        </p:spPr>
        <p:txBody>
          <a:bodyPr rtlCol="0" anchor="ctr"/>
          <a:lstStyle/>
          <a:p>
            <a:endParaRPr lang="de-DE"/>
          </a:p>
        </p:txBody>
      </p:sp>
      <p:sp>
        <p:nvSpPr>
          <p:cNvPr id="219" name="Battery Passport Dim Dot External · CX Association"/>
          <p:cNvSpPr/>
          <p:nvPr/>
        </p:nvSpPr>
        <p:spPr>
          <a:xfrm>
            <a:off x="3090672" y="3499539"/>
            <a:ext cx="82296" cy="82296"/>
          </a:xfrm>
          <a:prstGeom prst="ellipse">
            <a:avLst/>
          </a:prstGeom>
          <a:solidFill>
            <a:srgbClr val="F0B135"/>
          </a:solidFill>
          <a:ln>
            <a:noFill/>
          </a:ln>
          <a:effectLst/>
        </p:spPr>
        <p:txBody>
          <a:bodyPr rtlCol="0" anchor="ctr"/>
          <a:lstStyle/>
          <a:p>
            <a:endParaRPr lang="de-DE"/>
          </a:p>
        </p:txBody>
      </p:sp>
      <p:sp>
        <p:nvSpPr>
          <p:cNvPr id="220" name="Battery Passport Dim External · CX Association"/>
          <p:cNvSpPr txBox="1"/>
          <p:nvPr/>
        </p:nvSpPr>
        <p:spPr>
          <a:xfrm>
            <a:off x="3227832"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21" name="Battery Passport Dim Dot Business"/>
          <p:cNvSpPr/>
          <p:nvPr/>
        </p:nvSpPr>
        <p:spPr>
          <a:xfrm>
            <a:off x="3090672" y="3819579"/>
            <a:ext cx="82296" cy="82296"/>
          </a:xfrm>
          <a:prstGeom prst="ellipse">
            <a:avLst/>
          </a:prstGeom>
          <a:solidFill>
            <a:srgbClr val="F0B135"/>
          </a:solidFill>
          <a:ln>
            <a:noFill/>
          </a:ln>
          <a:effectLst/>
        </p:spPr>
        <p:txBody>
          <a:bodyPr rtlCol="0" anchor="ctr"/>
          <a:lstStyle/>
          <a:p>
            <a:endParaRPr lang="de-DE"/>
          </a:p>
        </p:txBody>
      </p:sp>
      <p:sp>
        <p:nvSpPr>
          <p:cNvPr id="222" name="Battery Passport Dim Business"/>
          <p:cNvSpPr txBox="1"/>
          <p:nvPr/>
        </p:nvSpPr>
        <p:spPr>
          <a:xfrm>
            <a:off x="3227832"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23" name="Battery Passport Dim Dot Data Provisioning"/>
          <p:cNvSpPr/>
          <p:nvPr/>
        </p:nvSpPr>
        <p:spPr>
          <a:xfrm>
            <a:off x="3090672" y="3988743"/>
            <a:ext cx="82296" cy="82296"/>
          </a:xfrm>
          <a:prstGeom prst="ellipse">
            <a:avLst/>
          </a:prstGeom>
          <a:solidFill>
            <a:srgbClr val="53BE70"/>
          </a:solidFill>
          <a:ln>
            <a:noFill/>
          </a:ln>
          <a:effectLst/>
        </p:spPr>
        <p:txBody>
          <a:bodyPr rtlCol="0" anchor="ctr"/>
          <a:lstStyle/>
          <a:p>
            <a:endParaRPr lang="de-DE"/>
          </a:p>
        </p:txBody>
      </p:sp>
      <p:sp>
        <p:nvSpPr>
          <p:cNvPr id="224" name="Battery Passport Dim Data Provisioning"/>
          <p:cNvSpPr txBox="1"/>
          <p:nvPr/>
        </p:nvSpPr>
        <p:spPr>
          <a:xfrm>
            <a:off x="3227832"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25" name="Battery Passport Dim Dot Technical"/>
          <p:cNvSpPr/>
          <p:nvPr/>
        </p:nvSpPr>
        <p:spPr>
          <a:xfrm>
            <a:off x="3090672" y="4157907"/>
            <a:ext cx="82296" cy="82296"/>
          </a:xfrm>
          <a:prstGeom prst="ellipse">
            <a:avLst/>
          </a:prstGeom>
          <a:solidFill>
            <a:srgbClr val="53BE70"/>
          </a:solidFill>
          <a:ln>
            <a:noFill/>
          </a:ln>
          <a:effectLst/>
        </p:spPr>
        <p:txBody>
          <a:bodyPr rtlCol="0" anchor="ctr"/>
          <a:lstStyle/>
          <a:p>
            <a:endParaRPr lang="de-DE"/>
          </a:p>
        </p:txBody>
      </p:sp>
      <p:sp>
        <p:nvSpPr>
          <p:cNvPr id="226" name="Battery Passport Dim Technical"/>
          <p:cNvSpPr txBox="1"/>
          <p:nvPr/>
        </p:nvSpPr>
        <p:spPr>
          <a:xfrm>
            <a:off x="3227832"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27" name="Battery Passport Dim Dot Supplier Activation"/>
          <p:cNvSpPr/>
          <p:nvPr/>
        </p:nvSpPr>
        <p:spPr>
          <a:xfrm>
            <a:off x="3090672" y="4327071"/>
            <a:ext cx="82296" cy="82296"/>
          </a:xfrm>
          <a:prstGeom prst="ellipse">
            <a:avLst/>
          </a:prstGeom>
          <a:solidFill>
            <a:srgbClr val="53BE70"/>
          </a:solidFill>
          <a:ln>
            <a:noFill/>
          </a:ln>
          <a:effectLst/>
        </p:spPr>
        <p:txBody>
          <a:bodyPr rtlCol="0" anchor="ctr"/>
          <a:lstStyle/>
          <a:p>
            <a:endParaRPr lang="de-DE"/>
          </a:p>
        </p:txBody>
      </p:sp>
      <p:sp>
        <p:nvSpPr>
          <p:cNvPr id="228" name="Battery Passport Dim Supplier Activation"/>
          <p:cNvSpPr txBox="1"/>
          <p:nvPr/>
        </p:nvSpPr>
        <p:spPr>
          <a:xfrm>
            <a:off x="3227832"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29" name="Product Passes Row Divider Dimensions"/>
          <p:cNvSpPr/>
          <p:nvPr/>
        </p:nvSpPr>
        <p:spPr>
          <a:xfrm>
            <a:off x="4581144" y="3362379"/>
            <a:ext cx="1252728" cy="6401"/>
          </a:xfrm>
          <a:prstGeom prst="rect">
            <a:avLst/>
          </a:prstGeom>
          <a:solidFill>
            <a:srgbClr val="E2E8EC"/>
          </a:solidFill>
          <a:ln>
            <a:noFill/>
          </a:ln>
          <a:effectLst/>
        </p:spPr>
        <p:txBody>
          <a:bodyPr rtlCol="0" anchor="ctr"/>
          <a:lstStyle/>
          <a:p>
            <a:endParaRPr lang="de-DE"/>
          </a:p>
        </p:txBody>
      </p:sp>
      <p:sp>
        <p:nvSpPr>
          <p:cNvPr id="230" name="Product Passes Dim Dot External · CX Association"/>
          <p:cNvSpPr/>
          <p:nvPr/>
        </p:nvSpPr>
        <p:spPr>
          <a:xfrm>
            <a:off x="4581144" y="3499539"/>
            <a:ext cx="82296" cy="82296"/>
          </a:xfrm>
          <a:prstGeom prst="ellipse">
            <a:avLst/>
          </a:prstGeom>
          <a:solidFill>
            <a:srgbClr val="F0B135"/>
          </a:solidFill>
          <a:ln>
            <a:noFill/>
          </a:ln>
          <a:effectLst/>
        </p:spPr>
        <p:txBody>
          <a:bodyPr rtlCol="0" anchor="ctr"/>
          <a:lstStyle/>
          <a:p>
            <a:endParaRPr lang="de-DE"/>
          </a:p>
        </p:txBody>
      </p:sp>
      <p:sp>
        <p:nvSpPr>
          <p:cNvPr id="231" name="Product Passes Dim External · CX Association"/>
          <p:cNvSpPr txBox="1"/>
          <p:nvPr/>
        </p:nvSpPr>
        <p:spPr>
          <a:xfrm>
            <a:off x="4718304"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32" name="Product Passes Dim Dot Business"/>
          <p:cNvSpPr/>
          <p:nvPr/>
        </p:nvSpPr>
        <p:spPr>
          <a:xfrm>
            <a:off x="4581144" y="3819579"/>
            <a:ext cx="82296" cy="82296"/>
          </a:xfrm>
          <a:prstGeom prst="ellipse">
            <a:avLst/>
          </a:prstGeom>
          <a:solidFill>
            <a:srgbClr val="F0B135"/>
          </a:solidFill>
          <a:ln>
            <a:noFill/>
          </a:ln>
          <a:effectLst/>
        </p:spPr>
        <p:txBody>
          <a:bodyPr rtlCol="0" anchor="ctr"/>
          <a:lstStyle/>
          <a:p>
            <a:endParaRPr lang="de-DE"/>
          </a:p>
        </p:txBody>
      </p:sp>
      <p:sp>
        <p:nvSpPr>
          <p:cNvPr id="233" name="Product Passes Dim Business"/>
          <p:cNvSpPr txBox="1"/>
          <p:nvPr/>
        </p:nvSpPr>
        <p:spPr>
          <a:xfrm>
            <a:off x="4718304"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34" name="Product Passes Dim Dot Data Provisioning"/>
          <p:cNvSpPr/>
          <p:nvPr/>
        </p:nvSpPr>
        <p:spPr>
          <a:xfrm>
            <a:off x="4581144" y="3988743"/>
            <a:ext cx="82296" cy="82296"/>
          </a:xfrm>
          <a:prstGeom prst="ellipse">
            <a:avLst/>
          </a:prstGeom>
          <a:solidFill>
            <a:srgbClr val="53BE70"/>
          </a:solidFill>
          <a:ln>
            <a:noFill/>
          </a:ln>
          <a:effectLst/>
        </p:spPr>
        <p:txBody>
          <a:bodyPr rtlCol="0" anchor="ctr"/>
          <a:lstStyle/>
          <a:p>
            <a:endParaRPr lang="de-DE"/>
          </a:p>
        </p:txBody>
      </p:sp>
      <p:sp>
        <p:nvSpPr>
          <p:cNvPr id="235" name="Product Passes Dim Data Provisioning"/>
          <p:cNvSpPr txBox="1"/>
          <p:nvPr/>
        </p:nvSpPr>
        <p:spPr>
          <a:xfrm>
            <a:off x="4718304"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36" name="Product Passes Dim Dot Technical"/>
          <p:cNvSpPr/>
          <p:nvPr/>
        </p:nvSpPr>
        <p:spPr>
          <a:xfrm>
            <a:off x="4581144" y="4157907"/>
            <a:ext cx="82296" cy="82296"/>
          </a:xfrm>
          <a:prstGeom prst="ellipse">
            <a:avLst/>
          </a:prstGeom>
          <a:solidFill>
            <a:srgbClr val="53BE70"/>
          </a:solidFill>
          <a:ln>
            <a:noFill/>
          </a:ln>
          <a:effectLst/>
        </p:spPr>
        <p:txBody>
          <a:bodyPr rtlCol="0" anchor="ctr"/>
          <a:lstStyle/>
          <a:p>
            <a:endParaRPr lang="de-DE"/>
          </a:p>
        </p:txBody>
      </p:sp>
      <p:sp>
        <p:nvSpPr>
          <p:cNvPr id="237" name="Product Passes Dim Technical"/>
          <p:cNvSpPr txBox="1"/>
          <p:nvPr/>
        </p:nvSpPr>
        <p:spPr>
          <a:xfrm>
            <a:off x="4718304"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38" name="Product Passes Dim Dot Supplier Activation"/>
          <p:cNvSpPr/>
          <p:nvPr/>
        </p:nvSpPr>
        <p:spPr>
          <a:xfrm>
            <a:off x="4581144" y="4327071"/>
            <a:ext cx="82296" cy="82296"/>
          </a:xfrm>
          <a:prstGeom prst="ellipse">
            <a:avLst/>
          </a:prstGeom>
          <a:solidFill>
            <a:srgbClr val="53BE70"/>
          </a:solidFill>
          <a:ln>
            <a:noFill/>
          </a:ln>
          <a:effectLst/>
        </p:spPr>
        <p:txBody>
          <a:bodyPr rtlCol="0" anchor="ctr"/>
          <a:lstStyle/>
          <a:p>
            <a:endParaRPr lang="de-DE"/>
          </a:p>
        </p:txBody>
      </p:sp>
      <p:sp>
        <p:nvSpPr>
          <p:cNvPr id="239" name="Product Passes Dim Supplier Activation"/>
          <p:cNvSpPr txBox="1"/>
          <p:nvPr/>
        </p:nvSpPr>
        <p:spPr>
          <a:xfrm>
            <a:off x="4718304"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40" name="PURIS Row Divider Dimensions"/>
          <p:cNvSpPr/>
          <p:nvPr/>
        </p:nvSpPr>
        <p:spPr>
          <a:xfrm>
            <a:off x="6071616" y="3362379"/>
            <a:ext cx="1252728" cy="6401"/>
          </a:xfrm>
          <a:prstGeom prst="rect">
            <a:avLst/>
          </a:prstGeom>
          <a:solidFill>
            <a:srgbClr val="E2E8EC"/>
          </a:solidFill>
          <a:ln>
            <a:noFill/>
          </a:ln>
          <a:effectLst/>
        </p:spPr>
        <p:txBody>
          <a:bodyPr rtlCol="0" anchor="ctr"/>
          <a:lstStyle/>
          <a:p>
            <a:endParaRPr lang="de-DE"/>
          </a:p>
        </p:txBody>
      </p:sp>
      <p:sp>
        <p:nvSpPr>
          <p:cNvPr id="241" name="PURIS Dim Dot External · CX Association"/>
          <p:cNvSpPr/>
          <p:nvPr/>
        </p:nvSpPr>
        <p:spPr>
          <a:xfrm>
            <a:off x="6071616" y="3499539"/>
            <a:ext cx="82296" cy="82296"/>
          </a:xfrm>
          <a:prstGeom prst="ellipse">
            <a:avLst/>
          </a:prstGeom>
          <a:solidFill>
            <a:srgbClr val="53BE70"/>
          </a:solidFill>
          <a:ln>
            <a:noFill/>
          </a:ln>
          <a:effectLst/>
        </p:spPr>
        <p:txBody>
          <a:bodyPr rtlCol="0" anchor="ctr"/>
          <a:lstStyle/>
          <a:p>
            <a:endParaRPr lang="de-DE"/>
          </a:p>
        </p:txBody>
      </p:sp>
      <p:sp>
        <p:nvSpPr>
          <p:cNvPr id="242" name="PURIS Dim External · CX Association"/>
          <p:cNvSpPr txBox="1"/>
          <p:nvPr/>
        </p:nvSpPr>
        <p:spPr>
          <a:xfrm>
            <a:off x="6208776"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43" name="PURIS Dim Dot Business"/>
          <p:cNvSpPr/>
          <p:nvPr/>
        </p:nvSpPr>
        <p:spPr>
          <a:xfrm>
            <a:off x="6071616" y="3819579"/>
            <a:ext cx="82296" cy="82296"/>
          </a:xfrm>
          <a:prstGeom prst="ellipse">
            <a:avLst/>
          </a:prstGeom>
          <a:solidFill>
            <a:srgbClr val="F0B135"/>
          </a:solidFill>
          <a:ln>
            <a:noFill/>
          </a:ln>
          <a:effectLst/>
        </p:spPr>
        <p:txBody>
          <a:bodyPr rtlCol="0" anchor="ctr"/>
          <a:lstStyle/>
          <a:p>
            <a:endParaRPr lang="de-DE"/>
          </a:p>
        </p:txBody>
      </p:sp>
      <p:sp>
        <p:nvSpPr>
          <p:cNvPr id="244" name="PURIS Dim Business"/>
          <p:cNvSpPr txBox="1"/>
          <p:nvPr/>
        </p:nvSpPr>
        <p:spPr>
          <a:xfrm>
            <a:off x="6208776"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45" name="PURIS Dim Dot Data Provisioning"/>
          <p:cNvSpPr/>
          <p:nvPr/>
        </p:nvSpPr>
        <p:spPr>
          <a:xfrm>
            <a:off x="6071616" y="3988743"/>
            <a:ext cx="82296" cy="82296"/>
          </a:xfrm>
          <a:prstGeom prst="ellipse">
            <a:avLst/>
          </a:prstGeom>
          <a:solidFill>
            <a:srgbClr val="F0B135"/>
          </a:solidFill>
          <a:ln>
            <a:noFill/>
          </a:ln>
          <a:effectLst/>
        </p:spPr>
        <p:txBody>
          <a:bodyPr rtlCol="0" anchor="ctr"/>
          <a:lstStyle/>
          <a:p>
            <a:endParaRPr lang="de-DE"/>
          </a:p>
        </p:txBody>
      </p:sp>
      <p:sp>
        <p:nvSpPr>
          <p:cNvPr id="246" name="PURIS Dim Data Provisioning"/>
          <p:cNvSpPr txBox="1"/>
          <p:nvPr/>
        </p:nvSpPr>
        <p:spPr>
          <a:xfrm>
            <a:off x="6208776"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47" name="PURIS Dim Dot Technical"/>
          <p:cNvSpPr/>
          <p:nvPr/>
        </p:nvSpPr>
        <p:spPr>
          <a:xfrm>
            <a:off x="6071616" y="4157907"/>
            <a:ext cx="82296" cy="82296"/>
          </a:xfrm>
          <a:prstGeom prst="ellipse">
            <a:avLst/>
          </a:prstGeom>
          <a:solidFill>
            <a:srgbClr val="F0B135"/>
          </a:solidFill>
          <a:ln>
            <a:noFill/>
          </a:ln>
          <a:effectLst/>
        </p:spPr>
        <p:txBody>
          <a:bodyPr rtlCol="0" anchor="ctr"/>
          <a:lstStyle/>
          <a:p>
            <a:endParaRPr lang="de-DE"/>
          </a:p>
        </p:txBody>
      </p:sp>
      <p:sp>
        <p:nvSpPr>
          <p:cNvPr id="248" name="PURIS Dim Technical"/>
          <p:cNvSpPr txBox="1"/>
          <p:nvPr/>
        </p:nvSpPr>
        <p:spPr>
          <a:xfrm>
            <a:off x="6208776"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9" name="PURIS Dim Dot Supplier Activation"/>
          <p:cNvSpPr/>
          <p:nvPr/>
        </p:nvSpPr>
        <p:spPr>
          <a:xfrm>
            <a:off x="6071616" y="4327071"/>
            <a:ext cx="82296" cy="82296"/>
          </a:xfrm>
          <a:prstGeom prst="ellipse">
            <a:avLst/>
          </a:prstGeom>
          <a:solidFill>
            <a:srgbClr val="F0B135"/>
          </a:solidFill>
          <a:ln>
            <a:noFill/>
          </a:ln>
          <a:effectLst/>
        </p:spPr>
        <p:txBody>
          <a:bodyPr rtlCol="0" anchor="ctr"/>
          <a:lstStyle/>
          <a:p>
            <a:endParaRPr lang="de-DE"/>
          </a:p>
        </p:txBody>
      </p:sp>
      <p:sp>
        <p:nvSpPr>
          <p:cNvPr id="250" name="PURIS Dim Supplier Activation"/>
          <p:cNvSpPr txBox="1"/>
          <p:nvPr/>
        </p:nvSpPr>
        <p:spPr>
          <a:xfrm>
            <a:off x="6208776"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51" name="Business Partner Data Mgmt Row Divider Dimensions"/>
          <p:cNvSpPr/>
          <p:nvPr/>
        </p:nvSpPr>
        <p:spPr>
          <a:xfrm>
            <a:off x="7562088" y="3362379"/>
            <a:ext cx="1252728" cy="6401"/>
          </a:xfrm>
          <a:prstGeom prst="rect">
            <a:avLst/>
          </a:prstGeom>
          <a:solidFill>
            <a:srgbClr val="E2E8EC"/>
          </a:solidFill>
          <a:ln>
            <a:noFill/>
          </a:ln>
          <a:effectLst/>
        </p:spPr>
        <p:txBody>
          <a:bodyPr rtlCol="0" anchor="ctr"/>
          <a:lstStyle/>
          <a:p>
            <a:endParaRPr lang="de-DE"/>
          </a:p>
        </p:txBody>
      </p:sp>
      <p:sp>
        <p:nvSpPr>
          <p:cNvPr id="252" name="Business Partner Data Mgmt Dim Dot External · CX Association"/>
          <p:cNvSpPr/>
          <p:nvPr/>
        </p:nvSpPr>
        <p:spPr>
          <a:xfrm>
            <a:off x="7562088" y="3499539"/>
            <a:ext cx="82296" cy="82296"/>
          </a:xfrm>
          <a:prstGeom prst="ellipse">
            <a:avLst/>
          </a:prstGeom>
          <a:solidFill>
            <a:srgbClr val="F0B135"/>
          </a:solidFill>
          <a:ln>
            <a:noFill/>
          </a:ln>
          <a:effectLst/>
        </p:spPr>
        <p:txBody>
          <a:bodyPr rtlCol="0" anchor="ctr"/>
          <a:lstStyle/>
          <a:p>
            <a:endParaRPr lang="de-DE"/>
          </a:p>
        </p:txBody>
      </p:sp>
      <p:sp>
        <p:nvSpPr>
          <p:cNvPr id="253" name="Business Partner Data Mgmt Dim External · CX Association"/>
          <p:cNvSpPr txBox="1"/>
          <p:nvPr/>
        </p:nvSpPr>
        <p:spPr>
          <a:xfrm>
            <a:off x="7699248"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4" name="Business Partner Data Mgmt Dim Dot Business"/>
          <p:cNvSpPr/>
          <p:nvPr/>
        </p:nvSpPr>
        <p:spPr>
          <a:xfrm>
            <a:off x="7562088" y="3819579"/>
            <a:ext cx="82296" cy="82296"/>
          </a:xfrm>
          <a:prstGeom prst="ellipse">
            <a:avLst/>
          </a:prstGeom>
          <a:solidFill>
            <a:srgbClr val="F0B135"/>
          </a:solidFill>
          <a:ln>
            <a:noFill/>
          </a:ln>
          <a:effectLst/>
        </p:spPr>
        <p:txBody>
          <a:bodyPr rtlCol="0" anchor="ctr"/>
          <a:lstStyle/>
          <a:p>
            <a:endParaRPr lang="de-DE"/>
          </a:p>
        </p:txBody>
      </p:sp>
      <p:sp>
        <p:nvSpPr>
          <p:cNvPr id="255" name="Business Partner Data Mgmt Dim Business"/>
          <p:cNvSpPr txBox="1"/>
          <p:nvPr/>
        </p:nvSpPr>
        <p:spPr>
          <a:xfrm>
            <a:off x="7699248"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6" name="Business Partner Data Mgmt Dim Dot Data Provisioning"/>
          <p:cNvSpPr/>
          <p:nvPr/>
        </p:nvSpPr>
        <p:spPr>
          <a:xfrm>
            <a:off x="7562088" y="3988743"/>
            <a:ext cx="82296" cy="82296"/>
          </a:xfrm>
          <a:prstGeom prst="ellipse">
            <a:avLst/>
          </a:prstGeom>
          <a:solidFill>
            <a:srgbClr val="53BE70"/>
          </a:solidFill>
          <a:ln>
            <a:noFill/>
          </a:ln>
          <a:effectLst/>
        </p:spPr>
        <p:txBody>
          <a:bodyPr rtlCol="0" anchor="ctr"/>
          <a:lstStyle/>
          <a:p>
            <a:endParaRPr lang="de-DE"/>
          </a:p>
        </p:txBody>
      </p:sp>
      <p:sp>
        <p:nvSpPr>
          <p:cNvPr id="257" name="Business Partner Data Mgmt Dim Data Provisioning"/>
          <p:cNvSpPr txBox="1"/>
          <p:nvPr/>
        </p:nvSpPr>
        <p:spPr>
          <a:xfrm>
            <a:off x="7699248"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58" name="Business Partner Data Mgmt Dim Dot Technical"/>
          <p:cNvSpPr/>
          <p:nvPr/>
        </p:nvSpPr>
        <p:spPr>
          <a:xfrm>
            <a:off x="7562088" y="4157907"/>
            <a:ext cx="82296" cy="82296"/>
          </a:xfrm>
          <a:prstGeom prst="ellipse">
            <a:avLst/>
          </a:prstGeom>
          <a:solidFill>
            <a:srgbClr val="F0B135"/>
          </a:solidFill>
          <a:ln>
            <a:noFill/>
          </a:ln>
          <a:effectLst/>
        </p:spPr>
        <p:txBody>
          <a:bodyPr rtlCol="0" anchor="ctr"/>
          <a:lstStyle/>
          <a:p>
            <a:endParaRPr lang="de-DE"/>
          </a:p>
        </p:txBody>
      </p:sp>
      <p:sp>
        <p:nvSpPr>
          <p:cNvPr id="259" name="Business Partner Data Mgmt Dim Technical"/>
          <p:cNvSpPr txBox="1"/>
          <p:nvPr/>
        </p:nvSpPr>
        <p:spPr>
          <a:xfrm>
            <a:off x="7699248"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60" name="Business Partner Data Mgmt Dim Dot Supplier Activation"/>
          <p:cNvSpPr/>
          <p:nvPr/>
        </p:nvSpPr>
        <p:spPr>
          <a:xfrm>
            <a:off x="7562088" y="4327071"/>
            <a:ext cx="82296" cy="82296"/>
          </a:xfrm>
          <a:prstGeom prst="ellipse">
            <a:avLst/>
          </a:prstGeom>
          <a:solidFill>
            <a:srgbClr val="CFD6DB"/>
          </a:solidFill>
          <a:ln>
            <a:noFill/>
          </a:ln>
          <a:effectLst/>
        </p:spPr>
        <p:txBody>
          <a:bodyPr rtlCol="0" anchor="ctr"/>
          <a:lstStyle/>
          <a:p>
            <a:endParaRPr lang="de-DE"/>
          </a:p>
        </p:txBody>
      </p:sp>
      <p:sp>
        <p:nvSpPr>
          <p:cNvPr id="261" name="Business Partner Data Mgmt Dim Supplier Activation"/>
          <p:cNvSpPr txBox="1"/>
          <p:nvPr/>
        </p:nvSpPr>
        <p:spPr>
          <a:xfrm>
            <a:off x="7699248"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62" name="Certificate Management Row Divider Dimensions"/>
          <p:cNvSpPr/>
          <p:nvPr/>
        </p:nvSpPr>
        <p:spPr>
          <a:xfrm>
            <a:off x="9052560" y="3362379"/>
            <a:ext cx="1252728" cy="6401"/>
          </a:xfrm>
          <a:prstGeom prst="rect">
            <a:avLst/>
          </a:prstGeom>
          <a:solidFill>
            <a:srgbClr val="E2E8EC"/>
          </a:solidFill>
          <a:ln>
            <a:noFill/>
          </a:ln>
          <a:effectLst/>
        </p:spPr>
        <p:txBody>
          <a:bodyPr rtlCol="0" anchor="ctr"/>
          <a:lstStyle/>
          <a:p>
            <a:endParaRPr lang="de-DE"/>
          </a:p>
        </p:txBody>
      </p:sp>
      <p:sp>
        <p:nvSpPr>
          <p:cNvPr id="263" name="Certificate Management Dim Dot External · CX Association"/>
          <p:cNvSpPr/>
          <p:nvPr/>
        </p:nvSpPr>
        <p:spPr>
          <a:xfrm>
            <a:off x="9052560" y="3499539"/>
            <a:ext cx="82296" cy="82296"/>
          </a:xfrm>
          <a:prstGeom prst="ellipse">
            <a:avLst/>
          </a:prstGeom>
          <a:solidFill>
            <a:srgbClr val="F0B135"/>
          </a:solidFill>
          <a:ln>
            <a:noFill/>
          </a:ln>
          <a:effectLst/>
        </p:spPr>
        <p:txBody>
          <a:bodyPr rtlCol="0" anchor="ctr"/>
          <a:lstStyle/>
          <a:p>
            <a:endParaRPr lang="de-DE"/>
          </a:p>
        </p:txBody>
      </p:sp>
      <p:sp>
        <p:nvSpPr>
          <p:cNvPr id="264" name="Certificate Management Dim External · CX Association"/>
          <p:cNvSpPr txBox="1"/>
          <p:nvPr/>
        </p:nvSpPr>
        <p:spPr>
          <a:xfrm>
            <a:off x="9189720"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65" name="Certificate Management Dim Dot Business"/>
          <p:cNvSpPr/>
          <p:nvPr/>
        </p:nvSpPr>
        <p:spPr>
          <a:xfrm>
            <a:off x="9052560" y="3819579"/>
            <a:ext cx="82296" cy="82296"/>
          </a:xfrm>
          <a:prstGeom prst="ellipse">
            <a:avLst/>
          </a:prstGeom>
          <a:solidFill>
            <a:srgbClr val="53BE70"/>
          </a:solidFill>
          <a:ln>
            <a:noFill/>
          </a:ln>
          <a:effectLst/>
        </p:spPr>
        <p:txBody>
          <a:bodyPr rtlCol="0" anchor="ctr"/>
          <a:lstStyle/>
          <a:p>
            <a:endParaRPr lang="de-DE"/>
          </a:p>
        </p:txBody>
      </p:sp>
      <p:sp>
        <p:nvSpPr>
          <p:cNvPr id="266" name="Certificate Management Dim Business"/>
          <p:cNvSpPr txBox="1"/>
          <p:nvPr/>
        </p:nvSpPr>
        <p:spPr>
          <a:xfrm>
            <a:off x="9189720"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67" name="Certificate Management Dim Dot Data Provisioning"/>
          <p:cNvSpPr/>
          <p:nvPr/>
        </p:nvSpPr>
        <p:spPr>
          <a:xfrm>
            <a:off x="9052560" y="3988743"/>
            <a:ext cx="82296" cy="82296"/>
          </a:xfrm>
          <a:prstGeom prst="ellipse">
            <a:avLst/>
          </a:prstGeom>
          <a:solidFill>
            <a:srgbClr val="53BE70"/>
          </a:solidFill>
          <a:ln>
            <a:noFill/>
          </a:ln>
          <a:effectLst/>
        </p:spPr>
        <p:txBody>
          <a:bodyPr rtlCol="0" anchor="ctr"/>
          <a:lstStyle/>
          <a:p>
            <a:endParaRPr lang="de-DE"/>
          </a:p>
        </p:txBody>
      </p:sp>
      <p:sp>
        <p:nvSpPr>
          <p:cNvPr id="268" name="Certificate Management Dim Data Provisioning"/>
          <p:cNvSpPr txBox="1"/>
          <p:nvPr/>
        </p:nvSpPr>
        <p:spPr>
          <a:xfrm>
            <a:off x="9189720"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69" name="Certificate Management Dim Dot Technical"/>
          <p:cNvSpPr/>
          <p:nvPr/>
        </p:nvSpPr>
        <p:spPr>
          <a:xfrm>
            <a:off x="9052560" y="4157907"/>
            <a:ext cx="82296" cy="82296"/>
          </a:xfrm>
          <a:prstGeom prst="ellipse">
            <a:avLst/>
          </a:prstGeom>
          <a:solidFill>
            <a:srgbClr val="53BE70"/>
          </a:solidFill>
          <a:ln>
            <a:noFill/>
          </a:ln>
          <a:effectLst/>
        </p:spPr>
        <p:txBody>
          <a:bodyPr rtlCol="0" anchor="ctr"/>
          <a:lstStyle/>
          <a:p>
            <a:endParaRPr lang="de-DE"/>
          </a:p>
        </p:txBody>
      </p:sp>
      <p:sp>
        <p:nvSpPr>
          <p:cNvPr id="270" name="Certificate Management Dim Technical"/>
          <p:cNvSpPr txBox="1"/>
          <p:nvPr/>
        </p:nvSpPr>
        <p:spPr>
          <a:xfrm>
            <a:off x="9189720"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71" name="Certificate Management Dim Dot Supplier Activation"/>
          <p:cNvSpPr/>
          <p:nvPr/>
        </p:nvSpPr>
        <p:spPr>
          <a:xfrm>
            <a:off x="9052560" y="4327071"/>
            <a:ext cx="82296" cy="82296"/>
          </a:xfrm>
          <a:prstGeom prst="ellipse">
            <a:avLst/>
          </a:prstGeom>
          <a:solidFill>
            <a:srgbClr val="53BE70"/>
          </a:solidFill>
          <a:ln>
            <a:noFill/>
          </a:ln>
          <a:effectLst/>
        </p:spPr>
        <p:txBody>
          <a:bodyPr rtlCol="0" anchor="ctr"/>
          <a:lstStyle/>
          <a:p>
            <a:endParaRPr lang="de-DE"/>
          </a:p>
        </p:txBody>
      </p:sp>
      <p:sp>
        <p:nvSpPr>
          <p:cNvPr id="272" name="Certificate Management Dim Supplier Activation"/>
          <p:cNvSpPr txBox="1"/>
          <p:nvPr/>
        </p:nvSpPr>
        <p:spPr>
          <a:xfrm>
            <a:off x="9189720"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73" name="Product Carbon Footprint Row Divider Dimensions"/>
          <p:cNvSpPr/>
          <p:nvPr/>
        </p:nvSpPr>
        <p:spPr>
          <a:xfrm>
            <a:off x="10543032" y="3362379"/>
            <a:ext cx="1252728" cy="6401"/>
          </a:xfrm>
          <a:prstGeom prst="rect">
            <a:avLst/>
          </a:prstGeom>
          <a:solidFill>
            <a:srgbClr val="E2E8EC"/>
          </a:solidFill>
          <a:ln>
            <a:noFill/>
          </a:ln>
          <a:effectLst/>
        </p:spPr>
        <p:txBody>
          <a:bodyPr rtlCol="0" anchor="ctr"/>
          <a:lstStyle/>
          <a:p>
            <a:endParaRPr lang="de-DE"/>
          </a:p>
        </p:txBody>
      </p:sp>
      <p:sp>
        <p:nvSpPr>
          <p:cNvPr id="274" name="Product Carbon Footprint Dim Dot External · CX Association"/>
          <p:cNvSpPr/>
          <p:nvPr/>
        </p:nvSpPr>
        <p:spPr>
          <a:xfrm>
            <a:off x="10543032" y="3499539"/>
            <a:ext cx="82296" cy="82296"/>
          </a:xfrm>
          <a:prstGeom prst="ellipse">
            <a:avLst/>
          </a:prstGeom>
          <a:solidFill>
            <a:srgbClr val="53BE70"/>
          </a:solidFill>
          <a:ln>
            <a:noFill/>
          </a:ln>
          <a:effectLst/>
        </p:spPr>
        <p:txBody>
          <a:bodyPr rtlCol="0" anchor="ctr"/>
          <a:lstStyle/>
          <a:p>
            <a:endParaRPr lang="de-DE"/>
          </a:p>
        </p:txBody>
      </p:sp>
      <p:sp>
        <p:nvSpPr>
          <p:cNvPr id="275" name="Product Carbon Footprint Dim External · CX Association"/>
          <p:cNvSpPr txBox="1"/>
          <p:nvPr/>
        </p:nvSpPr>
        <p:spPr>
          <a:xfrm>
            <a:off x="10680192" y="3462963"/>
            <a:ext cx="1115568" cy="301752"/>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76" name="Product Carbon Footprint Dim Dot Business"/>
          <p:cNvSpPr/>
          <p:nvPr/>
        </p:nvSpPr>
        <p:spPr>
          <a:xfrm>
            <a:off x="10543032" y="3819579"/>
            <a:ext cx="82296" cy="82296"/>
          </a:xfrm>
          <a:prstGeom prst="ellipse">
            <a:avLst/>
          </a:prstGeom>
          <a:solidFill>
            <a:srgbClr val="53BE70"/>
          </a:solidFill>
          <a:ln>
            <a:noFill/>
          </a:ln>
          <a:effectLst/>
        </p:spPr>
        <p:txBody>
          <a:bodyPr rtlCol="0" anchor="ctr"/>
          <a:lstStyle/>
          <a:p>
            <a:endParaRPr lang="de-DE"/>
          </a:p>
        </p:txBody>
      </p:sp>
      <p:sp>
        <p:nvSpPr>
          <p:cNvPr id="277" name="Product Carbon Footprint Dim Business"/>
          <p:cNvSpPr txBox="1"/>
          <p:nvPr/>
        </p:nvSpPr>
        <p:spPr>
          <a:xfrm>
            <a:off x="10680192" y="3783003"/>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78" name="Product Carbon Footprint Dim Dot Data Provisioning"/>
          <p:cNvSpPr/>
          <p:nvPr/>
        </p:nvSpPr>
        <p:spPr>
          <a:xfrm>
            <a:off x="10543032" y="3988743"/>
            <a:ext cx="82296" cy="82296"/>
          </a:xfrm>
          <a:prstGeom prst="ellipse">
            <a:avLst/>
          </a:prstGeom>
          <a:solidFill>
            <a:srgbClr val="53BE70"/>
          </a:solidFill>
          <a:ln>
            <a:noFill/>
          </a:ln>
          <a:effectLst/>
        </p:spPr>
        <p:txBody>
          <a:bodyPr rtlCol="0" anchor="ctr"/>
          <a:lstStyle/>
          <a:p>
            <a:endParaRPr lang="de-DE"/>
          </a:p>
        </p:txBody>
      </p:sp>
      <p:sp>
        <p:nvSpPr>
          <p:cNvPr id="279" name="Product Carbon Footprint Dim Data Provisioning"/>
          <p:cNvSpPr txBox="1"/>
          <p:nvPr/>
        </p:nvSpPr>
        <p:spPr>
          <a:xfrm>
            <a:off x="10680192" y="3952167"/>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Data Provisioning</a:t>
            </a:r>
          </a:p>
        </p:txBody>
      </p:sp>
      <p:sp>
        <p:nvSpPr>
          <p:cNvPr id="280" name="Product Carbon Footprint Dim Dot Technical"/>
          <p:cNvSpPr/>
          <p:nvPr/>
        </p:nvSpPr>
        <p:spPr>
          <a:xfrm>
            <a:off x="10543032" y="4157907"/>
            <a:ext cx="82296" cy="82296"/>
          </a:xfrm>
          <a:prstGeom prst="ellipse">
            <a:avLst/>
          </a:prstGeom>
          <a:solidFill>
            <a:srgbClr val="53BE70"/>
          </a:solidFill>
          <a:ln>
            <a:noFill/>
          </a:ln>
          <a:effectLst/>
        </p:spPr>
        <p:txBody>
          <a:bodyPr rtlCol="0" anchor="ctr"/>
          <a:lstStyle/>
          <a:p>
            <a:endParaRPr lang="de-DE"/>
          </a:p>
        </p:txBody>
      </p:sp>
      <p:sp>
        <p:nvSpPr>
          <p:cNvPr id="281" name="Product Carbon Footprint Dim Technical"/>
          <p:cNvSpPr txBox="1"/>
          <p:nvPr/>
        </p:nvSpPr>
        <p:spPr>
          <a:xfrm>
            <a:off x="10680192" y="4121331"/>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82" name="Product Carbon Footprint Dim Dot Supplier Activation"/>
          <p:cNvSpPr/>
          <p:nvPr/>
        </p:nvSpPr>
        <p:spPr>
          <a:xfrm>
            <a:off x="10543032" y="4327071"/>
            <a:ext cx="82296" cy="82296"/>
          </a:xfrm>
          <a:prstGeom prst="ellipse">
            <a:avLst/>
          </a:prstGeom>
          <a:solidFill>
            <a:srgbClr val="53BE70"/>
          </a:solidFill>
          <a:ln>
            <a:noFill/>
          </a:ln>
          <a:effectLst/>
        </p:spPr>
        <p:txBody>
          <a:bodyPr rtlCol="0" anchor="ctr"/>
          <a:lstStyle/>
          <a:p>
            <a:endParaRPr lang="de-DE"/>
          </a:p>
        </p:txBody>
      </p:sp>
      <p:sp>
        <p:nvSpPr>
          <p:cNvPr id="283" name="Product Carbon Footprint Dim Supplier Activation"/>
          <p:cNvSpPr txBox="1"/>
          <p:nvPr/>
        </p:nvSpPr>
        <p:spPr>
          <a:xfrm>
            <a:off x="10680192" y="4290495"/>
            <a:ext cx="1115568" cy="150876"/>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a:t>
            </a:r>
          </a:p>
        </p:txBody>
      </p:sp>
      <p:sp>
        <p:nvSpPr>
          <p:cNvPr id="284" name="Row Label Suppliers enabled 2026"/>
          <p:cNvSpPr txBox="1"/>
          <p:nvPr/>
        </p:nvSpPr>
        <p:spPr>
          <a:xfrm>
            <a:off x="365760" y="4592901"/>
            <a:ext cx="1078992" cy="34355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Suppliers enabled 2026</a:t>
            </a:r>
          </a:p>
        </p:txBody>
      </p:sp>
      <p:sp>
        <p:nvSpPr>
          <p:cNvPr id="285" name="Quality Row Divider Suppliers enabled 2026"/>
          <p:cNvSpPr/>
          <p:nvPr/>
        </p:nvSpPr>
        <p:spPr>
          <a:xfrm>
            <a:off x="1600200" y="4492317"/>
            <a:ext cx="1252728" cy="6401"/>
          </a:xfrm>
          <a:prstGeom prst="rect">
            <a:avLst/>
          </a:prstGeom>
          <a:solidFill>
            <a:srgbClr val="E2E8EC"/>
          </a:solidFill>
          <a:ln>
            <a:noFill/>
          </a:ln>
          <a:effectLst/>
        </p:spPr>
        <p:txBody>
          <a:bodyPr rtlCol="0" anchor="ctr"/>
          <a:lstStyle/>
          <a:p>
            <a:endParaRPr lang="de-DE"/>
          </a:p>
        </p:txBody>
      </p:sp>
      <p:sp>
        <p:nvSpPr>
          <p:cNvPr id="286" name="Quality Suppliers"/>
          <p:cNvSpPr txBox="1"/>
          <p:nvPr/>
        </p:nvSpPr>
        <p:spPr>
          <a:xfrm>
            <a:off x="1600200"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800" b="0" kern="0" dirty="0">
                <a:solidFill>
                  <a:srgbClr val="63707A"/>
                </a:solidFill>
                <a:latin typeface="Segoe UI" pitchFamily="34" charset="0"/>
                <a:ea typeface="Segoe UI" pitchFamily="34" charset="-122"/>
                <a:cs typeface="Segoe UI" pitchFamily="34" charset="-120"/>
              </a:rPr>
              <a:t>  0%</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rescoped from 15</a:t>
            </a:r>
          </a:p>
        </p:txBody>
      </p:sp>
      <p:sp>
        <p:nvSpPr>
          <p:cNvPr id="287" name="Battery Passport Row Divider Suppliers enabled 2026"/>
          <p:cNvSpPr/>
          <p:nvPr/>
        </p:nvSpPr>
        <p:spPr>
          <a:xfrm>
            <a:off x="3090672" y="4492317"/>
            <a:ext cx="1252728" cy="6401"/>
          </a:xfrm>
          <a:prstGeom prst="rect">
            <a:avLst/>
          </a:prstGeom>
          <a:solidFill>
            <a:srgbClr val="E2E8EC"/>
          </a:solidFill>
          <a:ln>
            <a:noFill/>
          </a:ln>
          <a:effectLst/>
        </p:spPr>
        <p:txBody>
          <a:bodyPr rtlCol="0" anchor="ctr"/>
          <a:lstStyle/>
          <a:p>
            <a:endParaRPr lang="de-DE"/>
          </a:p>
        </p:txBody>
      </p:sp>
      <p:sp>
        <p:nvSpPr>
          <p:cNvPr id="288" name="Battery Passport Suppliers"/>
          <p:cNvSpPr txBox="1"/>
          <p:nvPr/>
        </p:nvSpPr>
        <p:spPr>
          <a:xfrm>
            <a:off x="3090672"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800" b="0" kern="0" dirty="0">
                <a:solidFill>
                  <a:srgbClr val="63707A"/>
                </a:solidFill>
                <a:latin typeface="Segoe UI" pitchFamily="34" charset="0"/>
                <a:ea typeface="Segoe UI" pitchFamily="34" charset="-122"/>
                <a:cs typeface="Segoe UI" pitchFamily="34" charset="-120"/>
              </a:rPr>
              <a:t>  0%</a:t>
            </a:r>
          </a:p>
        </p:txBody>
      </p:sp>
      <p:sp>
        <p:nvSpPr>
          <p:cNvPr id="289" name="Product Passes Row Divider Suppliers enabled 2026"/>
          <p:cNvSpPr/>
          <p:nvPr/>
        </p:nvSpPr>
        <p:spPr>
          <a:xfrm>
            <a:off x="4581144" y="4492317"/>
            <a:ext cx="1252728" cy="6401"/>
          </a:xfrm>
          <a:prstGeom prst="rect">
            <a:avLst/>
          </a:prstGeom>
          <a:solidFill>
            <a:srgbClr val="E2E8EC"/>
          </a:solidFill>
          <a:ln>
            <a:noFill/>
          </a:ln>
          <a:effectLst/>
        </p:spPr>
        <p:txBody>
          <a:bodyPr rtlCol="0" anchor="ctr"/>
          <a:lstStyle/>
          <a:p>
            <a:endParaRPr lang="de-DE"/>
          </a:p>
        </p:txBody>
      </p:sp>
      <p:sp>
        <p:nvSpPr>
          <p:cNvPr id="290" name="Product Passes Suppliers"/>
          <p:cNvSpPr txBox="1"/>
          <p:nvPr/>
        </p:nvSpPr>
        <p:spPr>
          <a:xfrm>
            <a:off x="4581144"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800" b="0" kern="0" dirty="0">
                <a:solidFill>
                  <a:srgbClr val="63707A"/>
                </a:solidFill>
                <a:latin typeface="Segoe UI" pitchFamily="34" charset="0"/>
                <a:ea typeface="Segoe UI" pitchFamily="34" charset="-122"/>
                <a:cs typeface="Segoe UI" pitchFamily="34" charset="-120"/>
              </a:rPr>
              <a:t>  0%</a:t>
            </a:r>
          </a:p>
        </p:txBody>
      </p:sp>
      <p:sp>
        <p:nvSpPr>
          <p:cNvPr id="291" name="PURIS Row Divider Suppliers enabled 2026"/>
          <p:cNvSpPr/>
          <p:nvPr/>
        </p:nvSpPr>
        <p:spPr>
          <a:xfrm>
            <a:off x="6071616" y="4492317"/>
            <a:ext cx="1252728" cy="6401"/>
          </a:xfrm>
          <a:prstGeom prst="rect">
            <a:avLst/>
          </a:prstGeom>
          <a:solidFill>
            <a:srgbClr val="E2E8EC"/>
          </a:solidFill>
          <a:ln>
            <a:noFill/>
          </a:ln>
          <a:effectLst/>
        </p:spPr>
        <p:txBody>
          <a:bodyPr rtlCol="0" anchor="ctr"/>
          <a:lstStyle/>
          <a:p>
            <a:endParaRPr lang="de-DE"/>
          </a:p>
        </p:txBody>
      </p:sp>
      <p:sp>
        <p:nvSpPr>
          <p:cNvPr id="292" name="PURIS Suppliers"/>
          <p:cNvSpPr txBox="1"/>
          <p:nvPr/>
        </p:nvSpPr>
        <p:spPr>
          <a:xfrm>
            <a:off x="6071616"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1 / 6</a:t>
            </a:r>
            <a:r>
              <a:rPr lang="de-DE" sz="800" b="0" kern="0" dirty="0">
                <a:solidFill>
                  <a:srgbClr val="63707A"/>
                </a:solidFill>
                <a:latin typeface="Segoe UI" pitchFamily="34" charset="0"/>
                <a:ea typeface="Segoe UI" pitchFamily="34" charset="-122"/>
                <a:cs typeface="Segoe UI" pitchFamily="34" charset="-120"/>
              </a:rPr>
              <a:t>  17%</a:t>
            </a:r>
          </a:p>
        </p:txBody>
      </p:sp>
      <p:sp>
        <p:nvSpPr>
          <p:cNvPr id="293" name="Business Partner Data Mgmt Row Divider Suppliers enabled 2026"/>
          <p:cNvSpPr/>
          <p:nvPr/>
        </p:nvSpPr>
        <p:spPr>
          <a:xfrm>
            <a:off x="7562088" y="4492317"/>
            <a:ext cx="1252728" cy="6401"/>
          </a:xfrm>
          <a:prstGeom prst="rect">
            <a:avLst/>
          </a:prstGeom>
          <a:solidFill>
            <a:srgbClr val="E2E8EC"/>
          </a:solidFill>
          <a:ln>
            <a:noFill/>
          </a:ln>
          <a:effectLst/>
        </p:spPr>
        <p:txBody>
          <a:bodyPr rtlCol="0" anchor="ctr"/>
          <a:lstStyle/>
          <a:p>
            <a:endParaRPr lang="de-DE"/>
          </a:p>
        </p:txBody>
      </p:sp>
      <p:sp>
        <p:nvSpPr>
          <p:cNvPr id="294" name="Business Partner Data Mgmt Suppliers"/>
          <p:cNvSpPr txBox="1"/>
          <p:nvPr/>
        </p:nvSpPr>
        <p:spPr>
          <a:xfrm>
            <a:off x="7562088"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800" b="0" kern="0" dirty="0">
                <a:solidFill>
                  <a:srgbClr val="63707A"/>
                </a:solidFill>
                <a:latin typeface="Segoe UI" pitchFamily="34" charset="0"/>
                <a:ea typeface="Segoe UI" pitchFamily="34" charset="-122"/>
                <a:cs typeface="Segoe UI" pitchFamily="34" charset="-120"/>
              </a:rPr>
              <a:t>  0%</a:t>
            </a:r>
          </a:p>
        </p:txBody>
      </p:sp>
      <p:sp>
        <p:nvSpPr>
          <p:cNvPr id="295" name="Certificate Management Row Divider Suppliers enabled 2026"/>
          <p:cNvSpPr/>
          <p:nvPr/>
        </p:nvSpPr>
        <p:spPr>
          <a:xfrm>
            <a:off x="9052560" y="4492317"/>
            <a:ext cx="1252728" cy="6401"/>
          </a:xfrm>
          <a:prstGeom prst="rect">
            <a:avLst/>
          </a:prstGeom>
          <a:solidFill>
            <a:srgbClr val="E2E8EC"/>
          </a:solidFill>
          <a:ln>
            <a:noFill/>
          </a:ln>
          <a:effectLst/>
        </p:spPr>
        <p:txBody>
          <a:bodyPr rtlCol="0" anchor="ctr"/>
          <a:lstStyle/>
          <a:p>
            <a:endParaRPr lang="de-DE"/>
          </a:p>
        </p:txBody>
      </p:sp>
      <p:sp>
        <p:nvSpPr>
          <p:cNvPr id="296" name="Certificate Management Suppliers"/>
          <p:cNvSpPr txBox="1"/>
          <p:nvPr/>
        </p:nvSpPr>
        <p:spPr>
          <a:xfrm>
            <a:off x="9052560"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72 / 100</a:t>
            </a:r>
            <a:r>
              <a:rPr lang="de-DE" sz="800" b="0" kern="0" dirty="0">
                <a:solidFill>
                  <a:srgbClr val="63707A"/>
                </a:solidFill>
                <a:latin typeface="Segoe UI" pitchFamily="34" charset="0"/>
                <a:ea typeface="Segoe UI" pitchFamily="34" charset="-122"/>
                <a:cs typeface="Segoe UI" pitchFamily="34" charset="-120"/>
              </a:rPr>
              <a:t>  72%</a:t>
            </a:r>
          </a:p>
        </p:txBody>
      </p:sp>
      <p:sp>
        <p:nvSpPr>
          <p:cNvPr id="297" name="Product Carbon Footprint Row Divider Suppliers enabled 2026"/>
          <p:cNvSpPr/>
          <p:nvPr/>
        </p:nvSpPr>
        <p:spPr>
          <a:xfrm>
            <a:off x="10543032" y="4492317"/>
            <a:ext cx="1252728" cy="6401"/>
          </a:xfrm>
          <a:prstGeom prst="rect">
            <a:avLst/>
          </a:prstGeom>
          <a:solidFill>
            <a:srgbClr val="E2E8EC"/>
          </a:solidFill>
          <a:ln>
            <a:noFill/>
          </a:ln>
          <a:effectLst/>
        </p:spPr>
        <p:txBody>
          <a:bodyPr rtlCol="0" anchor="ctr"/>
          <a:lstStyle/>
          <a:p>
            <a:endParaRPr lang="de-DE"/>
          </a:p>
        </p:txBody>
      </p:sp>
      <p:sp>
        <p:nvSpPr>
          <p:cNvPr id="298" name="Product Carbon Footprint Suppliers"/>
          <p:cNvSpPr txBox="1"/>
          <p:nvPr/>
        </p:nvSpPr>
        <p:spPr>
          <a:xfrm>
            <a:off x="10543032" y="4592901"/>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800" b="0" kern="0" dirty="0">
                <a:solidFill>
                  <a:srgbClr val="63707A"/>
                </a:solidFill>
                <a:latin typeface="Segoe UI" pitchFamily="34" charset="0"/>
                <a:ea typeface="Segoe UI" pitchFamily="34" charset="-122"/>
                <a:cs typeface="Segoe UI" pitchFamily="34" charset="-120"/>
              </a:rPr>
              <a:t>  0%</a:t>
            </a:r>
          </a:p>
        </p:txBody>
      </p:sp>
      <p:sp>
        <p:nvSpPr>
          <p:cNvPr id="299" name="Row Label Goal: E2E go-live target"/>
          <p:cNvSpPr txBox="1"/>
          <p:nvPr/>
        </p:nvSpPr>
        <p:spPr>
          <a:xfrm>
            <a:off x="365760" y="5082758"/>
            <a:ext cx="1078992" cy="34355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Goal: E2E go-live target</a:t>
            </a:r>
          </a:p>
        </p:txBody>
      </p:sp>
      <p:sp>
        <p:nvSpPr>
          <p:cNvPr id="300" name="Quality Row Divider Goal: E2E go-live target"/>
          <p:cNvSpPr/>
          <p:nvPr/>
        </p:nvSpPr>
        <p:spPr>
          <a:xfrm>
            <a:off x="1600200" y="4982174"/>
            <a:ext cx="1252728" cy="6401"/>
          </a:xfrm>
          <a:prstGeom prst="rect">
            <a:avLst/>
          </a:prstGeom>
          <a:solidFill>
            <a:srgbClr val="E2E8EC"/>
          </a:solidFill>
          <a:ln>
            <a:noFill/>
          </a:ln>
          <a:effectLst/>
        </p:spPr>
        <p:txBody>
          <a:bodyPr rtlCol="0" anchor="ctr"/>
          <a:lstStyle/>
          <a:p>
            <a:endParaRPr lang="de-DE"/>
          </a:p>
        </p:txBody>
      </p:sp>
      <p:sp>
        <p:nvSpPr>
          <p:cNvPr id="301" name="Quality Go-live"/>
          <p:cNvSpPr txBox="1"/>
          <p:nvPr/>
        </p:nvSpPr>
        <p:spPr>
          <a:xfrm>
            <a:off x="1600200"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MVP Jan '27</a:t>
            </a:r>
          </a:p>
          <a:p>
            <a:pPr marL="0" indent="0" algn="l">
              <a:lnSpc>
                <a:spcPts val="1150"/>
              </a:lnSpc>
              <a:buNone/>
            </a:pPr>
            <a:r>
              <a:rPr lang="de-DE" sz="800" b="0" kern="0" dirty="0">
                <a:solidFill>
                  <a:srgbClr val="63707A"/>
                </a:solidFill>
                <a:latin typeface="Segoe UI" pitchFamily="34" charset="0"/>
                <a:ea typeface="Segoe UI" pitchFamily="34" charset="-122"/>
                <a:cs typeface="Segoe UI" pitchFamily="34" charset="-120"/>
              </a:rPr>
              <a:t>Scaling until 2030</a:t>
            </a:r>
          </a:p>
        </p:txBody>
      </p:sp>
      <p:sp>
        <p:nvSpPr>
          <p:cNvPr id="302" name="Battery Passport Row Divider Goal: E2E go-live target"/>
          <p:cNvSpPr/>
          <p:nvPr/>
        </p:nvSpPr>
        <p:spPr>
          <a:xfrm>
            <a:off x="3090672" y="4982174"/>
            <a:ext cx="1252728" cy="6401"/>
          </a:xfrm>
          <a:prstGeom prst="rect">
            <a:avLst/>
          </a:prstGeom>
          <a:solidFill>
            <a:srgbClr val="E2E8EC"/>
          </a:solidFill>
          <a:ln>
            <a:noFill/>
          </a:ln>
          <a:effectLst/>
        </p:spPr>
        <p:txBody>
          <a:bodyPr rtlCol="0" anchor="ctr"/>
          <a:lstStyle/>
          <a:p>
            <a:endParaRPr lang="de-DE"/>
          </a:p>
        </p:txBody>
      </p:sp>
      <p:sp>
        <p:nvSpPr>
          <p:cNvPr id="303" name="Battery Passport Go-live"/>
          <p:cNvSpPr txBox="1"/>
          <p:nvPr/>
        </p:nvSpPr>
        <p:spPr>
          <a:xfrm>
            <a:off x="3090672"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304" name="Product Passes Row Divider Goal: E2E go-live target"/>
          <p:cNvSpPr/>
          <p:nvPr/>
        </p:nvSpPr>
        <p:spPr>
          <a:xfrm>
            <a:off x="4581144" y="4982174"/>
            <a:ext cx="1252728" cy="6401"/>
          </a:xfrm>
          <a:prstGeom prst="rect">
            <a:avLst/>
          </a:prstGeom>
          <a:solidFill>
            <a:srgbClr val="E2E8EC"/>
          </a:solidFill>
          <a:ln>
            <a:noFill/>
          </a:ln>
          <a:effectLst/>
        </p:spPr>
        <p:txBody>
          <a:bodyPr rtlCol="0" anchor="ctr"/>
          <a:lstStyle/>
          <a:p>
            <a:endParaRPr lang="de-DE"/>
          </a:p>
        </p:txBody>
      </p:sp>
      <p:sp>
        <p:nvSpPr>
          <p:cNvPr id="305" name="Product Passes Go-live"/>
          <p:cNvSpPr txBox="1"/>
          <p:nvPr/>
        </p:nvSpPr>
        <p:spPr>
          <a:xfrm>
            <a:off x="4581144"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800" b="0" i="1" kern="0" dirty="0">
                <a:solidFill>
                  <a:srgbClr val="9AA6AD"/>
                </a:solidFill>
                <a:latin typeface="Segoe UI" pitchFamily="34" charset="0"/>
                <a:ea typeface="Segoe UI" pitchFamily="34" charset="-122"/>
                <a:cs typeface="Segoe UI" pitchFamily="34" charset="-120"/>
              </a:rPr>
              <a:t>not defined yet</a:t>
            </a:r>
          </a:p>
        </p:txBody>
      </p:sp>
      <p:sp>
        <p:nvSpPr>
          <p:cNvPr id="306" name="PURIS Row Divider Goal: E2E go-live target"/>
          <p:cNvSpPr/>
          <p:nvPr/>
        </p:nvSpPr>
        <p:spPr>
          <a:xfrm>
            <a:off x="6071616" y="4982174"/>
            <a:ext cx="1252728" cy="6401"/>
          </a:xfrm>
          <a:prstGeom prst="rect">
            <a:avLst/>
          </a:prstGeom>
          <a:solidFill>
            <a:srgbClr val="E2E8EC"/>
          </a:solidFill>
          <a:ln>
            <a:noFill/>
          </a:ln>
          <a:effectLst/>
        </p:spPr>
        <p:txBody>
          <a:bodyPr rtlCol="0" anchor="ctr"/>
          <a:lstStyle/>
          <a:p>
            <a:endParaRPr lang="de-DE"/>
          </a:p>
        </p:txBody>
      </p:sp>
      <p:sp>
        <p:nvSpPr>
          <p:cNvPr id="307" name="PURIS Go-live"/>
          <p:cNvSpPr txBox="1"/>
          <p:nvPr/>
        </p:nvSpPr>
        <p:spPr>
          <a:xfrm>
            <a:off x="6071616"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800" b="0" i="1" kern="0" dirty="0">
                <a:solidFill>
                  <a:srgbClr val="9AA6AD"/>
                </a:solidFill>
                <a:latin typeface="Segoe UI" pitchFamily="34" charset="0"/>
                <a:ea typeface="Segoe UI" pitchFamily="34" charset="-122"/>
                <a:cs typeface="Segoe UI" pitchFamily="34" charset="-120"/>
              </a:rPr>
              <a:t>not specified</a:t>
            </a:r>
          </a:p>
        </p:txBody>
      </p:sp>
      <p:sp>
        <p:nvSpPr>
          <p:cNvPr id="308" name="Business Partner Data Mgmt Row Divider Goal: E2E go-live target"/>
          <p:cNvSpPr/>
          <p:nvPr/>
        </p:nvSpPr>
        <p:spPr>
          <a:xfrm>
            <a:off x="7562088" y="4982174"/>
            <a:ext cx="1252728" cy="6401"/>
          </a:xfrm>
          <a:prstGeom prst="rect">
            <a:avLst/>
          </a:prstGeom>
          <a:solidFill>
            <a:srgbClr val="E2E8EC"/>
          </a:solidFill>
          <a:ln>
            <a:noFill/>
          </a:ln>
          <a:effectLst/>
        </p:spPr>
        <p:txBody>
          <a:bodyPr rtlCol="0" anchor="ctr"/>
          <a:lstStyle/>
          <a:p>
            <a:endParaRPr lang="de-DE"/>
          </a:p>
        </p:txBody>
      </p:sp>
      <p:sp>
        <p:nvSpPr>
          <p:cNvPr id="309" name="Business Partner Data Mgmt Go-live"/>
          <p:cNvSpPr txBox="1"/>
          <p:nvPr/>
        </p:nvSpPr>
        <p:spPr>
          <a:xfrm>
            <a:off x="7562088"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310" name="Certificate Management Row Divider Goal: E2E go-live target"/>
          <p:cNvSpPr/>
          <p:nvPr/>
        </p:nvSpPr>
        <p:spPr>
          <a:xfrm>
            <a:off x="9052560" y="4982174"/>
            <a:ext cx="1252728" cy="6401"/>
          </a:xfrm>
          <a:prstGeom prst="rect">
            <a:avLst/>
          </a:prstGeom>
          <a:solidFill>
            <a:srgbClr val="E2E8EC"/>
          </a:solidFill>
          <a:ln>
            <a:noFill/>
          </a:ln>
          <a:effectLst/>
        </p:spPr>
        <p:txBody>
          <a:bodyPr rtlCol="0" anchor="ctr"/>
          <a:lstStyle/>
          <a:p>
            <a:endParaRPr lang="de-DE"/>
          </a:p>
        </p:txBody>
      </p:sp>
      <p:sp>
        <p:nvSpPr>
          <p:cNvPr id="311" name="Certificate Management Go-live"/>
          <p:cNvSpPr txBox="1"/>
          <p:nvPr/>
        </p:nvSpPr>
        <p:spPr>
          <a:xfrm>
            <a:off x="9052560"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May 2028</a:t>
            </a:r>
          </a:p>
        </p:txBody>
      </p:sp>
      <p:sp>
        <p:nvSpPr>
          <p:cNvPr id="312" name="Product Carbon Footprint Row Divider Goal: E2E go-live target"/>
          <p:cNvSpPr/>
          <p:nvPr/>
        </p:nvSpPr>
        <p:spPr>
          <a:xfrm>
            <a:off x="10543032" y="4982174"/>
            <a:ext cx="1252728" cy="6401"/>
          </a:xfrm>
          <a:prstGeom prst="rect">
            <a:avLst/>
          </a:prstGeom>
          <a:solidFill>
            <a:srgbClr val="E2E8EC"/>
          </a:solidFill>
          <a:ln>
            <a:noFill/>
          </a:ln>
          <a:effectLst/>
        </p:spPr>
        <p:txBody>
          <a:bodyPr rtlCol="0" anchor="ctr"/>
          <a:lstStyle/>
          <a:p>
            <a:endParaRPr lang="de-DE"/>
          </a:p>
        </p:txBody>
      </p:sp>
      <p:sp>
        <p:nvSpPr>
          <p:cNvPr id="313" name="Product Carbon Footprint Go-live"/>
          <p:cNvSpPr txBox="1"/>
          <p:nvPr/>
        </p:nvSpPr>
        <p:spPr>
          <a:xfrm>
            <a:off x="10543032" y="5082758"/>
            <a:ext cx="1252728" cy="361841"/>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01 Jan 2028</a:t>
            </a:r>
          </a:p>
        </p:txBody>
      </p:sp>
      <p:sp>
        <p:nvSpPr>
          <p:cNvPr id="314" name="Row Label Decision required"/>
          <p:cNvSpPr txBox="1"/>
          <p:nvPr/>
        </p:nvSpPr>
        <p:spPr>
          <a:xfrm>
            <a:off x="365760" y="5572615"/>
            <a:ext cx="1078992" cy="91048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63707A"/>
                </a:solidFill>
                <a:latin typeface="Segoe UI" pitchFamily="34" charset="0"/>
                <a:ea typeface="Segoe UI" pitchFamily="34" charset="-122"/>
                <a:cs typeface="Segoe UI" pitchFamily="34" charset="-120"/>
              </a:rPr>
              <a:t>Decision required</a:t>
            </a:r>
          </a:p>
        </p:txBody>
      </p:sp>
      <p:sp>
        <p:nvSpPr>
          <p:cNvPr id="315" name="Quality Row Divider Decision required"/>
          <p:cNvSpPr/>
          <p:nvPr/>
        </p:nvSpPr>
        <p:spPr>
          <a:xfrm>
            <a:off x="1600200" y="5472031"/>
            <a:ext cx="1252728" cy="6401"/>
          </a:xfrm>
          <a:prstGeom prst="rect">
            <a:avLst/>
          </a:prstGeom>
          <a:solidFill>
            <a:srgbClr val="E2E8EC"/>
          </a:solidFill>
          <a:ln>
            <a:noFill/>
          </a:ln>
          <a:effectLst/>
        </p:spPr>
        <p:txBody>
          <a:bodyPr rtlCol="0" anchor="ctr"/>
          <a:lstStyle/>
          <a:p>
            <a:endParaRPr lang="de-DE"/>
          </a:p>
        </p:txBody>
      </p:sp>
      <p:sp>
        <p:nvSpPr>
          <p:cNvPr id="316" name="Quality Decision Flag"/>
          <p:cNvSpPr/>
          <p:nvPr/>
        </p:nvSpPr>
        <p:spPr>
          <a:xfrm>
            <a:off x="1600200" y="5577187"/>
            <a:ext cx="155448" cy="155448"/>
          </a:xfrm>
          <a:prstGeom prst="ellipse">
            <a:avLst/>
          </a:prstGeom>
          <a:solidFill>
            <a:srgbClr val="001E50"/>
          </a:solidFill>
          <a:ln>
            <a:noFill/>
          </a:ln>
          <a:effectLst/>
        </p:spPr>
        <p:txBody>
          <a:bodyPr rtlCol="0" anchor="ctr"/>
          <a:lstStyle/>
          <a:p>
            <a:endParaRPr lang="de-DE"/>
          </a:p>
        </p:txBody>
      </p:sp>
      <p:sp>
        <p:nvSpPr>
          <p:cNvPr id="317" name="Quality Decision No"/>
          <p:cNvSpPr txBox="1"/>
          <p:nvPr/>
        </p:nvSpPr>
        <p:spPr>
          <a:xfrm>
            <a:off x="1600200" y="5577187"/>
            <a:ext cx="155448" cy="155448"/>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318" name="Quality Decision"/>
          <p:cNvSpPr txBox="1"/>
          <p:nvPr/>
        </p:nvSpPr>
        <p:spPr>
          <a:xfrm>
            <a:off x="1600200" y="5572615"/>
            <a:ext cx="1252728" cy="928769"/>
          </a:xfrm>
          <a:prstGeom prst="rect">
            <a:avLst/>
          </a:prstGeom>
          <a:noFill/>
          <a:ln>
            <a:noFill/>
          </a:ln>
        </p:spPr>
        <p:txBody>
          <a:bodyPr wrap="square" lIns="0" tIns="0" rIns="0" bIns="0" rtlCol="0" anchor="t">
            <a:noAutofit/>
          </a:bodyPr>
          <a:lstStyle/>
          <a:p>
            <a:pPr marL="0" indent="210312"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 rescoping from 15 to 1 supplier until the Early Warning Production MVP is live?</a:t>
            </a:r>
          </a:p>
        </p:txBody>
      </p:sp>
      <p:sp>
        <p:nvSpPr>
          <p:cNvPr id="319" name="Battery Passport Row Divider Decision required"/>
          <p:cNvSpPr/>
          <p:nvPr/>
        </p:nvSpPr>
        <p:spPr>
          <a:xfrm>
            <a:off x="3090672" y="5472031"/>
            <a:ext cx="1252728" cy="6401"/>
          </a:xfrm>
          <a:prstGeom prst="rect">
            <a:avLst/>
          </a:prstGeom>
          <a:solidFill>
            <a:srgbClr val="E2E8EC"/>
          </a:solidFill>
          <a:ln>
            <a:noFill/>
          </a:ln>
          <a:effectLst/>
        </p:spPr>
        <p:txBody>
          <a:bodyPr rtlCol="0" anchor="ctr"/>
          <a:lstStyle/>
          <a:p>
            <a:endParaRPr lang="de-DE"/>
          </a:p>
        </p:txBody>
      </p:sp>
      <p:sp>
        <p:nvSpPr>
          <p:cNvPr id="320" name="Battery Passport Decision None"/>
          <p:cNvSpPr txBox="1"/>
          <p:nvPr/>
        </p:nvSpPr>
        <p:spPr>
          <a:xfrm>
            <a:off x="3090672" y="5572615"/>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21" name="Product Passes Row Divider Decision required"/>
          <p:cNvSpPr/>
          <p:nvPr/>
        </p:nvSpPr>
        <p:spPr>
          <a:xfrm>
            <a:off x="4581144" y="5472031"/>
            <a:ext cx="1252728" cy="6401"/>
          </a:xfrm>
          <a:prstGeom prst="rect">
            <a:avLst/>
          </a:prstGeom>
          <a:solidFill>
            <a:srgbClr val="E2E8EC"/>
          </a:solidFill>
          <a:ln>
            <a:noFill/>
          </a:ln>
          <a:effectLst/>
        </p:spPr>
        <p:txBody>
          <a:bodyPr rtlCol="0" anchor="ctr"/>
          <a:lstStyle/>
          <a:p>
            <a:endParaRPr lang="de-DE"/>
          </a:p>
        </p:txBody>
      </p:sp>
      <p:sp>
        <p:nvSpPr>
          <p:cNvPr id="322" name="Product Passes Decision None"/>
          <p:cNvSpPr txBox="1"/>
          <p:nvPr/>
        </p:nvSpPr>
        <p:spPr>
          <a:xfrm>
            <a:off x="4581144" y="5572615"/>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23" name="PURIS Row Divider Decision required"/>
          <p:cNvSpPr/>
          <p:nvPr/>
        </p:nvSpPr>
        <p:spPr>
          <a:xfrm>
            <a:off x="6071616" y="5472031"/>
            <a:ext cx="1252728" cy="6401"/>
          </a:xfrm>
          <a:prstGeom prst="rect">
            <a:avLst/>
          </a:prstGeom>
          <a:solidFill>
            <a:srgbClr val="E2E8EC"/>
          </a:solidFill>
          <a:ln>
            <a:noFill/>
          </a:ln>
          <a:effectLst/>
        </p:spPr>
        <p:txBody>
          <a:bodyPr rtlCol="0" anchor="ctr"/>
          <a:lstStyle/>
          <a:p>
            <a:endParaRPr lang="de-DE"/>
          </a:p>
        </p:txBody>
      </p:sp>
      <p:sp>
        <p:nvSpPr>
          <p:cNvPr id="324" name="PURIS Decision Flag"/>
          <p:cNvSpPr/>
          <p:nvPr/>
        </p:nvSpPr>
        <p:spPr>
          <a:xfrm>
            <a:off x="6071616" y="5577187"/>
            <a:ext cx="155448" cy="155448"/>
          </a:xfrm>
          <a:prstGeom prst="ellipse">
            <a:avLst/>
          </a:prstGeom>
          <a:solidFill>
            <a:srgbClr val="001E50"/>
          </a:solidFill>
          <a:ln>
            <a:noFill/>
          </a:ln>
          <a:effectLst/>
        </p:spPr>
        <p:txBody>
          <a:bodyPr rtlCol="0" anchor="ctr"/>
          <a:lstStyle/>
          <a:p>
            <a:endParaRPr lang="de-DE"/>
          </a:p>
        </p:txBody>
      </p:sp>
      <p:sp>
        <p:nvSpPr>
          <p:cNvPr id="325" name="PURIS Decision No"/>
          <p:cNvSpPr txBox="1"/>
          <p:nvPr/>
        </p:nvSpPr>
        <p:spPr>
          <a:xfrm>
            <a:off x="6071616" y="5577187"/>
            <a:ext cx="155448" cy="155448"/>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326" name="PURIS Decision"/>
          <p:cNvSpPr txBox="1"/>
          <p:nvPr/>
        </p:nvSpPr>
        <p:spPr>
          <a:xfrm>
            <a:off x="6071616" y="5572615"/>
            <a:ext cx="1252728" cy="928769"/>
          </a:xfrm>
          <a:prstGeom prst="rect">
            <a:avLst/>
          </a:prstGeom>
          <a:noFill/>
          <a:ln>
            <a:noFill/>
          </a:ln>
        </p:spPr>
        <p:txBody>
          <a:bodyPr wrap="square" lIns="0" tIns="0" rIns="0" bIns="0" rtlCol="0" anchor="t">
            <a:noAutofit/>
          </a:bodyPr>
          <a:lstStyle/>
          <a:p>
            <a:pPr marL="0" indent="210312" algn="l">
              <a:lnSpc>
                <a:spcPts val="1150"/>
              </a:lnSpc>
              <a:buNone/>
            </a:pPr>
            <a:r>
              <a:rPr lang="de-DE" sz="900" b="0" kern="0" dirty="0">
                <a:solidFill>
                  <a:srgbClr val="292D31"/>
                </a:solidFill>
                <a:latin typeface="Segoe UI" pitchFamily="34" charset="0"/>
                <a:ea typeface="Segoe UI" pitchFamily="34" charset="-122"/>
                <a:cs typeface="Segoe UI" pitchFamily="34" charset="-120"/>
              </a:rPr>
              <a:t>When and how should the WINGS connectivity rollout roadmap be decided?</a:t>
            </a:r>
          </a:p>
        </p:txBody>
      </p:sp>
      <p:sp>
        <p:nvSpPr>
          <p:cNvPr id="327" name="Business Partner Data Mgmt Row Divider Decision required"/>
          <p:cNvSpPr/>
          <p:nvPr/>
        </p:nvSpPr>
        <p:spPr>
          <a:xfrm>
            <a:off x="7562088" y="5472031"/>
            <a:ext cx="1252728" cy="6401"/>
          </a:xfrm>
          <a:prstGeom prst="rect">
            <a:avLst/>
          </a:prstGeom>
          <a:solidFill>
            <a:srgbClr val="E2E8EC"/>
          </a:solidFill>
          <a:ln>
            <a:noFill/>
          </a:ln>
          <a:effectLst/>
        </p:spPr>
        <p:txBody>
          <a:bodyPr rtlCol="0" anchor="ctr"/>
          <a:lstStyle/>
          <a:p>
            <a:endParaRPr lang="de-DE"/>
          </a:p>
        </p:txBody>
      </p:sp>
      <p:sp>
        <p:nvSpPr>
          <p:cNvPr id="328" name="Business Partner Data Mgmt Decision None"/>
          <p:cNvSpPr txBox="1"/>
          <p:nvPr/>
        </p:nvSpPr>
        <p:spPr>
          <a:xfrm>
            <a:off x="7562088" y="5572615"/>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29" name="Certificate Management Row Divider Decision required"/>
          <p:cNvSpPr/>
          <p:nvPr/>
        </p:nvSpPr>
        <p:spPr>
          <a:xfrm>
            <a:off x="9052560" y="5472031"/>
            <a:ext cx="1252728" cy="6401"/>
          </a:xfrm>
          <a:prstGeom prst="rect">
            <a:avLst/>
          </a:prstGeom>
          <a:solidFill>
            <a:srgbClr val="E2E8EC"/>
          </a:solidFill>
          <a:ln>
            <a:noFill/>
          </a:ln>
          <a:effectLst/>
        </p:spPr>
        <p:txBody>
          <a:bodyPr rtlCol="0" anchor="ctr"/>
          <a:lstStyle/>
          <a:p>
            <a:endParaRPr lang="de-DE"/>
          </a:p>
        </p:txBody>
      </p:sp>
      <p:sp>
        <p:nvSpPr>
          <p:cNvPr id="330" name="Certificate Management Decision None"/>
          <p:cNvSpPr txBox="1"/>
          <p:nvPr/>
        </p:nvSpPr>
        <p:spPr>
          <a:xfrm>
            <a:off x="9052560" y="5572615"/>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31" name="Product Carbon Footprint Row Divider Decision required"/>
          <p:cNvSpPr/>
          <p:nvPr/>
        </p:nvSpPr>
        <p:spPr>
          <a:xfrm>
            <a:off x="10543032" y="5472031"/>
            <a:ext cx="1252728" cy="6401"/>
          </a:xfrm>
          <a:prstGeom prst="rect">
            <a:avLst/>
          </a:prstGeom>
          <a:solidFill>
            <a:srgbClr val="E2E8EC"/>
          </a:solidFill>
          <a:ln>
            <a:noFill/>
          </a:ln>
          <a:effectLst/>
        </p:spPr>
        <p:txBody>
          <a:bodyPr rtlCol="0" anchor="ctr"/>
          <a:lstStyle/>
          <a:p>
            <a:endParaRPr lang="de-DE"/>
          </a:p>
        </p:txBody>
      </p:sp>
      <p:sp>
        <p:nvSpPr>
          <p:cNvPr id="332" name="Product Carbon Footprint Decision None"/>
          <p:cNvSpPr txBox="1"/>
          <p:nvPr/>
        </p:nvSpPr>
        <p:spPr>
          <a:xfrm>
            <a:off x="10543032" y="5572615"/>
            <a:ext cx="1252728" cy="150876"/>
          </a:xfrm>
          <a:prstGeom prst="rect">
            <a:avLst/>
          </a:prstGeom>
          <a:noFill/>
          <a:ln>
            <a:noFill/>
          </a:ln>
        </p:spPr>
        <p:txBody>
          <a:bodyPr wrap="square" lIns="0" tIns="0" rIns="0" bIns="0" rtlCol="0" anchor="t">
            <a:noAutofit/>
          </a:bodyPr>
          <a:lstStyle/>
          <a:p>
            <a:pPr marL="0" indent="0" algn="l">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