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Enabling Pulse Management Overview CW 42 / 2026 – one card per enabling stream (read top to bottom), sorted by overall status. Next (critical) milestone = most critical amber/red milestone, else the next 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Enabling Streams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42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Not Started Ring"/>
          <p:cNvSpPr/>
          <p:nvPr/>
        </p:nvSpPr>
        <p:spPr>
          <a:xfrm>
            <a:off x="10727481" y="544068"/>
            <a:ext cx="68580" cy="68580"/>
          </a:xfrm>
          <a:prstGeom prst="ellipse">
            <a:avLst/>
          </a:prstGeom>
          <a:solidFill>
            <a:srgbClr val="0B3A45"/>
          </a:solidFill>
          <a:ln w="15875">
            <a:solidFill>
              <a:srgbClr val="CFD6DB"/>
            </a:solid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Portfolio, AI+, C-X NEXT, DigiTrace Card"/>
          <p:cNvSpPr/>
          <p:nvPr/>
        </p:nvSpPr>
        <p:spPr>
          <a:xfrm>
            <a:off x="1298448"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Portfolio, AI+, C-X NEXT, DigiTrace Name"/>
          <p:cNvSpPr txBox="1"/>
          <p:nvPr/>
        </p:nvSpPr>
        <p:spPr>
          <a:xfrm>
            <a:off x="1367028"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Portfolio, AI+, C-X NEXT, DigiTrace</a:t>
            </a:r>
          </a:p>
        </p:txBody>
      </p:sp>
      <p:sp>
        <p:nvSpPr>
          <p:cNvPr id="117" name="Col Portfolio, AI+, C-X NEXT, DigiTrace Abbr"/>
          <p:cNvSpPr txBox="1"/>
          <p:nvPr/>
        </p:nvSpPr>
        <p:spPr>
          <a:xfrm>
            <a:off x="1367028" y="14274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port-cx</a:t>
            </a:r>
          </a:p>
        </p:txBody>
      </p:sp>
      <p:sp>
        <p:nvSpPr>
          <p:cNvPr id="118" name="Col Portfolio, AI+, C-X NEXT, DigiTrace Domain Lead"/>
          <p:cNvSpPr txBox="1"/>
          <p:nvPr/>
        </p:nvSpPr>
        <p:spPr>
          <a:xfrm>
            <a:off x="1367028"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19" name="Col Portfolio, AI+, C-X NEXT, DigiTrace Tag"/>
          <p:cNvSpPr/>
          <p:nvPr/>
        </p:nvSpPr>
        <p:spPr>
          <a:xfrm>
            <a:off x="1367028" y="6364224"/>
            <a:ext cx="1502111" cy="237744"/>
          </a:xfrm>
          <a:prstGeom prst="roundRect">
            <a:avLst>
              <a:gd name="adj" fmla="val 50000"/>
            </a:avLst>
          </a:prstGeom>
          <a:solidFill>
            <a:srgbClr val="001E50"/>
          </a:solidFill>
          <a:ln>
            <a:noFill/>
          </a:ln>
          <a:effectLst/>
        </p:spPr>
        <p:txBody>
          <a:bodyPr rtlCol="0" anchor="ctr"/>
          <a:lstStyle/>
          <a:p>
            <a:endParaRPr lang="de-DE"/>
          </a:p>
        </p:txBody>
      </p:sp>
      <p:sp>
        <p:nvSpPr>
          <p:cNvPr id="120" name="Col Portfolio, AI+, C-X NEXT, DigiTrace Tag Text"/>
          <p:cNvSpPr txBox="1"/>
          <p:nvPr/>
        </p:nvSpPr>
        <p:spPr>
          <a:xfrm>
            <a:off x="1367028" y="6364224"/>
            <a:ext cx="1502111" cy="237744"/>
          </a:xfrm>
          <a:prstGeom prst="rect">
            <a:avLst/>
          </a:prstGeom>
          <a:noFill/>
          <a:ln>
            <a:noFill/>
          </a:ln>
        </p:spPr>
        <p:txBody>
          <a:bodyPr wrap="none" lIns="0" tIns="0" rIns="0" bIns="0" rtlCol="0" anchor="ctr">
            <a:noAutofit/>
          </a:bodyPr>
          <a:lstStyle/>
          <a:p>
            <a:pPr marL="0" indent="0" algn="ctr">
              <a:buNone/>
            </a:pPr>
            <a:r>
              <a:rPr lang="de-DE" sz="900" b="1" kern="0" dirty="0">
                <a:solidFill>
                  <a:srgbClr val="FFFFFF"/>
                </a:solidFill>
                <a:latin typeface="Segoe UI" pitchFamily="34" charset="0"/>
                <a:ea typeface="Segoe UI" pitchFamily="34" charset="-122"/>
                <a:cs typeface="Segoe UI" pitchFamily="34" charset="-120"/>
              </a:rPr>
              <a:t>→ Deep dive: Topic 5</a:t>
            </a:r>
          </a:p>
        </p:txBody>
      </p:sp>
      <p:sp>
        <p:nvSpPr>
          <p:cNvPr id="121" name="Col Portfolio, AI+, C-X NEXT, DigiTrace Status Bar"/>
          <p:cNvSpPr/>
          <p:nvPr/>
        </p:nvSpPr>
        <p:spPr>
          <a:xfrm>
            <a:off x="1367028" y="2002790"/>
            <a:ext cx="1597914" cy="36576"/>
          </a:xfrm>
          <a:prstGeom prst="roundRect">
            <a:avLst>
              <a:gd name="adj" fmla="val 50000"/>
            </a:avLst>
          </a:prstGeom>
          <a:solidFill>
            <a:srgbClr val="E64343"/>
          </a:solidFill>
          <a:ln>
            <a:noFill/>
          </a:ln>
          <a:effectLst/>
        </p:spPr>
        <p:txBody>
          <a:bodyPr rtlCol="0" anchor="ctr"/>
          <a:lstStyle/>
          <a:p>
            <a:endParaRPr lang="de-DE"/>
          </a:p>
        </p:txBody>
      </p:sp>
      <p:sp>
        <p:nvSpPr>
          <p:cNvPr id="122" name="Col Supplier Activation Card"/>
          <p:cNvSpPr/>
          <p:nvPr/>
        </p:nvSpPr>
        <p:spPr>
          <a:xfrm>
            <a:off x="3074670"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23" name="Col Supplier Activation Name"/>
          <p:cNvSpPr txBox="1"/>
          <p:nvPr/>
        </p:nvSpPr>
        <p:spPr>
          <a:xfrm>
            <a:off x="3143250"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Supplier Activation</a:t>
            </a:r>
          </a:p>
        </p:txBody>
      </p:sp>
      <p:sp>
        <p:nvSpPr>
          <p:cNvPr id="124" name="Col Supplier Activation Abbr"/>
          <p:cNvSpPr txBox="1"/>
          <p:nvPr/>
        </p:nvSpPr>
        <p:spPr>
          <a:xfrm>
            <a:off x="3143250"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sac-cx</a:t>
            </a:r>
          </a:p>
        </p:txBody>
      </p:sp>
      <p:sp>
        <p:nvSpPr>
          <p:cNvPr id="125" name="Col Supplier Activation Domain Lead"/>
          <p:cNvSpPr txBox="1"/>
          <p:nvPr/>
        </p:nvSpPr>
        <p:spPr>
          <a:xfrm>
            <a:off x="3143250"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Stuhrmann (BZ-PX)</a:t>
            </a:r>
          </a:p>
        </p:txBody>
      </p:sp>
      <p:sp>
        <p:nvSpPr>
          <p:cNvPr id="126" name="Col Supplier Activation Status Bar"/>
          <p:cNvSpPr/>
          <p:nvPr/>
        </p:nvSpPr>
        <p:spPr>
          <a:xfrm>
            <a:off x="3143250"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27" name="Col Data Provisioning Card"/>
          <p:cNvSpPr/>
          <p:nvPr/>
        </p:nvSpPr>
        <p:spPr>
          <a:xfrm>
            <a:off x="4850892"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28" name="Col Data Provisioning Name"/>
          <p:cNvSpPr txBox="1"/>
          <p:nvPr/>
        </p:nvSpPr>
        <p:spPr>
          <a:xfrm>
            <a:off x="4919472"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Data Provisioning</a:t>
            </a:r>
          </a:p>
        </p:txBody>
      </p:sp>
      <p:sp>
        <p:nvSpPr>
          <p:cNvPr id="129" name="Col Data Provisioning Abbr"/>
          <p:cNvSpPr txBox="1"/>
          <p:nvPr/>
        </p:nvSpPr>
        <p:spPr>
          <a:xfrm>
            <a:off x="4919472"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dpr-cx</a:t>
            </a:r>
          </a:p>
        </p:txBody>
      </p:sp>
      <p:sp>
        <p:nvSpPr>
          <p:cNvPr id="130" name="Col Data Provisioning Domain Lead"/>
          <p:cNvSpPr txBox="1"/>
          <p:nvPr/>
        </p:nvSpPr>
        <p:spPr>
          <a:xfrm>
            <a:off x="4919472"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31" name="Col Data Provisioning Status Bar"/>
          <p:cNvSpPr/>
          <p:nvPr/>
        </p:nvSpPr>
        <p:spPr>
          <a:xfrm>
            <a:off x="4919472"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32" name="Col Hub &amp; Spoke Card"/>
          <p:cNvSpPr/>
          <p:nvPr/>
        </p:nvSpPr>
        <p:spPr>
          <a:xfrm>
            <a:off x="6627114"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33" name="Col Hub &amp; Spoke Name"/>
          <p:cNvSpPr txBox="1"/>
          <p:nvPr/>
        </p:nvSpPr>
        <p:spPr>
          <a:xfrm>
            <a:off x="6695694"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Hub &amp; Spoke</a:t>
            </a:r>
          </a:p>
        </p:txBody>
      </p:sp>
      <p:sp>
        <p:nvSpPr>
          <p:cNvPr id="134" name="Col Hub &amp; Spoke Abbr"/>
          <p:cNvSpPr txBox="1"/>
          <p:nvPr/>
        </p:nvSpPr>
        <p:spPr>
          <a:xfrm>
            <a:off x="6695694"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hub-cx</a:t>
            </a:r>
          </a:p>
        </p:txBody>
      </p:sp>
      <p:sp>
        <p:nvSpPr>
          <p:cNvPr id="135" name="Col Hub &amp; Spoke Domain Lead"/>
          <p:cNvSpPr txBox="1"/>
          <p:nvPr/>
        </p:nvSpPr>
        <p:spPr>
          <a:xfrm>
            <a:off x="6695694"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36" name="Col Hub &amp; Spoke Status Bar"/>
          <p:cNvSpPr/>
          <p:nvPr/>
        </p:nvSpPr>
        <p:spPr>
          <a:xfrm>
            <a:off x="6695694"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37" name="Col Legal &amp; Contracts Card"/>
          <p:cNvSpPr/>
          <p:nvPr/>
        </p:nvSpPr>
        <p:spPr>
          <a:xfrm>
            <a:off x="8403336"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38" name="Col Legal &amp; Contracts Name"/>
          <p:cNvSpPr txBox="1"/>
          <p:nvPr/>
        </p:nvSpPr>
        <p:spPr>
          <a:xfrm>
            <a:off x="8471916"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Legal &amp; Contracts</a:t>
            </a:r>
          </a:p>
        </p:txBody>
      </p:sp>
      <p:sp>
        <p:nvSpPr>
          <p:cNvPr id="139" name="Col Legal &amp; Contracts Abbr"/>
          <p:cNvSpPr txBox="1"/>
          <p:nvPr/>
        </p:nvSpPr>
        <p:spPr>
          <a:xfrm>
            <a:off x="8471916"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gis-cx</a:t>
            </a:r>
          </a:p>
        </p:txBody>
      </p:sp>
      <p:sp>
        <p:nvSpPr>
          <p:cNvPr id="140" name="Col Legal &amp; Contracts Domain Lead"/>
          <p:cNvSpPr txBox="1"/>
          <p:nvPr/>
        </p:nvSpPr>
        <p:spPr>
          <a:xfrm>
            <a:off x="8471916"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Schiffelbaum (A-IIED-EJ)</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Support: Brunke (K-ILX-6)</a:t>
            </a:r>
          </a:p>
        </p:txBody>
      </p:sp>
      <p:sp>
        <p:nvSpPr>
          <p:cNvPr id="141" name="Col Legal &amp; Contracts Status Bar"/>
          <p:cNvSpPr/>
          <p:nvPr/>
        </p:nvSpPr>
        <p:spPr>
          <a:xfrm>
            <a:off x="8471916"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42" name="Col Architecture Card"/>
          <p:cNvSpPr/>
          <p:nvPr/>
        </p:nvSpPr>
        <p:spPr>
          <a:xfrm>
            <a:off x="10179558" y="978408"/>
            <a:ext cx="1735074" cy="5696712"/>
          </a:xfrm>
          <a:prstGeom prst="roundRect">
            <a:avLst>
              <a:gd name="adj" fmla="val 4000"/>
            </a:avLst>
          </a:prstGeom>
          <a:solidFill>
            <a:srgbClr val="FFFFFF"/>
          </a:solidFill>
          <a:ln>
            <a:noFill/>
          </a:ln>
          <a:effectLst/>
        </p:spPr>
        <p:txBody>
          <a:bodyPr rtlCol="0" anchor="ctr"/>
          <a:lstStyle/>
          <a:p>
            <a:endParaRPr lang="de-DE"/>
          </a:p>
        </p:txBody>
      </p:sp>
      <p:sp>
        <p:nvSpPr>
          <p:cNvPr id="143" name="Col Architecture Name"/>
          <p:cNvSpPr txBox="1"/>
          <p:nvPr/>
        </p:nvSpPr>
        <p:spPr>
          <a:xfrm>
            <a:off x="10248138" y="1078992"/>
            <a:ext cx="159791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Architecture</a:t>
            </a:r>
          </a:p>
        </p:txBody>
      </p:sp>
      <p:sp>
        <p:nvSpPr>
          <p:cNvPr id="144" name="Col Architecture Abbr"/>
          <p:cNvSpPr txBox="1"/>
          <p:nvPr/>
        </p:nvSpPr>
        <p:spPr>
          <a:xfrm>
            <a:off x="10248138" y="1262380"/>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arch-cx</a:t>
            </a:r>
          </a:p>
        </p:txBody>
      </p:sp>
      <p:sp>
        <p:nvSpPr>
          <p:cNvPr id="145" name="Col Architecture Domain Lead"/>
          <p:cNvSpPr txBox="1"/>
          <p:nvPr/>
        </p:nvSpPr>
        <p:spPr>
          <a:xfrm>
            <a:off x="10248138" y="1628394"/>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Fischer (K-DCC/B)</a:t>
            </a:r>
          </a:p>
        </p:txBody>
      </p:sp>
      <p:sp>
        <p:nvSpPr>
          <p:cNvPr id="146" name="Col Architecture Status Bar"/>
          <p:cNvSpPr/>
          <p:nvPr/>
        </p:nvSpPr>
        <p:spPr>
          <a:xfrm>
            <a:off x="10248138" y="2002790"/>
            <a:ext cx="1597914" cy="36576"/>
          </a:xfrm>
          <a:prstGeom prst="roundRect">
            <a:avLst>
              <a:gd name="adj" fmla="val 50000"/>
            </a:avLst>
          </a:prstGeom>
          <a:solidFill>
            <a:srgbClr val="F0B135"/>
          </a:solidFill>
          <a:ln>
            <a:noFill/>
          </a:ln>
          <a:effectLst/>
        </p:spPr>
        <p:txBody>
          <a:bodyPr rtlCol="0" anchor="ctr"/>
          <a:lstStyle/>
          <a:p>
            <a:endParaRPr lang="de-DE"/>
          </a:p>
        </p:txBody>
      </p:sp>
      <p:sp>
        <p:nvSpPr>
          <p:cNvPr id="147" name="Head Label Name"/>
          <p:cNvSpPr txBox="1"/>
          <p:nvPr/>
        </p:nvSpPr>
        <p:spPr>
          <a:xfrm>
            <a:off x="274320" y="1106424"/>
            <a:ext cx="987552"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48" name="Head Label Workstream Lead"/>
          <p:cNvSpPr txBox="1"/>
          <p:nvPr/>
        </p:nvSpPr>
        <p:spPr>
          <a:xfrm>
            <a:off x="274320" y="1628394"/>
            <a:ext cx="987552"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Workstream Lead</a:t>
            </a:r>
          </a:p>
        </p:txBody>
      </p:sp>
      <p:sp>
        <p:nvSpPr>
          <p:cNvPr id="149" name="Row Label Overall status"/>
          <p:cNvSpPr txBox="1"/>
          <p:nvPr/>
        </p:nvSpPr>
        <p:spPr>
          <a:xfrm>
            <a:off x="274320" y="2158238"/>
            <a:ext cx="987552" cy="261334"/>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0" name="Portfolio, AI+, C-X NEXT, DigiTrace Status Pill"/>
          <p:cNvSpPr/>
          <p:nvPr/>
        </p:nvSpPr>
        <p:spPr>
          <a:xfrm>
            <a:off x="1367028"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1" name="Portfolio, AI+, C-X NEXT, DigiTrace Status Text"/>
          <p:cNvSpPr txBox="1"/>
          <p:nvPr/>
        </p:nvSpPr>
        <p:spPr>
          <a:xfrm>
            <a:off x="1367028"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2" name="Supplier Activation Status Pill"/>
          <p:cNvSpPr/>
          <p:nvPr/>
        </p:nvSpPr>
        <p:spPr>
          <a:xfrm>
            <a:off x="314325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3" name="Supplier Activation Status Text"/>
          <p:cNvSpPr txBox="1"/>
          <p:nvPr/>
        </p:nvSpPr>
        <p:spPr>
          <a:xfrm>
            <a:off x="314325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Data Provisioning Status Pill"/>
          <p:cNvSpPr/>
          <p:nvPr/>
        </p:nvSpPr>
        <p:spPr>
          <a:xfrm>
            <a:off x="491947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5" name="Data Provisioning Status Text"/>
          <p:cNvSpPr txBox="1"/>
          <p:nvPr/>
        </p:nvSpPr>
        <p:spPr>
          <a:xfrm>
            <a:off x="491947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Hub &amp; Spoke Status Pill"/>
          <p:cNvSpPr/>
          <p:nvPr/>
        </p:nvSpPr>
        <p:spPr>
          <a:xfrm>
            <a:off x="6695694"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7" name="Hub &amp; Spoke Status Text"/>
          <p:cNvSpPr txBox="1"/>
          <p:nvPr/>
        </p:nvSpPr>
        <p:spPr>
          <a:xfrm>
            <a:off x="6695694"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8" name="Legal &amp; Contracts Status Pill"/>
          <p:cNvSpPr/>
          <p:nvPr/>
        </p:nvSpPr>
        <p:spPr>
          <a:xfrm>
            <a:off x="8471916"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Legal &amp; Contracts Status Text"/>
          <p:cNvSpPr txBox="1"/>
          <p:nvPr/>
        </p:nvSpPr>
        <p:spPr>
          <a:xfrm>
            <a:off x="8471916"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Architecture Status Pill"/>
          <p:cNvSpPr/>
          <p:nvPr/>
        </p:nvSpPr>
        <p:spPr>
          <a:xfrm>
            <a:off x="10248138"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Architecture Status Text"/>
          <p:cNvSpPr txBox="1"/>
          <p:nvPr/>
        </p:nvSpPr>
        <p:spPr>
          <a:xfrm>
            <a:off x="10248138"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Row Label Goal"/>
          <p:cNvSpPr txBox="1"/>
          <p:nvPr/>
        </p:nvSpPr>
        <p:spPr>
          <a:xfrm>
            <a:off x="274320" y="2483580"/>
            <a:ext cx="987552" cy="50024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Goal</a:t>
            </a:r>
          </a:p>
        </p:txBody>
      </p:sp>
      <p:sp>
        <p:nvSpPr>
          <p:cNvPr id="163" name="Portfolio, AI+, C-X NEXT, DigiTrace Row Divider Goal"/>
          <p:cNvSpPr/>
          <p:nvPr/>
        </p:nvSpPr>
        <p:spPr>
          <a:xfrm>
            <a:off x="1367028" y="2419572"/>
            <a:ext cx="1597914" cy="6401"/>
          </a:xfrm>
          <a:prstGeom prst="rect">
            <a:avLst/>
          </a:prstGeom>
          <a:solidFill>
            <a:srgbClr val="E2E8EC"/>
          </a:solidFill>
          <a:ln>
            <a:noFill/>
          </a:ln>
          <a:effectLst/>
        </p:spPr>
        <p:txBody>
          <a:bodyPr rtlCol="0" anchor="ctr"/>
          <a:lstStyle/>
          <a:p>
            <a:endParaRPr lang="de-DE"/>
          </a:p>
        </p:txBody>
      </p:sp>
      <p:sp>
        <p:nvSpPr>
          <p:cNvPr id="164" name="Portfolio, AI+, C-X NEXT, DigiTrace Goal"/>
          <p:cNvSpPr txBox="1"/>
          <p:nvPr/>
        </p:nvSpPr>
        <p:spPr>
          <a:xfrm>
            <a:off x="1367028" y="2483580"/>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Budget and funding secured in every planning round</a:t>
            </a:r>
          </a:p>
        </p:txBody>
      </p:sp>
      <p:sp>
        <p:nvSpPr>
          <p:cNvPr id="165" name="Supplier Activation Row Divider Goal"/>
          <p:cNvSpPr/>
          <p:nvPr/>
        </p:nvSpPr>
        <p:spPr>
          <a:xfrm>
            <a:off x="3143250" y="2419572"/>
            <a:ext cx="1597914" cy="6401"/>
          </a:xfrm>
          <a:prstGeom prst="rect">
            <a:avLst/>
          </a:prstGeom>
          <a:solidFill>
            <a:srgbClr val="E2E8EC"/>
          </a:solidFill>
          <a:ln>
            <a:noFill/>
          </a:ln>
          <a:effectLst/>
        </p:spPr>
        <p:txBody>
          <a:bodyPr rtlCol="0" anchor="ctr"/>
          <a:lstStyle/>
          <a:p>
            <a:endParaRPr lang="de-DE"/>
          </a:p>
        </p:txBody>
      </p:sp>
      <p:sp>
        <p:nvSpPr>
          <p:cNvPr id="166" name="Supplier Activation Goal"/>
          <p:cNvSpPr txBox="1"/>
          <p:nvPr/>
        </p:nvSpPr>
        <p:spPr>
          <a:xfrm>
            <a:off x="3143250" y="2483580"/>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All P-Mat suppliers operationally connected</a:t>
            </a:r>
          </a:p>
        </p:txBody>
      </p:sp>
      <p:sp>
        <p:nvSpPr>
          <p:cNvPr id="167" name="Data Provisioning Row Divider Goal"/>
          <p:cNvSpPr/>
          <p:nvPr/>
        </p:nvSpPr>
        <p:spPr>
          <a:xfrm>
            <a:off x="4919472" y="2419572"/>
            <a:ext cx="1597914" cy="6401"/>
          </a:xfrm>
          <a:prstGeom prst="rect">
            <a:avLst/>
          </a:prstGeom>
          <a:solidFill>
            <a:srgbClr val="E2E8EC"/>
          </a:solidFill>
          <a:ln>
            <a:noFill/>
          </a:ln>
          <a:effectLst/>
        </p:spPr>
        <p:txBody>
          <a:bodyPr rtlCol="0" anchor="ctr"/>
          <a:lstStyle/>
          <a:p>
            <a:endParaRPr lang="de-DE"/>
          </a:p>
        </p:txBody>
      </p:sp>
      <p:sp>
        <p:nvSpPr>
          <p:cNvPr id="168" name="Data Provisioning Goal"/>
          <p:cNvSpPr txBox="1"/>
          <p:nvPr/>
        </p:nvSpPr>
        <p:spPr>
          <a:xfrm>
            <a:off x="4919472" y="2483580"/>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data provided as shoppable data products</a:t>
            </a:r>
          </a:p>
        </p:txBody>
      </p:sp>
      <p:sp>
        <p:nvSpPr>
          <p:cNvPr id="169" name="Hub &amp; Spoke Row Divider Goal"/>
          <p:cNvSpPr/>
          <p:nvPr/>
        </p:nvSpPr>
        <p:spPr>
          <a:xfrm>
            <a:off x="6695694" y="2419572"/>
            <a:ext cx="1597914" cy="6401"/>
          </a:xfrm>
          <a:prstGeom prst="rect">
            <a:avLst/>
          </a:prstGeom>
          <a:solidFill>
            <a:srgbClr val="E2E8EC"/>
          </a:solidFill>
          <a:ln>
            <a:noFill/>
          </a:ln>
          <a:effectLst/>
        </p:spPr>
        <p:txBody>
          <a:bodyPr rtlCol="0" anchor="ctr"/>
          <a:lstStyle/>
          <a:p>
            <a:endParaRPr lang="de-DE"/>
          </a:p>
        </p:txBody>
      </p:sp>
      <p:sp>
        <p:nvSpPr>
          <p:cNvPr id="170" name="Hub &amp; Spoke Goal"/>
          <p:cNvSpPr txBox="1"/>
          <p:nvPr/>
        </p:nvSpPr>
        <p:spPr>
          <a:xfrm>
            <a:off x="6695694" y="2483580"/>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scaled across all brands via Hub &amp; Spoke</a:t>
            </a:r>
          </a:p>
        </p:txBody>
      </p:sp>
      <p:sp>
        <p:nvSpPr>
          <p:cNvPr id="171" name="Legal &amp; Contracts Row Divider Goal"/>
          <p:cNvSpPr/>
          <p:nvPr/>
        </p:nvSpPr>
        <p:spPr>
          <a:xfrm>
            <a:off x="8471916" y="2419572"/>
            <a:ext cx="1597914" cy="6401"/>
          </a:xfrm>
          <a:prstGeom prst="rect">
            <a:avLst/>
          </a:prstGeom>
          <a:solidFill>
            <a:srgbClr val="E2E8EC"/>
          </a:solidFill>
          <a:ln>
            <a:noFill/>
          </a:ln>
          <a:effectLst/>
        </p:spPr>
        <p:txBody>
          <a:bodyPr rtlCol="0" anchor="ctr"/>
          <a:lstStyle/>
          <a:p>
            <a:endParaRPr lang="de-DE"/>
          </a:p>
        </p:txBody>
      </p:sp>
      <p:sp>
        <p:nvSpPr>
          <p:cNvPr id="172" name="Legal &amp; Contracts Goal"/>
          <p:cNvSpPr txBox="1"/>
          <p:nvPr/>
        </p:nvSpPr>
        <p:spPr>
          <a:xfrm>
            <a:off x="8471916" y="2483580"/>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contracts with all brands and data consumers</a:t>
            </a:r>
          </a:p>
        </p:txBody>
      </p:sp>
      <p:sp>
        <p:nvSpPr>
          <p:cNvPr id="173" name="Architecture Row Divider Goal"/>
          <p:cNvSpPr/>
          <p:nvPr/>
        </p:nvSpPr>
        <p:spPr>
          <a:xfrm>
            <a:off x="10248138" y="2419572"/>
            <a:ext cx="1597914" cy="6401"/>
          </a:xfrm>
          <a:prstGeom prst="rect">
            <a:avLst/>
          </a:prstGeom>
          <a:solidFill>
            <a:srgbClr val="E2E8EC"/>
          </a:solidFill>
          <a:ln>
            <a:noFill/>
          </a:ln>
          <a:effectLst/>
        </p:spPr>
        <p:txBody>
          <a:bodyPr rtlCol="0" anchor="ctr"/>
          <a:lstStyle/>
          <a:p>
            <a:endParaRPr lang="de-DE"/>
          </a:p>
        </p:txBody>
      </p:sp>
      <p:sp>
        <p:nvSpPr>
          <p:cNvPr id="174" name="Architecture Goal"/>
          <p:cNvSpPr txBox="1"/>
          <p:nvPr/>
        </p:nvSpPr>
        <p:spPr>
          <a:xfrm>
            <a:off x="10248138" y="2483580"/>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Approved, scalable Catena-X target architecture</a:t>
            </a:r>
          </a:p>
        </p:txBody>
      </p:sp>
      <p:sp>
        <p:nvSpPr>
          <p:cNvPr id="175" name="Row Label Key KPI"/>
          <p:cNvSpPr txBox="1"/>
          <p:nvPr/>
        </p:nvSpPr>
        <p:spPr>
          <a:xfrm>
            <a:off x="274320" y="3047835"/>
            <a:ext cx="987552" cy="653529"/>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Key KPI</a:t>
            </a:r>
          </a:p>
          <a:p>
            <a:pPr marL="0" indent="0" algn="l">
              <a:lnSpc>
                <a:spcPts val="1150"/>
              </a:lnSpc>
              <a:buNone/>
            </a:pPr>
            <a:r>
              <a:rPr lang="de-DE" sz="900" b="0" kern="0" dirty="0">
                <a:solidFill>
                  <a:srgbClr val="99D1CD"/>
                </a:solidFill>
                <a:latin typeface="Segoe UI" pitchFamily="34" charset="0"/>
                <a:ea typeface="Segoe UI" pitchFamily="34" charset="-122"/>
                <a:cs typeface="Segoe UI" pitchFamily="34" charset="-120"/>
              </a:rPr>
              <a:t>actual / target</a:t>
            </a:r>
          </a:p>
        </p:txBody>
      </p:sp>
      <p:sp>
        <p:nvSpPr>
          <p:cNvPr id="176" name="Portfolio, AI+, C-X NEXT, DigiTrace Row Divider Key KPI"/>
          <p:cNvSpPr/>
          <p:nvPr/>
        </p:nvSpPr>
        <p:spPr>
          <a:xfrm>
            <a:off x="1367028" y="2983827"/>
            <a:ext cx="1597914" cy="6401"/>
          </a:xfrm>
          <a:prstGeom prst="rect">
            <a:avLst/>
          </a:prstGeom>
          <a:solidFill>
            <a:srgbClr val="E2E8EC"/>
          </a:solidFill>
          <a:ln>
            <a:noFill/>
          </a:ln>
          <a:effectLst/>
        </p:spPr>
        <p:txBody>
          <a:bodyPr rtlCol="0" anchor="ctr"/>
          <a:lstStyle/>
          <a:p>
            <a:endParaRPr lang="de-DE"/>
          </a:p>
        </p:txBody>
      </p:sp>
      <p:sp>
        <p:nvSpPr>
          <p:cNvPr id="177" name="Portfolio, AI+, C-X NEXT, DigiTrace KPI"/>
          <p:cNvSpPr txBox="1"/>
          <p:nvPr/>
        </p:nvSpPr>
        <p:spPr>
          <a:xfrm>
            <a:off x="1367028" y="3047835"/>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Budgets secured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a:t>
            </a:r>
            <a:r>
              <a:rPr lang="de-DE" sz="900" b="0" kern="0" dirty="0">
                <a:solidFill>
                  <a:srgbClr val="292D31"/>
                </a:solidFill>
                <a:latin typeface="Segoe UI" pitchFamily="34" charset="0"/>
                <a:ea typeface="Segoe UI" pitchFamily="34" charset="-122"/>
                <a:cs typeface="Segoe UI" pitchFamily="34" charset="-120"/>
              </a:rPr>
              <a:t> / 2 (PR74, PR75)</a:t>
            </a:r>
          </a:p>
        </p:txBody>
      </p:sp>
      <p:sp>
        <p:nvSpPr>
          <p:cNvPr id="178" name="Supplier Activation Row Divider Key KPI"/>
          <p:cNvSpPr/>
          <p:nvPr/>
        </p:nvSpPr>
        <p:spPr>
          <a:xfrm>
            <a:off x="3143250" y="2983827"/>
            <a:ext cx="1597914" cy="6401"/>
          </a:xfrm>
          <a:prstGeom prst="rect">
            <a:avLst/>
          </a:prstGeom>
          <a:solidFill>
            <a:srgbClr val="E2E8EC"/>
          </a:solidFill>
          <a:ln>
            <a:noFill/>
          </a:ln>
          <a:effectLst/>
        </p:spPr>
        <p:txBody>
          <a:bodyPr rtlCol="0" anchor="ctr"/>
          <a:lstStyle/>
          <a:p>
            <a:endParaRPr lang="de-DE"/>
          </a:p>
        </p:txBody>
      </p:sp>
      <p:sp>
        <p:nvSpPr>
          <p:cNvPr id="179" name="Supplier Activation KPI"/>
          <p:cNvSpPr txBox="1"/>
          <p:nvPr/>
        </p:nvSpPr>
        <p:spPr>
          <a:xfrm>
            <a:off x="3143250" y="3047835"/>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Suppliers contracted by Q3</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a:t>
            </a:r>
            <a:r>
              <a:rPr lang="de-DE" sz="900" b="0" kern="0" dirty="0">
                <a:solidFill>
                  <a:srgbClr val="292D31"/>
                </a:solidFill>
                <a:latin typeface="Segoe UI" pitchFamily="34" charset="0"/>
                <a:ea typeface="Segoe UI" pitchFamily="34" charset="-122"/>
                <a:cs typeface="Segoe UI" pitchFamily="34" charset="-120"/>
              </a:rPr>
              <a:t> / 280</a:t>
            </a:r>
          </a:p>
        </p:txBody>
      </p:sp>
      <p:sp>
        <p:nvSpPr>
          <p:cNvPr id="180" name="Data Provisioning Row Divider Key KPI"/>
          <p:cNvSpPr/>
          <p:nvPr/>
        </p:nvSpPr>
        <p:spPr>
          <a:xfrm>
            <a:off x="4919472" y="2983827"/>
            <a:ext cx="1597914" cy="6401"/>
          </a:xfrm>
          <a:prstGeom prst="rect">
            <a:avLst/>
          </a:prstGeom>
          <a:solidFill>
            <a:srgbClr val="E2E8EC"/>
          </a:solidFill>
          <a:ln>
            <a:noFill/>
          </a:ln>
          <a:effectLst/>
        </p:spPr>
        <p:txBody>
          <a:bodyPr rtlCol="0" anchor="ctr"/>
          <a:lstStyle/>
          <a:p>
            <a:endParaRPr lang="de-DE"/>
          </a:p>
        </p:txBody>
      </p:sp>
      <p:sp>
        <p:nvSpPr>
          <p:cNvPr id="181" name="Data Provisioning KPI"/>
          <p:cNvSpPr txBox="1"/>
          <p:nvPr/>
        </p:nvSpPr>
        <p:spPr>
          <a:xfrm>
            <a:off x="4919472" y="3047835"/>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Use Case Owners approved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6</a:t>
            </a:r>
            <a:r>
              <a:rPr lang="de-DE" sz="900" b="0" kern="0" dirty="0">
                <a:solidFill>
                  <a:srgbClr val="292D31"/>
                </a:solidFill>
                <a:latin typeface="Segoe UI" pitchFamily="34" charset="0"/>
                <a:ea typeface="Segoe UI" pitchFamily="34" charset="-122"/>
                <a:cs typeface="Segoe UI" pitchFamily="34" charset="-120"/>
              </a:rPr>
              <a:t> / 8</a:t>
            </a:r>
          </a:p>
        </p:txBody>
      </p:sp>
      <p:sp>
        <p:nvSpPr>
          <p:cNvPr id="182" name="Hub &amp; Spoke Row Divider Key KPI"/>
          <p:cNvSpPr/>
          <p:nvPr/>
        </p:nvSpPr>
        <p:spPr>
          <a:xfrm>
            <a:off x="6695694" y="2983827"/>
            <a:ext cx="1597914" cy="6401"/>
          </a:xfrm>
          <a:prstGeom prst="rect">
            <a:avLst/>
          </a:prstGeom>
          <a:solidFill>
            <a:srgbClr val="E2E8EC"/>
          </a:solidFill>
          <a:ln>
            <a:noFill/>
          </a:ln>
          <a:effectLst/>
        </p:spPr>
        <p:txBody>
          <a:bodyPr rtlCol="0" anchor="ctr"/>
          <a:lstStyle/>
          <a:p>
            <a:endParaRPr lang="de-DE"/>
          </a:p>
        </p:txBody>
      </p:sp>
      <p:sp>
        <p:nvSpPr>
          <p:cNvPr id="183" name="Hub &amp; Spoke KPI"/>
          <p:cNvSpPr txBox="1"/>
          <p:nvPr/>
        </p:nvSpPr>
        <p:spPr>
          <a:xfrm>
            <a:off x="6695694" y="3047835"/>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Brands signed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a:t>
            </a:r>
            <a:r>
              <a:rPr lang="de-DE" sz="900" b="0" kern="0" dirty="0">
                <a:solidFill>
                  <a:srgbClr val="292D31"/>
                </a:solidFill>
                <a:latin typeface="Segoe UI" pitchFamily="34" charset="0"/>
                <a:ea typeface="Segoe UI" pitchFamily="34" charset="-122"/>
                <a:cs typeface="Segoe UI" pitchFamily="34" charset="-120"/>
              </a:rPr>
              <a:t> / 17</a:t>
            </a:r>
          </a:p>
        </p:txBody>
      </p:sp>
      <p:sp>
        <p:nvSpPr>
          <p:cNvPr id="184" name="Legal &amp; Contracts Row Divider Key KPI"/>
          <p:cNvSpPr/>
          <p:nvPr/>
        </p:nvSpPr>
        <p:spPr>
          <a:xfrm>
            <a:off x="8471916" y="2983827"/>
            <a:ext cx="1597914" cy="6401"/>
          </a:xfrm>
          <a:prstGeom prst="rect">
            <a:avLst/>
          </a:prstGeom>
          <a:solidFill>
            <a:srgbClr val="E2E8EC"/>
          </a:solidFill>
          <a:ln>
            <a:noFill/>
          </a:ln>
          <a:effectLst/>
        </p:spPr>
        <p:txBody>
          <a:bodyPr rtlCol="0" anchor="ctr"/>
          <a:lstStyle/>
          <a:p>
            <a:endParaRPr lang="de-DE"/>
          </a:p>
        </p:txBody>
      </p:sp>
      <p:sp>
        <p:nvSpPr>
          <p:cNvPr id="185" name="Legal &amp; Contracts KPI"/>
          <p:cNvSpPr txBox="1"/>
          <p:nvPr/>
        </p:nvSpPr>
        <p:spPr>
          <a:xfrm>
            <a:off x="8471916" y="3047835"/>
            <a:ext cx="159791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Automated contract cycle</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not live</a:t>
            </a:r>
            <a:r>
              <a:rPr lang="de-DE" sz="900" b="0" kern="0" dirty="0">
                <a:solidFill>
                  <a:srgbClr val="292D31"/>
                </a:solidFill>
                <a:latin typeface="Segoe UI" pitchFamily="34" charset="0"/>
                <a:ea typeface="Segoe UI" pitchFamily="34" charset="-122"/>
                <a:cs typeface="Segoe UI" pitchFamily="34" charset="-120"/>
              </a:rPr>
              <a:t> / live by 01 Jan 2028</a:t>
            </a:r>
          </a:p>
        </p:txBody>
      </p:sp>
      <p:sp>
        <p:nvSpPr>
          <p:cNvPr id="186" name="Architecture Row Divider Key KPI"/>
          <p:cNvSpPr/>
          <p:nvPr/>
        </p:nvSpPr>
        <p:spPr>
          <a:xfrm>
            <a:off x="10248138" y="2983827"/>
            <a:ext cx="1597914" cy="6401"/>
          </a:xfrm>
          <a:prstGeom prst="rect">
            <a:avLst/>
          </a:prstGeom>
          <a:solidFill>
            <a:srgbClr val="E2E8EC"/>
          </a:solidFill>
          <a:ln>
            <a:noFill/>
          </a:ln>
          <a:effectLst/>
        </p:spPr>
        <p:txBody>
          <a:bodyPr rtlCol="0" anchor="ctr"/>
          <a:lstStyle/>
          <a:p>
            <a:endParaRPr lang="de-DE"/>
          </a:p>
        </p:txBody>
      </p:sp>
      <p:sp>
        <p:nvSpPr>
          <p:cNvPr id="187" name="Architecture KPI"/>
          <p:cNvSpPr txBox="1"/>
          <p:nvPr/>
        </p:nvSpPr>
        <p:spPr>
          <a:xfrm>
            <a:off x="10248138" y="3047835"/>
            <a:ext cx="159791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88" name="Row Label Next (critical) milestone"/>
          <p:cNvSpPr txBox="1"/>
          <p:nvPr/>
        </p:nvSpPr>
        <p:spPr>
          <a:xfrm>
            <a:off x="274320" y="3765372"/>
            <a:ext cx="987552" cy="799579"/>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189" name="Portfolio, AI+, C-X NEXT, DigiTrace Row Divider Next (critical) milestone"/>
          <p:cNvSpPr/>
          <p:nvPr/>
        </p:nvSpPr>
        <p:spPr>
          <a:xfrm>
            <a:off x="1367028" y="3701364"/>
            <a:ext cx="1597914" cy="6401"/>
          </a:xfrm>
          <a:prstGeom prst="rect">
            <a:avLst/>
          </a:prstGeom>
          <a:solidFill>
            <a:srgbClr val="E2E8EC"/>
          </a:solidFill>
          <a:ln>
            <a:noFill/>
          </a:ln>
          <a:effectLst/>
        </p:spPr>
        <p:txBody>
          <a:bodyPr rtlCol="0" anchor="ctr"/>
          <a:lstStyle/>
          <a:p>
            <a:endParaRPr lang="de-DE"/>
          </a:p>
        </p:txBody>
      </p:sp>
      <p:sp>
        <p:nvSpPr>
          <p:cNvPr id="190" name="Portfolio, AI+, C-X NEXT, DigiTrace Milestone Dot"/>
          <p:cNvSpPr/>
          <p:nvPr/>
        </p:nvSpPr>
        <p:spPr>
          <a:xfrm>
            <a:off x="1367028" y="3801948"/>
            <a:ext cx="73152" cy="73152"/>
          </a:xfrm>
          <a:prstGeom prst="ellipse">
            <a:avLst/>
          </a:prstGeom>
          <a:solidFill>
            <a:srgbClr val="E64343"/>
          </a:solidFill>
          <a:ln>
            <a:noFill/>
          </a:ln>
          <a:effectLst/>
        </p:spPr>
        <p:txBody>
          <a:bodyPr rtlCol="0" anchor="ctr"/>
          <a:lstStyle/>
          <a:p>
            <a:endParaRPr lang="de-DE"/>
          </a:p>
        </p:txBody>
      </p:sp>
      <p:sp>
        <p:nvSpPr>
          <p:cNvPr id="191" name="Portfolio, AI+, C-X NEXT, DigiTrace Milestone"/>
          <p:cNvSpPr txBox="1"/>
          <p:nvPr/>
        </p:nvSpPr>
        <p:spPr>
          <a:xfrm>
            <a:off x="1504188" y="3765372"/>
            <a:ext cx="146075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Secure PR75</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192" name="Supplier Activation Row Divider Next (critical) milestone"/>
          <p:cNvSpPr/>
          <p:nvPr/>
        </p:nvSpPr>
        <p:spPr>
          <a:xfrm>
            <a:off x="3143250" y="3701364"/>
            <a:ext cx="1597914" cy="6401"/>
          </a:xfrm>
          <a:prstGeom prst="rect">
            <a:avLst/>
          </a:prstGeom>
          <a:solidFill>
            <a:srgbClr val="E2E8EC"/>
          </a:solidFill>
          <a:ln>
            <a:noFill/>
          </a:ln>
          <a:effectLst/>
        </p:spPr>
        <p:txBody>
          <a:bodyPr rtlCol="0" anchor="ctr"/>
          <a:lstStyle/>
          <a:p>
            <a:endParaRPr lang="de-DE"/>
          </a:p>
        </p:txBody>
      </p:sp>
      <p:sp>
        <p:nvSpPr>
          <p:cNvPr id="193" name="Supplier Activation Milestone Dot"/>
          <p:cNvSpPr/>
          <p:nvPr/>
        </p:nvSpPr>
        <p:spPr>
          <a:xfrm>
            <a:off x="3143250" y="3801948"/>
            <a:ext cx="73152" cy="73152"/>
          </a:xfrm>
          <a:prstGeom prst="ellipse">
            <a:avLst/>
          </a:prstGeom>
          <a:solidFill>
            <a:srgbClr val="F0B135"/>
          </a:solidFill>
          <a:ln>
            <a:noFill/>
          </a:ln>
          <a:effectLst/>
        </p:spPr>
        <p:txBody>
          <a:bodyPr rtlCol="0" anchor="ctr"/>
          <a:lstStyle/>
          <a:p>
            <a:endParaRPr lang="de-DE"/>
          </a:p>
        </p:txBody>
      </p:sp>
      <p:sp>
        <p:nvSpPr>
          <p:cNvPr id="194" name="Supplier Activation Milestone"/>
          <p:cNvSpPr txBox="1"/>
          <p:nvPr/>
        </p:nvSpPr>
        <p:spPr>
          <a:xfrm>
            <a:off x="3280410" y="3765372"/>
            <a:ext cx="1460754"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EoY goal: 400 suppliers contracted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195" name="Data Provisioning Row Divider Next (critical) milestone"/>
          <p:cNvSpPr/>
          <p:nvPr/>
        </p:nvSpPr>
        <p:spPr>
          <a:xfrm>
            <a:off x="4919472" y="3701364"/>
            <a:ext cx="1597914" cy="6401"/>
          </a:xfrm>
          <a:prstGeom prst="rect">
            <a:avLst/>
          </a:prstGeom>
          <a:solidFill>
            <a:srgbClr val="E2E8EC"/>
          </a:solidFill>
          <a:ln>
            <a:noFill/>
          </a:ln>
          <a:effectLst/>
        </p:spPr>
        <p:txBody>
          <a:bodyPr rtlCol="0" anchor="ctr"/>
          <a:lstStyle/>
          <a:p>
            <a:endParaRPr lang="de-DE"/>
          </a:p>
        </p:txBody>
      </p:sp>
      <p:sp>
        <p:nvSpPr>
          <p:cNvPr id="196" name="Data Provisioning Milestone Dot"/>
          <p:cNvSpPr/>
          <p:nvPr/>
        </p:nvSpPr>
        <p:spPr>
          <a:xfrm>
            <a:off x="4919472" y="3801948"/>
            <a:ext cx="73152" cy="73152"/>
          </a:xfrm>
          <a:prstGeom prst="ellipse">
            <a:avLst/>
          </a:prstGeom>
          <a:solidFill>
            <a:srgbClr val="53BE70"/>
          </a:solidFill>
          <a:ln>
            <a:noFill/>
          </a:ln>
          <a:effectLst/>
        </p:spPr>
        <p:txBody>
          <a:bodyPr rtlCol="0" anchor="ctr"/>
          <a:lstStyle/>
          <a:p>
            <a:endParaRPr lang="de-DE"/>
          </a:p>
        </p:txBody>
      </p:sp>
      <p:sp>
        <p:nvSpPr>
          <p:cNvPr id="197" name="Data Provisioning Milestone"/>
          <p:cNvSpPr txBox="1"/>
          <p:nvPr/>
        </p:nvSpPr>
        <p:spPr>
          <a:xfrm>
            <a:off x="5056632" y="3765372"/>
            <a:ext cx="1460754"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vision: semantic models</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28 Oct 2026</a:t>
            </a:r>
          </a:p>
        </p:txBody>
      </p:sp>
      <p:sp>
        <p:nvSpPr>
          <p:cNvPr id="198" name="Hub &amp; Spoke Row Divider Next (critical) milestone"/>
          <p:cNvSpPr/>
          <p:nvPr/>
        </p:nvSpPr>
        <p:spPr>
          <a:xfrm>
            <a:off x="6695694" y="3701364"/>
            <a:ext cx="1597914" cy="6401"/>
          </a:xfrm>
          <a:prstGeom prst="rect">
            <a:avLst/>
          </a:prstGeom>
          <a:solidFill>
            <a:srgbClr val="E2E8EC"/>
          </a:solidFill>
          <a:ln>
            <a:noFill/>
          </a:ln>
          <a:effectLst/>
        </p:spPr>
        <p:txBody>
          <a:bodyPr rtlCol="0" anchor="ctr"/>
          <a:lstStyle/>
          <a:p>
            <a:endParaRPr lang="de-DE"/>
          </a:p>
        </p:txBody>
      </p:sp>
      <p:sp>
        <p:nvSpPr>
          <p:cNvPr id="199" name="Hub &amp; Spoke Milestone Dot"/>
          <p:cNvSpPr/>
          <p:nvPr/>
        </p:nvSpPr>
        <p:spPr>
          <a:xfrm>
            <a:off x="6695694" y="3801948"/>
            <a:ext cx="73152" cy="73152"/>
          </a:xfrm>
          <a:prstGeom prst="ellipse">
            <a:avLst/>
          </a:prstGeom>
          <a:solidFill>
            <a:srgbClr val="F0B135"/>
          </a:solidFill>
          <a:ln>
            <a:noFill/>
          </a:ln>
          <a:effectLst/>
        </p:spPr>
        <p:txBody>
          <a:bodyPr rtlCol="0" anchor="ctr"/>
          <a:lstStyle/>
          <a:p>
            <a:endParaRPr lang="de-DE"/>
          </a:p>
        </p:txBody>
      </p:sp>
      <p:sp>
        <p:nvSpPr>
          <p:cNvPr id="200" name="Hub &amp; Spoke Milestone"/>
          <p:cNvSpPr txBox="1"/>
          <p:nvPr/>
        </p:nvSpPr>
        <p:spPr>
          <a:xfrm>
            <a:off x="6832854" y="3765372"/>
            <a:ext cx="1460754"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agreements signed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201" name="Legal &amp; Contracts Row Divider Next (critical) milestone"/>
          <p:cNvSpPr/>
          <p:nvPr/>
        </p:nvSpPr>
        <p:spPr>
          <a:xfrm>
            <a:off x="8471916" y="3701364"/>
            <a:ext cx="1597914" cy="6401"/>
          </a:xfrm>
          <a:prstGeom prst="rect">
            <a:avLst/>
          </a:prstGeom>
          <a:solidFill>
            <a:srgbClr val="E2E8EC"/>
          </a:solidFill>
          <a:ln>
            <a:noFill/>
          </a:ln>
          <a:effectLst/>
        </p:spPr>
        <p:txBody>
          <a:bodyPr rtlCol="0" anchor="ctr"/>
          <a:lstStyle/>
          <a:p>
            <a:endParaRPr lang="de-DE"/>
          </a:p>
        </p:txBody>
      </p:sp>
      <p:sp>
        <p:nvSpPr>
          <p:cNvPr id="202" name="Legal &amp; Contracts Milestone Dot"/>
          <p:cNvSpPr/>
          <p:nvPr/>
        </p:nvSpPr>
        <p:spPr>
          <a:xfrm>
            <a:off x="8471916" y="3801948"/>
            <a:ext cx="73152" cy="73152"/>
          </a:xfrm>
          <a:prstGeom prst="ellipse">
            <a:avLst/>
          </a:prstGeom>
          <a:solidFill>
            <a:srgbClr val="F0B135"/>
          </a:solidFill>
          <a:ln>
            <a:noFill/>
          </a:ln>
          <a:effectLst/>
        </p:spPr>
        <p:txBody>
          <a:bodyPr rtlCol="0" anchor="ctr"/>
          <a:lstStyle/>
          <a:p>
            <a:endParaRPr lang="de-DE"/>
          </a:p>
        </p:txBody>
      </p:sp>
      <p:sp>
        <p:nvSpPr>
          <p:cNvPr id="203" name="Legal &amp; Contracts Milestone"/>
          <p:cNvSpPr txBox="1"/>
          <p:nvPr/>
        </p:nvSpPr>
        <p:spPr>
          <a:xfrm>
            <a:off x="8609076" y="3765372"/>
            <a:ext cx="146075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Managed by Cofinity-X</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Oct 2026</a:t>
            </a:r>
          </a:p>
        </p:txBody>
      </p:sp>
      <p:sp>
        <p:nvSpPr>
          <p:cNvPr id="204" name="Architecture Row Divider Next (critical) milestone"/>
          <p:cNvSpPr/>
          <p:nvPr/>
        </p:nvSpPr>
        <p:spPr>
          <a:xfrm>
            <a:off x="10248138" y="3701364"/>
            <a:ext cx="1597914" cy="6401"/>
          </a:xfrm>
          <a:prstGeom prst="rect">
            <a:avLst/>
          </a:prstGeom>
          <a:solidFill>
            <a:srgbClr val="E2E8EC"/>
          </a:solidFill>
          <a:ln>
            <a:noFill/>
          </a:ln>
          <a:effectLst/>
        </p:spPr>
        <p:txBody>
          <a:bodyPr rtlCol="0" anchor="ctr"/>
          <a:lstStyle/>
          <a:p>
            <a:endParaRPr lang="de-DE"/>
          </a:p>
        </p:txBody>
      </p:sp>
      <p:sp>
        <p:nvSpPr>
          <p:cNvPr id="205" name="Architecture Milestone Dot"/>
          <p:cNvSpPr/>
          <p:nvPr/>
        </p:nvSpPr>
        <p:spPr>
          <a:xfrm>
            <a:off x="10248138" y="3801948"/>
            <a:ext cx="73152" cy="73152"/>
          </a:xfrm>
          <a:prstGeom prst="ellipse">
            <a:avLst/>
          </a:prstGeom>
          <a:solidFill>
            <a:srgbClr val="53BE70"/>
          </a:solidFill>
          <a:ln>
            <a:noFill/>
          </a:ln>
          <a:effectLst/>
        </p:spPr>
        <p:txBody>
          <a:bodyPr rtlCol="0" anchor="ctr"/>
          <a:lstStyle/>
          <a:p>
            <a:endParaRPr lang="de-DE"/>
          </a:p>
        </p:txBody>
      </p:sp>
      <p:sp>
        <p:nvSpPr>
          <p:cNvPr id="206" name="Architecture Milestone"/>
          <p:cNvSpPr txBox="1"/>
          <p:nvPr/>
        </p:nvSpPr>
        <p:spPr>
          <a:xfrm>
            <a:off x="10385298" y="3765372"/>
            <a:ext cx="1460754"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High-level architecture updated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25 Nov 2026</a:t>
            </a:r>
          </a:p>
        </p:txBody>
      </p:sp>
      <p:sp>
        <p:nvSpPr>
          <p:cNvPr id="207" name="Row Label Dimensions"/>
          <p:cNvSpPr txBox="1"/>
          <p:nvPr/>
        </p:nvSpPr>
        <p:spPr>
          <a:xfrm>
            <a:off x="274320" y="4628960"/>
            <a:ext cx="987552" cy="166211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08" name="Dim Lane External · CX Association"/>
          <p:cNvSpPr/>
          <p:nvPr/>
        </p:nvSpPr>
        <p:spPr>
          <a:xfrm>
            <a:off x="201168" y="4811586"/>
            <a:ext cx="1097280" cy="356156"/>
          </a:xfrm>
          <a:prstGeom prst="rect">
            <a:avLst/>
          </a:prstGeom>
          <a:solidFill>
            <a:srgbClr val="0B3A45"/>
          </a:solidFill>
          <a:ln>
            <a:noFill/>
          </a:ln>
          <a:effectLst/>
        </p:spPr>
        <p:txBody>
          <a:bodyPr rtlCol="0" anchor="ctr"/>
          <a:lstStyle/>
          <a:p>
            <a:endParaRPr lang="de-DE"/>
          </a:p>
        </p:txBody>
      </p:sp>
      <p:sp>
        <p:nvSpPr>
          <p:cNvPr id="209" name="Dim Label External · CX Association"/>
          <p:cNvSpPr txBox="1"/>
          <p:nvPr/>
        </p:nvSpPr>
        <p:spPr>
          <a:xfrm>
            <a:off x="329184" y="4811586"/>
            <a:ext cx="932688" cy="356156"/>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CX Association</a:t>
            </a:r>
          </a:p>
        </p:txBody>
      </p:sp>
      <p:sp>
        <p:nvSpPr>
          <p:cNvPr id="210" name="Dim Label Business"/>
          <p:cNvSpPr txBox="1"/>
          <p:nvPr/>
        </p:nvSpPr>
        <p:spPr>
          <a:xfrm>
            <a:off x="329184" y="5167741"/>
            <a:ext cx="932688" cy="356156"/>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Business</a:t>
            </a:r>
          </a:p>
        </p:txBody>
      </p:sp>
      <p:sp>
        <p:nvSpPr>
          <p:cNvPr id="211" name="Dim Lane Use Cases"/>
          <p:cNvSpPr/>
          <p:nvPr/>
        </p:nvSpPr>
        <p:spPr>
          <a:xfrm>
            <a:off x="201168" y="5523897"/>
            <a:ext cx="1097280" cy="356156"/>
          </a:xfrm>
          <a:prstGeom prst="rect">
            <a:avLst/>
          </a:prstGeom>
          <a:solidFill>
            <a:srgbClr val="0B3A45"/>
          </a:solidFill>
          <a:ln>
            <a:noFill/>
          </a:ln>
          <a:effectLst/>
        </p:spPr>
        <p:txBody>
          <a:bodyPr rtlCol="0" anchor="ctr"/>
          <a:lstStyle/>
          <a:p>
            <a:endParaRPr lang="de-DE"/>
          </a:p>
        </p:txBody>
      </p:sp>
      <p:sp>
        <p:nvSpPr>
          <p:cNvPr id="212" name="Dim Label Use Cases"/>
          <p:cNvSpPr txBox="1"/>
          <p:nvPr/>
        </p:nvSpPr>
        <p:spPr>
          <a:xfrm>
            <a:off x="329184" y="5523897"/>
            <a:ext cx="932688" cy="356156"/>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Use Cases</a:t>
            </a:r>
          </a:p>
        </p:txBody>
      </p:sp>
      <p:sp>
        <p:nvSpPr>
          <p:cNvPr id="213" name="Dim Label Technical"/>
          <p:cNvSpPr txBox="1"/>
          <p:nvPr/>
        </p:nvSpPr>
        <p:spPr>
          <a:xfrm>
            <a:off x="329184" y="5880052"/>
            <a:ext cx="932688" cy="356156"/>
          </a:xfrm>
          <a:prstGeom prst="rect">
            <a:avLst/>
          </a:prstGeom>
          <a:noFill/>
          <a:ln>
            <a:noFill/>
          </a:ln>
        </p:spPr>
        <p:txBody>
          <a:bodyPr wrap="none" lIns="0" tIns="0" rIns="0" bIns="0" rtlCol="0" anchor="ctr">
            <a:noAutofit/>
          </a:bodyPr>
          <a:lstStyle/>
          <a:p>
            <a:pPr marL="0" indent="0" algn="l">
              <a:buNone/>
            </a:pPr>
            <a:r>
              <a:rPr lang="de-DE" sz="850" b="0" kern="0" dirty="0">
                <a:solidFill>
                  <a:srgbClr val="99D1CD"/>
                </a:solidFill>
                <a:latin typeface="Segoe UI" pitchFamily="34" charset="0"/>
                <a:ea typeface="Segoe UI" pitchFamily="34" charset="-122"/>
                <a:cs typeface="Segoe UI" pitchFamily="34" charset="-120"/>
              </a:rPr>
              <a:t>Technical</a:t>
            </a:r>
          </a:p>
        </p:txBody>
      </p:sp>
      <p:sp>
        <p:nvSpPr>
          <p:cNvPr id="214" name="Portfolio, AI+, C-X NEXT, DigiTrace Row Divider Dimensions"/>
          <p:cNvSpPr/>
          <p:nvPr/>
        </p:nvSpPr>
        <p:spPr>
          <a:xfrm>
            <a:off x="1367028" y="4564952"/>
            <a:ext cx="1597914" cy="6401"/>
          </a:xfrm>
          <a:prstGeom prst="rect">
            <a:avLst/>
          </a:prstGeom>
          <a:solidFill>
            <a:srgbClr val="E2E8EC"/>
          </a:solidFill>
          <a:ln>
            <a:noFill/>
          </a:ln>
          <a:effectLst/>
        </p:spPr>
        <p:txBody>
          <a:bodyPr rtlCol="0" anchor="ctr"/>
          <a:lstStyle/>
          <a:p>
            <a:endParaRPr lang="de-DE"/>
          </a:p>
        </p:txBody>
      </p:sp>
      <p:sp>
        <p:nvSpPr>
          <p:cNvPr id="215" name="Portfolio, AI+, C-X NEXT, DigiTrace Dim Lane External · CX Association"/>
          <p:cNvSpPr/>
          <p:nvPr/>
        </p:nvSpPr>
        <p:spPr>
          <a:xfrm>
            <a:off x="1298448" y="4811586"/>
            <a:ext cx="1735074" cy="356156"/>
          </a:xfrm>
          <a:prstGeom prst="rect">
            <a:avLst/>
          </a:prstGeom>
          <a:solidFill>
            <a:srgbClr val="F0F3F6"/>
          </a:solidFill>
          <a:ln>
            <a:noFill/>
          </a:ln>
          <a:effectLst/>
        </p:spPr>
        <p:txBody>
          <a:bodyPr rtlCol="0" anchor="ctr"/>
          <a:lstStyle/>
          <a:p>
            <a:endParaRPr lang="de-DE"/>
          </a:p>
        </p:txBody>
      </p:sp>
      <p:sp>
        <p:nvSpPr>
          <p:cNvPr id="216" name="Portfolio, AI+, C-X NEXT, DigiTrace Dim External · CX Association Dot"/>
          <p:cNvSpPr/>
          <p:nvPr/>
        </p:nvSpPr>
        <p:spPr>
          <a:xfrm>
            <a:off x="1367028" y="4934799"/>
            <a:ext cx="109728" cy="109728"/>
          </a:xfrm>
          <a:prstGeom prst="ellipse">
            <a:avLst/>
          </a:prstGeom>
          <a:solidFill>
            <a:srgbClr val="53BE70"/>
          </a:solidFill>
          <a:ln>
            <a:noFill/>
          </a:ln>
          <a:effectLst/>
        </p:spPr>
        <p:txBody>
          <a:bodyPr rtlCol="0" anchor="ctr"/>
          <a:lstStyle/>
          <a:p>
            <a:endParaRPr lang="de-DE"/>
          </a:p>
        </p:txBody>
      </p:sp>
      <p:sp>
        <p:nvSpPr>
          <p:cNvPr id="217" name="Portfolio, AI+, C-X NEXT, DigiTrace Dim Business Dot"/>
          <p:cNvSpPr/>
          <p:nvPr/>
        </p:nvSpPr>
        <p:spPr>
          <a:xfrm>
            <a:off x="1367028" y="5290955"/>
            <a:ext cx="109728" cy="109728"/>
          </a:xfrm>
          <a:prstGeom prst="ellipse">
            <a:avLst/>
          </a:prstGeom>
          <a:solidFill>
            <a:srgbClr val="F0B135"/>
          </a:solidFill>
          <a:ln>
            <a:noFill/>
          </a:ln>
          <a:effectLst/>
        </p:spPr>
        <p:txBody>
          <a:bodyPr rtlCol="0" anchor="ctr"/>
          <a:lstStyle/>
          <a:p>
            <a:endParaRPr lang="de-DE"/>
          </a:p>
        </p:txBody>
      </p:sp>
      <p:sp>
        <p:nvSpPr>
          <p:cNvPr id="218" name="Portfolio, AI+, C-X NEXT, DigiTrace Dim Lane Use Cases"/>
          <p:cNvSpPr/>
          <p:nvPr/>
        </p:nvSpPr>
        <p:spPr>
          <a:xfrm>
            <a:off x="1298448" y="5523897"/>
            <a:ext cx="1735074" cy="356156"/>
          </a:xfrm>
          <a:prstGeom prst="rect">
            <a:avLst/>
          </a:prstGeom>
          <a:solidFill>
            <a:srgbClr val="F0F3F6"/>
          </a:solidFill>
          <a:ln>
            <a:noFill/>
          </a:ln>
          <a:effectLst/>
        </p:spPr>
        <p:txBody>
          <a:bodyPr rtlCol="0" anchor="ctr"/>
          <a:lstStyle/>
          <a:p>
            <a:endParaRPr lang="de-DE"/>
          </a:p>
        </p:txBody>
      </p:sp>
      <p:sp>
        <p:nvSpPr>
          <p:cNvPr id="219" name="Portfolio, AI+, C-X NEXT, DigiTrace Dim Use Cases Dot"/>
          <p:cNvSpPr/>
          <p:nvPr/>
        </p:nvSpPr>
        <p:spPr>
          <a:xfrm>
            <a:off x="1367028" y="5647111"/>
            <a:ext cx="109728" cy="109728"/>
          </a:xfrm>
          <a:prstGeom prst="ellipse">
            <a:avLst/>
          </a:prstGeom>
          <a:solidFill>
            <a:srgbClr val="F0B135"/>
          </a:solidFill>
          <a:ln>
            <a:noFill/>
          </a:ln>
          <a:effectLst/>
        </p:spPr>
        <p:txBody>
          <a:bodyPr rtlCol="0" anchor="ctr"/>
          <a:lstStyle/>
          <a:p>
            <a:endParaRPr lang="de-DE"/>
          </a:p>
        </p:txBody>
      </p:sp>
      <p:sp>
        <p:nvSpPr>
          <p:cNvPr id="220" name="Portfolio, AI+, C-X NEXT, DigiTrace Dim Technical Dot"/>
          <p:cNvSpPr/>
          <p:nvPr/>
        </p:nvSpPr>
        <p:spPr>
          <a:xfrm>
            <a:off x="1367028" y="6003266"/>
            <a:ext cx="109728" cy="109728"/>
          </a:xfrm>
          <a:prstGeom prst="ellipse">
            <a:avLst/>
          </a:prstGeom>
          <a:solidFill>
            <a:srgbClr val="53BE70"/>
          </a:solidFill>
          <a:ln>
            <a:noFill/>
          </a:ln>
          <a:effectLst/>
        </p:spPr>
        <p:txBody>
          <a:bodyPr rtlCol="0" anchor="ctr"/>
          <a:lstStyle/>
          <a:p>
            <a:endParaRPr lang="de-DE"/>
          </a:p>
        </p:txBody>
      </p:sp>
      <p:sp>
        <p:nvSpPr>
          <p:cNvPr id="221" name="Supplier Activation Row Divider Dimensions"/>
          <p:cNvSpPr/>
          <p:nvPr/>
        </p:nvSpPr>
        <p:spPr>
          <a:xfrm>
            <a:off x="3143250" y="4564952"/>
            <a:ext cx="1597914" cy="6401"/>
          </a:xfrm>
          <a:prstGeom prst="rect">
            <a:avLst/>
          </a:prstGeom>
          <a:solidFill>
            <a:srgbClr val="E2E8EC"/>
          </a:solidFill>
          <a:ln>
            <a:noFill/>
          </a:ln>
          <a:effectLst/>
        </p:spPr>
        <p:txBody>
          <a:bodyPr rtlCol="0" anchor="ctr"/>
          <a:lstStyle/>
          <a:p>
            <a:endParaRPr lang="de-DE"/>
          </a:p>
        </p:txBody>
      </p:sp>
      <p:sp>
        <p:nvSpPr>
          <p:cNvPr id="222" name="Supplier Activation Dim Lane External · CX Association"/>
          <p:cNvSpPr/>
          <p:nvPr/>
        </p:nvSpPr>
        <p:spPr>
          <a:xfrm>
            <a:off x="3074670" y="4811586"/>
            <a:ext cx="1735074" cy="356156"/>
          </a:xfrm>
          <a:prstGeom prst="rect">
            <a:avLst/>
          </a:prstGeom>
          <a:solidFill>
            <a:srgbClr val="F0F3F6"/>
          </a:solidFill>
          <a:ln>
            <a:noFill/>
          </a:ln>
          <a:effectLst/>
        </p:spPr>
        <p:txBody>
          <a:bodyPr rtlCol="0" anchor="ctr"/>
          <a:lstStyle/>
          <a:p>
            <a:endParaRPr lang="de-DE"/>
          </a:p>
        </p:txBody>
      </p:sp>
      <p:sp>
        <p:nvSpPr>
          <p:cNvPr id="223" name="Supplier Activation Dim External · CX Association Dot"/>
          <p:cNvSpPr/>
          <p:nvPr/>
        </p:nvSpPr>
        <p:spPr>
          <a:xfrm>
            <a:off x="3143250" y="4934799"/>
            <a:ext cx="109728" cy="109728"/>
          </a:xfrm>
          <a:prstGeom prst="ellipse">
            <a:avLst/>
          </a:prstGeom>
          <a:solidFill>
            <a:srgbClr val="F0B135"/>
          </a:solidFill>
          <a:ln>
            <a:noFill/>
          </a:ln>
          <a:effectLst/>
        </p:spPr>
        <p:txBody>
          <a:bodyPr rtlCol="0" anchor="ctr"/>
          <a:lstStyle/>
          <a:p>
            <a:endParaRPr lang="de-DE"/>
          </a:p>
        </p:txBody>
      </p:sp>
      <p:sp>
        <p:nvSpPr>
          <p:cNvPr id="224" name="Supplier Activation Dim Business Dot"/>
          <p:cNvSpPr/>
          <p:nvPr/>
        </p:nvSpPr>
        <p:spPr>
          <a:xfrm>
            <a:off x="3143250" y="5290955"/>
            <a:ext cx="109728" cy="109728"/>
          </a:xfrm>
          <a:prstGeom prst="ellipse">
            <a:avLst/>
          </a:prstGeom>
          <a:solidFill>
            <a:srgbClr val="F0B135"/>
          </a:solidFill>
          <a:ln>
            <a:noFill/>
          </a:ln>
          <a:effectLst/>
        </p:spPr>
        <p:txBody>
          <a:bodyPr rtlCol="0" anchor="ctr"/>
          <a:lstStyle/>
          <a:p>
            <a:endParaRPr lang="de-DE"/>
          </a:p>
        </p:txBody>
      </p:sp>
      <p:sp>
        <p:nvSpPr>
          <p:cNvPr id="225" name="Supplier Activation Dim Lane Use Cases"/>
          <p:cNvSpPr/>
          <p:nvPr/>
        </p:nvSpPr>
        <p:spPr>
          <a:xfrm>
            <a:off x="3074670" y="5523897"/>
            <a:ext cx="1735074" cy="356156"/>
          </a:xfrm>
          <a:prstGeom prst="rect">
            <a:avLst/>
          </a:prstGeom>
          <a:solidFill>
            <a:srgbClr val="F0F3F6"/>
          </a:solidFill>
          <a:ln>
            <a:noFill/>
          </a:ln>
          <a:effectLst/>
        </p:spPr>
        <p:txBody>
          <a:bodyPr rtlCol="0" anchor="ctr"/>
          <a:lstStyle/>
          <a:p>
            <a:endParaRPr lang="de-DE"/>
          </a:p>
        </p:txBody>
      </p:sp>
      <p:sp>
        <p:nvSpPr>
          <p:cNvPr id="226" name="Supplier Activation Dim Use Cases Ring"/>
          <p:cNvSpPr/>
          <p:nvPr/>
        </p:nvSpPr>
        <p:spPr>
          <a:xfrm>
            <a:off x="3143250" y="5647111"/>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227" name="Supplier Activation Dim Technical Ring"/>
          <p:cNvSpPr/>
          <p:nvPr/>
        </p:nvSpPr>
        <p:spPr>
          <a:xfrm>
            <a:off x="3143250" y="6003266"/>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228" name="Data Provisioning Row Divider Dimensions"/>
          <p:cNvSpPr/>
          <p:nvPr/>
        </p:nvSpPr>
        <p:spPr>
          <a:xfrm>
            <a:off x="4919472" y="4564952"/>
            <a:ext cx="1597914" cy="6401"/>
          </a:xfrm>
          <a:prstGeom prst="rect">
            <a:avLst/>
          </a:prstGeom>
          <a:solidFill>
            <a:srgbClr val="E2E8EC"/>
          </a:solidFill>
          <a:ln>
            <a:noFill/>
          </a:ln>
          <a:effectLst/>
        </p:spPr>
        <p:txBody>
          <a:bodyPr rtlCol="0" anchor="ctr"/>
          <a:lstStyle/>
          <a:p>
            <a:endParaRPr lang="de-DE"/>
          </a:p>
        </p:txBody>
      </p:sp>
      <p:sp>
        <p:nvSpPr>
          <p:cNvPr id="229" name="Data Provisioning Dim Lane External · CX Association"/>
          <p:cNvSpPr/>
          <p:nvPr/>
        </p:nvSpPr>
        <p:spPr>
          <a:xfrm>
            <a:off x="4850892" y="4811586"/>
            <a:ext cx="1735074" cy="356156"/>
          </a:xfrm>
          <a:prstGeom prst="rect">
            <a:avLst/>
          </a:prstGeom>
          <a:solidFill>
            <a:srgbClr val="F0F3F6"/>
          </a:solidFill>
          <a:ln>
            <a:noFill/>
          </a:ln>
          <a:effectLst/>
        </p:spPr>
        <p:txBody>
          <a:bodyPr rtlCol="0" anchor="ctr"/>
          <a:lstStyle/>
          <a:p>
            <a:endParaRPr lang="de-DE"/>
          </a:p>
        </p:txBody>
      </p:sp>
      <p:sp>
        <p:nvSpPr>
          <p:cNvPr id="230" name="Data Provisioning Dim External · CX Association Dot"/>
          <p:cNvSpPr/>
          <p:nvPr/>
        </p:nvSpPr>
        <p:spPr>
          <a:xfrm>
            <a:off x="4919472" y="4934799"/>
            <a:ext cx="109728" cy="109728"/>
          </a:xfrm>
          <a:prstGeom prst="ellipse">
            <a:avLst/>
          </a:prstGeom>
          <a:solidFill>
            <a:srgbClr val="53BE70"/>
          </a:solidFill>
          <a:ln>
            <a:noFill/>
          </a:ln>
          <a:effectLst/>
        </p:spPr>
        <p:txBody>
          <a:bodyPr rtlCol="0" anchor="ctr"/>
          <a:lstStyle/>
          <a:p>
            <a:endParaRPr lang="de-DE"/>
          </a:p>
        </p:txBody>
      </p:sp>
      <p:sp>
        <p:nvSpPr>
          <p:cNvPr id="231" name="Data Provisioning Dim Business Dot"/>
          <p:cNvSpPr/>
          <p:nvPr/>
        </p:nvSpPr>
        <p:spPr>
          <a:xfrm>
            <a:off x="4919472" y="5290955"/>
            <a:ext cx="109728" cy="109728"/>
          </a:xfrm>
          <a:prstGeom prst="ellipse">
            <a:avLst/>
          </a:prstGeom>
          <a:solidFill>
            <a:srgbClr val="53BE70"/>
          </a:solidFill>
          <a:ln>
            <a:noFill/>
          </a:ln>
          <a:effectLst/>
        </p:spPr>
        <p:txBody>
          <a:bodyPr rtlCol="0" anchor="ctr"/>
          <a:lstStyle/>
          <a:p>
            <a:endParaRPr lang="de-DE"/>
          </a:p>
        </p:txBody>
      </p:sp>
      <p:sp>
        <p:nvSpPr>
          <p:cNvPr id="232" name="Data Provisioning Dim Lane Use Cases"/>
          <p:cNvSpPr/>
          <p:nvPr/>
        </p:nvSpPr>
        <p:spPr>
          <a:xfrm>
            <a:off x="4850892" y="5523897"/>
            <a:ext cx="1735074" cy="356156"/>
          </a:xfrm>
          <a:prstGeom prst="rect">
            <a:avLst/>
          </a:prstGeom>
          <a:solidFill>
            <a:srgbClr val="F0F3F6"/>
          </a:solidFill>
          <a:ln>
            <a:noFill/>
          </a:ln>
          <a:effectLst/>
        </p:spPr>
        <p:txBody>
          <a:bodyPr rtlCol="0" anchor="ctr"/>
          <a:lstStyle/>
          <a:p>
            <a:endParaRPr lang="de-DE"/>
          </a:p>
        </p:txBody>
      </p:sp>
      <p:sp>
        <p:nvSpPr>
          <p:cNvPr id="233" name="Data Provisioning Dim Use Cases Dot"/>
          <p:cNvSpPr/>
          <p:nvPr/>
        </p:nvSpPr>
        <p:spPr>
          <a:xfrm>
            <a:off x="4919472" y="5647111"/>
            <a:ext cx="109728" cy="109728"/>
          </a:xfrm>
          <a:prstGeom prst="ellipse">
            <a:avLst/>
          </a:prstGeom>
          <a:solidFill>
            <a:srgbClr val="F0B135"/>
          </a:solidFill>
          <a:ln>
            <a:noFill/>
          </a:ln>
          <a:effectLst/>
        </p:spPr>
        <p:txBody>
          <a:bodyPr rtlCol="0" anchor="ctr"/>
          <a:lstStyle/>
          <a:p>
            <a:endParaRPr lang="de-DE"/>
          </a:p>
        </p:txBody>
      </p:sp>
      <p:sp>
        <p:nvSpPr>
          <p:cNvPr id="234" name="Data Provisioning Dim Technical Ring"/>
          <p:cNvSpPr/>
          <p:nvPr/>
        </p:nvSpPr>
        <p:spPr>
          <a:xfrm>
            <a:off x="4919472" y="6003266"/>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235" name="Hub &amp; Spoke Row Divider Dimensions"/>
          <p:cNvSpPr/>
          <p:nvPr/>
        </p:nvSpPr>
        <p:spPr>
          <a:xfrm>
            <a:off x="6695694" y="4564952"/>
            <a:ext cx="1597914" cy="6401"/>
          </a:xfrm>
          <a:prstGeom prst="rect">
            <a:avLst/>
          </a:prstGeom>
          <a:solidFill>
            <a:srgbClr val="E2E8EC"/>
          </a:solidFill>
          <a:ln>
            <a:noFill/>
          </a:ln>
          <a:effectLst/>
        </p:spPr>
        <p:txBody>
          <a:bodyPr rtlCol="0" anchor="ctr"/>
          <a:lstStyle/>
          <a:p>
            <a:endParaRPr lang="de-DE"/>
          </a:p>
        </p:txBody>
      </p:sp>
      <p:sp>
        <p:nvSpPr>
          <p:cNvPr id="236" name="Hub &amp; Spoke Dim Lane External · CX Association"/>
          <p:cNvSpPr/>
          <p:nvPr/>
        </p:nvSpPr>
        <p:spPr>
          <a:xfrm>
            <a:off x="6627114" y="4811586"/>
            <a:ext cx="1735074" cy="356156"/>
          </a:xfrm>
          <a:prstGeom prst="rect">
            <a:avLst/>
          </a:prstGeom>
          <a:solidFill>
            <a:srgbClr val="F0F3F6"/>
          </a:solidFill>
          <a:ln>
            <a:noFill/>
          </a:ln>
          <a:effectLst/>
        </p:spPr>
        <p:txBody>
          <a:bodyPr rtlCol="0" anchor="ctr"/>
          <a:lstStyle/>
          <a:p>
            <a:endParaRPr lang="de-DE"/>
          </a:p>
        </p:txBody>
      </p:sp>
      <p:sp>
        <p:nvSpPr>
          <p:cNvPr id="237" name="Hub &amp; Spoke Dim External · CX Association Dot"/>
          <p:cNvSpPr/>
          <p:nvPr/>
        </p:nvSpPr>
        <p:spPr>
          <a:xfrm>
            <a:off x="6695694" y="4934799"/>
            <a:ext cx="109728" cy="109728"/>
          </a:xfrm>
          <a:prstGeom prst="ellipse">
            <a:avLst/>
          </a:prstGeom>
          <a:solidFill>
            <a:srgbClr val="53BE70"/>
          </a:solidFill>
          <a:ln>
            <a:noFill/>
          </a:ln>
          <a:effectLst/>
        </p:spPr>
        <p:txBody>
          <a:bodyPr rtlCol="0" anchor="ctr"/>
          <a:lstStyle/>
          <a:p>
            <a:endParaRPr lang="de-DE"/>
          </a:p>
        </p:txBody>
      </p:sp>
      <p:sp>
        <p:nvSpPr>
          <p:cNvPr id="238" name="Hub &amp; Spoke Dim Business Dot"/>
          <p:cNvSpPr/>
          <p:nvPr/>
        </p:nvSpPr>
        <p:spPr>
          <a:xfrm>
            <a:off x="6695694" y="5290955"/>
            <a:ext cx="109728" cy="109728"/>
          </a:xfrm>
          <a:prstGeom prst="ellipse">
            <a:avLst/>
          </a:prstGeom>
          <a:solidFill>
            <a:srgbClr val="F0B135"/>
          </a:solidFill>
          <a:ln>
            <a:noFill/>
          </a:ln>
          <a:effectLst/>
        </p:spPr>
        <p:txBody>
          <a:bodyPr rtlCol="0" anchor="ctr"/>
          <a:lstStyle/>
          <a:p>
            <a:endParaRPr lang="de-DE"/>
          </a:p>
        </p:txBody>
      </p:sp>
      <p:sp>
        <p:nvSpPr>
          <p:cNvPr id="239" name="Hub &amp; Spoke Dim Lane Use Cases"/>
          <p:cNvSpPr/>
          <p:nvPr/>
        </p:nvSpPr>
        <p:spPr>
          <a:xfrm>
            <a:off x="6627114" y="5523897"/>
            <a:ext cx="1735074" cy="356156"/>
          </a:xfrm>
          <a:prstGeom prst="rect">
            <a:avLst/>
          </a:prstGeom>
          <a:solidFill>
            <a:srgbClr val="F0F3F6"/>
          </a:solidFill>
          <a:ln>
            <a:noFill/>
          </a:ln>
          <a:effectLst/>
        </p:spPr>
        <p:txBody>
          <a:bodyPr rtlCol="0" anchor="ctr"/>
          <a:lstStyle/>
          <a:p>
            <a:endParaRPr lang="de-DE"/>
          </a:p>
        </p:txBody>
      </p:sp>
      <p:sp>
        <p:nvSpPr>
          <p:cNvPr id="240" name="Hub &amp; Spoke Dim Use Cases Ring"/>
          <p:cNvSpPr/>
          <p:nvPr/>
        </p:nvSpPr>
        <p:spPr>
          <a:xfrm>
            <a:off x="6695694" y="5647111"/>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241" name="Hub &amp; Spoke Dim Technical Ring"/>
          <p:cNvSpPr/>
          <p:nvPr/>
        </p:nvSpPr>
        <p:spPr>
          <a:xfrm>
            <a:off x="6695694" y="6003266"/>
            <a:ext cx="109728" cy="109728"/>
          </a:xfrm>
          <a:prstGeom prst="ellipse">
            <a:avLst/>
          </a:prstGeom>
          <a:solidFill>
            <a:srgbClr val="FFFFFF"/>
          </a:solidFill>
          <a:ln w="15875">
            <a:solidFill>
              <a:srgbClr val="AEB9C1"/>
            </a:solidFill>
          </a:ln>
          <a:effectLst/>
        </p:spPr>
        <p:txBody>
          <a:bodyPr rtlCol="0" anchor="ctr"/>
          <a:lstStyle/>
          <a:p>
            <a:endParaRPr lang="de-DE"/>
          </a:p>
        </p:txBody>
      </p:sp>
      <p:sp>
        <p:nvSpPr>
          <p:cNvPr id="242" name="Legal &amp; Contracts Row Divider Dimensions"/>
          <p:cNvSpPr/>
          <p:nvPr/>
        </p:nvSpPr>
        <p:spPr>
          <a:xfrm>
            <a:off x="8471916" y="4564952"/>
            <a:ext cx="1597914" cy="6401"/>
          </a:xfrm>
          <a:prstGeom prst="rect">
            <a:avLst/>
          </a:prstGeom>
          <a:solidFill>
            <a:srgbClr val="E2E8EC"/>
          </a:solidFill>
          <a:ln>
            <a:noFill/>
          </a:ln>
          <a:effectLst/>
        </p:spPr>
        <p:txBody>
          <a:bodyPr rtlCol="0" anchor="ctr"/>
          <a:lstStyle/>
          <a:p>
            <a:endParaRPr lang="de-DE"/>
          </a:p>
        </p:txBody>
      </p:sp>
      <p:sp>
        <p:nvSpPr>
          <p:cNvPr id="243" name="Legal &amp; Contracts Dim Lane External · CX Association"/>
          <p:cNvSpPr/>
          <p:nvPr/>
        </p:nvSpPr>
        <p:spPr>
          <a:xfrm>
            <a:off x="8403336" y="4811586"/>
            <a:ext cx="1735074" cy="356156"/>
          </a:xfrm>
          <a:prstGeom prst="rect">
            <a:avLst/>
          </a:prstGeom>
          <a:solidFill>
            <a:srgbClr val="F0F3F6"/>
          </a:solidFill>
          <a:ln>
            <a:noFill/>
          </a:ln>
          <a:effectLst/>
        </p:spPr>
        <p:txBody>
          <a:bodyPr rtlCol="0" anchor="ctr"/>
          <a:lstStyle/>
          <a:p>
            <a:endParaRPr lang="de-DE"/>
          </a:p>
        </p:txBody>
      </p:sp>
      <p:sp>
        <p:nvSpPr>
          <p:cNvPr id="244" name="Legal &amp; Contracts Dim External · CX Association Dot"/>
          <p:cNvSpPr/>
          <p:nvPr/>
        </p:nvSpPr>
        <p:spPr>
          <a:xfrm>
            <a:off x="8471916" y="4934799"/>
            <a:ext cx="109728" cy="109728"/>
          </a:xfrm>
          <a:prstGeom prst="ellipse">
            <a:avLst/>
          </a:prstGeom>
          <a:solidFill>
            <a:srgbClr val="53BE70"/>
          </a:solidFill>
          <a:ln>
            <a:noFill/>
          </a:ln>
          <a:effectLst/>
        </p:spPr>
        <p:txBody>
          <a:bodyPr rtlCol="0" anchor="ctr"/>
          <a:lstStyle/>
          <a:p>
            <a:endParaRPr lang="de-DE"/>
          </a:p>
        </p:txBody>
      </p:sp>
      <p:sp>
        <p:nvSpPr>
          <p:cNvPr id="245" name="Legal &amp; Contracts Dim Business Dot"/>
          <p:cNvSpPr/>
          <p:nvPr/>
        </p:nvSpPr>
        <p:spPr>
          <a:xfrm>
            <a:off x="8471916" y="5290955"/>
            <a:ext cx="109728" cy="109728"/>
          </a:xfrm>
          <a:prstGeom prst="ellipse">
            <a:avLst/>
          </a:prstGeom>
          <a:solidFill>
            <a:srgbClr val="F0B135"/>
          </a:solidFill>
          <a:ln>
            <a:noFill/>
          </a:ln>
          <a:effectLst/>
        </p:spPr>
        <p:txBody>
          <a:bodyPr rtlCol="0" anchor="ctr"/>
          <a:lstStyle/>
          <a:p>
            <a:endParaRPr lang="de-DE"/>
          </a:p>
        </p:txBody>
      </p:sp>
      <p:sp>
        <p:nvSpPr>
          <p:cNvPr id="246" name="Legal &amp; Contracts Dim Lane Use Cases"/>
          <p:cNvSpPr/>
          <p:nvPr/>
        </p:nvSpPr>
        <p:spPr>
          <a:xfrm>
            <a:off x="8403336" y="5523897"/>
            <a:ext cx="1735074" cy="356156"/>
          </a:xfrm>
          <a:prstGeom prst="rect">
            <a:avLst/>
          </a:prstGeom>
          <a:solidFill>
            <a:srgbClr val="F0F3F6"/>
          </a:solidFill>
          <a:ln>
            <a:noFill/>
          </a:ln>
          <a:effectLst/>
        </p:spPr>
        <p:txBody>
          <a:bodyPr rtlCol="0" anchor="ctr"/>
          <a:lstStyle/>
          <a:p>
            <a:endParaRPr lang="de-DE"/>
          </a:p>
        </p:txBody>
      </p:sp>
      <p:sp>
        <p:nvSpPr>
          <p:cNvPr id="247" name="Legal &amp; Contracts Dim Use Cases Dot"/>
          <p:cNvSpPr/>
          <p:nvPr/>
        </p:nvSpPr>
        <p:spPr>
          <a:xfrm>
            <a:off x="8471916" y="5647111"/>
            <a:ext cx="109728" cy="109728"/>
          </a:xfrm>
          <a:prstGeom prst="ellipse">
            <a:avLst/>
          </a:prstGeom>
          <a:solidFill>
            <a:srgbClr val="53BE70"/>
          </a:solidFill>
          <a:ln>
            <a:noFill/>
          </a:ln>
          <a:effectLst/>
        </p:spPr>
        <p:txBody>
          <a:bodyPr rtlCol="0" anchor="ctr"/>
          <a:lstStyle/>
          <a:p>
            <a:endParaRPr lang="de-DE"/>
          </a:p>
        </p:txBody>
      </p:sp>
      <p:sp>
        <p:nvSpPr>
          <p:cNvPr id="248" name="Legal &amp; Contracts Dim Technical Dot"/>
          <p:cNvSpPr/>
          <p:nvPr/>
        </p:nvSpPr>
        <p:spPr>
          <a:xfrm>
            <a:off x="8471916" y="6003266"/>
            <a:ext cx="109728" cy="109728"/>
          </a:xfrm>
          <a:prstGeom prst="ellipse">
            <a:avLst/>
          </a:prstGeom>
          <a:solidFill>
            <a:srgbClr val="F0B135"/>
          </a:solidFill>
          <a:ln>
            <a:noFill/>
          </a:ln>
          <a:effectLst/>
        </p:spPr>
        <p:txBody>
          <a:bodyPr rtlCol="0" anchor="ctr"/>
          <a:lstStyle/>
          <a:p>
            <a:endParaRPr lang="de-DE"/>
          </a:p>
        </p:txBody>
      </p:sp>
      <p:sp>
        <p:nvSpPr>
          <p:cNvPr id="249" name="Architecture Row Divider Dimensions"/>
          <p:cNvSpPr/>
          <p:nvPr/>
        </p:nvSpPr>
        <p:spPr>
          <a:xfrm>
            <a:off x="10248138" y="4564952"/>
            <a:ext cx="1597914" cy="6401"/>
          </a:xfrm>
          <a:prstGeom prst="rect">
            <a:avLst/>
          </a:prstGeom>
          <a:solidFill>
            <a:srgbClr val="E2E8EC"/>
          </a:solidFill>
          <a:ln>
            <a:noFill/>
          </a:ln>
          <a:effectLst/>
        </p:spPr>
        <p:txBody>
          <a:bodyPr rtlCol="0" anchor="ctr"/>
          <a:lstStyle/>
          <a:p>
            <a:endParaRPr lang="de-DE"/>
          </a:p>
        </p:txBody>
      </p:sp>
      <p:sp>
        <p:nvSpPr>
          <p:cNvPr id="250" name="Architecture Dim Lane External · CX Association"/>
          <p:cNvSpPr/>
          <p:nvPr/>
        </p:nvSpPr>
        <p:spPr>
          <a:xfrm>
            <a:off x="10179558" y="4811586"/>
            <a:ext cx="1735074" cy="356156"/>
          </a:xfrm>
          <a:prstGeom prst="rect">
            <a:avLst/>
          </a:prstGeom>
          <a:solidFill>
            <a:srgbClr val="F0F3F6"/>
          </a:solidFill>
          <a:ln>
            <a:noFill/>
          </a:ln>
          <a:effectLst/>
        </p:spPr>
        <p:txBody>
          <a:bodyPr rtlCol="0" anchor="ctr"/>
          <a:lstStyle/>
          <a:p>
            <a:endParaRPr lang="de-DE"/>
          </a:p>
        </p:txBody>
      </p:sp>
      <p:sp>
        <p:nvSpPr>
          <p:cNvPr id="251" name="Architecture Dim External · CX Association Dot"/>
          <p:cNvSpPr/>
          <p:nvPr/>
        </p:nvSpPr>
        <p:spPr>
          <a:xfrm>
            <a:off x="10248138" y="4934799"/>
            <a:ext cx="109728" cy="109728"/>
          </a:xfrm>
          <a:prstGeom prst="ellipse">
            <a:avLst/>
          </a:prstGeom>
          <a:solidFill>
            <a:srgbClr val="53BE70"/>
          </a:solidFill>
          <a:ln>
            <a:noFill/>
          </a:ln>
          <a:effectLst/>
        </p:spPr>
        <p:txBody>
          <a:bodyPr rtlCol="0" anchor="ctr"/>
          <a:lstStyle/>
          <a:p>
            <a:endParaRPr lang="de-DE"/>
          </a:p>
        </p:txBody>
      </p:sp>
      <p:sp>
        <p:nvSpPr>
          <p:cNvPr id="252" name="Architecture Dim Business Dot"/>
          <p:cNvSpPr/>
          <p:nvPr/>
        </p:nvSpPr>
        <p:spPr>
          <a:xfrm>
            <a:off x="10248138" y="5290955"/>
            <a:ext cx="109728" cy="109728"/>
          </a:xfrm>
          <a:prstGeom prst="ellipse">
            <a:avLst/>
          </a:prstGeom>
          <a:solidFill>
            <a:srgbClr val="53BE70"/>
          </a:solidFill>
          <a:ln>
            <a:noFill/>
          </a:ln>
          <a:effectLst/>
        </p:spPr>
        <p:txBody>
          <a:bodyPr rtlCol="0" anchor="ctr"/>
          <a:lstStyle/>
          <a:p>
            <a:endParaRPr lang="de-DE"/>
          </a:p>
        </p:txBody>
      </p:sp>
      <p:sp>
        <p:nvSpPr>
          <p:cNvPr id="253" name="Architecture Dim Lane Use Cases"/>
          <p:cNvSpPr/>
          <p:nvPr/>
        </p:nvSpPr>
        <p:spPr>
          <a:xfrm>
            <a:off x="10179558" y="5523897"/>
            <a:ext cx="1735074" cy="356156"/>
          </a:xfrm>
          <a:prstGeom prst="rect">
            <a:avLst/>
          </a:prstGeom>
          <a:solidFill>
            <a:srgbClr val="F0F3F6"/>
          </a:solidFill>
          <a:ln>
            <a:noFill/>
          </a:ln>
          <a:effectLst/>
        </p:spPr>
        <p:txBody>
          <a:bodyPr rtlCol="0" anchor="ctr"/>
          <a:lstStyle/>
          <a:p>
            <a:endParaRPr lang="de-DE"/>
          </a:p>
        </p:txBody>
      </p:sp>
      <p:sp>
        <p:nvSpPr>
          <p:cNvPr id="254" name="Architecture Dim Use Cases Dot"/>
          <p:cNvSpPr/>
          <p:nvPr/>
        </p:nvSpPr>
        <p:spPr>
          <a:xfrm>
            <a:off x="10248138" y="5647111"/>
            <a:ext cx="109728" cy="109728"/>
          </a:xfrm>
          <a:prstGeom prst="ellipse">
            <a:avLst/>
          </a:prstGeom>
          <a:solidFill>
            <a:srgbClr val="53BE70"/>
          </a:solidFill>
          <a:ln>
            <a:noFill/>
          </a:ln>
          <a:effectLst/>
        </p:spPr>
        <p:txBody>
          <a:bodyPr rtlCol="0" anchor="ctr"/>
          <a:lstStyle/>
          <a:p>
            <a:endParaRPr lang="de-DE"/>
          </a:p>
        </p:txBody>
      </p:sp>
      <p:sp>
        <p:nvSpPr>
          <p:cNvPr id="255" name="Architecture Dim Technical Dot"/>
          <p:cNvSpPr/>
          <p:nvPr/>
        </p:nvSpPr>
        <p:spPr>
          <a:xfrm>
            <a:off x="10248138" y="6003266"/>
            <a:ext cx="109728" cy="109728"/>
          </a:xfrm>
          <a:prstGeom prst="ellipse">
            <a:avLst/>
          </a:prstGeom>
          <a:solidFill>
            <a:srgbClr val="F0B135"/>
          </a:solidFill>
          <a:ln>
            <a:noFill/>
          </a:ln>
          <a:effectLst/>
        </p:spPr>
        <p:txBody>
          <a:bodyPr rtlCol="0" anchor="ctr"/>
          <a:lstStyle/>
          <a:p>
            <a:endParaRPr lang="de-DE"/>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