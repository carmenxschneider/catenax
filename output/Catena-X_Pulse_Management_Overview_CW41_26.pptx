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 id="260"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 Id="rId11"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Management Overview CW 41 / 2026 – one card per use case (read top to bottom), sorted by overall status. Next critical milestone = most critical amber/red milestone.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Use Cases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Quality Card"/>
          <p:cNvSpPr/>
          <p:nvPr/>
        </p:nvSpPr>
        <p:spPr>
          <a:xfrm>
            <a:off x="118872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Quality Name"/>
          <p:cNvSpPr txBox="1"/>
          <p:nvPr/>
        </p:nvSpPr>
        <p:spPr>
          <a:xfrm>
            <a:off x="125730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Quality</a:t>
            </a:r>
          </a:p>
        </p:txBody>
      </p:sp>
      <p:sp>
        <p:nvSpPr>
          <p:cNvPr id="117" name="Col Quality Abbr"/>
          <p:cNvSpPr txBox="1"/>
          <p:nvPr/>
        </p:nvSpPr>
        <p:spPr>
          <a:xfrm>
            <a:off x="1257300"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quality-cx</a:t>
            </a:r>
          </a:p>
        </p:txBody>
      </p:sp>
      <p:sp>
        <p:nvSpPr>
          <p:cNvPr id="118" name="Col Quality Domain Lead"/>
          <p:cNvSpPr txBox="1"/>
          <p:nvPr/>
        </p:nvSpPr>
        <p:spPr>
          <a:xfrm>
            <a:off x="125730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Kutritz (K-GQY)</a:t>
            </a:r>
          </a:p>
        </p:txBody>
      </p:sp>
      <p:sp>
        <p:nvSpPr>
          <p:cNvPr id="119" name="Col Quality Status Bar"/>
          <p:cNvSpPr/>
          <p:nvPr/>
        </p:nvSpPr>
        <p:spPr>
          <a:xfrm>
            <a:off x="1257300" y="2002790"/>
            <a:ext cx="1167574" cy="36576"/>
          </a:xfrm>
          <a:prstGeom prst="roundRect">
            <a:avLst>
              <a:gd name="adj" fmla="val 50000"/>
            </a:avLst>
          </a:prstGeom>
          <a:solidFill>
            <a:srgbClr val="E64343"/>
          </a:solidFill>
          <a:ln>
            <a:noFill/>
          </a:ln>
          <a:effectLst/>
        </p:spPr>
        <p:txBody>
          <a:bodyPr rtlCol="0" anchor="ctr"/>
          <a:lstStyle/>
          <a:p>
            <a:endParaRPr lang="de-DE"/>
          </a:p>
        </p:txBody>
      </p:sp>
      <p:sp>
        <p:nvSpPr>
          <p:cNvPr id="120" name="Col Battery Passport Card"/>
          <p:cNvSpPr/>
          <p:nvPr/>
        </p:nvSpPr>
        <p:spPr>
          <a:xfrm>
            <a:off x="253460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Battery Passport Name"/>
          <p:cNvSpPr txBox="1"/>
          <p:nvPr/>
        </p:nvSpPr>
        <p:spPr>
          <a:xfrm>
            <a:off x="260318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Battery Passport</a:t>
            </a:r>
          </a:p>
        </p:txBody>
      </p:sp>
      <p:sp>
        <p:nvSpPr>
          <p:cNvPr id="122" name="Col Battery Passport Abbr"/>
          <p:cNvSpPr txBox="1"/>
          <p:nvPr/>
        </p:nvSpPr>
        <p:spPr>
          <a:xfrm>
            <a:off x="2603182"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batt-cx</a:t>
            </a:r>
          </a:p>
        </p:txBody>
      </p:sp>
      <p:sp>
        <p:nvSpPr>
          <p:cNvPr id="123" name="Col Battery Passport Domain Lead"/>
          <p:cNvSpPr txBox="1"/>
          <p:nvPr/>
        </p:nvSpPr>
        <p:spPr>
          <a:xfrm>
            <a:off x="260318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Alp (ZG-R)</a:t>
            </a:r>
          </a:p>
        </p:txBody>
      </p:sp>
      <p:sp>
        <p:nvSpPr>
          <p:cNvPr id="124" name="Col Battery Passport Status Bar"/>
          <p:cNvSpPr/>
          <p:nvPr/>
        </p:nvSpPr>
        <p:spPr>
          <a:xfrm>
            <a:off x="260318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25" name="Col Product Passes Card"/>
          <p:cNvSpPr/>
          <p:nvPr/>
        </p:nvSpPr>
        <p:spPr>
          <a:xfrm>
            <a:off x="388048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Product Passes Name"/>
          <p:cNvSpPr txBox="1"/>
          <p:nvPr/>
        </p:nvSpPr>
        <p:spPr>
          <a:xfrm>
            <a:off x="394906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Passes</a:t>
            </a:r>
          </a:p>
        </p:txBody>
      </p:sp>
      <p:sp>
        <p:nvSpPr>
          <p:cNvPr id="127" name="Col Product Passes Abbr"/>
          <p:cNvSpPr txBox="1"/>
          <p:nvPr/>
        </p:nvSpPr>
        <p:spPr>
          <a:xfrm>
            <a:off x="3949065"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pass-cx</a:t>
            </a:r>
          </a:p>
        </p:txBody>
      </p:sp>
      <p:sp>
        <p:nvSpPr>
          <p:cNvPr id="128" name="Col Product Passes Domain Lead"/>
          <p:cNvSpPr txBox="1"/>
          <p:nvPr/>
        </p:nvSpPr>
        <p:spPr>
          <a:xfrm>
            <a:off x="394906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Drobir (K-GEP-2)</a:t>
            </a:r>
          </a:p>
        </p:txBody>
      </p:sp>
      <p:sp>
        <p:nvSpPr>
          <p:cNvPr id="129" name="Col Product Passes Status Bar"/>
          <p:cNvSpPr/>
          <p:nvPr/>
        </p:nvSpPr>
        <p:spPr>
          <a:xfrm>
            <a:off x="3949065"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0" name="Col PURIS Card"/>
          <p:cNvSpPr/>
          <p:nvPr/>
        </p:nvSpPr>
        <p:spPr>
          <a:xfrm>
            <a:off x="522636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PURIS Name"/>
          <p:cNvSpPr txBox="1"/>
          <p:nvPr/>
        </p:nvSpPr>
        <p:spPr>
          <a:xfrm>
            <a:off x="529494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PURIS</a:t>
            </a:r>
          </a:p>
        </p:txBody>
      </p:sp>
      <p:sp>
        <p:nvSpPr>
          <p:cNvPr id="132" name="Col PURIS Abbr"/>
          <p:cNvSpPr txBox="1"/>
          <p:nvPr/>
        </p:nvSpPr>
        <p:spPr>
          <a:xfrm>
            <a:off x="529494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puris-cx</a:t>
            </a:r>
          </a:p>
        </p:txBody>
      </p:sp>
      <p:sp>
        <p:nvSpPr>
          <p:cNvPr id="133" name="Col PURIS Domain Lead"/>
          <p:cNvSpPr txBox="1"/>
          <p:nvPr/>
        </p:nvSpPr>
        <p:spPr>
          <a:xfrm>
            <a:off x="529494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Timpe (KL-GP), Behrens (BZ-PX)</a:t>
            </a:r>
          </a:p>
        </p:txBody>
      </p:sp>
      <p:sp>
        <p:nvSpPr>
          <p:cNvPr id="134" name="Col PURIS Status Bar"/>
          <p:cNvSpPr/>
          <p:nvPr/>
        </p:nvSpPr>
        <p:spPr>
          <a:xfrm>
            <a:off x="5294947"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35" name="Col Business Partner Data Mgmt Card"/>
          <p:cNvSpPr/>
          <p:nvPr/>
        </p:nvSpPr>
        <p:spPr>
          <a:xfrm>
            <a:off x="6572250"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Business Partner Data Mgmt Name"/>
          <p:cNvSpPr txBox="1"/>
          <p:nvPr/>
        </p:nvSpPr>
        <p:spPr>
          <a:xfrm>
            <a:off x="6640830"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Business Partner Data Mgmt</a:t>
            </a:r>
          </a:p>
        </p:txBody>
      </p:sp>
      <p:sp>
        <p:nvSpPr>
          <p:cNvPr id="137" name="Col Business Partner Data Mgmt Abbr"/>
          <p:cNvSpPr txBox="1"/>
          <p:nvPr/>
        </p:nvSpPr>
        <p:spPr>
          <a:xfrm>
            <a:off x="6640830"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bpdm-cx</a:t>
            </a:r>
          </a:p>
        </p:txBody>
      </p:sp>
      <p:sp>
        <p:nvSpPr>
          <p:cNvPr id="138" name="Col Business Partner Data Mgmt Domain Lead"/>
          <p:cNvSpPr txBox="1"/>
          <p:nvPr/>
        </p:nvSpPr>
        <p:spPr>
          <a:xfrm>
            <a:off x="6640830"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Fehlner (I/BZ)</a:t>
            </a:r>
          </a:p>
        </p:txBody>
      </p:sp>
      <p:sp>
        <p:nvSpPr>
          <p:cNvPr id="139" name="Col Business Partner Data Mgmt Status Bar"/>
          <p:cNvSpPr/>
          <p:nvPr/>
        </p:nvSpPr>
        <p:spPr>
          <a:xfrm>
            <a:off x="6640830"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0" name="Col Certificate Management Card"/>
          <p:cNvSpPr/>
          <p:nvPr/>
        </p:nvSpPr>
        <p:spPr>
          <a:xfrm>
            <a:off x="7918132"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Certificate Management Name"/>
          <p:cNvSpPr txBox="1"/>
          <p:nvPr/>
        </p:nvSpPr>
        <p:spPr>
          <a:xfrm>
            <a:off x="7986712"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Certificate Management</a:t>
            </a:r>
          </a:p>
        </p:txBody>
      </p:sp>
      <p:sp>
        <p:nvSpPr>
          <p:cNvPr id="142" name="Col Certificate Management Abbr"/>
          <p:cNvSpPr txBox="1"/>
          <p:nvPr/>
        </p:nvSpPr>
        <p:spPr>
          <a:xfrm>
            <a:off x="7986712"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cert-cx</a:t>
            </a:r>
          </a:p>
        </p:txBody>
      </p:sp>
      <p:sp>
        <p:nvSpPr>
          <p:cNvPr id="143" name="Col Certificate Management Domain Lead"/>
          <p:cNvSpPr txBox="1"/>
          <p:nvPr/>
        </p:nvSpPr>
        <p:spPr>
          <a:xfrm>
            <a:off x="7986712"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Poetsch (K-DDX/5)</a:t>
            </a:r>
          </a:p>
        </p:txBody>
      </p:sp>
      <p:sp>
        <p:nvSpPr>
          <p:cNvPr id="144" name="Col Certificate Management Status Bar"/>
          <p:cNvSpPr/>
          <p:nvPr/>
        </p:nvSpPr>
        <p:spPr>
          <a:xfrm>
            <a:off x="7986712" y="2002790"/>
            <a:ext cx="1167574" cy="36576"/>
          </a:xfrm>
          <a:prstGeom prst="roundRect">
            <a:avLst>
              <a:gd name="adj" fmla="val 50000"/>
            </a:avLst>
          </a:prstGeom>
          <a:solidFill>
            <a:srgbClr val="F0B135"/>
          </a:solidFill>
          <a:ln>
            <a:noFill/>
          </a:ln>
          <a:effectLst/>
        </p:spPr>
        <p:txBody>
          <a:bodyPr rtlCol="0" anchor="ctr"/>
          <a:lstStyle/>
          <a:p>
            <a:endParaRPr lang="de-DE"/>
          </a:p>
        </p:txBody>
      </p:sp>
      <p:sp>
        <p:nvSpPr>
          <p:cNvPr id="145" name="Col Product Carbon Footprint Card"/>
          <p:cNvSpPr/>
          <p:nvPr/>
        </p:nvSpPr>
        <p:spPr>
          <a:xfrm>
            <a:off x="9264015"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46" name="Col Product Carbon Footprint Name"/>
          <p:cNvSpPr txBox="1"/>
          <p:nvPr/>
        </p:nvSpPr>
        <p:spPr>
          <a:xfrm>
            <a:off x="9332595"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Product Carbon Footprint</a:t>
            </a:r>
          </a:p>
        </p:txBody>
      </p:sp>
      <p:sp>
        <p:nvSpPr>
          <p:cNvPr id="147" name="Col Product Carbon Footprint Abbr"/>
          <p:cNvSpPr txBox="1"/>
          <p:nvPr/>
        </p:nvSpPr>
        <p:spPr>
          <a:xfrm>
            <a:off x="9332595" y="14274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pcf-cx</a:t>
            </a:r>
          </a:p>
        </p:txBody>
      </p:sp>
      <p:sp>
        <p:nvSpPr>
          <p:cNvPr id="148" name="Col Product Carbon Footprint Domain Lead"/>
          <p:cNvSpPr txBox="1"/>
          <p:nvPr/>
        </p:nvSpPr>
        <p:spPr>
          <a:xfrm>
            <a:off x="9332595"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Dettmer (K-GEN), Voeste (K-GSS)</a:t>
            </a:r>
          </a:p>
        </p:txBody>
      </p:sp>
      <p:sp>
        <p:nvSpPr>
          <p:cNvPr id="149" name="Col Product Carbon Footprint Status Bar"/>
          <p:cNvSpPr/>
          <p:nvPr/>
        </p:nvSpPr>
        <p:spPr>
          <a:xfrm>
            <a:off x="9332595"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0" name="Col N-Tier Card"/>
          <p:cNvSpPr/>
          <p:nvPr/>
        </p:nvSpPr>
        <p:spPr>
          <a:xfrm>
            <a:off x="10609897" y="978408"/>
            <a:ext cx="1304734" cy="5696712"/>
          </a:xfrm>
          <a:prstGeom prst="roundRect">
            <a:avLst>
              <a:gd name="adj" fmla="val 4000"/>
            </a:avLst>
          </a:prstGeom>
          <a:solidFill>
            <a:srgbClr val="FFFFFF"/>
          </a:solidFill>
          <a:ln>
            <a:noFill/>
          </a:ln>
          <a:effectLst/>
        </p:spPr>
        <p:txBody>
          <a:bodyPr rtlCol="0" anchor="ctr"/>
          <a:lstStyle/>
          <a:p>
            <a:endParaRPr lang="de-DE"/>
          </a:p>
        </p:txBody>
      </p:sp>
      <p:sp>
        <p:nvSpPr>
          <p:cNvPr id="151" name="Col N-Tier Name"/>
          <p:cNvSpPr txBox="1"/>
          <p:nvPr/>
        </p:nvSpPr>
        <p:spPr>
          <a:xfrm>
            <a:off x="10678477" y="1078992"/>
            <a:ext cx="1167574"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N-Tier</a:t>
            </a:r>
          </a:p>
        </p:txBody>
      </p:sp>
      <p:sp>
        <p:nvSpPr>
          <p:cNvPr id="152" name="Col N-Tier Abbr"/>
          <p:cNvSpPr txBox="1"/>
          <p:nvPr/>
        </p:nvSpPr>
        <p:spPr>
          <a:xfrm>
            <a:off x="10678477" y="1262380"/>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ntier-cx</a:t>
            </a:r>
          </a:p>
        </p:txBody>
      </p:sp>
      <p:sp>
        <p:nvSpPr>
          <p:cNvPr id="153" name="Col N-Tier Domain Lead"/>
          <p:cNvSpPr txBox="1"/>
          <p:nvPr/>
        </p:nvSpPr>
        <p:spPr>
          <a:xfrm>
            <a:off x="10678477" y="1628394"/>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Fink (BZI2)</a:t>
            </a:r>
          </a:p>
        </p:txBody>
      </p:sp>
      <p:sp>
        <p:nvSpPr>
          <p:cNvPr id="154" name="Col N-Tier Status Bar"/>
          <p:cNvSpPr/>
          <p:nvPr/>
        </p:nvSpPr>
        <p:spPr>
          <a:xfrm>
            <a:off x="10678477" y="2002790"/>
            <a:ext cx="1167574" cy="36576"/>
          </a:xfrm>
          <a:prstGeom prst="roundRect">
            <a:avLst>
              <a:gd name="adj" fmla="val 50000"/>
            </a:avLst>
          </a:prstGeom>
          <a:solidFill>
            <a:srgbClr val="53BE70"/>
          </a:solidFill>
          <a:ln>
            <a:noFill/>
          </a:ln>
          <a:effectLst/>
        </p:spPr>
        <p:txBody>
          <a:bodyPr rtlCol="0" anchor="ctr"/>
          <a:lstStyle/>
          <a:p>
            <a:endParaRPr lang="de-DE"/>
          </a:p>
        </p:txBody>
      </p:sp>
      <p:sp>
        <p:nvSpPr>
          <p:cNvPr id="15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5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57" name="Row Label Overall status"/>
          <p:cNvSpPr txBox="1"/>
          <p:nvPr/>
        </p:nvSpPr>
        <p:spPr>
          <a:xfrm>
            <a:off x="274320" y="2158238"/>
            <a:ext cx="868680" cy="2294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58" name="Quality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9" name="Quality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60" name="Battery Passport Status Pill"/>
          <p:cNvSpPr/>
          <p:nvPr/>
        </p:nvSpPr>
        <p:spPr>
          <a:xfrm>
            <a:off x="260318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1" name="Battery Passport Status Text"/>
          <p:cNvSpPr txBox="1"/>
          <p:nvPr/>
        </p:nvSpPr>
        <p:spPr>
          <a:xfrm>
            <a:off x="260318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2" name="Product Passes Status Pill"/>
          <p:cNvSpPr/>
          <p:nvPr/>
        </p:nvSpPr>
        <p:spPr>
          <a:xfrm>
            <a:off x="3949065"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3" name="Product Passes Status Text"/>
          <p:cNvSpPr txBox="1"/>
          <p:nvPr/>
        </p:nvSpPr>
        <p:spPr>
          <a:xfrm>
            <a:off x="3949065"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4" name="PURIS Status Pill"/>
          <p:cNvSpPr/>
          <p:nvPr/>
        </p:nvSpPr>
        <p:spPr>
          <a:xfrm>
            <a:off x="5294947"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5" name="PURIS Status Text"/>
          <p:cNvSpPr txBox="1"/>
          <p:nvPr/>
        </p:nvSpPr>
        <p:spPr>
          <a:xfrm>
            <a:off x="5294947"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6" name="Business Partner Data Mgmt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7" name="Business Partner Data Mgmt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8" name="Certificate Management Status Pill"/>
          <p:cNvSpPr/>
          <p:nvPr/>
        </p:nvSpPr>
        <p:spPr>
          <a:xfrm>
            <a:off x="7986712"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69" name="Certificate Management Status Text"/>
          <p:cNvSpPr txBox="1"/>
          <p:nvPr/>
        </p:nvSpPr>
        <p:spPr>
          <a:xfrm>
            <a:off x="7986712"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70" name="Product Carbon Footprint Status Pill"/>
          <p:cNvSpPr/>
          <p:nvPr/>
        </p:nvSpPr>
        <p:spPr>
          <a:xfrm>
            <a:off x="9332595"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1" name="Product Carbon Footprint Status Text"/>
          <p:cNvSpPr txBox="1"/>
          <p:nvPr/>
        </p:nvSpPr>
        <p:spPr>
          <a:xfrm>
            <a:off x="9332595"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2" name="N-Tier Status Pill"/>
          <p:cNvSpPr/>
          <p:nvPr/>
        </p:nvSpPr>
        <p:spPr>
          <a:xfrm>
            <a:off x="10678477" y="2135378"/>
            <a:ext cx="666433" cy="192024"/>
          </a:xfrm>
          <a:prstGeom prst="roundRect">
            <a:avLst>
              <a:gd name="adj" fmla="val 50000"/>
            </a:avLst>
          </a:prstGeom>
          <a:solidFill>
            <a:srgbClr val="53BE70"/>
          </a:solidFill>
          <a:ln>
            <a:noFill/>
          </a:ln>
          <a:effectLst/>
        </p:spPr>
        <p:txBody>
          <a:bodyPr rtlCol="0" anchor="ctr"/>
          <a:lstStyle/>
          <a:p>
            <a:endParaRPr lang="de-DE"/>
          </a:p>
        </p:txBody>
      </p:sp>
      <p:sp>
        <p:nvSpPr>
          <p:cNvPr id="173" name="N-Tier Status Text"/>
          <p:cNvSpPr txBox="1"/>
          <p:nvPr/>
        </p:nvSpPr>
        <p:spPr>
          <a:xfrm>
            <a:off x="10678477" y="2135378"/>
            <a:ext cx="66643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On Track</a:t>
            </a:r>
          </a:p>
        </p:txBody>
      </p:sp>
      <p:sp>
        <p:nvSpPr>
          <p:cNvPr id="174" name="Row Label Phase"/>
          <p:cNvSpPr txBox="1"/>
          <p:nvPr/>
        </p:nvSpPr>
        <p:spPr>
          <a:xfrm>
            <a:off x="274320" y="2451683"/>
            <a:ext cx="868680" cy="36692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Phase</a:t>
            </a:r>
          </a:p>
        </p:txBody>
      </p:sp>
      <p:sp>
        <p:nvSpPr>
          <p:cNvPr id="175" name="Quality Row Divider Phase"/>
          <p:cNvSpPr/>
          <p:nvPr/>
        </p:nvSpPr>
        <p:spPr>
          <a:xfrm>
            <a:off x="1257300" y="2387675"/>
            <a:ext cx="1167574" cy="6401"/>
          </a:xfrm>
          <a:prstGeom prst="rect">
            <a:avLst/>
          </a:prstGeom>
          <a:solidFill>
            <a:srgbClr val="E2E8EC"/>
          </a:solidFill>
          <a:ln>
            <a:noFill/>
          </a:ln>
          <a:effectLst/>
        </p:spPr>
        <p:txBody>
          <a:bodyPr rtlCol="0" anchor="ctr"/>
          <a:lstStyle/>
          <a:p>
            <a:endParaRPr lang="de-DE"/>
          </a:p>
        </p:txBody>
      </p:sp>
      <p:sp>
        <p:nvSpPr>
          <p:cNvPr id="176" name="Quality Phase"/>
          <p:cNvSpPr txBox="1"/>
          <p:nvPr/>
        </p:nvSpPr>
        <p:spPr>
          <a:xfrm>
            <a:off x="1257300"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7" name="Battery Passport Row Divider Phase"/>
          <p:cNvSpPr/>
          <p:nvPr/>
        </p:nvSpPr>
        <p:spPr>
          <a:xfrm>
            <a:off x="2603182" y="2387675"/>
            <a:ext cx="1167574" cy="6401"/>
          </a:xfrm>
          <a:prstGeom prst="rect">
            <a:avLst/>
          </a:prstGeom>
          <a:solidFill>
            <a:srgbClr val="E2E8EC"/>
          </a:solidFill>
          <a:ln>
            <a:noFill/>
          </a:ln>
          <a:effectLst/>
        </p:spPr>
        <p:txBody>
          <a:bodyPr rtlCol="0" anchor="ctr"/>
          <a:lstStyle/>
          <a:p>
            <a:endParaRPr lang="de-DE"/>
          </a:p>
        </p:txBody>
      </p:sp>
      <p:sp>
        <p:nvSpPr>
          <p:cNvPr id="178" name="Battery Passport Phase"/>
          <p:cNvSpPr txBox="1"/>
          <p:nvPr/>
        </p:nvSpPr>
        <p:spPr>
          <a:xfrm>
            <a:off x="2603182"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79" name="Product Passes Row Divider Phase"/>
          <p:cNvSpPr/>
          <p:nvPr/>
        </p:nvSpPr>
        <p:spPr>
          <a:xfrm>
            <a:off x="3949065" y="2387675"/>
            <a:ext cx="1167574" cy="6401"/>
          </a:xfrm>
          <a:prstGeom prst="rect">
            <a:avLst/>
          </a:prstGeom>
          <a:solidFill>
            <a:srgbClr val="E2E8EC"/>
          </a:solidFill>
          <a:ln>
            <a:noFill/>
          </a:ln>
          <a:effectLst/>
        </p:spPr>
        <p:txBody>
          <a:bodyPr rtlCol="0" anchor="ctr"/>
          <a:lstStyle/>
          <a:p>
            <a:endParaRPr lang="de-DE"/>
          </a:p>
        </p:txBody>
      </p:sp>
      <p:sp>
        <p:nvSpPr>
          <p:cNvPr id="180" name="Product Passes Phase"/>
          <p:cNvSpPr txBox="1"/>
          <p:nvPr/>
        </p:nvSpPr>
        <p:spPr>
          <a:xfrm>
            <a:off x="3949065" y="245168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81" name="PURIS Row Divider Phase"/>
          <p:cNvSpPr/>
          <p:nvPr/>
        </p:nvSpPr>
        <p:spPr>
          <a:xfrm>
            <a:off x="5294947" y="2387675"/>
            <a:ext cx="1167574" cy="6401"/>
          </a:xfrm>
          <a:prstGeom prst="rect">
            <a:avLst/>
          </a:prstGeom>
          <a:solidFill>
            <a:srgbClr val="E2E8EC"/>
          </a:solidFill>
          <a:ln>
            <a:noFill/>
          </a:ln>
          <a:effectLst/>
        </p:spPr>
        <p:txBody>
          <a:bodyPr rtlCol="0" anchor="ctr"/>
          <a:lstStyle/>
          <a:p>
            <a:endParaRPr lang="de-DE"/>
          </a:p>
        </p:txBody>
      </p:sp>
      <p:sp>
        <p:nvSpPr>
          <p:cNvPr id="182" name="PURIS Phase"/>
          <p:cNvSpPr txBox="1"/>
          <p:nvPr/>
        </p:nvSpPr>
        <p:spPr>
          <a:xfrm>
            <a:off x="5294947"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3" name="Business Partner Data Mgmt Row Divider Phase"/>
          <p:cNvSpPr/>
          <p:nvPr/>
        </p:nvSpPr>
        <p:spPr>
          <a:xfrm>
            <a:off x="6640830" y="2387675"/>
            <a:ext cx="1167574" cy="6401"/>
          </a:xfrm>
          <a:prstGeom prst="rect">
            <a:avLst/>
          </a:prstGeom>
          <a:solidFill>
            <a:srgbClr val="E2E8EC"/>
          </a:solidFill>
          <a:ln>
            <a:noFill/>
          </a:ln>
          <a:effectLst/>
        </p:spPr>
        <p:txBody>
          <a:bodyPr rtlCol="0" anchor="ctr"/>
          <a:lstStyle/>
          <a:p>
            <a:endParaRPr lang="de-DE"/>
          </a:p>
        </p:txBody>
      </p:sp>
      <p:sp>
        <p:nvSpPr>
          <p:cNvPr id="184" name="Business Partner Data Mgmt Phase"/>
          <p:cNvSpPr txBox="1"/>
          <p:nvPr/>
        </p:nvSpPr>
        <p:spPr>
          <a:xfrm>
            <a:off x="6640830"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Implementation</a:t>
            </a:r>
          </a:p>
        </p:txBody>
      </p:sp>
      <p:sp>
        <p:nvSpPr>
          <p:cNvPr id="185" name="Certificate Management Row Divider Phase"/>
          <p:cNvSpPr/>
          <p:nvPr/>
        </p:nvSpPr>
        <p:spPr>
          <a:xfrm>
            <a:off x="7986712" y="2387675"/>
            <a:ext cx="1167574" cy="6401"/>
          </a:xfrm>
          <a:prstGeom prst="rect">
            <a:avLst/>
          </a:prstGeom>
          <a:solidFill>
            <a:srgbClr val="E2E8EC"/>
          </a:solidFill>
          <a:ln>
            <a:noFill/>
          </a:ln>
          <a:effectLst/>
        </p:spPr>
        <p:txBody>
          <a:bodyPr rtlCol="0" anchor="ctr"/>
          <a:lstStyle/>
          <a:p>
            <a:endParaRPr lang="de-DE"/>
          </a:p>
        </p:txBody>
      </p:sp>
      <p:sp>
        <p:nvSpPr>
          <p:cNvPr id="186" name="Certificate Management Phase"/>
          <p:cNvSpPr txBox="1"/>
          <p:nvPr/>
        </p:nvSpPr>
        <p:spPr>
          <a:xfrm>
            <a:off x="7986712"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Scaling</a:t>
            </a:r>
          </a:p>
        </p:txBody>
      </p:sp>
      <p:sp>
        <p:nvSpPr>
          <p:cNvPr id="187" name="Product Carbon Footprint Row Divider Phase"/>
          <p:cNvSpPr/>
          <p:nvPr/>
        </p:nvSpPr>
        <p:spPr>
          <a:xfrm>
            <a:off x="9332595" y="2387675"/>
            <a:ext cx="1167574" cy="6401"/>
          </a:xfrm>
          <a:prstGeom prst="rect">
            <a:avLst/>
          </a:prstGeom>
          <a:solidFill>
            <a:srgbClr val="E2E8EC"/>
          </a:solidFill>
          <a:ln>
            <a:noFill/>
          </a:ln>
          <a:effectLst/>
        </p:spPr>
        <p:txBody>
          <a:bodyPr rtlCol="0" anchor="ctr"/>
          <a:lstStyle/>
          <a:p>
            <a:endParaRPr lang="de-DE"/>
          </a:p>
        </p:txBody>
      </p:sp>
      <p:sp>
        <p:nvSpPr>
          <p:cNvPr id="188" name="Product Carbon Footprint Phase"/>
          <p:cNvSpPr txBox="1"/>
          <p:nvPr/>
        </p:nvSpPr>
        <p:spPr>
          <a:xfrm>
            <a:off x="9332595" y="2451683"/>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Piloting</a:t>
            </a:r>
          </a:p>
        </p:txBody>
      </p:sp>
      <p:sp>
        <p:nvSpPr>
          <p:cNvPr id="189" name="N-Tier Row Divider Phase"/>
          <p:cNvSpPr/>
          <p:nvPr/>
        </p:nvSpPr>
        <p:spPr>
          <a:xfrm>
            <a:off x="10678477" y="2387675"/>
            <a:ext cx="1167574" cy="6401"/>
          </a:xfrm>
          <a:prstGeom prst="rect">
            <a:avLst/>
          </a:prstGeom>
          <a:solidFill>
            <a:srgbClr val="E2E8EC"/>
          </a:solidFill>
          <a:ln>
            <a:noFill/>
          </a:ln>
          <a:effectLst/>
        </p:spPr>
        <p:txBody>
          <a:bodyPr rtlCol="0" anchor="ctr"/>
          <a:lstStyle/>
          <a:p>
            <a:endParaRPr lang="de-DE"/>
          </a:p>
        </p:txBody>
      </p:sp>
      <p:sp>
        <p:nvSpPr>
          <p:cNvPr id="190" name="N-Tier Phase"/>
          <p:cNvSpPr txBox="1"/>
          <p:nvPr/>
        </p:nvSpPr>
        <p:spPr>
          <a:xfrm>
            <a:off x="10678477" y="2451683"/>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Definition &amp; Clarification</a:t>
            </a:r>
          </a:p>
        </p:txBody>
      </p:sp>
      <p:sp>
        <p:nvSpPr>
          <p:cNvPr id="191" name="Row Label E2E go-live target date"/>
          <p:cNvSpPr txBox="1"/>
          <p:nvPr/>
        </p:nvSpPr>
        <p:spPr>
          <a:xfrm>
            <a:off x="274320" y="2882616"/>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E2E go-live target date</a:t>
            </a:r>
          </a:p>
        </p:txBody>
      </p:sp>
      <p:sp>
        <p:nvSpPr>
          <p:cNvPr id="192" name="Quality Row Divider E2E go-live target date"/>
          <p:cNvSpPr/>
          <p:nvPr/>
        </p:nvSpPr>
        <p:spPr>
          <a:xfrm>
            <a:off x="1257300" y="2818608"/>
            <a:ext cx="1167574" cy="6401"/>
          </a:xfrm>
          <a:prstGeom prst="rect">
            <a:avLst/>
          </a:prstGeom>
          <a:solidFill>
            <a:srgbClr val="E2E8EC"/>
          </a:solidFill>
          <a:ln>
            <a:noFill/>
          </a:ln>
          <a:effectLst/>
        </p:spPr>
        <p:txBody>
          <a:bodyPr rtlCol="0" anchor="ctr"/>
          <a:lstStyle/>
          <a:p>
            <a:endParaRPr lang="de-DE"/>
          </a:p>
        </p:txBody>
      </p:sp>
      <p:sp>
        <p:nvSpPr>
          <p:cNvPr id="193" name="Quality Go-live"/>
          <p:cNvSpPr txBox="1"/>
          <p:nvPr/>
        </p:nvSpPr>
        <p:spPr>
          <a:xfrm>
            <a:off x="1257300" y="2882616"/>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MVP Jan '27</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Scaling until 2030</a:t>
            </a:r>
          </a:p>
        </p:txBody>
      </p:sp>
      <p:sp>
        <p:nvSpPr>
          <p:cNvPr id="194" name="Battery Passport Row Divider E2E go-live target date"/>
          <p:cNvSpPr/>
          <p:nvPr/>
        </p:nvSpPr>
        <p:spPr>
          <a:xfrm>
            <a:off x="2603182" y="2818608"/>
            <a:ext cx="1167574" cy="6401"/>
          </a:xfrm>
          <a:prstGeom prst="rect">
            <a:avLst/>
          </a:prstGeom>
          <a:solidFill>
            <a:srgbClr val="E2E8EC"/>
          </a:solidFill>
          <a:ln>
            <a:noFill/>
          </a:ln>
          <a:effectLst/>
        </p:spPr>
        <p:txBody>
          <a:bodyPr rtlCol="0" anchor="ctr"/>
          <a:lstStyle/>
          <a:p>
            <a:endParaRPr lang="de-DE"/>
          </a:p>
        </p:txBody>
      </p:sp>
      <p:sp>
        <p:nvSpPr>
          <p:cNvPr id="195" name="Battery Passport Go-live"/>
          <p:cNvSpPr txBox="1"/>
          <p:nvPr/>
        </p:nvSpPr>
        <p:spPr>
          <a:xfrm>
            <a:off x="2603182"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196" name="Product Passes Row Divider E2E go-live target date"/>
          <p:cNvSpPr/>
          <p:nvPr/>
        </p:nvSpPr>
        <p:spPr>
          <a:xfrm>
            <a:off x="3949065" y="2818608"/>
            <a:ext cx="1167574" cy="6401"/>
          </a:xfrm>
          <a:prstGeom prst="rect">
            <a:avLst/>
          </a:prstGeom>
          <a:solidFill>
            <a:srgbClr val="E2E8EC"/>
          </a:solidFill>
          <a:ln>
            <a:noFill/>
          </a:ln>
          <a:effectLst/>
        </p:spPr>
        <p:txBody>
          <a:bodyPr rtlCol="0" anchor="ctr"/>
          <a:lstStyle/>
          <a:p>
            <a:endParaRPr lang="de-DE"/>
          </a:p>
        </p:txBody>
      </p:sp>
      <p:sp>
        <p:nvSpPr>
          <p:cNvPr id="197" name="Product Passes Go-live"/>
          <p:cNvSpPr txBox="1"/>
          <p:nvPr/>
        </p:nvSpPr>
        <p:spPr>
          <a:xfrm>
            <a:off x="3949065"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98" name="PURIS Row Divider E2E go-live target date"/>
          <p:cNvSpPr/>
          <p:nvPr/>
        </p:nvSpPr>
        <p:spPr>
          <a:xfrm>
            <a:off x="5294947" y="2818608"/>
            <a:ext cx="1167574" cy="6401"/>
          </a:xfrm>
          <a:prstGeom prst="rect">
            <a:avLst/>
          </a:prstGeom>
          <a:solidFill>
            <a:srgbClr val="E2E8EC"/>
          </a:solidFill>
          <a:ln>
            <a:noFill/>
          </a:ln>
          <a:effectLst/>
        </p:spPr>
        <p:txBody>
          <a:bodyPr rtlCol="0" anchor="ctr"/>
          <a:lstStyle/>
          <a:p>
            <a:endParaRPr lang="de-DE"/>
          </a:p>
        </p:txBody>
      </p:sp>
      <p:sp>
        <p:nvSpPr>
          <p:cNvPr id="199" name="PURIS Go-live"/>
          <p:cNvSpPr txBox="1"/>
          <p:nvPr/>
        </p:nvSpPr>
        <p:spPr>
          <a:xfrm>
            <a:off x="5294947"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0" name="Business Partner Data Mgmt Row Divider E2E go-live target date"/>
          <p:cNvSpPr/>
          <p:nvPr/>
        </p:nvSpPr>
        <p:spPr>
          <a:xfrm>
            <a:off x="6640830" y="2818608"/>
            <a:ext cx="1167574" cy="6401"/>
          </a:xfrm>
          <a:prstGeom prst="rect">
            <a:avLst/>
          </a:prstGeom>
          <a:solidFill>
            <a:srgbClr val="E2E8EC"/>
          </a:solidFill>
          <a:ln>
            <a:noFill/>
          </a:ln>
          <a:effectLst/>
        </p:spPr>
        <p:txBody>
          <a:bodyPr rtlCol="0" anchor="ctr"/>
          <a:lstStyle/>
          <a:p>
            <a:endParaRPr lang="de-DE"/>
          </a:p>
        </p:txBody>
      </p:sp>
      <p:sp>
        <p:nvSpPr>
          <p:cNvPr id="201" name="Business Partner Data Mgmt Go-live"/>
          <p:cNvSpPr txBox="1"/>
          <p:nvPr/>
        </p:nvSpPr>
        <p:spPr>
          <a:xfrm>
            <a:off x="6640830"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Feb 2027</a:t>
            </a:r>
          </a:p>
        </p:txBody>
      </p:sp>
      <p:sp>
        <p:nvSpPr>
          <p:cNvPr id="202" name="Certificate Management Row Divider E2E go-live target date"/>
          <p:cNvSpPr/>
          <p:nvPr/>
        </p:nvSpPr>
        <p:spPr>
          <a:xfrm>
            <a:off x="7986712" y="2818608"/>
            <a:ext cx="1167574" cy="6401"/>
          </a:xfrm>
          <a:prstGeom prst="rect">
            <a:avLst/>
          </a:prstGeom>
          <a:solidFill>
            <a:srgbClr val="E2E8EC"/>
          </a:solidFill>
          <a:ln>
            <a:noFill/>
          </a:ln>
          <a:effectLst/>
        </p:spPr>
        <p:txBody>
          <a:bodyPr rtlCol="0" anchor="ctr"/>
          <a:lstStyle/>
          <a:p>
            <a:endParaRPr lang="de-DE"/>
          </a:p>
        </p:txBody>
      </p:sp>
      <p:sp>
        <p:nvSpPr>
          <p:cNvPr id="203" name="Certificate Management Go-live"/>
          <p:cNvSpPr txBox="1"/>
          <p:nvPr/>
        </p:nvSpPr>
        <p:spPr>
          <a:xfrm>
            <a:off x="7986712"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May 2028</a:t>
            </a:r>
          </a:p>
        </p:txBody>
      </p:sp>
      <p:sp>
        <p:nvSpPr>
          <p:cNvPr id="204" name="Product Carbon Footprint Row Divider E2E go-live target date"/>
          <p:cNvSpPr/>
          <p:nvPr/>
        </p:nvSpPr>
        <p:spPr>
          <a:xfrm>
            <a:off x="9332595" y="2818608"/>
            <a:ext cx="1167574" cy="6401"/>
          </a:xfrm>
          <a:prstGeom prst="rect">
            <a:avLst/>
          </a:prstGeom>
          <a:solidFill>
            <a:srgbClr val="E2E8EC"/>
          </a:solidFill>
          <a:ln>
            <a:noFill/>
          </a:ln>
          <a:effectLst/>
        </p:spPr>
        <p:txBody>
          <a:bodyPr rtlCol="0" anchor="ctr"/>
          <a:lstStyle/>
          <a:p>
            <a:endParaRPr lang="de-DE"/>
          </a:p>
        </p:txBody>
      </p:sp>
      <p:sp>
        <p:nvSpPr>
          <p:cNvPr id="205" name="Product Carbon Footprint Go-live"/>
          <p:cNvSpPr txBox="1"/>
          <p:nvPr/>
        </p:nvSpPr>
        <p:spPr>
          <a:xfrm>
            <a:off x="9332595"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01 Jan 2028</a:t>
            </a:r>
          </a:p>
        </p:txBody>
      </p:sp>
      <p:sp>
        <p:nvSpPr>
          <p:cNvPr id="206" name="N-Tier Row Divider E2E go-live target date"/>
          <p:cNvSpPr/>
          <p:nvPr/>
        </p:nvSpPr>
        <p:spPr>
          <a:xfrm>
            <a:off x="10678477" y="2818608"/>
            <a:ext cx="1167574" cy="6401"/>
          </a:xfrm>
          <a:prstGeom prst="rect">
            <a:avLst/>
          </a:prstGeom>
          <a:solidFill>
            <a:srgbClr val="E2E8EC"/>
          </a:solidFill>
          <a:ln>
            <a:noFill/>
          </a:ln>
          <a:effectLst/>
        </p:spPr>
        <p:txBody>
          <a:bodyPr rtlCol="0" anchor="ctr"/>
          <a:lstStyle/>
          <a:p>
            <a:endParaRPr lang="de-DE"/>
          </a:p>
        </p:txBody>
      </p:sp>
      <p:sp>
        <p:nvSpPr>
          <p:cNvPr id="207" name="N-Tier Go-live"/>
          <p:cNvSpPr txBox="1"/>
          <p:nvPr/>
        </p:nvSpPr>
        <p:spPr>
          <a:xfrm>
            <a:off x="10678477" y="288261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208" name="Row Label Suppliers enabled 2026"/>
          <p:cNvSpPr txBox="1"/>
          <p:nvPr/>
        </p:nvSpPr>
        <p:spPr>
          <a:xfrm>
            <a:off x="274320" y="3333511"/>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209" name="Quality Row Divider Suppliers enabled 2026"/>
          <p:cNvSpPr/>
          <p:nvPr/>
        </p:nvSpPr>
        <p:spPr>
          <a:xfrm>
            <a:off x="1257300" y="3269503"/>
            <a:ext cx="1167574" cy="6401"/>
          </a:xfrm>
          <a:prstGeom prst="rect">
            <a:avLst/>
          </a:prstGeom>
          <a:solidFill>
            <a:srgbClr val="E2E8EC"/>
          </a:solidFill>
          <a:ln>
            <a:noFill/>
          </a:ln>
          <a:effectLst/>
        </p:spPr>
        <p:txBody>
          <a:bodyPr rtlCol="0" anchor="ctr"/>
          <a:lstStyle/>
          <a:p>
            <a:endParaRPr lang="de-DE"/>
          </a:p>
        </p:txBody>
      </p:sp>
      <p:sp>
        <p:nvSpPr>
          <p:cNvPr id="210" name="Quality Suppliers"/>
          <p:cNvSpPr txBox="1"/>
          <p:nvPr/>
        </p:nvSpPr>
        <p:spPr>
          <a:xfrm>
            <a:off x="1257300" y="3333511"/>
            <a:ext cx="1167574"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2</a:t>
            </a:r>
            <a:r>
              <a:rPr lang="de-DE" sz="900" b="0" kern="0" dirty="0">
                <a:solidFill>
                  <a:srgbClr val="63707A"/>
                </a:solidFill>
                <a:latin typeface="Segoe UI" pitchFamily="34" charset="0"/>
                <a:ea typeface="Segoe UI" pitchFamily="34" charset="-122"/>
                <a:cs typeface="Segoe UI" pitchFamily="34" charset="-120"/>
              </a:rPr>
              <a:t>  0%</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rescoped from 15</a:t>
            </a:r>
          </a:p>
        </p:txBody>
      </p:sp>
      <p:sp>
        <p:nvSpPr>
          <p:cNvPr id="211" name="Battery Passport Row Divider Suppliers enabled 2026"/>
          <p:cNvSpPr/>
          <p:nvPr/>
        </p:nvSpPr>
        <p:spPr>
          <a:xfrm>
            <a:off x="2603182" y="3269503"/>
            <a:ext cx="1167574" cy="6401"/>
          </a:xfrm>
          <a:prstGeom prst="rect">
            <a:avLst/>
          </a:prstGeom>
          <a:solidFill>
            <a:srgbClr val="E2E8EC"/>
          </a:solidFill>
          <a:ln>
            <a:noFill/>
          </a:ln>
          <a:effectLst/>
        </p:spPr>
        <p:txBody>
          <a:bodyPr rtlCol="0" anchor="ctr"/>
          <a:lstStyle/>
          <a:p>
            <a:endParaRPr lang="de-DE"/>
          </a:p>
        </p:txBody>
      </p:sp>
      <p:sp>
        <p:nvSpPr>
          <p:cNvPr id="212" name="Battery Passport Suppliers"/>
          <p:cNvSpPr txBox="1"/>
          <p:nvPr/>
        </p:nvSpPr>
        <p:spPr>
          <a:xfrm>
            <a:off x="2603182"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3" name="Product Passes Row Divider Suppliers enabled 2026"/>
          <p:cNvSpPr/>
          <p:nvPr/>
        </p:nvSpPr>
        <p:spPr>
          <a:xfrm>
            <a:off x="3949065" y="3269503"/>
            <a:ext cx="1167574" cy="6401"/>
          </a:xfrm>
          <a:prstGeom prst="rect">
            <a:avLst/>
          </a:prstGeom>
          <a:solidFill>
            <a:srgbClr val="E2E8EC"/>
          </a:solidFill>
          <a:ln>
            <a:noFill/>
          </a:ln>
          <a:effectLst/>
        </p:spPr>
        <p:txBody>
          <a:bodyPr rtlCol="0" anchor="ctr"/>
          <a:lstStyle/>
          <a:p>
            <a:endParaRPr lang="de-DE"/>
          </a:p>
        </p:txBody>
      </p:sp>
      <p:sp>
        <p:nvSpPr>
          <p:cNvPr id="214" name="Product Passes Suppliers"/>
          <p:cNvSpPr txBox="1"/>
          <p:nvPr/>
        </p:nvSpPr>
        <p:spPr>
          <a:xfrm>
            <a:off x="3949065"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5" name="PURIS Row Divider Suppliers enabled 2026"/>
          <p:cNvSpPr/>
          <p:nvPr/>
        </p:nvSpPr>
        <p:spPr>
          <a:xfrm>
            <a:off x="5294947" y="3269503"/>
            <a:ext cx="1167574" cy="6401"/>
          </a:xfrm>
          <a:prstGeom prst="rect">
            <a:avLst/>
          </a:prstGeom>
          <a:solidFill>
            <a:srgbClr val="E2E8EC"/>
          </a:solidFill>
          <a:ln>
            <a:noFill/>
          </a:ln>
          <a:effectLst/>
        </p:spPr>
        <p:txBody>
          <a:bodyPr rtlCol="0" anchor="ctr"/>
          <a:lstStyle/>
          <a:p>
            <a:endParaRPr lang="de-DE"/>
          </a:p>
        </p:txBody>
      </p:sp>
      <p:sp>
        <p:nvSpPr>
          <p:cNvPr id="216" name="PURIS Suppliers"/>
          <p:cNvSpPr txBox="1"/>
          <p:nvPr/>
        </p:nvSpPr>
        <p:spPr>
          <a:xfrm>
            <a:off x="5294947"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1 / 6</a:t>
            </a:r>
            <a:r>
              <a:rPr lang="de-DE" sz="900" b="0" kern="0" dirty="0">
                <a:solidFill>
                  <a:srgbClr val="63707A"/>
                </a:solidFill>
                <a:latin typeface="Segoe UI" pitchFamily="34" charset="0"/>
                <a:ea typeface="Segoe UI" pitchFamily="34" charset="-122"/>
                <a:cs typeface="Segoe UI" pitchFamily="34" charset="-120"/>
              </a:rPr>
              <a:t>  17%</a:t>
            </a:r>
          </a:p>
        </p:txBody>
      </p:sp>
      <p:sp>
        <p:nvSpPr>
          <p:cNvPr id="217" name="Business Partner Data Mgmt Row Divider Suppliers enabled 2026"/>
          <p:cNvSpPr/>
          <p:nvPr/>
        </p:nvSpPr>
        <p:spPr>
          <a:xfrm>
            <a:off x="6640830" y="3269503"/>
            <a:ext cx="1167574" cy="6401"/>
          </a:xfrm>
          <a:prstGeom prst="rect">
            <a:avLst/>
          </a:prstGeom>
          <a:solidFill>
            <a:srgbClr val="E2E8EC"/>
          </a:solidFill>
          <a:ln>
            <a:noFill/>
          </a:ln>
          <a:effectLst/>
        </p:spPr>
        <p:txBody>
          <a:bodyPr rtlCol="0" anchor="ctr"/>
          <a:lstStyle/>
          <a:p>
            <a:endParaRPr lang="de-DE"/>
          </a:p>
        </p:txBody>
      </p:sp>
      <p:sp>
        <p:nvSpPr>
          <p:cNvPr id="218" name="Business Partner Data Mgmt Suppliers"/>
          <p:cNvSpPr txBox="1"/>
          <p:nvPr/>
        </p:nvSpPr>
        <p:spPr>
          <a:xfrm>
            <a:off x="6640830"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19" name="Certificate Management Row Divider Suppliers enabled 2026"/>
          <p:cNvSpPr/>
          <p:nvPr/>
        </p:nvSpPr>
        <p:spPr>
          <a:xfrm>
            <a:off x="7986712" y="3269503"/>
            <a:ext cx="1167574" cy="6401"/>
          </a:xfrm>
          <a:prstGeom prst="rect">
            <a:avLst/>
          </a:prstGeom>
          <a:solidFill>
            <a:srgbClr val="E2E8EC"/>
          </a:solidFill>
          <a:ln>
            <a:noFill/>
          </a:ln>
          <a:effectLst/>
        </p:spPr>
        <p:txBody>
          <a:bodyPr rtlCol="0" anchor="ctr"/>
          <a:lstStyle/>
          <a:p>
            <a:endParaRPr lang="de-DE"/>
          </a:p>
        </p:txBody>
      </p:sp>
      <p:sp>
        <p:nvSpPr>
          <p:cNvPr id="220" name="Certificate Management Suppliers"/>
          <p:cNvSpPr txBox="1"/>
          <p:nvPr/>
        </p:nvSpPr>
        <p:spPr>
          <a:xfrm>
            <a:off x="7986712"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82 / 100</a:t>
            </a:r>
            <a:r>
              <a:rPr lang="de-DE" sz="900" b="0" kern="0" dirty="0">
                <a:solidFill>
                  <a:srgbClr val="63707A"/>
                </a:solidFill>
                <a:latin typeface="Segoe UI" pitchFamily="34" charset="0"/>
                <a:ea typeface="Segoe UI" pitchFamily="34" charset="-122"/>
                <a:cs typeface="Segoe UI" pitchFamily="34" charset="-120"/>
              </a:rPr>
              <a:t>  82%</a:t>
            </a:r>
          </a:p>
        </p:txBody>
      </p:sp>
      <p:sp>
        <p:nvSpPr>
          <p:cNvPr id="221" name="Product Carbon Footprint Row Divider Suppliers enabled 2026"/>
          <p:cNvSpPr/>
          <p:nvPr/>
        </p:nvSpPr>
        <p:spPr>
          <a:xfrm>
            <a:off x="9332595" y="3269503"/>
            <a:ext cx="1167574" cy="6401"/>
          </a:xfrm>
          <a:prstGeom prst="rect">
            <a:avLst/>
          </a:prstGeom>
          <a:solidFill>
            <a:srgbClr val="E2E8EC"/>
          </a:solidFill>
          <a:ln>
            <a:noFill/>
          </a:ln>
          <a:effectLst/>
        </p:spPr>
        <p:txBody>
          <a:bodyPr rtlCol="0" anchor="ctr"/>
          <a:lstStyle/>
          <a:p>
            <a:endParaRPr lang="de-DE"/>
          </a:p>
        </p:txBody>
      </p:sp>
      <p:sp>
        <p:nvSpPr>
          <p:cNvPr id="222" name="Product Carbon Footprint Suppliers"/>
          <p:cNvSpPr txBox="1"/>
          <p:nvPr/>
        </p:nvSpPr>
        <p:spPr>
          <a:xfrm>
            <a:off x="9332595"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 / 1</a:t>
            </a:r>
            <a:r>
              <a:rPr lang="de-DE" sz="900" b="0" kern="0" dirty="0">
                <a:solidFill>
                  <a:srgbClr val="63707A"/>
                </a:solidFill>
                <a:latin typeface="Segoe UI" pitchFamily="34" charset="0"/>
                <a:ea typeface="Segoe UI" pitchFamily="34" charset="-122"/>
                <a:cs typeface="Segoe UI" pitchFamily="34" charset="-120"/>
              </a:rPr>
              <a:t>  0%</a:t>
            </a:r>
          </a:p>
        </p:txBody>
      </p:sp>
      <p:sp>
        <p:nvSpPr>
          <p:cNvPr id="223" name="N-Tier Row Divider Suppliers enabled 2026"/>
          <p:cNvSpPr/>
          <p:nvPr/>
        </p:nvSpPr>
        <p:spPr>
          <a:xfrm>
            <a:off x="10678477" y="3269503"/>
            <a:ext cx="1167574" cy="6401"/>
          </a:xfrm>
          <a:prstGeom prst="rect">
            <a:avLst/>
          </a:prstGeom>
          <a:solidFill>
            <a:srgbClr val="E2E8EC"/>
          </a:solidFill>
          <a:ln>
            <a:noFill/>
          </a:ln>
          <a:effectLst/>
        </p:spPr>
        <p:txBody>
          <a:bodyPr rtlCol="0" anchor="ctr"/>
          <a:lstStyle/>
          <a:p>
            <a:endParaRPr lang="de-DE"/>
          </a:p>
        </p:txBody>
      </p:sp>
      <p:sp>
        <p:nvSpPr>
          <p:cNvPr id="224" name="N-Tier Suppliers"/>
          <p:cNvSpPr txBox="1"/>
          <p:nvPr/>
        </p:nvSpPr>
        <p:spPr>
          <a:xfrm>
            <a:off x="10678477" y="3333511"/>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N/A</a:t>
            </a:r>
          </a:p>
        </p:txBody>
      </p:sp>
      <p:sp>
        <p:nvSpPr>
          <p:cNvPr id="225" name="Row Label Next critical milestone"/>
          <p:cNvSpPr txBox="1"/>
          <p:nvPr/>
        </p:nvSpPr>
        <p:spPr>
          <a:xfrm>
            <a:off x="274320" y="3784406"/>
            <a:ext cx="868680" cy="5329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26" name="Quality Row Divider Next critical milestone"/>
          <p:cNvSpPr/>
          <p:nvPr/>
        </p:nvSpPr>
        <p:spPr>
          <a:xfrm>
            <a:off x="1257300" y="3720398"/>
            <a:ext cx="1167574" cy="6401"/>
          </a:xfrm>
          <a:prstGeom prst="rect">
            <a:avLst/>
          </a:prstGeom>
          <a:solidFill>
            <a:srgbClr val="E2E8EC"/>
          </a:solidFill>
          <a:ln>
            <a:noFill/>
          </a:ln>
          <a:effectLst/>
        </p:spPr>
        <p:txBody>
          <a:bodyPr rtlCol="0" anchor="ctr"/>
          <a:lstStyle/>
          <a:p>
            <a:endParaRPr lang="de-DE"/>
          </a:p>
        </p:txBody>
      </p:sp>
      <p:sp>
        <p:nvSpPr>
          <p:cNvPr id="227" name="Quality Milestone Dot"/>
          <p:cNvSpPr/>
          <p:nvPr/>
        </p:nvSpPr>
        <p:spPr>
          <a:xfrm>
            <a:off x="1257300" y="3820982"/>
            <a:ext cx="73152" cy="73152"/>
          </a:xfrm>
          <a:prstGeom prst="ellipse">
            <a:avLst/>
          </a:prstGeom>
          <a:solidFill>
            <a:srgbClr val="E64343"/>
          </a:solidFill>
          <a:ln>
            <a:noFill/>
          </a:ln>
          <a:effectLst/>
        </p:spPr>
        <p:txBody>
          <a:bodyPr rtlCol="0" anchor="ctr"/>
          <a:lstStyle/>
          <a:p>
            <a:endParaRPr lang="de-DE"/>
          </a:p>
        </p:txBody>
      </p:sp>
      <p:sp>
        <p:nvSpPr>
          <p:cNvPr id="228" name="Quality Milestone"/>
          <p:cNvSpPr txBox="1"/>
          <p:nvPr/>
        </p:nvSpPr>
        <p:spPr>
          <a:xfrm>
            <a:off x="1394460"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SQA CX MVP scale-up</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Jan 2027</a:t>
            </a:r>
          </a:p>
        </p:txBody>
      </p:sp>
      <p:sp>
        <p:nvSpPr>
          <p:cNvPr id="229" name="Battery Passport Row Divider Next critical milestone"/>
          <p:cNvSpPr/>
          <p:nvPr/>
        </p:nvSpPr>
        <p:spPr>
          <a:xfrm>
            <a:off x="2603182" y="3720398"/>
            <a:ext cx="1167574" cy="6401"/>
          </a:xfrm>
          <a:prstGeom prst="rect">
            <a:avLst/>
          </a:prstGeom>
          <a:solidFill>
            <a:srgbClr val="E2E8EC"/>
          </a:solidFill>
          <a:ln>
            <a:noFill/>
          </a:ln>
          <a:effectLst/>
        </p:spPr>
        <p:txBody>
          <a:bodyPr rtlCol="0" anchor="ctr"/>
          <a:lstStyle/>
          <a:p>
            <a:endParaRPr lang="de-DE"/>
          </a:p>
        </p:txBody>
      </p:sp>
      <p:sp>
        <p:nvSpPr>
          <p:cNvPr id="230" name="Battery Passport Milestone"/>
          <p:cNvSpPr txBox="1"/>
          <p:nvPr/>
        </p:nvSpPr>
        <p:spPr>
          <a:xfrm>
            <a:off x="2603182"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1" name="Product Passes Row Divider Next critical milestone"/>
          <p:cNvSpPr/>
          <p:nvPr/>
        </p:nvSpPr>
        <p:spPr>
          <a:xfrm>
            <a:off x="3949065" y="3720398"/>
            <a:ext cx="1167574" cy="6401"/>
          </a:xfrm>
          <a:prstGeom prst="rect">
            <a:avLst/>
          </a:prstGeom>
          <a:solidFill>
            <a:srgbClr val="E2E8EC"/>
          </a:solidFill>
          <a:ln>
            <a:noFill/>
          </a:ln>
          <a:effectLst/>
        </p:spPr>
        <p:txBody>
          <a:bodyPr rtlCol="0" anchor="ctr"/>
          <a:lstStyle/>
          <a:p>
            <a:endParaRPr lang="de-DE"/>
          </a:p>
        </p:txBody>
      </p:sp>
      <p:sp>
        <p:nvSpPr>
          <p:cNvPr id="232" name="Product Passes Milestone Dot"/>
          <p:cNvSpPr/>
          <p:nvPr/>
        </p:nvSpPr>
        <p:spPr>
          <a:xfrm>
            <a:off x="3949065" y="3820982"/>
            <a:ext cx="73152" cy="73152"/>
          </a:xfrm>
          <a:prstGeom prst="ellipse">
            <a:avLst/>
          </a:prstGeom>
          <a:solidFill>
            <a:srgbClr val="F0B135"/>
          </a:solidFill>
          <a:ln>
            <a:noFill/>
          </a:ln>
          <a:effectLst/>
        </p:spPr>
        <p:txBody>
          <a:bodyPr rtlCol="0" anchor="ctr"/>
          <a:lstStyle/>
          <a:p>
            <a:endParaRPr lang="de-DE"/>
          </a:p>
        </p:txBody>
      </p:sp>
      <p:sp>
        <p:nvSpPr>
          <p:cNvPr id="233" name="Product Passes Milestone"/>
          <p:cNvSpPr txBox="1"/>
          <p:nvPr/>
        </p:nvSpPr>
        <p:spPr>
          <a:xfrm>
            <a:off x="4086225"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Product passes prioritized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Oct 2026</a:t>
            </a:r>
          </a:p>
        </p:txBody>
      </p:sp>
      <p:sp>
        <p:nvSpPr>
          <p:cNvPr id="234" name="PURIS Row Divider Next critical milestone"/>
          <p:cNvSpPr/>
          <p:nvPr/>
        </p:nvSpPr>
        <p:spPr>
          <a:xfrm>
            <a:off x="5294947" y="3720398"/>
            <a:ext cx="1167574" cy="6401"/>
          </a:xfrm>
          <a:prstGeom prst="rect">
            <a:avLst/>
          </a:prstGeom>
          <a:solidFill>
            <a:srgbClr val="E2E8EC"/>
          </a:solidFill>
          <a:ln>
            <a:noFill/>
          </a:ln>
          <a:effectLst/>
        </p:spPr>
        <p:txBody>
          <a:bodyPr rtlCol="0" anchor="ctr"/>
          <a:lstStyle/>
          <a:p>
            <a:endParaRPr lang="de-DE"/>
          </a:p>
        </p:txBody>
      </p:sp>
      <p:sp>
        <p:nvSpPr>
          <p:cNvPr id="235" name="PURIS Milestone Dot"/>
          <p:cNvSpPr/>
          <p:nvPr/>
        </p:nvSpPr>
        <p:spPr>
          <a:xfrm>
            <a:off x="5294947" y="3820982"/>
            <a:ext cx="73152" cy="73152"/>
          </a:xfrm>
          <a:prstGeom prst="ellipse">
            <a:avLst/>
          </a:prstGeom>
          <a:solidFill>
            <a:srgbClr val="F0B135"/>
          </a:solidFill>
          <a:ln>
            <a:noFill/>
          </a:ln>
          <a:effectLst/>
        </p:spPr>
        <p:txBody>
          <a:bodyPr rtlCol="0" anchor="ctr"/>
          <a:lstStyle/>
          <a:p>
            <a:endParaRPr lang="de-DE"/>
          </a:p>
        </p:txBody>
      </p:sp>
      <p:sp>
        <p:nvSpPr>
          <p:cNvPr id="236" name="PURIS Milestone"/>
          <p:cNvSpPr txBox="1"/>
          <p:nvPr/>
        </p:nvSpPr>
        <p:spPr>
          <a:xfrm>
            <a:off x="5432108"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Plan for existing challenges ready</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9 Oct 2026</a:t>
            </a:r>
          </a:p>
        </p:txBody>
      </p:sp>
      <p:sp>
        <p:nvSpPr>
          <p:cNvPr id="237" name="Business Partner Data Mgmt Row Divider Next critical milestone"/>
          <p:cNvSpPr/>
          <p:nvPr/>
        </p:nvSpPr>
        <p:spPr>
          <a:xfrm>
            <a:off x="6640830" y="3720398"/>
            <a:ext cx="1167574" cy="6401"/>
          </a:xfrm>
          <a:prstGeom prst="rect">
            <a:avLst/>
          </a:prstGeom>
          <a:solidFill>
            <a:srgbClr val="E2E8EC"/>
          </a:solidFill>
          <a:ln>
            <a:noFill/>
          </a:ln>
          <a:effectLst/>
        </p:spPr>
        <p:txBody>
          <a:bodyPr rtlCol="0" anchor="ctr"/>
          <a:lstStyle/>
          <a:p>
            <a:endParaRPr lang="de-DE"/>
          </a:p>
        </p:txBody>
      </p:sp>
      <p:sp>
        <p:nvSpPr>
          <p:cNvPr id="238" name="Business Partner Data Mgmt Milestone"/>
          <p:cNvSpPr txBox="1"/>
          <p:nvPr/>
        </p:nvSpPr>
        <p:spPr>
          <a:xfrm>
            <a:off x="6640830"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39" name="Certificate Management Row Divider Next critical milestone"/>
          <p:cNvSpPr/>
          <p:nvPr/>
        </p:nvSpPr>
        <p:spPr>
          <a:xfrm>
            <a:off x="7986712" y="3720398"/>
            <a:ext cx="1167574" cy="6401"/>
          </a:xfrm>
          <a:prstGeom prst="rect">
            <a:avLst/>
          </a:prstGeom>
          <a:solidFill>
            <a:srgbClr val="E2E8EC"/>
          </a:solidFill>
          <a:ln>
            <a:noFill/>
          </a:ln>
          <a:effectLst/>
        </p:spPr>
        <p:txBody>
          <a:bodyPr rtlCol="0" anchor="ctr"/>
          <a:lstStyle/>
          <a:p>
            <a:endParaRPr lang="de-DE"/>
          </a:p>
        </p:txBody>
      </p:sp>
      <p:sp>
        <p:nvSpPr>
          <p:cNvPr id="240" name="Certificate Management Milestone Dot"/>
          <p:cNvSpPr/>
          <p:nvPr/>
        </p:nvSpPr>
        <p:spPr>
          <a:xfrm>
            <a:off x="7986712" y="3820982"/>
            <a:ext cx="73152" cy="73152"/>
          </a:xfrm>
          <a:prstGeom prst="ellipse">
            <a:avLst/>
          </a:prstGeom>
          <a:solidFill>
            <a:srgbClr val="F0B135"/>
          </a:solidFill>
          <a:ln>
            <a:noFill/>
          </a:ln>
          <a:effectLst/>
        </p:spPr>
        <p:txBody>
          <a:bodyPr rtlCol="0" anchor="ctr"/>
          <a:lstStyle/>
          <a:p>
            <a:endParaRPr lang="de-DE"/>
          </a:p>
        </p:txBody>
      </p:sp>
      <p:sp>
        <p:nvSpPr>
          <p:cNvPr id="241" name="Certificate Management Milestone"/>
          <p:cNvSpPr txBox="1"/>
          <p:nvPr/>
        </p:nvSpPr>
        <p:spPr>
          <a:xfrm>
            <a:off x="8123872" y="3784406"/>
            <a:ext cx="1030415"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Official CX CCM release</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Sep 2026</a:t>
            </a:r>
          </a:p>
        </p:txBody>
      </p:sp>
      <p:sp>
        <p:nvSpPr>
          <p:cNvPr id="242" name="Product Carbon Footprint Row Divider Next critical milestone"/>
          <p:cNvSpPr/>
          <p:nvPr/>
        </p:nvSpPr>
        <p:spPr>
          <a:xfrm>
            <a:off x="9332595" y="3720398"/>
            <a:ext cx="1167574" cy="6401"/>
          </a:xfrm>
          <a:prstGeom prst="rect">
            <a:avLst/>
          </a:prstGeom>
          <a:solidFill>
            <a:srgbClr val="E2E8EC"/>
          </a:solidFill>
          <a:ln>
            <a:noFill/>
          </a:ln>
          <a:effectLst/>
        </p:spPr>
        <p:txBody>
          <a:bodyPr rtlCol="0" anchor="ctr"/>
          <a:lstStyle/>
          <a:p>
            <a:endParaRPr lang="de-DE"/>
          </a:p>
        </p:txBody>
      </p:sp>
      <p:sp>
        <p:nvSpPr>
          <p:cNvPr id="243" name="Product Carbon Footprint Milestone"/>
          <p:cNvSpPr txBox="1"/>
          <p:nvPr/>
        </p:nvSpPr>
        <p:spPr>
          <a:xfrm>
            <a:off x="9332595"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4" name="N-Tier Row Divider Next critical milestone"/>
          <p:cNvSpPr/>
          <p:nvPr/>
        </p:nvSpPr>
        <p:spPr>
          <a:xfrm>
            <a:off x="10678477" y="3720398"/>
            <a:ext cx="1167574" cy="6401"/>
          </a:xfrm>
          <a:prstGeom prst="rect">
            <a:avLst/>
          </a:prstGeom>
          <a:solidFill>
            <a:srgbClr val="E2E8EC"/>
          </a:solidFill>
          <a:ln>
            <a:noFill/>
          </a:ln>
          <a:effectLst/>
        </p:spPr>
        <p:txBody>
          <a:bodyPr rtlCol="0" anchor="ctr"/>
          <a:lstStyle/>
          <a:p>
            <a:endParaRPr lang="de-DE"/>
          </a:p>
        </p:txBody>
      </p:sp>
      <p:sp>
        <p:nvSpPr>
          <p:cNvPr id="245" name="N-Tier Milestone"/>
          <p:cNvSpPr txBox="1"/>
          <p:nvPr/>
        </p:nvSpPr>
        <p:spPr>
          <a:xfrm>
            <a:off x="10678477" y="3784406"/>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46" name="Row Label Dimensions"/>
          <p:cNvSpPr txBox="1"/>
          <p:nvPr/>
        </p:nvSpPr>
        <p:spPr>
          <a:xfrm>
            <a:off x="274320" y="4381351"/>
            <a:ext cx="868680" cy="113400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47" name="Quality Row Divider Dimensions"/>
          <p:cNvSpPr/>
          <p:nvPr/>
        </p:nvSpPr>
        <p:spPr>
          <a:xfrm>
            <a:off x="1257300" y="4317343"/>
            <a:ext cx="1167574" cy="6401"/>
          </a:xfrm>
          <a:prstGeom prst="rect">
            <a:avLst/>
          </a:prstGeom>
          <a:solidFill>
            <a:srgbClr val="E2E8EC"/>
          </a:solidFill>
          <a:ln>
            <a:noFill/>
          </a:ln>
          <a:effectLst/>
        </p:spPr>
        <p:txBody>
          <a:bodyPr rtlCol="0" anchor="ctr"/>
          <a:lstStyle/>
          <a:p>
            <a:endParaRPr lang="de-DE"/>
          </a:p>
        </p:txBody>
      </p:sp>
      <p:sp>
        <p:nvSpPr>
          <p:cNvPr id="248" name="Quality Dim Dot External · CX Association"/>
          <p:cNvSpPr/>
          <p:nvPr/>
        </p:nvSpPr>
        <p:spPr>
          <a:xfrm>
            <a:off x="1257300" y="4417927"/>
            <a:ext cx="73152" cy="73152"/>
          </a:xfrm>
          <a:prstGeom prst="ellipse">
            <a:avLst/>
          </a:prstGeom>
          <a:solidFill>
            <a:srgbClr val="53BE70"/>
          </a:solidFill>
          <a:ln>
            <a:noFill/>
          </a:ln>
          <a:effectLst/>
        </p:spPr>
        <p:txBody>
          <a:bodyPr rtlCol="0" anchor="ctr"/>
          <a:lstStyle/>
          <a:p>
            <a:endParaRPr lang="de-DE"/>
          </a:p>
        </p:txBody>
      </p:sp>
      <p:sp>
        <p:nvSpPr>
          <p:cNvPr id="249" name="Quality Dim External · CX Association"/>
          <p:cNvSpPr txBox="1"/>
          <p:nvPr/>
        </p:nvSpPr>
        <p:spPr>
          <a:xfrm>
            <a:off x="1394460"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0" name="Quality Dim Dot Business"/>
          <p:cNvSpPr/>
          <p:nvPr/>
        </p:nvSpPr>
        <p:spPr>
          <a:xfrm>
            <a:off x="1257300" y="4755747"/>
            <a:ext cx="73152" cy="73152"/>
          </a:xfrm>
          <a:prstGeom prst="ellipse">
            <a:avLst/>
          </a:prstGeom>
          <a:solidFill>
            <a:srgbClr val="F0B135"/>
          </a:solidFill>
          <a:ln>
            <a:noFill/>
          </a:ln>
          <a:effectLst/>
        </p:spPr>
        <p:txBody>
          <a:bodyPr rtlCol="0" anchor="ctr"/>
          <a:lstStyle/>
          <a:p>
            <a:endParaRPr lang="de-DE"/>
          </a:p>
        </p:txBody>
      </p:sp>
      <p:sp>
        <p:nvSpPr>
          <p:cNvPr id="251" name="Quality Dim Business"/>
          <p:cNvSpPr txBox="1"/>
          <p:nvPr/>
        </p:nvSpPr>
        <p:spPr>
          <a:xfrm>
            <a:off x="1394460"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2" name="Quality Dim Dot Data Provisioning"/>
          <p:cNvSpPr/>
          <p:nvPr/>
        </p:nvSpPr>
        <p:spPr>
          <a:xfrm>
            <a:off x="1257300" y="4947517"/>
            <a:ext cx="73152" cy="73152"/>
          </a:xfrm>
          <a:prstGeom prst="ellipse">
            <a:avLst/>
          </a:prstGeom>
          <a:solidFill>
            <a:srgbClr val="F0B135"/>
          </a:solidFill>
          <a:ln>
            <a:noFill/>
          </a:ln>
          <a:effectLst/>
        </p:spPr>
        <p:txBody>
          <a:bodyPr rtlCol="0" anchor="ctr"/>
          <a:lstStyle/>
          <a:p>
            <a:endParaRPr lang="de-DE"/>
          </a:p>
        </p:txBody>
      </p:sp>
      <p:sp>
        <p:nvSpPr>
          <p:cNvPr id="253" name="Quality Dim Data Provisioning"/>
          <p:cNvSpPr txBox="1"/>
          <p:nvPr/>
        </p:nvSpPr>
        <p:spPr>
          <a:xfrm>
            <a:off x="1394460"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54" name="Quality Dim Dot Technical"/>
          <p:cNvSpPr/>
          <p:nvPr/>
        </p:nvSpPr>
        <p:spPr>
          <a:xfrm>
            <a:off x="1257300" y="5139287"/>
            <a:ext cx="73152" cy="73152"/>
          </a:xfrm>
          <a:prstGeom prst="ellipse">
            <a:avLst/>
          </a:prstGeom>
          <a:solidFill>
            <a:srgbClr val="F0B135"/>
          </a:solidFill>
          <a:ln>
            <a:noFill/>
          </a:ln>
          <a:effectLst/>
        </p:spPr>
        <p:txBody>
          <a:bodyPr rtlCol="0" anchor="ctr"/>
          <a:lstStyle/>
          <a:p>
            <a:endParaRPr lang="de-DE"/>
          </a:p>
        </p:txBody>
      </p:sp>
      <p:sp>
        <p:nvSpPr>
          <p:cNvPr id="255" name="Quality Dim Technical"/>
          <p:cNvSpPr txBox="1"/>
          <p:nvPr/>
        </p:nvSpPr>
        <p:spPr>
          <a:xfrm>
            <a:off x="1394460"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6" name="Quality Dim Dot Supplier Activation"/>
          <p:cNvSpPr/>
          <p:nvPr/>
        </p:nvSpPr>
        <p:spPr>
          <a:xfrm>
            <a:off x="1257300" y="5331057"/>
            <a:ext cx="73152" cy="73152"/>
          </a:xfrm>
          <a:prstGeom prst="ellipse">
            <a:avLst/>
          </a:prstGeom>
          <a:solidFill>
            <a:srgbClr val="F0B135"/>
          </a:solidFill>
          <a:ln>
            <a:noFill/>
          </a:ln>
          <a:effectLst/>
        </p:spPr>
        <p:txBody>
          <a:bodyPr rtlCol="0" anchor="ctr"/>
          <a:lstStyle/>
          <a:p>
            <a:endParaRPr lang="de-DE"/>
          </a:p>
        </p:txBody>
      </p:sp>
      <p:sp>
        <p:nvSpPr>
          <p:cNvPr id="257" name="Quality Dim Supplier Activation"/>
          <p:cNvSpPr txBox="1"/>
          <p:nvPr/>
        </p:nvSpPr>
        <p:spPr>
          <a:xfrm>
            <a:off x="1394460"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58" name="Battery Passport Row Divider Dimensions"/>
          <p:cNvSpPr/>
          <p:nvPr/>
        </p:nvSpPr>
        <p:spPr>
          <a:xfrm>
            <a:off x="2603182" y="4317343"/>
            <a:ext cx="1167574" cy="6401"/>
          </a:xfrm>
          <a:prstGeom prst="rect">
            <a:avLst/>
          </a:prstGeom>
          <a:solidFill>
            <a:srgbClr val="E2E8EC"/>
          </a:solidFill>
          <a:ln>
            <a:noFill/>
          </a:ln>
          <a:effectLst/>
        </p:spPr>
        <p:txBody>
          <a:bodyPr rtlCol="0" anchor="ctr"/>
          <a:lstStyle/>
          <a:p>
            <a:endParaRPr lang="de-DE"/>
          </a:p>
        </p:txBody>
      </p:sp>
      <p:sp>
        <p:nvSpPr>
          <p:cNvPr id="259" name="Battery Passport Dim Dot External · CX Association"/>
          <p:cNvSpPr/>
          <p:nvPr/>
        </p:nvSpPr>
        <p:spPr>
          <a:xfrm>
            <a:off x="2603182" y="4417927"/>
            <a:ext cx="73152" cy="73152"/>
          </a:xfrm>
          <a:prstGeom prst="ellipse">
            <a:avLst/>
          </a:prstGeom>
          <a:solidFill>
            <a:srgbClr val="F0B135"/>
          </a:solidFill>
          <a:ln>
            <a:noFill/>
          </a:ln>
          <a:effectLst/>
        </p:spPr>
        <p:txBody>
          <a:bodyPr rtlCol="0" anchor="ctr"/>
          <a:lstStyle/>
          <a:p>
            <a:endParaRPr lang="de-DE"/>
          </a:p>
        </p:txBody>
      </p:sp>
      <p:sp>
        <p:nvSpPr>
          <p:cNvPr id="260" name="Battery Passport Dim External · CX Association"/>
          <p:cNvSpPr txBox="1"/>
          <p:nvPr/>
        </p:nvSpPr>
        <p:spPr>
          <a:xfrm>
            <a:off x="2740342"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1" name="Battery Passport Dim Dot Business"/>
          <p:cNvSpPr/>
          <p:nvPr/>
        </p:nvSpPr>
        <p:spPr>
          <a:xfrm>
            <a:off x="2603182" y="4755747"/>
            <a:ext cx="73152" cy="73152"/>
          </a:xfrm>
          <a:prstGeom prst="ellipse">
            <a:avLst/>
          </a:prstGeom>
          <a:solidFill>
            <a:srgbClr val="F0B135"/>
          </a:solidFill>
          <a:ln>
            <a:noFill/>
          </a:ln>
          <a:effectLst/>
        </p:spPr>
        <p:txBody>
          <a:bodyPr rtlCol="0" anchor="ctr"/>
          <a:lstStyle/>
          <a:p>
            <a:endParaRPr lang="de-DE"/>
          </a:p>
        </p:txBody>
      </p:sp>
      <p:sp>
        <p:nvSpPr>
          <p:cNvPr id="262" name="Battery Passport Dim Business"/>
          <p:cNvSpPr txBox="1"/>
          <p:nvPr/>
        </p:nvSpPr>
        <p:spPr>
          <a:xfrm>
            <a:off x="2740342"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3" name="Battery Passport Dim Dot Data Provisioning"/>
          <p:cNvSpPr/>
          <p:nvPr/>
        </p:nvSpPr>
        <p:spPr>
          <a:xfrm>
            <a:off x="2603182" y="4947517"/>
            <a:ext cx="73152" cy="73152"/>
          </a:xfrm>
          <a:prstGeom prst="ellipse">
            <a:avLst/>
          </a:prstGeom>
          <a:solidFill>
            <a:srgbClr val="53BE70"/>
          </a:solidFill>
          <a:ln>
            <a:noFill/>
          </a:ln>
          <a:effectLst/>
        </p:spPr>
        <p:txBody>
          <a:bodyPr rtlCol="0" anchor="ctr"/>
          <a:lstStyle/>
          <a:p>
            <a:endParaRPr lang="de-DE"/>
          </a:p>
        </p:txBody>
      </p:sp>
      <p:sp>
        <p:nvSpPr>
          <p:cNvPr id="264" name="Battery Passport Dim Data Provisioning"/>
          <p:cNvSpPr txBox="1"/>
          <p:nvPr/>
        </p:nvSpPr>
        <p:spPr>
          <a:xfrm>
            <a:off x="2740342"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65" name="Battery Passport Dim Dot Technical"/>
          <p:cNvSpPr/>
          <p:nvPr/>
        </p:nvSpPr>
        <p:spPr>
          <a:xfrm>
            <a:off x="2603182" y="5139287"/>
            <a:ext cx="73152" cy="73152"/>
          </a:xfrm>
          <a:prstGeom prst="ellipse">
            <a:avLst/>
          </a:prstGeom>
          <a:solidFill>
            <a:srgbClr val="53BE70"/>
          </a:solidFill>
          <a:ln>
            <a:noFill/>
          </a:ln>
          <a:effectLst/>
        </p:spPr>
        <p:txBody>
          <a:bodyPr rtlCol="0" anchor="ctr"/>
          <a:lstStyle/>
          <a:p>
            <a:endParaRPr lang="de-DE"/>
          </a:p>
        </p:txBody>
      </p:sp>
      <p:sp>
        <p:nvSpPr>
          <p:cNvPr id="266" name="Battery Passport Dim Technical"/>
          <p:cNvSpPr txBox="1"/>
          <p:nvPr/>
        </p:nvSpPr>
        <p:spPr>
          <a:xfrm>
            <a:off x="2740342"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7" name="Battery Passport Dim Dot Supplier Activation"/>
          <p:cNvSpPr/>
          <p:nvPr/>
        </p:nvSpPr>
        <p:spPr>
          <a:xfrm>
            <a:off x="2603182" y="5331057"/>
            <a:ext cx="73152" cy="73152"/>
          </a:xfrm>
          <a:prstGeom prst="ellipse">
            <a:avLst/>
          </a:prstGeom>
          <a:solidFill>
            <a:srgbClr val="53BE70"/>
          </a:solidFill>
          <a:ln>
            <a:noFill/>
          </a:ln>
          <a:effectLst/>
        </p:spPr>
        <p:txBody>
          <a:bodyPr rtlCol="0" anchor="ctr"/>
          <a:lstStyle/>
          <a:p>
            <a:endParaRPr lang="de-DE"/>
          </a:p>
        </p:txBody>
      </p:sp>
      <p:sp>
        <p:nvSpPr>
          <p:cNvPr id="268" name="Battery Passport Dim Supplier Activation"/>
          <p:cNvSpPr txBox="1"/>
          <p:nvPr/>
        </p:nvSpPr>
        <p:spPr>
          <a:xfrm>
            <a:off x="2740342"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69" name="Product Passes Row Divider Dimensions"/>
          <p:cNvSpPr/>
          <p:nvPr/>
        </p:nvSpPr>
        <p:spPr>
          <a:xfrm>
            <a:off x="3949065" y="4317343"/>
            <a:ext cx="1167574" cy="6401"/>
          </a:xfrm>
          <a:prstGeom prst="rect">
            <a:avLst/>
          </a:prstGeom>
          <a:solidFill>
            <a:srgbClr val="E2E8EC"/>
          </a:solidFill>
          <a:ln>
            <a:noFill/>
          </a:ln>
          <a:effectLst/>
        </p:spPr>
        <p:txBody>
          <a:bodyPr rtlCol="0" anchor="ctr"/>
          <a:lstStyle/>
          <a:p>
            <a:endParaRPr lang="de-DE"/>
          </a:p>
        </p:txBody>
      </p:sp>
      <p:sp>
        <p:nvSpPr>
          <p:cNvPr id="270" name="Product Passes Dim Dot External · CX Association"/>
          <p:cNvSpPr/>
          <p:nvPr/>
        </p:nvSpPr>
        <p:spPr>
          <a:xfrm>
            <a:off x="3949065" y="4417927"/>
            <a:ext cx="73152" cy="73152"/>
          </a:xfrm>
          <a:prstGeom prst="ellipse">
            <a:avLst/>
          </a:prstGeom>
          <a:solidFill>
            <a:srgbClr val="F0B135"/>
          </a:solidFill>
          <a:ln>
            <a:noFill/>
          </a:ln>
          <a:effectLst/>
        </p:spPr>
        <p:txBody>
          <a:bodyPr rtlCol="0" anchor="ctr"/>
          <a:lstStyle/>
          <a:p>
            <a:endParaRPr lang="de-DE"/>
          </a:p>
        </p:txBody>
      </p:sp>
      <p:sp>
        <p:nvSpPr>
          <p:cNvPr id="271" name="Product Passes Dim External · CX Association"/>
          <p:cNvSpPr txBox="1"/>
          <p:nvPr/>
        </p:nvSpPr>
        <p:spPr>
          <a:xfrm>
            <a:off x="4086225"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72" name="Product Passes Dim Dot Business"/>
          <p:cNvSpPr/>
          <p:nvPr/>
        </p:nvSpPr>
        <p:spPr>
          <a:xfrm>
            <a:off x="3949065" y="4755747"/>
            <a:ext cx="73152" cy="73152"/>
          </a:xfrm>
          <a:prstGeom prst="ellipse">
            <a:avLst/>
          </a:prstGeom>
          <a:solidFill>
            <a:srgbClr val="F0B135"/>
          </a:solidFill>
          <a:ln>
            <a:noFill/>
          </a:ln>
          <a:effectLst/>
        </p:spPr>
        <p:txBody>
          <a:bodyPr rtlCol="0" anchor="ctr"/>
          <a:lstStyle/>
          <a:p>
            <a:endParaRPr lang="de-DE"/>
          </a:p>
        </p:txBody>
      </p:sp>
      <p:sp>
        <p:nvSpPr>
          <p:cNvPr id="273" name="Product Passes Dim Business"/>
          <p:cNvSpPr txBox="1"/>
          <p:nvPr/>
        </p:nvSpPr>
        <p:spPr>
          <a:xfrm>
            <a:off x="4086225"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74" name="Product Passes Dim Dot Data Provisioning"/>
          <p:cNvSpPr/>
          <p:nvPr/>
        </p:nvSpPr>
        <p:spPr>
          <a:xfrm>
            <a:off x="3949065" y="4947517"/>
            <a:ext cx="73152" cy="73152"/>
          </a:xfrm>
          <a:prstGeom prst="ellipse">
            <a:avLst/>
          </a:prstGeom>
          <a:solidFill>
            <a:srgbClr val="53BE70"/>
          </a:solidFill>
          <a:ln>
            <a:noFill/>
          </a:ln>
          <a:effectLst/>
        </p:spPr>
        <p:txBody>
          <a:bodyPr rtlCol="0" anchor="ctr"/>
          <a:lstStyle/>
          <a:p>
            <a:endParaRPr lang="de-DE"/>
          </a:p>
        </p:txBody>
      </p:sp>
      <p:sp>
        <p:nvSpPr>
          <p:cNvPr id="275" name="Product Passes Dim Data Provisioning"/>
          <p:cNvSpPr txBox="1"/>
          <p:nvPr/>
        </p:nvSpPr>
        <p:spPr>
          <a:xfrm>
            <a:off x="4086225"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76" name="Product Passes Dim Dot Technical"/>
          <p:cNvSpPr/>
          <p:nvPr/>
        </p:nvSpPr>
        <p:spPr>
          <a:xfrm>
            <a:off x="3949065" y="5139287"/>
            <a:ext cx="73152" cy="73152"/>
          </a:xfrm>
          <a:prstGeom prst="ellipse">
            <a:avLst/>
          </a:prstGeom>
          <a:solidFill>
            <a:srgbClr val="53BE70"/>
          </a:solidFill>
          <a:ln>
            <a:noFill/>
          </a:ln>
          <a:effectLst/>
        </p:spPr>
        <p:txBody>
          <a:bodyPr rtlCol="0" anchor="ctr"/>
          <a:lstStyle/>
          <a:p>
            <a:endParaRPr lang="de-DE"/>
          </a:p>
        </p:txBody>
      </p:sp>
      <p:sp>
        <p:nvSpPr>
          <p:cNvPr id="277" name="Product Passes Dim Technical"/>
          <p:cNvSpPr txBox="1"/>
          <p:nvPr/>
        </p:nvSpPr>
        <p:spPr>
          <a:xfrm>
            <a:off x="4086225"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8" name="Product Passes Dim Dot Supplier Activation"/>
          <p:cNvSpPr/>
          <p:nvPr/>
        </p:nvSpPr>
        <p:spPr>
          <a:xfrm>
            <a:off x="3949065" y="5331057"/>
            <a:ext cx="73152" cy="73152"/>
          </a:xfrm>
          <a:prstGeom prst="ellipse">
            <a:avLst/>
          </a:prstGeom>
          <a:solidFill>
            <a:srgbClr val="53BE70"/>
          </a:solidFill>
          <a:ln>
            <a:noFill/>
          </a:ln>
          <a:effectLst/>
        </p:spPr>
        <p:txBody>
          <a:bodyPr rtlCol="0" anchor="ctr"/>
          <a:lstStyle/>
          <a:p>
            <a:endParaRPr lang="de-DE"/>
          </a:p>
        </p:txBody>
      </p:sp>
      <p:sp>
        <p:nvSpPr>
          <p:cNvPr id="279" name="Product Passes Dim Supplier Activation"/>
          <p:cNvSpPr txBox="1"/>
          <p:nvPr/>
        </p:nvSpPr>
        <p:spPr>
          <a:xfrm>
            <a:off x="4086225"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80" name="PURIS Row Divider Dimensions"/>
          <p:cNvSpPr/>
          <p:nvPr/>
        </p:nvSpPr>
        <p:spPr>
          <a:xfrm>
            <a:off x="5294947" y="4317343"/>
            <a:ext cx="1167574" cy="6401"/>
          </a:xfrm>
          <a:prstGeom prst="rect">
            <a:avLst/>
          </a:prstGeom>
          <a:solidFill>
            <a:srgbClr val="E2E8EC"/>
          </a:solidFill>
          <a:ln>
            <a:noFill/>
          </a:ln>
          <a:effectLst/>
        </p:spPr>
        <p:txBody>
          <a:bodyPr rtlCol="0" anchor="ctr"/>
          <a:lstStyle/>
          <a:p>
            <a:endParaRPr lang="de-DE"/>
          </a:p>
        </p:txBody>
      </p:sp>
      <p:sp>
        <p:nvSpPr>
          <p:cNvPr id="281" name="PURIS Dim Dot External · CX Association"/>
          <p:cNvSpPr/>
          <p:nvPr/>
        </p:nvSpPr>
        <p:spPr>
          <a:xfrm>
            <a:off x="5294947" y="4417927"/>
            <a:ext cx="73152" cy="73152"/>
          </a:xfrm>
          <a:prstGeom prst="ellipse">
            <a:avLst/>
          </a:prstGeom>
          <a:solidFill>
            <a:srgbClr val="53BE70"/>
          </a:solidFill>
          <a:ln>
            <a:noFill/>
          </a:ln>
          <a:effectLst/>
        </p:spPr>
        <p:txBody>
          <a:bodyPr rtlCol="0" anchor="ctr"/>
          <a:lstStyle/>
          <a:p>
            <a:endParaRPr lang="de-DE"/>
          </a:p>
        </p:txBody>
      </p:sp>
      <p:sp>
        <p:nvSpPr>
          <p:cNvPr id="282" name="PURIS Dim External · CX Association"/>
          <p:cNvSpPr txBox="1"/>
          <p:nvPr/>
        </p:nvSpPr>
        <p:spPr>
          <a:xfrm>
            <a:off x="5432108"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83" name="PURIS Dim Dot Business"/>
          <p:cNvSpPr/>
          <p:nvPr/>
        </p:nvSpPr>
        <p:spPr>
          <a:xfrm>
            <a:off x="5294947" y="4755747"/>
            <a:ext cx="73152" cy="73152"/>
          </a:xfrm>
          <a:prstGeom prst="ellipse">
            <a:avLst/>
          </a:prstGeom>
          <a:solidFill>
            <a:srgbClr val="F0B135"/>
          </a:solidFill>
          <a:ln>
            <a:noFill/>
          </a:ln>
          <a:effectLst/>
        </p:spPr>
        <p:txBody>
          <a:bodyPr rtlCol="0" anchor="ctr"/>
          <a:lstStyle/>
          <a:p>
            <a:endParaRPr lang="de-DE"/>
          </a:p>
        </p:txBody>
      </p:sp>
      <p:sp>
        <p:nvSpPr>
          <p:cNvPr id="284" name="PURIS Dim Business"/>
          <p:cNvSpPr txBox="1"/>
          <p:nvPr/>
        </p:nvSpPr>
        <p:spPr>
          <a:xfrm>
            <a:off x="5432108"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85" name="PURIS Dim Dot Data Provisioning"/>
          <p:cNvSpPr/>
          <p:nvPr/>
        </p:nvSpPr>
        <p:spPr>
          <a:xfrm>
            <a:off x="5294947" y="4947517"/>
            <a:ext cx="73152" cy="73152"/>
          </a:xfrm>
          <a:prstGeom prst="ellipse">
            <a:avLst/>
          </a:prstGeom>
          <a:solidFill>
            <a:srgbClr val="F0B135"/>
          </a:solidFill>
          <a:ln>
            <a:noFill/>
          </a:ln>
          <a:effectLst/>
        </p:spPr>
        <p:txBody>
          <a:bodyPr rtlCol="0" anchor="ctr"/>
          <a:lstStyle/>
          <a:p>
            <a:endParaRPr lang="de-DE"/>
          </a:p>
        </p:txBody>
      </p:sp>
      <p:sp>
        <p:nvSpPr>
          <p:cNvPr id="286" name="PURIS Dim Data Provisioning"/>
          <p:cNvSpPr txBox="1"/>
          <p:nvPr/>
        </p:nvSpPr>
        <p:spPr>
          <a:xfrm>
            <a:off x="5432108"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87" name="PURIS Dim Dot Technical"/>
          <p:cNvSpPr/>
          <p:nvPr/>
        </p:nvSpPr>
        <p:spPr>
          <a:xfrm>
            <a:off x="5294947" y="5139287"/>
            <a:ext cx="73152" cy="73152"/>
          </a:xfrm>
          <a:prstGeom prst="ellipse">
            <a:avLst/>
          </a:prstGeom>
          <a:solidFill>
            <a:srgbClr val="F0B135"/>
          </a:solidFill>
          <a:ln>
            <a:noFill/>
          </a:ln>
          <a:effectLst/>
        </p:spPr>
        <p:txBody>
          <a:bodyPr rtlCol="0" anchor="ctr"/>
          <a:lstStyle/>
          <a:p>
            <a:endParaRPr lang="de-DE"/>
          </a:p>
        </p:txBody>
      </p:sp>
      <p:sp>
        <p:nvSpPr>
          <p:cNvPr id="288" name="PURIS Dim Technical"/>
          <p:cNvSpPr txBox="1"/>
          <p:nvPr/>
        </p:nvSpPr>
        <p:spPr>
          <a:xfrm>
            <a:off x="5432108"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89" name="PURIS Dim Dot Supplier Activation"/>
          <p:cNvSpPr/>
          <p:nvPr/>
        </p:nvSpPr>
        <p:spPr>
          <a:xfrm>
            <a:off x="5294947" y="5331057"/>
            <a:ext cx="73152" cy="73152"/>
          </a:xfrm>
          <a:prstGeom prst="ellipse">
            <a:avLst/>
          </a:prstGeom>
          <a:solidFill>
            <a:srgbClr val="F0B135"/>
          </a:solidFill>
          <a:ln>
            <a:noFill/>
          </a:ln>
          <a:effectLst/>
        </p:spPr>
        <p:txBody>
          <a:bodyPr rtlCol="0" anchor="ctr"/>
          <a:lstStyle/>
          <a:p>
            <a:endParaRPr lang="de-DE"/>
          </a:p>
        </p:txBody>
      </p:sp>
      <p:sp>
        <p:nvSpPr>
          <p:cNvPr id="290" name="PURIS Dim Supplier Activation"/>
          <p:cNvSpPr txBox="1"/>
          <p:nvPr/>
        </p:nvSpPr>
        <p:spPr>
          <a:xfrm>
            <a:off x="5432108"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291" name="Business Partner Data Mgmt Row Divider Dimensions"/>
          <p:cNvSpPr/>
          <p:nvPr/>
        </p:nvSpPr>
        <p:spPr>
          <a:xfrm>
            <a:off x="6640830" y="4317343"/>
            <a:ext cx="1167574" cy="6401"/>
          </a:xfrm>
          <a:prstGeom prst="rect">
            <a:avLst/>
          </a:prstGeom>
          <a:solidFill>
            <a:srgbClr val="E2E8EC"/>
          </a:solidFill>
          <a:ln>
            <a:noFill/>
          </a:ln>
          <a:effectLst/>
        </p:spPr>
        <p:txBody>
          <a:bodyPr rtlCol="0" anchor="ctr"/>
          <a:lstStyle/>
          <a:p>
            <a:endParaRPr lang="de-DE"/>
          </a:p>
        </p:txBody>
      </p:sp>
      <p:sp>
        <p:nvSpPr>
          <p:cNvPr id="292" name="Business Partner Data Mgmt Dim Dot External · CX Association"/>
          <p:cNvSpPr/>
          <p:nvPr/>
        </p:nvSpPr>
        <p:spPr>
          <a:xfrm>
            <a:off x="6640830" y="4417927"/>
            <a:ext cx="73152" cy="73152"/>
          </a:xfrm>
          <a:prstGeom prst="ellipse">
            <a:avLst/>
          </a:prstGeom>
          <a:solidFill>
            <a:srgbClr val="F0B135"/>
          </a:solidFill>
          <a:ln>
            <a:noFill/>
          </a:ln>
          <a:effectLst/>
        </p:spPr>
        <p:txBody>
          <a:bodyPr rtlCol="0" anchor="ctr"/>
          <a:lstStyle/>
          <a:p>
            <a:endParaRPr lang="de-DE"/>
          </a:p>
        </p:txBody>
      </p:sp>
      <p:sp>
        <p:nvSpPr>
          <p:cNvPr id="293" name="Business Partner Data Mgmt Dim External · CX Association"/>
          <p:cNvSpPr txBox="1"/>
          <p:nvPr/>
        </p:nvSpPr>
        <p:spPr>
          <a:xfrm>
            <a:off x="6777990"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94" name="Business Partner Data Mgmt Dim Dot Business"/>
          <p:cNvSpPr/>
          <p:nvPr/>
        </p:nvSpPr>
        <p:spPr>
          <a:xfrm>
            <a:off x="6640830" y="4755747"/>
            <a:ext cx="73152" cy="73152"/>
          </a:xfrm>
          <a:prstGeom prst="ellipse">
            <a:avLst/>
          </a:prstGeom>
          <a:solidFill>
            <a:srgbClr val="F0B135"/>
          </a:solidFill>
          <a:ln>
            <a:noFill/>
          </a:ln>
          <a:effectLst/>
        </p:spPr>
        <p:txBody>
          <a:bodyPr rtlCol="0" anchor="ctr"/>
          <a:lstStyle/>
          <a:p>
            <a:endParaRPr lang="de-DE"/>
          </a:p>
        </p:txBody>
      </p:sp>
      <p:sp>
        <p:nvSpPr>
          <p:cNvPr id="295" name="Business Partner Data Mgmt Dim Business"/>
          <p:cNvSpPr txBox="1"/>
          <p:nvPr/>
        </p:nvSpPr>
        <p:spPr>
          <a:xfrm>
            <a:off x="6777990"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96" name="Business Partner Data Mgmt Dim Dot Data Provisioning"/>
          <p:cNvSpPr/>
          <p:nvPr/>
        </p:nvSpPr>
        <p:spPr>
          <a:xfrm>
            <a:off x="6640830" y="4947517"/>
            <a:ext cx="73152" cy="73152"/>
          </a:xfrm>
          <a:prstGeom prst="ellipse">
            <a:avLst/>
          </a:prstGeom>
          <a:solidFill>
            <a:srgbClr val="53BE70"/>
          </a:solidFill>
          <a:ln>
            <a:noFill/>
          </a:ln>
          <a:effectLst/>
        </p:spPr>
        <p:txBody>
          <a:bodyPr rtlCol="0" anchor="ctr"/>
          <a:lstStyle/>
          <a:p>
            <a:endParaRPr lang="de-DE"/>
          </a:p>
        </p:txBody>
      </p:sp>
      <p:sp>
        <p:nvSpPr>
          <p:cNvPr id="297" name="Business Partner Data Mgmt Dim Data Provisioning"/>
          <p:cNvSpPr txBox="1"/>
          <p:nvPr/>
        </p:nvSpPr>
        <p:spPr>
          <a:xfrm>
            <a:off x="6777990"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298" name="Business Partner Data Mgmt Dim Dot Technical"/>
          <p:cNvSpPr/>
          <p:nvPr/>
        </p:nvSpPr>
        <p:spPr>
          <a:xfrm>
            <a:off x="6640830" y="5139287"/>
            <a:ext cx="73152" cy="73152"/>
          </a:xfrm>
          <a:prstGeom prst="ellipse">
            <a:avLst/>
          </a:prstGeom>
          <a:solidFill>
            <a:srgbClr val="F0B135"/>
          </a:solidFill>
          <a:ln>
            <a:noFill/>
          </a:ln>
          <a:effectLst/>
        </p:spPr>
        <p:txBody>
          <a:bodyPr rtlCol="0" anchor="ctr"/>
          <a:lstStyle/>
          <a:p>
            <a:endParaRPr lang="de-DE"/>
          </a:p>
        </p:txBody>
      </p:sp>
      <p:sp>
        <p:nvSpPr>
          <p:cNvPr id="299" name="Business Partner Data Mgmt Dim Technical"/>
          <p:cNvSpPr txBox="1"/>
          <p:nvPr/>
        </p:nvSpPr>
        <p:spPr>
          <a:xfrm>
            <a:off x="6777990"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00" name="Business Partner Data Mgmt Dim Dot Supplier Activation"/>
          <p:cNvSpPr/>
          <p:nvPr/>
        </p:nvSpPr>
        <p:spPr>
          <a:xfrm>
            <a:off x="6640830" y="5331057"/>
            <a:ext cx="73152" cy="73152"/>
          </a:xfrm>
          <a:prstGeom prst="ellipse">
            <a:avLst/>
          </a:prstGeom>
          <a:solidFill>
            <a:srgbClr val="CFD6DB"/>
          </a:solidFill>
          <a:ln>
            <a:noFill/>
          </a:ln>
          <a:effectLst/>
        </p:spPr>
        <p:txBody>
          <a:bodyPr rtlCol="0" anchor="ctr"/>
          <a:lstStyle/>
          <a:p>
            <a:endParaRPr lang="de-DE"/>
          </a:p>
        </p:txBody>
      </p:sp>
      <p:sp>
        <p:nvSpPr>
          <p:cNvPr id="301" name="Business Partner Data Mgmt Dim Supplier Activation"/>
          <p:cNvSpPr txBox="1"/>
          <p:nvPr/>
        </p:nvSpPr>
        <p:spPr>
          <a:xfrm>
            <a:off x="6777990"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02" name="Certificate Management Row Divider Dimensions"/>
          <p:cNvSpPr/>
          <p:nvPr/>
        </p:nvSpPr>
        <p:spPr>
          <a:xfrm>
            <a:off x="7986712" y="4317343"/>
            <a:ext cx="1167574" cy="6401"/>
          </a:xfrm>
          <a:prstGeom prst="rect">
            <a:avLst/>
          </a:prstGeom>
          <a:solidFill>
            <a:srgbClr val="E2E8EC"/>
          </a:solidFill>
          <a:ln>
            <a:noFill/>
          </a:ln>
          <a:effectLst/>
        </p:spPr>
        <p:txBody>
          <a:bodyPr rtlCol="0" anchor="ctr"/>
          <a:lstStyle/>
          <a:p>
            <a:endParaRPr lang="de-DE"/>
          </a:p>
        </p:txBody>
      </p:sp>
      <p:sp>
        <p:nvSpPr>
          <p:cNvPr id="303" name="Certificate Management Dim Dot External · CX Association"/>
          <p:cNvSpPr/>
          <p:nvPr/>
        </p:nvSpPr>
        <p:spPr>
          <a:xfrm>
            <a:off x="7986712" y="4417927"/>
            <a:ext cx="73152" cy="73152"/>
          </a:xfrm>
          <a:prstGeom prst="ellipse">
            <a:avLst/>
          </a:prstGeom>
          <a:solidFill>
            <a:srgbClr val="F0B135"/>
          </a:solidFill>
          <a:ln>
            <a:noFill/>
          </a:ln>
          <a:effectLst/>
        </p:spPr>
        <p:txBody>
          <a:bodyPr rtlCol="0" anchor="ctr"/>
          <a:lstStyle/>
          <a:p>
            <a:endParaRPr lang="de-DE"/>
          </a:p>
        </p:txBody>
      </p:sp>
      <p:sp>
        <p:nvSpPr>
          <p:cNvPr id="304" name="Certificate Management Dim External · CX Association"/>
          <p:cNvSpPr txBox="1"/>
          <p:nvPr/>
        </p:nvSpPr>
        <p:spPr>
          <a:xfrm>
            <a:off x="8123872"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05" name="Certificate Management Dim Dot Business"/>
          <p:cNvSpPr/>
          <p:nvPr/>
        </p:nvSpPr>
        <p:spPr>
          <a:xfrm>
            <a:off x="7986712" y="4755747"/>
            <a:ext cx="73152" cy="73152"/>
          </a:xfrm>
          <a:prstGeom prst="ellipse">
            <a:avLst/>
          </a:prstGeom>
          <a:solidFill>
            <a:srgbClr val="53BE70"/>
          </a:solidFill>
          <a:ln>
            <a:noFill/>
          </a:ln>
          <a:effectLst/>
        </p:spPr>
        <p:txBody>
          <a:bodyPr rtlCol="0" anchor="ctr"/>
          <a:lstStyle/>
          <a:p>
            <a:endParaRPr lang="de-DE"/>
          </a:p>
        </p:txBody>
      </p:sp>
      <p:sp>
        <p:nvSpPr>
          <p:cNvPr id="306" name="Certificate Management Dim Business"/>
          <p:cNvSpPr txBox="1"/>
          <p:nvPr/>
        </p:nvSpPr>
        <p:spPr>
          <a:xfrm>
            <a:off x="8123872"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07" name="Certificate Management Dim Dot Data Provisioning"/>
          <p:cNvSpPr/>
          <p:nvPr/>
        </p:nvSpPr>
        <p:spPr>
          <a:xfrm>
            <a:off x="7986712" y="4947517"/>
            <a:ext cx="73152" cy="73152"/>
          </a:xfrm>
          <a:prstGeom prst="ellipse">
            <a:avLst/>
          </a:prstGeom>
          <a:solidFill>
            <a:srgbClr val="53BE70"/>
          </a:solidFill>
          <a:ln>
            <a:noFill/>
          </a:ln>
          <a:effectLst/>
        </p:spPr>
        <p:txBody>
          <a:bodyPr rtlCol="0" anchor="ctr"/>
          <a:lstStyle/>
          <a:p>
            <a:endParaRPr lang="de-DE"/>
          </a:p>
        </p:txBody>
      </p:sp>
      <p:sp>
        <p:nvSpPr>
          <p:cNvPr id="308" name="Certificate Management Dim Data Provisioning"/>
          <p:cNvSpPr txBox="1"/>
          <p:nvPr/>
        </p:nvSpPr>
        <p:spPr>
          <a:xfrm>
            <a:off x="8123872"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09" name="Certificate Management Dim Dot Technical"/>
          <p:cNvSpPr/>
          <p:nvPr/>
        </p:nvSpPr>
        <p:spPr>
          <a:xfrm>
            <a:off x="7986712" y="5139287"/>
            <a:ext cx="73152" cy="73152"/>
          </a:xfrm>
          <a:prstGeom prst="ellipse">
            <a:avLst/>
          </a:prstGeom>
          <a:solidFill>
            <a:srgbClr val="53BE70"/>
          </a:solidFill>
          <a:ln>
            <a:noFill/>
          </a:ln>
          <a:effectLst/>
        </p:spPr>
        <p:txBody>
          <a:bodyPr rtlCol="0" anchor="ctr"/>
          <a:lstStyle/>
          <a:p>
            <a:endParaRPr lang="de-DE"/>
          </a:p>
        </p:txBody>
      </p:sp>
      <p:sp>
        <p:nvSpPr>
          <p:cNvPr id="310" name="Certificate Management Dim Technical"/>
          <p:cNvSpPr txBox="1"/>
          <p:nvPr/>
        </p:nvSpPr>
        <p:spPr>
          <a:xfrm>
            <a:off x="8123872"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11" name="Certificate Management Dim Dot Supplier Activation"/>
          <p:cNvSpPr/>
          <p:nvPr/>
        </p:nvSpPr>
        <p:spPr>
          <a:xfrm>
            <a:off x="7986712" y="5331057"/>
            <a:ext cx="73152" cy="73152"/>
          </a:xfrm>
          <a:prstGeom prst="ellipse">
            <a:avLst/>
          </a:prstGeom>
          <a:solidFill>
            <a:srgbClr val="53BE70"/>
          </a:solidFill>
          <a:ln>
            <a:noFill/>
          </a:ln>
          <a:effectLst/>
        </p:spPr>
        <p:txBody>
          <a:bodyPr rtlCol="0" anchor="ctr"/>
          <a:lstStyle/>
          <a:p>
            <a:endParaRPr lang="de-DE"/>
          </a:p>
        </p:txBody>
      </p:sp>
      <p:sp>
        <p:nvSpPr>
          <p:cNvPr id="312" name="Certificate Management Dim Supplier Activation"/>
          <p:cNvSpPr txBox="1"/>
          <p:nvPr/>
        </p:nvSpPr>
        <p:spPr>
          <a:xfrm>
            <a:off x="8123872"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13" name="Product Carbon Footprint Row Divider Dimensions"/>
          <p:cNvSpPr/>
          <p:nvPr/>
        </p:nvSpPr>
        <p:spPr>
          <a:xfrm>
            <a:off x="9332595" y="4317343"/>
            <a:ext cx="1167574" cy="6401"/>
          </a:xfrm>
          <a:prstGeom prst="rect">
            <a:avLst/>
          </a:prstGeom>
          <a:solidFill>
            <a:srgbClr val="E2E8EC"/>
          </a:solidFill>
          <a:ln>
            <a:noFill/>
          </a:ln>
          <a:effectLst/>
        </p:spPr>
        <p:txBody>
          <a:bodyPr rtlCol="0" anchor="ctr"/>
          <a:lstStyle/>
          <a:p>
            <a:endParaRPr lang="de-DE"/>
          </a:p>
        </p:txBody>
      </p:sp>
      <p:sp>
        <p:nvSpPr>
          <p:cNvPr id="314" name="Product Carbon Footprint Dim Dot External · CX Association"/>
          <p:cNvSpPr/>
          <p:nvPr/>
        </p:nvSpPr>
        <p:spPr>
          <a:xfrm>
            <a:off x="9332595" y="4417927"/>
            <a:ext cx="73152" cy="73152"/>
          </a:xfrm>
          <a:prstGeom prst="ellipse">
            <a:avLst/>
          </a:prstGeom>
          <a:solidFill>
            <a:srgbClr val="53BE70"/>
          </a:solidFill>
          <a:ln>
            <a:noFill/>
          </a:ln>
          <a:effectLst/>
        </p:spPr>
        <p:txBody>
          <a:bodyPr rtlCol="0" anchor="ctr"/>
          <a:lstStyle/>
          <a:p>
            <a:endParaRPr lang="de-DE"/>
          </a:p>
        </p:txBody>
      </p:sp>
      <p:sp>
        <p:nvSpPr>
          <p:cNvPr id="315" name="Product Carbon Footprint Dim External · CX Association"/>
          <p:cNvSpPr txBox="1"/>
          <p:nvPr/>
        </p:nvSpPr>
        <p:spPr>
          <a:xfrm>
            <a:off x="9469755"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16" name="Product Carbon Footprint Dim Dot Business"/>
          <p:cNvSpPr/>
          <p:nvPr/>
        </p:nvSpPr>
        <p:spPr>
          <a:xfrm>
            <a:off x="9332595" y="4755747"/>
            <a:ext cx="73152" cy="73152"/>
          </a:xfrm>
          <a:prstGeom prst="ellipse">
            <a:avLst/>
          </a:prstGeom>
          <a:solidFill>
            <a:srgbClr val="53BE70"/>
          </a:solidFill>
          <a:ln>
            <a:noFill/>
          </a:ln>
          <a:effectLst/>
        </p:spPr>
        <p:txBody>
          <a:bodyPr rtlCol="0" anchor="ctr"/>
          <a:lstStyle/>
          <a:p>
            <a:endParaRPr lang="de-DE"/>
          </a:p>
        </p:txBody>
      </p:sp>
      <p:sp>
        <p:nvSpPr>
          <p:cNvPr id="317" name="Product Carbon Footprint Dim Business"/>
          <p:cNvSpPr txBox="1"/>
          <p:nvPr/>
        </p:nvSpPr>
        <p:spPr>
          <a:xfrm>
            <a:off x="9469755"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18" name="Product Carbon Footprint Dim Dot Data Provisioning"/>
          <p:cNvSpPr/>
          <p:nvPr/>
        </p:nvSpPr>
        <p:spPr>
          <a:xfrm>
            <a:off x="9332595" y="4947517"/>
            <a:ext cx="73152" cy="73152"/>
          </a:xfrm>
          <a:prstGeom prst="ellipse">
            <a:avLst/>
          </a:prstGeom>
          <a:solidFill>
            <a:srgbClr val="53BE70"/>
          </a:solidFill>
          <a:ln>
            <a:noFill/>
          </a:ln>
          <a:effectLst/>
        </p:spPr>
        <p:txBody>
          <a:bodyPr rtlCol="0" anchor="ctr"/>
          <a:lstStyle/>
          <a:p>
            <a:endParaRPr lang="de-DE"/>
          </a:p>
        </p:txBody>
      </p:sp>
      <p:sp>
        <p:nvSpPr>
          <p:cNvPr id="319" name="Product Carbon Footprint Dim Data Provisioning"/>
          <p:cNvSpPr txBox="1"/>
          <p:nvPr/>
        </p:nvSpPr>
        <p:spPr>
          <a:xfrm>
            <a:off x="9469755"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20" name="Product Carbon Footprint Dim Dot Technical"/>
          <p:cNvSpPr/>
          <p:nvPr/>
        </p:nvSpPr>
        <p:spPr>
          <a:xfrm>
            <a:off x="9332595" y="5139287"/>
            <a:ext cx="73152" cy="73152"/>
          </a:xfrm>
          <a:prstGeom prst="ellipse">
            <a:avLst/>
          </a:prstGeom>
          <a:solidFill>
            <a:srgbClr val="53BE70"/>
          </a:solidFill>
          <a:ln>
            <a:noFill/>
          </a:ln>
          <a:effectLst/>
        </p:spPr>
        <p:txBody>
          <a:bodyPr rtlCol="0" anchor="ctr"/>
          <a:lstStyle/>
          <a:p>
            <a:endParaRPr lang="de-DE"/>
          </a:p>
        </p:txBody>
      </p:sp>
      <p:sp>
        <p:nvSpPr>
          <p:cNvPr id="321" name="Product Carbon Footprint Dim Technical"/>
          <p:cNvSpPr txBox="1"/>
          <p:nvPr/>
        </p:nvSpPr>
        <p:spPr>
          <a:xfrm>
            <a:off x="9469755"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22" name="Product Carbon Footprint Dim Dot Supplier Activation"/>
          <p:cNvSpPr/>
          <p:nvPr/>
        </p:nvSpPr>
        <p:spPr>
          <a:xfrm>
            <a:off x="9332595" y="5331057"/>
            <a:ext cx="73152" cy="73152"/>
          </a:xfrm>
          <a:prstGeom prst="ellipse">
            <a:avLst/>
          </a:prstGeom>
          <a:solidFill>
            <a:srgbClr val="53BE70"/>
          </a:solidFill>
          <a:ln>
            <a:noFill/>
          </a:ln>
          <a:effectLst/>
        </p:spPr>
        <p:txBody>
          <a:bodyPr rtlCol="0" anchor="ctr"/>
          <a:lstStyle/>
          <a:p>
            <a:endParaRPr lang="de-DE"/>
          </a:p>
        </p:txBody>
      </p:sp>
      <p:sp>
        <p:nvSpPr>
          <p:cNvPr id="323" name="Product Carbon Footprint Dim Supplier Activation"/>
          <p:cNvSpPr txBox="1"/>
          <p:nvPr/>
        </p:nvSpPr>
        <p:spPr>
          <a:xfrm>
            <a:off x="9469755"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24" name="N-Tier Row Divider Dimensions"/>
          <p:cNvSpPr/>
          <p:nvPr/>
        </p:nvSpPr>
        <p:spPr>
          <a:xfrm>
            <a:off x="10678477" y="4317343"/>
            <a:ext cx="1167574" cy="6401"/>
          </a:xfrm>
          <a:prstGeom prst="rect">
            <a:avLst/>
          </a:prstGeom>
          <a:solidFill>
            <a:srgbClr val="E2E8EC"/>
          </a:solidFill>
          <a:ln>
            <a:noFill/>
          </a:ln>
          <a:effectLst/>
        </p:spPr>
        <p:txBody>
          <a:bodyPr rtlCol="0" anchor="ctr"/>
          <a:lstStyle/>
          <a:p>
            <a:endParaRPr lang="de-DE"/>
          </a:p>
        </p:txBody>
      </p:sp>
      <p:sp>
        <p:nvSpPr>
          <p:cNvPr id="325" name="N-Tier Dim Dot External · CX Association"/>
          <p:cNvSpPr/>
          <p:nvPr/>
        </p:nvSpPr>
        <p:spPr>
          <a:xfrm>
            <a:off x="10678477" y="4417927"/>
            <a:ext cx="73152" cy="73152"/>
          </a:xfrm>
          <a:prstGeom prst="ellipse">
            <a:avLst/>
          </a:prstGeom>
          <a:solidFill>
            <a:srgbClr val="53BE70"/>
          </a:solidFill>
          <a:ln>
            <a:noFill/>
          </a:ln>
          <a:effectLst/>
        </p:spPr>
        <p:txBody>
          <a:bodyPr rtlCol="0" anchor="ctr"/>
          <a:lstStyle/>
          <a:p>
            <a:endParaRPr lang="de-DE"/>
          </a:p>
        </p:txBody>
      </p:sp>
      <p:sp>
        <p:nvSpPr>
          <p:cNvPr id="326" name="N-Tier Dim External · CX Association"/>
          <p:cNvSpPr txBox="1"/>
          <p:nvPr/>
        </p:nvSpPr>
        <p:spPr>
          <a:xfrm>
            <a:off x="10815637" y="4381351"/>
            <a:ext cx="1030415"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327" name="N-Tier Dim Dot Business"/>
          <p:cNvSpPr/>
          <p:nvPr/>
        </p:nvSpPr>
        <p:spPr>
          <a:xfrm>
            <a:off x="10678477" y="4755747"/>
            <a:ext cx="73152" cy="73152"/>
          </a:xfrm>
          <a:prstGeom prst="ellipse">
            <a:avLst/>
          </a:prstGeom>
          <a:solidFill>
            <a:srgbClr val="CFD6DB"/>
          </a:solidFill>
          <a:ln>
            <a:noFill/>
          </a:ln>
          <a:effectLst/>
        </p:spPr>
        <p:txBody>
          <a:bodyPr rtlCol="0" anchor="ctr"/>
          <a:lstStyle/>
          <a:p>
            <a:endParaRPr lang="de-DE"/>
          </a:p>
        </p:txBody>
      </p:sp>
      <p:sp>
        <p:nvSpPr>
          <p:cNvPr id="328" name="N-Tier Dim Business"/>
          <p:cNvSpPr txBox="1"/>
          <p:nvPr/>
        </p:nvSpPr>
        <p:spPr>
          <a:xfrm>
            <a:off x="10815637" y="471917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329" name="N-Tier Dim Dot Data Provisioning"/>
          <p:cNvSpPr/>
          <p:nvPr/>
        </p:nvSpPr>
        <p:spPr>
          <a:xfrm>
            <a:off x="10678477" y="4947517"/>
            <a:ext cx="73152" cy="73152"/>
          </a:xfrm>
          <a:prstGeom prst="ellipse">
            <a:avLst/>
          </a:prstGeom>
          <a:solidFill>
            <a:srgbClr val="CFD6DB"/>
          </a:solidFill>
          <a:ln>
            <a:noFill/>
          </a:ln>
          <a:effectLst/>
        </p:spPr>
        <p:txBody>
          <a:bodyPr rtlCol="0" anchor="ctr"/>
          <a:lstStyle/>
          <a:p>
            <a:endParaRPr lang="de-DE"/>
          </a:p>
        </p:txBody>
      </p:sp>
      <p:sp>
        <p:nvSpPr>
          <p:cNvPr id="330" name="N-Tier Dim Data Provisioning"/>
          <p:cNvSpPr txBox="1"/>
          <p:nvPr/>
        </p:nvSpPr>
        <p:spPr>
          <a:xfrm>
            <a:off x="10815637" y="491094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Data Provisioning</a:t>
            </a:r>
          </a:p>
        </p:txBody>
      </p:sp>
      <p:sp>
        <p:nvSpPr>
          <p:cNvPr id="331" name="N-Tier Dim Dot Technical"/>
          <p:cNvSpPr/>
          <p:nvPr/>
        </p:nvSpPr>
        <p:spPr>
          <a:xfrm>
            <a:off x="10678477" y="5139287"/>
            <a:ext cx="73152" cy="73152"/>
          </a:xfrm>
          <a:prstGeom prst="ellipse">
            <a:avLst/>
          </a:prstGeom>
          <a:solidFill>
            <a:srgbClr val="CFD6DB"/>
          </a:solidFill>
          <a:ln>
            <a:noFill/>
          </a:ln>
          <a:effectLst/>
        </p:spPr>
        <p:txBody>
          <a:bodyPr rtlCol="0" anchor="ctr"/>
          <a:lstStyle/>
          <a:p>
            <a:endParaRPr lang="de-DE"/>
          </a:p>
        </p:txBody>
      </p:sp>
      <p:sp>
        <p:nvSpPr>
          <p:cNvPr id="332" name="N-Tier Dim Technical"/>
          <p:cNvSpPr txBox="1"/>
          <p:nvPr/>
        </p:nvSpPr>
        <p:spPr>
          <a:xfrm>
            <a:off x="10815637" y="510271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333" name="N-Tier Dim Dot Supplier Activation"/>
          <p:cNvSpPr/>
          <p:nvPr/>
        </p:nvSpPr>
        <p:spPr>
          <a:xfrm>
            <a:off x="10678477" y="5331057"/>
            <a:ext cx="73152" cy="73152"/>
          </a:xfrm>
          <a:prstGeom prst="ellipse">
            <a:avLst/>
          </a:prstGeom>
          <a:solidFill>
            <a:srgbClr val="CFD6DB"/>
          </a:solidFill>
          <a:ln>
            <a:noFill/>
          </a:ln>
          <a:effectLst/>
        </p:spPr>
        <p:txBody>
          <a:bodyPr rtlCol="0" anchor="ctr"/>
          <a:lstStyle/>
          <a:p>
            <a:endParaRPr lang="de-DE"/>
          </a:p>
        </p:txBody>
      </p:sp>
      <p:sp>
        <p:nvSpPr>
          <p:cNvPr id="334" name="N-Tier Dim Supplier Activation"/>
          <p:cNvSpPr txBox="1"/>
          <p:nvPr/>
        </p:nvSpPr>
        <p:spPr>
          <a:xfrm>
            <a:off x="10815637" y="5294481"/>
            <a:ext cx="1030415"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Supplier Activation</a:t>
            </a:r>
          </a:p>
        </p:txBody>
      </p:sp>
      <p:sp>
        <p:nvSpPr>
          <p:cNvPr id="335"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336" name="Quality Row Divider Decision required"/>
          <p:cNvSpPr/>
          <p:nvPr/>
        </p:nvSpPr>
        <p:spPr>
          <a:xfrm>
            <a:off x="1257300" y="5515356"/>
            <a:ext cx="1167574" cy="6401"/>
          </a:xfrm>
          <a:prstGeom prst="rect">
            <a:avLst/>
          </a:prstGeom>
          <a:solidFill>
            <a:srgbClr val="E2E8EC"/>
          </a:solidFill>
          <a:ln>
            <a:noFill/>
          </a:ln>
          <a:effectLst/>
        </p:spPr>
        <p:txBody>
          <a:bodyPr rtlCol="0" anchor="ctr"/>
          <a:lstStyle/>
          <a:p>
            <a:endParaRPr lang="de-DE"/>
          </a:p>
        </p:txBody>
      </p:sp>
      <p:sp>
        <p:nvSpPr>
          <p:cNvPr id="337" name="Quality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338" name="Quality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339" name="Quality Decision 1"/>
          <p:cNvSpPr txBox="1"/>
          <p:nvPr/>
        </p:nvSpPr>
        <p:spPr>
          <a:xfrm>
            <a:off x="1257300" y="5579364"/>
            <a:ext cx="1167574" cy="8945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 rescoping from 15 to 2 suppliers until the Early Warning Production MVP is live?</a:t>
            </a:r>
          </a:p>
        </p:txBody>
      </p:sp>
      <p:sp>
        <p:nvSpPr>
          <p:cNvPr id="340" name="Battery Passport Row Divider Decision required"/>
          <p:cNvSpPr/>
          <p:nvPr/>
        </p:nvSpPr>
        <p:spPr>
          <a:xfrm>
            <a:off x="2603182" y="5515356"/>
            <a:ext cx="1167574" cy="6401"/>
          </a:xfrm>
          <a:prstGeom prst="rect">
            <a:avLst/>
          </a:prstGeom>
          <a:solidFill>
            <a:srgbClr val="E2E8EC"/>
          </a:solidFill>
          <a:ln>
            <a:noFill/>
          </a:ln>
          <a:effectLst/>
        </p:spPr>
        <p:txBody>
          <a:bodyPr rtlCol="0" anchor="ctr"/>
          <a:lstStyle/>
          <a:p>
            <a:endParaRPr lang="de-DE"/>
          </a:p>
        </p:txBody>
      </p:sp>
      <p:sp>
        <p:nvSpPr>
          <p:cNvPr id="341" name="Battery Passport Decision None"/>
          <p:cNvSpPr txBox="1"/>
          <p:nvPr/>
        </p:nvSpPr>
        <p:spPr>
          <a:xfrm>
            <a:off x="260318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2" name="Product Passes Row Divider Decision required"/>
          <p:cNvSpPr/>
          <p:nvPr/>
        </p:nvSpPr>
        <p:spPr>
          <a:xfrm>
            <a:off x="3949065" y="5515356"/>
            <a:ext cx="1167574" cy="6401"/>
          </a:xfrm>
          <a:prstGeom prst="rect">
            <a:avLst/>
          </a:prstGeom>
          <a:solidFill>
            <a:srgbClr val="E2E8EC"/>
          </a:solidFill>
          <a:ln>
            <a:noFill/>
          </a:ln>
          <a:effectLst/>
        </p:spPr>
        <p:txBody>
          <a:bodyPr rtlCol="0" anchor="ctr"/>
          <a:lstStyle/>
          <a:p>
            <a:endParaRPr lang="de-DE"/>
          </a:p>
        </p:txBody>
      </p:sp>
      <p:sp>
        <p:nvSpPr>
          <p:cNvPr id="343" name="Product Passes Decision None"/>
          <p:cNvSpPr txBox="1"/>
          <p:nvPr/>
        </p:nvSpPr>
        <p:spPr>
          <a:xfrm>
            <a:off x="394906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44" name="PURIS Row Divider Decision required"/>
          <p:cNvSpPr/>
          <p:nvPr/>
        </p:nvSpPr>
        <p:spPr>
          <a:xfrm>
            <a:off x="5294947" y="5515356"/>
            <a:ext cx="1167574" cy="6401"/>
          </a:xfrm>
          <a:prstGeom prst="rect">
            <a:avLst/>
          </a:prstGeom>
          <a:solidFill>
            <a:srgbClr val="E2E8EC"/>
          </a:solidFill>
          <a:ln>
            <a:noFill/>
          </a:ln>
          <a:effectLst/>
        </p:spPr>
        <p:txBody>
          <a:bodyPr rtlCol="0" anchor="ctr"/>
          <a:lstStyle/>
          <a:p>
            <a:endParaRPr lang="de-DE"/>
          </a:p>
        </p:txBody>
      </p:sp>
      <p:sp>
        <p:nvSpPr>
          <p:cNvPr id="345" name="PURIS Decision 2 Flag"/>
          <p:cNvSpPr/>
          <p:nvPr/>
        </p:nvSpPr>
        <p:spPr>
          <a:xfrm>
            <a:off x="5294947" y="5579364"/>
            <a:ext cx="146304" cy="146304"/>
          </a:xfrm>
          <a:prstGeom prst="ellipse">
            <a:avLst/>
          </a:prstGeom>
          <a:solidFill>
            <a:srgbClr val="001E50"/>
          </a:solidFill>
          <a:ln>
            <a:noFill/>
          </a:ln>
          <a:effectLst/>
        </p:spPr>
        <p:txBody>
          <a:bodyPr rtlCol="0" anchor="ctr"/>
          <a:lstStyle/>
          <a:p>
            <a:endParaRPr lang="de-DE"/>
          </a:p>
        </p:txBody>
      </p:sp>
      <p:sp>
        <p:nvSpPr>
          <p:cNvPr id="346" name="PURIS Decision 2 No"/>
          <p:cNvSpPr txBox="1"/>
          <p:nvPr/>
        </p:nvSpPr>
        <p:spPr>
          <a:xfrm>
            <a:off x="5294947"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347" name="PURIS Decision 2"/>
          <p:cNvSpPr txBox="1"/>
          <p:nvPr/>
        </p:nvSpPr>
        <p:spPr>
          <a:xfrm>
            <a:off x="5294947" y="5579364"/>
            <a:ext cx="1167574" cy="6024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Who decides how and when on the WINGS connectivity rollout roadmap?</a:t>
            </a:r>
          </a:p>
        </p:txBody>
      </p:sp>
      <p:sp>
        <p:nvSpPr>
          <p:cNvPr id="348" name="Business Partner Data Mgmt Row Divider Decision required"/>
          <p:cNvSpPr/>
          <p:nvPr/>
        </p:nvSpPr>
        <p:spPr>
          <a:xfrm>
            <a:off x="6640830" y="5515356"/>
            <a:ext cx="1167574" cy="6401"/>
          </a:xfrm>
          <a:prstGeom prst="rect">
            <a:avLst/>
          </a:prstGeom>
          <a:solidFill>
            <a:srgbClr val="E2E8EC"/>
          </a:solidFill>
          <a:ln>
            <a:noFill/>
          </a:ln>
          <a:effectLst/>
        </p:spPr>
        <p:txBody>
          <a:bodyPr rtlCol="0" anchor="ctr"/>
          <a:lstStyle/>
          <a:p>
            <a:endParaRPr lang="de-DE"/>
          </a:p>
        </p:txBody>
      </p:sp>
      <p:sp>
        <p:nvSpPr>
          <p:cNvPr id="349" name="Business Partner Data Mgmt Decision None"/>
          <p:cNvSpPr txBox="1"/>
          <p:nvPr/>
        </p:nvSpPr>
        <p:spPr>
          <a:xfrm>
            <a:off x="6640830"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0" name="Certificate Management Row Divider Decision required"/>
          <p:cNvSpPr/>
          <p:nvPr/>
        </p:nvSpPr>
        <p:spPr>
          <a:xfrm>
            <a:off x="7986712" y="5515356"/>
            <a:ext cx="1167574" cy="6401"/>
          </a:xfrm>
          <a:prstGeom prst="rect">
            <a:avLst/>
          </a:prstGeom>
          <a:solidFill>
            <a:srgbClr val="E2E8EC"/>
          </a:solidFill>
          <a:ln>
            <a:noFill/>
          </a:ln>
          <a:effectLst/>
        </p:spPr>
        <p:txBody>
          <a:bodyPr rtlCol="0" anchor="ctr"/>
          <a:lstStyle/>
          <a:p>
            <a:endParaRPr lang="de-DE"/>
          </a:p>
        </p:txBody>
      </p:sp>
      <p:sp>
        <p:nvSpPr>
          <p:cNvPr id="351" name="Certificate Management Decision None"/>
          <p:cNvSpPr txBox="1"/>
          <p:nvPr/>
        </p:nvSpPr>
        <p:spPr>
          <a:xfrm>
            <a:off x="7986712"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2" name="Product Carbon Footprint Row Divider Decision required"/>
          <p:cNvSpPr/>
          <p:nvPr/>
        </p:nvSpPr>
        <p:spPr>
          <a:xfrm>
            <a:off x="9332595" y="5515356"/>
            <a:ext cx="1167574" cy="6401"/>
          </a:xfrm>
          <a:prstGeom prst="rect">
            <a:avLst/>
          </a:prstGeom>
          <a:solidFill>
            <a:srgbClr val="E2E8EC"/>
          </a:solidFill>
          <a:ln>
            <a:noFill/>
          </a:ln>
          <a:effectLst/>
        </p:spPr>
        <p:txBody>
          <a:bodyPr rtlCol="0" anchor="ctr"/>
          <a:lstStyle/>
          <a:p>
            <a:endParaRPr lang="de-DE"/>
          </a:p>
        </p:txBody>
      </p:sp>
      <p:sp>
        <p:nvSpPr>
          <p:cNvPr id="353" name="Product Carbon Footprint Decision None"/>
          <p:cNvSpPr txBox="1"/>
          <p:nvPr/>
        </p:nvSpPr>
        <p:spPr>
          <a:xfrm>
            <a:off x="9332595"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354" name="N-Tier Row Divider Decision required"/>
          <p:cNvSpPr/>
          <p:nvPr/>
        </p:nvSpPr>
        <p:spPr>
          <a:xfrm>
            <a:off x="10678477" y="5515356"/>
            <a:ext cx="1167574" cy="6401"/>
          </a:xfrm>
          <a:prstGeom prst="rect">
            <a:avLst/>
          </a:prstGeom>
          <a:solidFill>
            <a:srgbClr val="E2E8EC"/>
          </a:solidFill>
          <a:ln>
            <a:noFill/>
          </a:ln>
          <a:effectLst/>
        </p:spPr>
        <p:txBody>
          <a:bodyPr rtlCol="0" anchor="ctr"/>
          <a:lstStyle/>
          <a:p>
            <a:endParaRPr lang="de-DE"/>
          </a:p>
        </p:txBody>
      </p:sp>
      <p:sp>
        <p:nvSpPr>
          <p:cNvPr id="355" name="N-Tier Decision None"/>
          <p:cNvSpPr txBox="1"/>
          <p:nvPr/>
        </p:nvSpPr>
        <p:spPr>
          <a:xfrm>
            <a:off x="10678477" y="5579364"/>
            <a:ext cx="1167574"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rgbClr val="002733"/>
        </a:solidFill>
        <a:effectLst/>
      </p:bgPr>
    </p:bg>
    <p:spTree>
      <p:nvGrpSpPr>
        <p:cNvPr id="1" name=""/>
        <p:cNvGrpSpPr/>
        <p:nvPr/>
      </p:nvGrpSpPr>
      <p:grpSpPr>
        <a:xfrm>
          <a:off x="0" y="0"/>
          <a:ext cx="0" cy="0"/>
          <a:chOff x="0" y="0"/>
          <a:chExt cx="0" cy="0"/>
        </a:xfrm>
      </p:grpSpPr>
      <p:sp>
        <p:nvSpPr>
          <p:cNvPr id="101" name="Eyebrow"/>
          <p:cNvSpPr txBox="1"/>
          <p:nvPr/>
        </p:nvSpPr>
        <p:spPr>
          <a:xfrm>
            <a:off x="274320" y="237744"/>
            <a:ext cx="5486400" cy="128016"/>
          </a:xfrm>
          <a:prstGeom prst="rect">
            <a:avLst/>
          </a:prstGeom>
          <a:noFill/>
          <a:ln>
            <a:noFill/>
          </a:ln>
        </p:spPr>
        <p:txBody>
          <a:bodyPr wrap="square" lIns="0" tIns="0" rIns="0" bIns="0" rtlCol="0" anchor="ctr">
            <a:noAutofit/>
          </a:bodyPr>
          <a:lstStyle/>
          <a:p>
            <a:pPr marL="0" indent="0" algn="l">
              <a:buNone/>
            </a:pPr>
            <a:r>
              <a:rPr lang="de-DE" sz="750" b="1" kern="0" spc="150" dirty="0">
                <a:solidFill>
                  <a:srgbClr val="99D1CD"/>
                </a:solidFill>
                <a:latin typeface="Segoe UI" pitchFamily="34" charset="0"/>
                <a:ea typeface="Segoe UI" pitchFamily="34" charset="-122"/>
                <a:cs typeface="Segoe UI" pitchFamily="34" charset="-120"/>
              </a:rPr>
              <a:t>CATENA-X</a:t>
            </a:r>
          </a:p>
        </p:txBody>
      </p:sp>
      <p:sp>
        <p:nvSpPr>
          <p:cNvPr id="102" name="Headline"/>
          <p:cNvSpPr txBox="1"/>
          <p:nvPr/>
        </p:nvSpPr>
        <p:spPr>
          <a:xfrm>
            <a:off x="274320" y="402336"/>
            <a:ext cx="8229600" cy="420624"/>
          </a:xfrm>
          <a:prstGeom prst="rect">
            <a:avLst/>
          </a:prstGeom>
          <a:noFill/>
          <a:ln>
            <a:noFill/>
          </a:ln>
        </p:spPr>
        <p:txBody>
          <a:bodyPr wrap="square" lIns="0" tIns="0" rIns="0" bIns="0" rtlCol="0" anchor="ctr">
            <a:noAutofit/>
          </a:bodyPr>
          <a:lstStyle/>
          <a:p>
            <a:pPr marL="0" indent="0" algn="l">
              <a:buNone/>
            </a:pPr>
            <a:r>
              <a:rPr lang="de-DE" sz="2600" b="0" kern="0" dirty="0">
                <a:solidFill>
                  <a:srgbClr val="FFFFFF"/>
                </a:solidFill>
                <a:latin typeface="The Group HEAD Light" pitchFamily="34" charset="0"/>
                <a:ea typeface="The Group HEAD Light" pitchFamily="34" charset="-122"/>
                <a:cs typeface="The Group HEAD Light" pitchFamily="34" charset="-120"/>
              </a:rPr>
              <a:t>Management Overview of Enabling Streams</a:t>
            </a:r>
          </a:p>
        </p:txBody>
      </p:sp>
      <p:sp>
        <p:nvSpPr>
          <p:cNvPr id="103" name="Info Panel"/>
          <p:cNvSpPr/>
          <p:nvPr/>
        </p:nvSpPr>
        <p:spPr>
          <a:xfrm>
            <a:off x="8366212" y="274320"/>
            <a:ext cx="3548420" cy="457200"/>
          </a:xfrm>
          <a:prstGeom prst="roundRect">
            <a:avLst>
              <a:gd name="adj" fmla="val 18000"/>
            </a:avLst>
          </a:prstGeom>
          <a:solidFill>
            <a:srgbClr val="0B3A45"/>
          </a:solidFill>
          <a:ln>
            <a:noFill/>
          </a:ln>
          <a:effectLst/>
        </p:spPr>
        <p:txBody>
          <a:bodyPr rtlCol="0" anchor="ctr"/>
          <a:lstStyle/>
          <a:p>
            <a:endParaRPr lang="de-DE"/>
          </a:p>
        </p:txBody>
      </p:sp>
      <p:sp>
        <p:nvSpPr>
          <p:cNvPr id="104" name="Panel Label"/>
          <p:cNvSpPr txBox="1"/>
          <p:nvPr/>
        </p:nvSpPr>
        <p:spPr>
          <a:xfrm>
            <a:off x="8494228" y="338328"/>
            <a:ext cx="867444" cy="128016"/>
          </a:xfrm>
          <a:prstGeom prst="rect">
            <a:avLst/>
          </a:prstGeom>
          <a:noFill/>
          <a:ln>
            <a:noFill/>
          </a:ln>
        </p:spPr>
        <p:txBody>
          <a:bodyPr wrap="square" lIns="0" tIns="0" rIns="0" bIns="0" rtlCol="0" anchor="t">
            <a:noAutofit/>
          </a:bodyPr>
          <a:lstStyle/>
          <a:p>
            <a:pPr marL="0" indent="0" algn="l">
              <a:buNone/>
            </a:pPr>
            <a:r>
              <a:rPr lang="de-DE" sz="750" b="0" kern="0" dirty="0">
                <a:solidFill>
                  <a:srgbClr val="99D1CD"/>
                </a:solidFill>
                <a:latin typeface="Segoe UI" pitchFamily="34" charset="0"/>
                <a:ea typeface="Segoe UI" pitchFamily="34" charset="-122"/>
                <a:cs typeface="Segoe UI" pitchFamily="34" charset="-120"/>
              </a:rPr>
              <a:t>Status as of</a:t>
            </a:r>
          </a:p>
        </p:txBody>
      </p:sp>
      <p:sp>
        <p:nvSpPr>
          <p:cNvPr id="105" name="Panel CW"/>
          <p:cNvSpPr txBox="1"/>
          <p:nvPr/>
        </p:nvSpPr>
        <p:spPr>
          <a:xfrm>
            <a:off x="8494228" y="484632"/>
            <a:ext cx="867444" cy="182880"/>
          </a:xfrm>
          <a:prstGeom prst="rect">
            <a:avLst/>
          </a:prstGeom>
          <a:noFill/>
          <a:ln>
            <a:noFill/>
          </a:ln>
        </p:spPr>
        <p:txBody>
          <a:bodyPr wrap="square" lIns="0" tIns="0" rIns="0" bIns="0" rtlCol="0" anchor="t">
            <a:noAutofit/>
          </a:bodyPr>
          <a:lstStyle/>
          <a:p>
            <a:pPr marL="0" indent="0" algn="l">
              <a:buNone/>
            </a:pPr>
            <a:r>
              <a:rPr lang="de-DE" sz="1000" b="1" kern="0" dirty="0">
                <a:solidFill>
                  <a:srgbClr val="FFFFFF"/>
                </a:solidFill>
                <a:latin typeface="Segoe UI" pitchFamily="34" charset="0"/>
                <a:ea typeface="Segoe UI" pitchFamily="34" charset="-122"/>
                <a:cs typeface="Segoe UI" pitchFamily="34" charset="-120"/>
              </a:rPr>
              <a:t>CW 41 / 2026</a:t>
            </a:r>
          </a:p>
        </p:txBody>
      </p:sp>
      <p:sp>
        <p:nvSpPr>
          <p:cNvPr id="106" name="Panel Divider"/>
          <p:cNvSpPr/>
          <p:nvPr/>
        </p:nvSpPr>
        <p:spPr>
          <a:xfrm>
            <a:off x="9507975" y="365760"/>
            <a:ext cx="7315" cy="274320"/>
          </a:xfrm>
          <a:prstGeom prst="rect">
            <a:avLst/>
          </a:prstGeom>
          <a:solidFill>
            <a:srgbClr val="008C82"/>
          </a:solidFill>
          <a:ln>
            <a:noFill/>
          </a:ln>
          <a:effectLst/>
        </p:spPr>
        <p:txBody>
          <a:bodyPr rtlCol="0" anchor="ctr"/>
          <a:lstStyle/>
          <a:p>
            <a:endParaRPr lang="de-DE"/>
          </a:p>
        </p:txBody>
      </p:sp>
      <p:sp>
        <p:nvSpPr>
          <p:cNvPr id="107" name="Legend Dot On Track"/>
          <p:cNvSpPr/>
          <p:nvPr/>
        </p:nvSpPr>
        <p:spPr>
          <a:xfrm>
            <a:off x="9661594" y="379476"/>
            <a:ext cx="68580" cy="68580"/>
          </a:xfrm>
          <a:prstGeom prst="ellipse">
            <a:avLst/>
          </a:prstGeom>
          <a:solidFill>
            <a:srgbClr val="53BE70"/>
          </a:solidFill>
          <a:ln>
            <a:noFill/>
          </a:ln>
          <a:effectLst/>
        </p:spPr>
        <p:txBody>
          <a:bodyPr rtlCol="0" anchor="ctr"/>
          <a:lstStyle/>
          <a:p>
            <a:endParaRPr lang="de-DE"/>
          </a:p>
        </p:txBody>
      </p:sp>
      <p:sp>
        <p:nvSpPr>
          <p:cNvPr id="108" name="Legend On Track"/>
          <p:cNvSpPr txBox="1"/>
          <p:nvPr/>
        </p:nvSpPr>
        <p:spPr>
          <a:xfrm>
            <a:off x="9789610" y="347472"/>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On Track</a:t>
            </a:r>
          </a:p>
        </p:txBody>
      </p:sp>
      <p:sp>
        <p:nvSpPr>
          <p:cNvPr id="109" name="Legend Dot Problem Solving"/>
          <p:cNvSpPr/>
          <p:nvPr/>
        </p:nvSpPr>
        <p:spPr>
          <a:xfrm>
            <a:off x="9661594" y="544068"/>
            <a:ext cx="68580" cy="68580"/>
          </a:xfrm>
          <a:prstGeom prst="ellipse">
            <a:avLst/>
          </a:prstGeom>
          <a:solidFill>
            <a:srgbClr val="F0B135"/>
          </a:solidFill>
          <a:ln>
            <a:noFill/>
          </a:ln>
          <a:effectLst/>
        </p:spPr>
        <p:txBody>
          <a:bodyPr rtlCol="0" anchor="ctr"/>
          <a:lstStyle/>
          <a:p>
            <a:endParaRPr lang="de-DE"/>
          </a:p>
        </p:txBody>
      </p:sp>
      <p:sp>
        <p:nvSpPr>
          <p:cNvPr id="110" name="Legend Problem Solving"/>
          <p:cNvSpPr txBox="1"/>
          <p:nvPr/>
        </p:nvSpPr>
        <p:spPr>
          <a:xfrm>
            <a:off x="9789610" y="512064"/>
            <a:ext cx="828142"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Problem Solving</a:t>
            </a:r>
          </a:p>
        </p:txBody>
      </p:sp>
      <p:sp>
        <p:nvSpPr>
          <p:cNvPr id="111" name="Legend Dot Escalation needed"/>
          <p:cNvSpPr/>
          <p:nvPr/>
        </p:nvSpPr>
        <p:spPr>
          <a:xfrm>
            <a:off x="10727481" y="379476"/>
            <a:ext cx="68580" cy="68580"/>
          </a:xfrm>
          <a:prstGeom prst="ellipse">
            <a:avLst/>
          </a:prstGeom>
          <a:solidFill>
            <a:srgbClr val="E64343"/>
          </a:solidFill>
          <a:ln>
            <a:noFill/>
          </a:ln>
          <a:effectLst/>
        </p:spPr>
        <p:txBody>
          <a:bodyPr rtlCol="0" anchor="ctr"/>
          <a:lstStyle/>
          <a:p>
            <a:endParaRPr lang="de-DE"/>
          </a:p>
        </p:txBody>
      </p:sp>
      <p:sp>
        <p:nvSpPr>
          <p:cNvPr id="112" name="Legend Escalation needed"/>
          <p:cNvSpPr txBox="1"/>
          <p:nvPr/>
        </p:nvSpPr>
        <p:spPr>
          <a:xfrm>
            <a:off x="10855497" y="347472"/>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Escalation needed</a:t>
            </a:r>
          </a:p>
        </p:txBody>
      </p:sp>
      <p:sp>
        <p:nvSpPr>
          <p:cNvPr id="113" name="Legend Dot Not Started"/>
          <p:cNvSpPr/>
          <p:nvPr/>
        </p:nvSpPr>
        <p:spPr>
          <a:xfrm>
            <a:off x="10727481" y="544068"/>
            <a:ext cx="68580" cy="68580"/>
          </a:xfrm>
          <a:prstGeom prst="ellipse">
            <a:avLst/>
          </a:prstGeom>
          <a:solidFill>
            <a:srgbClr val="CFD6DB"/>
          </a:solidFill>
          <a:ln>
            <a:noFill/>
          </a:ln>
          <a:effectLst/>
        </p:spPr>
        <p:txBody>
          <a:bodyPr rtlCol="0" anchor="ctr"/>
          <a:lstStyle/>
          <a:p>
            <a:endParaRPr lang="de-DE"/>
          </a:p>
        </p:txBody>
      </p:sp>
      <p:sp>
        <p:nvSpPr>
          <p:cNvPr id="114" name="Legend Not Started"/>
          <p:cNvSpPr txBox="1"/>
          <p:nvPr/>
        </p:nvSpPr>
        <p:spPr>
          <a:xfrm>
            <a:off x="10855497" y="512064"/>
            <a:ext cx="931119" cy="137160"/>
          </a:xfrm>
          <a:prstGeom prst="rect">
            <a:avLst/>
          </a:prstGeom>
          <a:noFill/>
          <a:ln>
            <a:noFill/>
          </a:ln>
        </p:spPr>
        <p:txBody>
          <a:bodyPr wrap="none" lIns="0" tIns="0" rIns="0" bIns="0" rtlCol="0" anchor="t">
            <a:noAutofit/>
          </a:bodyPr>
          <a:lstStyle/>
          <a:p>
            <a:pPr marL="0" indent="0" algn="l">
              <a:buNone/>
            </a:pPr>
            <a:r>
              <a:rPr lang="de-DE" sz="800" b="0" kern="0" dirty="0">
                <a:solidFill>
                  <a:srgbClr val="CCD3D6"/>
                </a:solidFill>
                <a:latin typeface="Segoe UI" pitchFamily="34" charset="0"/>
                <a:ea typeface="Segoe UI" pitchFamily="34" charset="-122"/>
                <a:cs typeface="Segoe UI" pitchFamily="34" charset="-120"/>
              </a:rPr>
              <a:t>Not Started</a:t>
            </a:r>
          </a:p>
        </p:txBody>
      </p:sp>
      <p:sp>
        <p:nvSpPr>
          <p:cNvPr id="115" name="Col Supplier Activation Card"/>
          <p:cNvSpPr/>
          <p:nvPr/>
        </p:nvSpPr>
        <p:spPr>
          <a:xfrm>
            <a:off x="118872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16" name="Col Supplier Activation Name"/>
          <p:cNvSpPr txBox="1"/>
          <p:nvPr/>
        </p:nvSpPr>
        <p:spPr>
          <a:xfrm>
            <a:off x="125730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Supplier Activation</a:t>
            </a:r>
          </a:p>
        </p:txBody>
      </p:sp>
      <p:sp>
        <p:nvSpPr>
          <p:cNvPr id="117" name="Col Supplier Activation Abbr"/>
          <p:cNvSpPr txBox="1"/>
          <p:nvPr/>
        </p:nvSpPr>
        <p:spPr>
          <a:xfrm>
            <a:off x="125730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sac-cx</a:t>
            </a:r>
          </a:p>
        </p:txBody>
      </p:sp>
      <p:sp>
        <p:nvSpPr>
          <p:cNvPr id="118" name="Col Supplier Activation Domain Lead"/>
          <p:cNvSpPr txBox="1"/>
          <p:nvPr/>
        </p:nvSpPr>
        <p:spPr>
          <a:xfrm>
            <a:off x="125730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Behrens (BZ-PX)</a:t>
            </a:r>
          </a:p>
        </p:txBody>
      </p:sp>
      <p:sp>
        <p:nvSpPr>
          <p:cNvPr id="119" name="Col Supplier Activation Status Bar"/>
          <p:cNvSpPr/>
          <p:nvPr/>
        </p:nvSpPr>
        <p:spPr>
          <a:xfrm>
            <a:off x="125730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0" name="Col Portfolio, AI+, C-X NEXT, DigiTrace Card"/>
          <p:cNvSpPr/>
          <p:nvPr/>
        </p:nvSpPr>
        <p:spPr>
          <a:xfrm>
            <a:off x="298323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1" name="Col Portfolio, AI+, C-X NEXT, DigiTrace Name"/>
          <p:cNvSpPr txBox="1"/>
          <p:nvPr/>
        </p:nvSpPr>
        <p:spPr>
          <a:xfrm>
            <a:off x="305181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Portfolio, AI+, C-X NEXT, DigiTrace</a:t>
            </a:r>
          </a:p>
        </p:txBody>
      </p:sp>
      <p:sp>
        <p:nvSpPr>
          <p:cNvPr id="122" name="Col Portfolio, AI+, C-X NEXT, DigiTrace Abbr"/>
          <p:cNvSpPr txBox="1"/>
          <p:nvPr/>
        </p:nvSpPr>
        <p:spPr>
          <a:xfrm>
            <a:off x="3051810" y="14274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port-cx</a:t>
            </a:r>
          </a:p>
        </p:txBody>
      </p:sp>
      <p:sp>
        <p:nvSpPr>
          <p:cNvPr id="123" name="Col Portfolio, AI+, C-X NEXT, DigiTrace Domain Lead"/>
          <p:cNvSpPr txBox="1"/>
          <p:nvPr/>
        </p:nvSpPr>
        <p:spPr>
          <a:xfrm>
            <a:off x="305181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4" name="Col Portfolio, AI+, C-X NEXT, DigiTrace Status Bar"/>
          <p:cNvSpPr/>
          <p:nvPr/>
        </p:nvSpPr>
        <p:spPr>
          <a:xfrm>
            <a:off x="3051810" y="2002790"/>
            <a:ext cx="1616202" cy="36576"/>
          </a:xfrm>
          <a:prstGeom prst="roundRect">
            <a:avLst>
              <a:gd name="adj" fmla="val 50000"/>
            </a:avLst>
          </a:prstGeom>
          <a:solidFill>
            <a:srgbClr val="E64343"/>
          </a:solidFill>
          <a:ln>
            <a:noFill/>
          </a:ln>
          <a:effectLst/>
        </p:spPr>
        <p:txBody>
          <a:bodyPr rtlCol="0" anchor="ctr"/>
          <a:lstStyle/>
          <a:p>
            <a:endParaRPr lang="de-DE"/>
          </a:p>
        </p:txBody>
      </p:sp>
      <p:sp>
        <p:nvSpPr>
          <p:cNvPr id="125" name="Col Data Provisioning Card"/>
          <p:cNvSpPr/>
          <p:nvPr/>
        </p:nvSpPr>
        <p:spPr>
          <a:xfrm>
            <a:off x="477774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26" name="Col Data Provisioning Name"/>
          <p:cNvSpPr txBox="1"/>
          <p:nvPr/>
        </p:nvSpPr>
        <p:spPr>
          <a:xfrm>
            <a:off x="484632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Data Provisioning</a:t>
            </a:r>
          </a:p>
        </p:txBody>
      </p:sp>
      <p:sp>
        <p:nvSpPr>
          <p:cNvPr id="127" name="Col Data Provisioning Abbr"/>
          <p:cNvSpPr txBox="1"/>
          <p:nvPr/>
        </p:nvSpPr>
        <p:spPr>
          <a:xfrm>
            <a:off x="484632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dpr-cx</a:t>
            </a:r>
          </a:p>
        </p:txBody>
      </p:sp>
      <p:sp>
        <p:nvSpPr>
          <p:cNvPr id="128" name="Col Data Provisioning Domain Lead"/>
          <p:cNvSpPr txBox="1"/>
          <p:nvPr/>
        </p:nvSpPr>
        <p:spPr>
          <a:xfrm>
            <a:off x="484632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29" name="Col Data Provisioning Status Bar"/>
          <p:cNvSpPr/>
          <p:nvPr/>
        </p:nvSpPr>
        <p:spPr>
          <a:xfrm>
            <a:off x="484632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0" name="Col Hub &amp; Spoke Card"/>
          <p:cNvSpPr/>
          <p:nvPr/>
        </p:nvSpPr>
        <p:spPr>
          <a:xfrm>
            <a:off x="657225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1" name="Col Hub &amp; Spoke Name"/>
          <p:cNvSpPr txBox="1"/>
          <p:nvPr/>
        </p:nvSpPr>
        <p:spPr>
          <a:xfrm>
            <a:off x="664083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Hub &amp; Spoke</a:t>
            </a:r>
          </a:p>
        </p:txBody>
      </p:sp>
      <p:sp>
        <p:nvSpPr>
          <p:cNvPr id="132" name="Col Hub &amp; Spoke Abbr"/>
          <p:cNvSpPr txBox="1"/>
          <p:nvPr/>
        </p:nvSpPr>
        <p:spPr>
          <a:xfrm>
            <a:off x="664083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hub-cx</a:t>
            </a:r>
          </a:p>
        </p:txBody>
      </p:sp>
      <p:sp>
        <p:nvSpPr>
          <p:cNvPr id="133" name="Col Hub &amp; Spoke Domain Lead"/>
          <p:cNvSpPr txBox="1"/>
          <p:nvPr/>
        </p:nvSpPr>
        <p:spPr>
          <a:xfrm>
            <a:off x="664083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Bollmann, Poetsch (K-DDX/5)</a:t>
            </a:r>
          </a:p>
        </p:txBody>
      </p:sp>
      <p:sp>
        <p:nvSpPr>
          <p:cNvPr id="134" name="Col Hub &amp; Spoke Status Bar"/>
          <p:cNvSpPr/>
          <p:nvPr/>
        </p:nvSpPr>
        <p:spPr>
          <a:xfrm>
            <a:off x="664083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35" name="Col Legal &amp; Contracts Card"/>
          <p:cNvSpPr/>
          <p:nvPr/>
        </p:nvSpPr>
        <p:spPr>
          <a:xfrm>
            <a:off x="836676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36" name="Col Legal &amp; Contracts Name"/>
          <p:cNvSpPr txBox="1"/>
          <p:nvPr/>
        </p:nvSpPr>
        <p:spPr>
          <a:xfrm>
            <a:off x="843534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Legal &amp; Contracts</a:t>
            </a:r>
          </a:p>
        </p:txBody>
      </p:sp>
      <p:sp>
        <p:nvSpPr>
          <p:cNvPr id="137" name="Col Legal &amp; Contracts Abbr"/>
          <p:cNvSpPr txBox="1"/>
          <p:nvPr/>
        </p:nvSpPr>
        <p:spPr>
          <a:xfrm>
            <a:off x="843534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gis-cx</a:t>
            </a:r>
          </a:p>
        </p:txBody>
      </p:sp>
      <p:sp>
        <p:nvSpPr>
          <p:cNvPr id="138" name="Col Legal &amp; Contracts Domain Lead"/>
          <p:cNvSpPr txBox="1"/>
          <p:nvPr/>
        </p:nvSpPr>
        <p:spPr>
          <a:xfrm>
            <a:off x="843534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Pietschmann</a:t>
            </a:r>
          </a:p>
        </p:txBody>
      </p:sp>
      <p:sp>
        <p:nvSpPr>
          <p:cNvPr id="139" name="Col Legal &amp; Contracts Status Bar"/>
          <p:cNvSpPr/>
          <p:nvPr/>
        </p:nvSpPr>
        <p:spPr>
          <a:xfrm>
            <a:off x="843534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0" name="Col Architecture Card"/>
          <p:cNvSpPr/>
          <p:nvPr/>
        </p:nvSpPr>
        <p:spPr>
          <a:xfrm>
            <a:off x="10161270" y="978408"/>
            <a:ext cx="1753362" cy="5696712"/>
          </a:xfrm>
          <a:prstGeom prst="roundRect">
            <a:avLst>
              <a:gd name="adj" fmla="val 4000"/>
            </a:avLst>
          </a:prstGeom>
          <a:solidFill>
            <a:srgbClr val="FFFFFF"/>
          </a:solidFill>
          <a:ln>
            <a:noFill/>
          </a:ln>
          <a:effectLst/>
        </p:spPr>
        <p:txBody>
          <a:bodyPr rtlCol="0" anchor="ctr"/>
          <a:lstStyle/>
          <a:p>
            <a:endParaRPr lang="de-DE"/>
          </a:p>
        </p:txBody>
      </p:sp>
      <p:sp>
        <p:nvSpPr>
          <p:cNvPr id="141" name="Col Architecture Name"/>
          <p:cNvSpPr txBox="1"/>
          <p:nvPr/>
        </p:nvSpPr>
        <p:spPr>
          <a:xfrm>
            <a:off x="10229850" y="1078992"/>
            <a:ext cx="1616202" cy="348488"/>
          </a:xfrm>
          <a:prstGeom prst="rect">
            <a:avLst/>
          </a:prstGeom>
          <a:noFill/>
          <a:ln>
            <a:noFill/>
          </a:ln>
        </p:spPr>
        <p:txBody>
          <a:bodyPr wrap="square" lIns="0" tIns="0" rIns="0" bIns="0" rtlCol="0" anchor="t">
            <a:noAutofit/>
          </a:bodyPr>
          <a:lstStyle/>
          <a:p>
            <a:pPr marL="0" indent="0" algn="l">
              <a:lnSpc>
                <a:spcPts val="1300"/>
              </a:lnSpc>
              <a:buNone/>
            </a:pPr>
            <a:r>
              <a:rPr lang="de-DE" sz="1100" b="1" kern="0" dirty="0">
                <a:solidFill>
                  <a:srgbClr val="151B21"/>
                </a:solidFill>
                <a:latin typeface="Segoe UI" pitchFamily="34" charset="0"/>
                <a:ea typeface="Segoe UI" pitchFamily="34" charset="-122"/>
                <a:cs typeface="Segoe UI" pitchFamily="34" charset="-120"/>
              </a:rPr>
              <a:t>Architecture</a:t>
            </a:r>
          </a:p>
        </p:txBody>
      </p:sp>
      <p:sp>
        <p:nvSpPr>
          <p:cNvPr id="142" name="Col Architecture Abbr"/>
          <p:cNvSpPr txBox="1"/>
          <p:nvPr/>
        </p:nvSpPr>
        <p:spPr>
          <a:xfrm>
            <a:off x="10229850" y="1262380"/>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arch-cx</a:t>
            </a:r>
          </a:p>
        </p:txBody>
      </p:sp>
      <p:sp>
        <p:nvSpPr>
          <p:cNvPr id="143" name="Col Architecture Domain Lead"/>
          <p:cNvSpPr txBox="1"/>
          <p:nvPr/>
        </p:nvSpPr>
        <p:spPr>
          <a:xfrm>
            <a:off x="10229850" y="1628394"/>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tbd</a:t>
            </a:r>
          </a:p>
        </p:txBody>
      </p:sp>
      <p:sp>
        <p:nvSpPr>
          <p:cNvPr id="144" name="Col Architecture Status Bar"/>
          <p:cNvSpPr/>
          <p:nvPr/>
        </p:nvSpPr>
        <p:spPr>
          <a:xfrm>
            <a:off x="10229850" y="2002790"/>
            <a:ext cx="1616202" cy="36576"/>
          </a:xfrm>
          <a:prstGeom prst="roundRect">
            <a:avLst>
              <a:gd name="adj" fmla="val 50000"/>
            </a:avLst>
          </a:prstGeom>
          <a:solidFill>
            <a:srgbClr val="F0B135"/>
          </a:solidFill>
          <a:ln>
            <a:noFill/>
          </a:ln>
          <a:effectLst/>
        </p:spPr>
        <p:txBody>
          <a:bodyPr rtlCol="0" anchor="ctr"/>
          <a:lstStyle/>
          <a:p>
            <a:endParaRPr lang="de-DE"/>
          </a:p>
        </p:txBody>
      </p:sp>
      <p:sp>
        <p:nvSpPr>
          <p:cNvPr id="145" name="Head Label Name"/>
          <p:cNvSpPr txBox="1"/>
          <p:nvPr/>
        </p:nvSpPr>
        <p:spPr>
          <a:xfrm>
            <a:off x="274320" y="110642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Name</a:t>
            </a:r>
          </a:p>
        </p:txBody>
      </p:sp>
      <p:sp>
        <p:nvSpPr>
          <p:cNvPr id="146" name="Head Label Domain Lead"/>
          <p:cNvSpPr txBox="1"/>
          <p:nvPr/>
        </p:nvSpPr>
        <p:spPr>
          <a:xfrm>
            <a:off x="274320" y="1628394"/>
            <a:ext cx="868680" cy="16433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Domain Lead</a:t>
            </a:r>
          </a:p>
        </p:txBody>
      </p:sp>
      <p:sp>
        <p:nvSpPr>
          <p:cNvPr id="147" name="Row Label Overall status"/>
          <p:cNvSpPr txBox="1"/>
          <p:nvPr/>
        </p:nvSpPr>
        <p:spPr>
          <a:xfrm>
            <a:off x="274320" y="2158238"/>
            <a:ext cx="868680" cy="2294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Overall status</a:t>
            </a:r>
          </a:p>
        </p:txBody>
      </p:sp>
      <p:sp>
        <p:nvSpPr>
          <p:cNvPr id="148" name="Supplier Activation Status Pill"/>
          <p:cNvSpPr/>
          <p:nvPr/>
        </p:nvSpPr>
        <p:spPr>
          <a:xfrm>
            <a:off x="125730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49" name="Supplier Activation Status Text"/>
          <p:cNvSpPr txBox="1"/>
          <p:nvPr/>
        </p:nvSpPr>
        <p:spPr>
          <a:xfrm>
            <a:off x="125730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0" name="Portfolio, AI+, C-X NEXT, DigiTrace Status Pill"/>
          <p:cNvSpPr/>
          <p:nvPr/>
        </p:nvSpPr>
        <p:spPr>
          <a:xfrm>
            <a:off x="3051810" y="2135378"/>
            <a:ext cx="1155748" cy="192024"/>
          </a:xfrm>
          <a:prstGeom prst="roundRect">
            <a:avLst>
              <a:gd name="adj" fmla="val 50000"/>
            </a:avLst>
          </a:prstGeom>
          <a:solidFill>
            <a:srgbClr val="E64343"/>
          </a:solidFill>
          <a:ln>
            <a:noFill/>
          </a:ln>
          <a:effectLst/>
        </p:spPr>
        <p:txBody>
          <a:bodyPr rtlCol="0" anchor="ctr"/>
          <a:lstStyle/>
          <a:p>
            <a:endParaRPr lang="de-DE"/>
          </a:p>
        </p:txBody>
      </p:sp>
      <p:sp>
        <p:nvSpPr>
          <p:cNvPr id="151" name="Portfolio, AI+, C-X NEXT, DigiTrace Status Text"/>
          <p:cNvSpPr txBox="1"/>
          <p:nvPr/>
        </p:nvSpPr>
        <p:spPr>
          <a:xfrm>
            <a:off x="3051810" y="2135378"/>
            <a:ext cx="1155748"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Escalation needed</a:t>
            </a:r>
          </a:p>
        </p:txBody>
      </p:sp>
      <p:sp>
        <p:nvSpPr>
          <p:cNvPr id="152" name="Data Provisioning Status Pill"/>
          <p:cNvSpPr/>
          <p:nvPr/>
        </p:nvSpPr>
        <p:spPr>
          <a:xfrm>
            <a:off x="484632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3" name="Data Provisioning Status Text"/>
          <p:cNvSpPr txBox="1"/>
          <p:nvPr/>
        </p:nvSpPr>
        <p:spPr>
          <a:xfrm>
            <a:off x="484632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4" name="Hub &amp; Spoke Status Pill"/>
          <p:cNvSpPr/>
          <p:nvPr/>
        </p:nvSpPr>
        <p:spPr>
          <a:xfrm>
            <a:off x="664083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5" name="Hub &amp; Spoke Status Text"/>
          <p:cNvSpPr txBox="1"/>
          <p:nvPr/>
        </p:nvSpPr>
        <p:spPr>
          <a:xfrm>
            <a:off x="664083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6" name="Legal &amp; Contracts Status Pill"/>
          <p:cNvSpPr/>
          <p:nvPr/>
        </p:nvSpPr>
        <p:spPr>
          <a:xfrm>
            <a:off x="843534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7" name="Legal &amp; Contracts Status Text"/>
          <p:cNvSpPr txBox="1"/>
          <p:nvPr/>
        </p:nvSpPr>
        <p:spPr>
          <a:xfrm>
            <a:off x="843534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58" name="Architecture Status Pill"/>
          <p:cNvSpPr/>
          <p:nvPr/>
        </p:nvSpPr>
        <p:spPr>
          <a:xfrm>
            <a:off x="10229850" y="2135378"/>
            <a:ext cx="1058923" cy="192024"/>
          </a:xfrm>
          <a:prstGeom prst="roundRect">
            <a:avLst>
              <a:gd name="adj" fmla="val 50000"/>
            </a:avLst>
          </a:prstGeom>
          <a:solidFill>
            <a:srgbClr val="F0B135"/>
          </a:solidFill>
          <a:ln>
            <a:noFill/>
          </a:ln>
          <a:effectLst/>
        </p:spPr>
        <p:txBody>
          <a:bodyPr rtlCol="0" anchor="ctr"/>
          <a:lstStyle/>
          <a:p>
            <a:endParaRPr lang="de-DE"/>
          </a:p>
        </p:txBody>
      </p:sp>
      <p:sp>
        <p:nvSpPr>
          <p:cNvPr id="159" name="Architecture Status Text"/>
          <p:cNvSpPr txBox="1"/>
          <p:nvPr/>
        </p:nvSpPr>
        <p:spPr>
          <a:xfrm>
            <a:off x="10229850" y="2135378"/>
            <a:ext cx="1058923" cy="192024"/>
          </a:xfrm>
          <a:prstGeom prst="rect">
            <a:avLst/>
          </a:prstGeom>
          <a:noFill/>
          <a:ln>
            <a:noFill/>
          </a:ln>
        </p:spPr>
        <p:txBody>
          <a:bodyPr wrap="non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Problem Solving</a:t>
            </a:r>
          </a:p>
        </p:txBody>
      </p:sp>
      <p:sp>
        <p:nvSpPr>
          <p:cNvPr id="160" name="Row Label Goal"/>
          <p:cNvSpPr txBox="1"/>
          <p:nvPr/>
        </p:nvSpPr>
        <p:spPr>
          <a:xfrm>
            <a:off x="274320" y="2451683"/>
            <a:ext cx="868680" cy="36692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Goal</a:t>
            </a:r>
          </a:p>
        </p:txBody>
      </p:sp>
      <p:sp>
        <p:nvSpPr>
          <p:cNvPr id="161" name="Supplier Activation Row Divider Goal"/>
          <p:cNvSpPr/>
          <p:nvPr/>
        </p:nvSpPr>
        <p:spPr>
          <a:xfrm>
            <a:off x="1257300" y="2387675"/>
            <a:ext cx="1616202" cy="6401"/>
          </a:xfrm>
          <a:prstGeom prst="rect">
            <a:avLst/>
          </a:prstGeom>
          <a:solidFill>
            <a:srgbClr val="E2E8EC"/>
          </a:solidFill>
          <a:ln>
            <a:noFill/>
          </a:ln>
          <a:effectLst/>
        </p:spPr>
        <p:txBody>
          <a:bodyPr rtlCol="0" anchor="ctr"/>
          <a:lstStyle/>
          <a:p>
            <a:endParaRPr lang="de-DE"/>
          </a:p>
        </p:txBody>
      </p:sp>
      <p:sp>
        <p:nvSpPr>
          <p:cNvPr id="162" name="Supplier Activation Goal"/>
          <p:cNvSpPr txBox="1"/>
          <p:nvPr/>
        </p:nvSpPr>
        <p:spPr>
          <a:xfrm>
            <a:off x="125730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All P-Mat suppliers operationally connected</a:t>
            </a:r>
          </a:p>
        </p:txBody>
      </p:sp>
      <p:sp>
        <p:nvSpPr>
          <p:cNvPr id="163" name="Portfolio, AI+, C-X NEXT, DigiTrace Row Divider Goal"/>
          <p:cNvSpPr/>
          <p:nvPr/>
        </p:nvSpPr>
        <p:spPr>
          <a:xfrm>
            <a:off x="3051810" y="2387675"/>
            <a:ext cx="1616202" cy="6401"/>
          </a:xfrm>
          <a:prstGeom prst="rect">
            <a:avLst/>
          </a:prstGeom>
          <a:solidFill>
            <a:srgbClr val="E2E8EC"/>
          </a:solidFill>
          <a:ln>
            <a:noFill/>
          </a:ln>
          <a:effectLst/>
        </p:spPr>
        <p:txBody>
          <a:bodyPr rtlCol="0" anchor="ctr"/>
          <a:lstStyle/>
          <a:p>
            <a:endParaRPr lang="de-DE"/>
          </a:p>
        </p:txBody>
      </p:sp>
      <p:sp>
        <p:nvSpPr>
          <p:cNvPr id="164" name="Portfolio, AI+, C-X NEXT, DigiTrace Goal"/>
          <p:cNvSpPr txBox="1"/>
          <p:nvPr/>
        </p:nvSpPr>
        <p:spPr>
          <a:xfrm>
            <a:off x="305181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Budget and funding secured in every planning round</a:t>
            </a:r>
          </a:p>
        </p:txBody>
      </p:sp>
      <p:sp>
        <p:nvSpPr>
          <p:cNvPr id="165" name="Data Provisioning Row Divider Goal"/>
          <p:cNvSpPr/>
          <p:nvPr/>
        </p:nvSpPr>
        <p:spPr>
          <a:xfrm>
            <a:off x="4846320" y="2387675"/>
            <a:ext cx="1616202" cy="6401"/>
          </a:xfrm>
          <a:prstGeom prst="rect">
            <a:avLst/>
          </a:prstGeom>
          <a:solidFill>
            <a:srgbClr val="E2E8EC"/>
          </a:solidFill>
          <a:ln>
            <a:noFill/>
          </a:ln>
          <a:effectLst/>
        </p:spPr>
        <p:txBody>
          <a:bodyPr rtlCol="0" anchor="ctr"/>
          <a:lstStyle/>
          <a:p>
            <a:endParaRPr lang="de-DE"/>
          </a:p>
        </p:txBody>
      </p:sp>
      <p:sp>
        <p:nvSpPr>
          <p:cNvPr id="166" name="Data Provisioning Goal"/>
          <p:cNvSpPr txBox="1"/>
          <p:nvPr/>
        </p:nvSpPr>
        <p:spPr>
          <a:xfrm>
            <a:off x="484632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data provided as shoppable data products</a:t>
            </a:r>
          </a:p>
        </p:txBody>
      </p:sp>
      <p:sp>
        <p:nvSpPr>
          <p:cNvPr id="167" name="Hub &amp; Spoke Row Divider Goal"/>
          <p:cNvSpPr/>
          <p:nvPr/>
        </p:nvSpPr>
        <p:spPr>
          <a:xfrm>
            <a:off x="6640830" y="2387675"/>
            <a:ext cx="1616202" cy="6401"/>
          </a:xfrm>
          <a:prstGeom prst="rect">
            <a:avLst/>
          </a:prstGeom>
          <a:solidFill>
            <a:srgbClr val="E2E8EC"/>
          </a:solidFill>
          <a:ln>
            <a:noFill/>
          </a:ln>
          <a:effectLst/>
        </p:spPr>
        <p:txBody>
          <a:bodyPr rtlCol="0" anchor="ctr"/>
          <a:lstStyle/>
          <a:p>
            <a:endParaRPr lang="de-DE"/>
          </a:p>
        </p:txBody>
      </p:sp>
      <p:sp>
        <p:nvSpPr>
          <p:cNvPr id="168" name="Hub &amp; Spoke Goal"/>
          <p:cNvSpPr txBox="1"/>
          <p:nvPr/>
        </p:nvSpPr>
        <p:spPr>
          <a:xfrm>
            <a:off x="664083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Catena-X scaled across all brands via Hub &amp; Spoke</a:t>
            </a:r>
          </a:p>
        </p:txBody>
      </p:sp>
      <p:sp>
        <p:nvSpPr>
          <p:cNvPr id="169" name="Legal &amp; Contracts Row Divider Goal"/>
          <p:cNvSpPr/>
          <p:nvPr/>
        </p:nvSpPr>
        <p:spPr>
          <a:xfrm>
            <a:off x="8435340" y="2387675"/>
            <a:ext cx="1616202" cy="6401"/>
          </a:xfrm>
          <a:prstGeom prst="rect">
            <a:avLst/>
          </a:prstGeom>
          <a:solidFill>
            <a:srgbClr val="E2E8EC"/>
          </a:solidFill>
          <a:ln>
            <a:noFill/>
          </a:ln>
          <a:effectLst/>
        </p:spPr>
        <p:txBody>
          <a:bodyPr rtlCol="0" anchor="ctr"/>
          <a:lstStyle/>
          <a:p>
            <a:endParaRPr lang="de-DE"/>
          </a:p>
        </p:txBody>
      </p:sp>
      <p:sp>
        <p:nvSpPr>
          <p:cNvPr id="170" name="Legal &amp; Contracts Goal"/>
          <p:cNvSpPr txBox="1"/>
          <p:nvPr/>
        </p:nvSpPr>
        <p:spPr>
          <a:xfrm>
            <a:off x="843534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contracts with all brands and data consumers</a:t>
            </a:r>
          </a:p>
        </p:txBody>
      </p:sp>
      <p:sp>
        <p:nvSpPr>
          <p:cNvPr id="171" name="Architecture Row Divider Goal"/>
          <p:cNvSpPr/>
          <p:nvPr/>
        </p:nvSpPr>
        <p:spPr>
          <a:xfrm>
            <a:off x="10229850" y="2387675"/>
            <a:ext cx="1616202" cy="6401"/>
          </a:xfrm>
          <a:prstGeom prst="rect">
            <a:avLst/>
          </a:prstGeom>
          <a:solidFill>
            <a:srgbClr val="E2E8EC"/>
          </a:solidFill>
          <a:ln>
            <a:noFill/>
          </a:ln>
          <a:effectLst/>
        </p:spPr>
        <p:txBody>
          <a:bodyPr rtlCol="0" anchor="ctr"/>
          <a:lstStyle/>
          <a:p>
            <a:endParaRPr lang="de-DE"/>
          </a:p>
        </p:txBody>
      </p:sp>
      <p:sp>
        <p:nvSpPr>
          <p:cNvPr id="172" name="Architecture Goal"/>
          <p:cNvSpPr txBox="1"/>
          <p:nvPr/>
        </p:nvSpPr>
        <p:spPr>
          <a:xfrm>
            <a:off x="10229850" y="2451683"/>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Approved, scalable Catena-X target architecture</a:t>
            </a:r>
          </a:p>
        </p:txBody>
      </p:sp>
      <p:sp>
        <p:nvSpPr>
          <p:cNvPr id="173" name="Row Label Key KPI"/>
          <p:cNvSpPr txBox="1"/>
          <p:nvPr/>
        </p:nvSpPr>
        <p:spPr>
          <a:xfrm>
            <a:off x="274320" y="2882616"/>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Key KPI</a:t>
            </a:r>
          </a:p>
          <a:p>
            <a:pPr marL="0" indent="0" algn="l">
              <a:lnSpc>
                <a:spcPts val="1150"/>
              </a:lnSpc>
              <a:buNone/>
            </a:pPr>
            <a:r>
              <a:rPr lang="de-DE" sz="900" b="0" kern="0" dirty="0">
                <a:solidFill>
                  <a:srgbClr val="99D1CD"/>
                </a:solidFill>
                <a:latin typeface="Segoe UI" pitchFamily="34" charset="0"/>
                <a:ea typeface="Segoe UI" pitchFamily="34" charset="-122"/>
                <a:cs typeface="Segoe UI" pitchFamily="34" charset="-120"/>
              </a:rPr>
              <a:t>actual / target</a:t>
            </a:r>
          </a:p>
        </p:txBody>
      </p:sp>
      <p:sp>
        <p:nvSpPr>
          <p:cNvPr id="174" name="Supplier Activation Row Divider Key KPI"/>
          <p:cNvSpPr/>
          <p:nvPr/>
        </p:nvSpPr>
        <p:spPr>
          <a:xfrm>
            <a:off x="1257300" y="2818608"/>
            <a:ext cx="1616202" cy="6401"/>
          </a:xfrm>
          <a:prstGeom prst="rect">
            <a:avLst/>
          </a:prstGeom>
          <a:solidFill>
            <a:srgbClr val="E2E8EC"/>
          </a:solidFill>
          <a:ln>
            <a:noFill/>
          </a:ln>
          <a:effectLst/>
        </p:spPr>
        <p:txBody>
          <a:bodyPr rtlCol="0" anchor="ctr"/>
          <a:lstStyle/>
          <a:p>
            <a:endParaRPr lang="de-DE"/>
          </a:p>
        </p:txBody>
      </p:sp>
      <p:sp>
        <p:nvSpPr>
          <p:cNvPr id="175" name="Supplier Activation KPI"/>
          <p:cNvSpPr txBox="1"/>
          <p:nvPr/>
        </p:nvSpPr>
        <p:spPr>
          <a:xfrm>
            <a:off x="125730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Suppliers contracted by Q3</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a:t>
            </a:r>
            <a:r>
              <a:rPr lang="de-DE" sz="900" b="0" kern="0" dirty="0">
                <a:solidFill>
                  <a:srgbClr val="292D31"/>
                </a:solidFill>
                <a:latin typeface="Segoe UI" pitchFamily="34" charset="0"/>
                <a:ea typeface="Segoe UI" pitchFamily="34" charset="-122"/>
                <a:cs typeface="Segoe UI" pitchFamily="34" charset="-120"/>
              </a:rPr>
              <a:t> / 280</a:t>
            </a:r>
          </a:p>
        </p:txBody>
      </p:sp>
      <p:sp>
        <p:nvSpPr>
          <p:cNvPr id="176" name="Portfolio, AI+, C-X NEXT, DigiTrace Row Divider Key KPI"/>
          <p:cNvSpPr/>
          <p:nvPr/>
        </p:nvSpPr>
        <p:spPr>
          <a:xfrm>
            <a:off x="3051810" y="2818608"/>
            <a:ext cx="1616202" cy="6401"/>
          </a:xfrm>
          <a:prstGeom prst="rect">
            <a:avLst/>
          </a:prstGeom>
          <a:solidFill>
            <a:srgbClr val="E2E8EC"/>
          </a:solidFill>
          <a:ln>
            <a:noFill/>
          </a:ln>
          <a:effectLst/>
        </p:spPr>
        <p:txBody>
          <a:bodyPr rtlCol="0" anchor="ctr"/>
          <a:lstStyle/>
          <a:p>
            <a:endParaRPr lang="de-DE"/>
          </a:p>
        </p:txBody>
      </p:sp>
      <p:sp>
        <p:nvSpPr>
          <p:cNvPr id="177" name="Portfolio, AI+, C-X NEXT, DigiTrace KPI"/>
          <p:cNvSpPr txBox="1"/>
          <p:nvPr/>
        </p:nvSpPr>
        <p:spPr>
          <a:xfrm>
            <a:off x="305181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Budgets secured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0</a:t>
            </a:r>
            <a:r>
              <a:rPr lang="de-DE" sz="900" b="0" kern="0" dirty="0">
                <a:solidFill>
                  <a:srgbClr val="292D31"/>
                </a:solidFill>
                <a:latin typeface="Segoe UI" pitchFamily="34" charset="0"/>
                <a:ea typeface="Segoe UI" pitchFamily="34" charset="-122"/>
                <a:cs typeface="Segoe UI" pitchFamily="34" charset="-120"/>
              </a:rPr>
              <a:t> / 2 (PR74, PR75)</a:t>
            </a:r>
          </a:p>
        </p:txBody>
      </p:sp>
      <p:sp>
        <p:nvSpPr>
          <p:cNvPr id="178" name="Data Provisioning Row Divider Key KPI"/>
          <p:cNvSpPr/>
          <p:nvPr/>
        </p:nvSpPr>
        <p:spPr>
          <a:xfrm>
            <a:off x="4846320" y="2818608"/>
            <a:ext cx="1616202" cy="6401"/>
          </a:xfrm>
          <a:prstGeom prst="rect">
            <a:avLst/>
          </a:prstGeom>
          <a:solidFill>
            <a:srgbClr val="E2E8EC"/>
          </a:solidFill>
          <a:ln>
            <a:noFill/>
          </a:ln>
          <a:effectLst/>
        </p:spPr>
        <p:txBody>
          <a:bodyPr rtlCol="0" anchor="ctr"/>
          <a:lstStyle/>
          <a:p>
            <a:endParaRPr lang="de-DE"/>
          </a:p>
        </p:txBody>
      </p:sp>
      <p:sp>
        <p:nvSpPr>
          <p:cNvPr id="179" name="Data Provisioning KPI"/>
          <p:cNvSpPr txBox="1"/>
          <p:nvPr/>
        </p:nvSpPr>
        <p:spPr>
          <a:xfrm>
            <a:off x="484632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Use Case Owners approved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6</a:t>
            </a:r>
            <a:r>
              <a:rPr lang="de-DE" sz="900" b="0" kern="0" dirty="0">
                <a:solidFill>
                  <a:srgbClr val="292D31"/>
                </a:solidFill>
                <a:latin typeface="Segoe UI" pitchFamily="34" charset="0"/>
                <a:ea typeface="Segoe UI" pitchFamily="34" charset="-122"/>
                <a:cs typeface="Segoe UI" pitchFamily="34" charset="-120"/>
              </a:rPr>
              <a:t> / 8</a:t>
            </a:r>
          </a:p>
        </p:txBody>
      </p:sp>
      <p:sp>
        <p:nvSpPr>
          <p:cNvPr id="180" name="Hub &amp; Spoke Row Divider Key KPI"/>
          <p:cNvSpPr/>
          <p:nvPr/>
        </p:nvSpPr>
        <p:spPr>
          <a:xfrm>
            <a:off x="6640830" y="2818608"/>
            <a:ext cx="1616202" cy="6401"/>
          </a:xfrm>
          <a:prstGeom prst="rect">
            <a:avLst/>
          </a:prstGeom>
          <a:solidFill>
            <a:srgbClr val="E2E8EC"/>
          </a:solidFill>
          <a:ln>
            <a:noFill/>
          </a:ln>
          <a:effectLst/>
        </p:spPr>
        <p:txBody>
          <a:bodyPr rtlCol="0" anchor="ctr"/>
          <a:lstStyle/>
          <a:p>
            <a:endParaRPr lang="de-DE"/>
          </a:p>
        </p:txBody>
      </p:sp>
      <p:sp>
        <p:nvSpPr>
          <p:cNvPr id="181" name="Hub &amp; Spoke KPI"/>
          <p:cNvSpPr txBox="1"/>
          <p:nvPr/>
        </p:nvSpPr>
        <p:spPr>
          <a:xfrm>
            <a:off x="664083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Brands signed</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8</a:t>
            </a:r>
            <a:r>
              <a:rPr lang="de-DE" sz="900" b="0" kern="0" dirty="0">
                <a:solidFill>
                  <a:srgbClr val="292D31"/>
                </a:solidFill>
                <a:latin typeface="Segoe UI" pitchFamily="34" charset="0"/>
                <a:ea typeface="Segoe UI" pitchFamily="34" charset="-122"/>
                <a:cs typeface="Segoe UI" pitchFamily="34" charset="-120"/>
              </a:rPr>
              <a:t> / 17</a:t>
            </a:r>
          </a:p>
        </p:txBody>
      </p:sp>
      <p:sp>
        <p:nvSpPr>
          <p:cNvPr id="182" name="Legal &amp; Contracts Row Divider Key KPI"/>
          <p:cNvSpPr/>
          <p:nvPr/>
        </p:nvSpPr>
        <p:spPr>
          <a:xfrm>
            <a:off x="8435340" y="2818608"/>
            <a:ext cx="1616202" cy="6401"/>
          </a:xfrm>
          <a:prstGeom prst="rect">
            <a:avLst/>
          </a:prstGeom>
          <a:solidFill>
            <a:srgbClr val="E2E8EC"/>
          </a:solidFill>
          <a:ln>
            <a:noFill/>
          </a:ln>
          <a:effectLst/>
        </p:spPr>
        <p:txBody>
          <a:bodyPr rtlCol="0" anchor="ctr"/>
          <a:lstStyle/>
          <a:p>
            <a:endParaRPr lang="de-DE"/>
          </a:p>
        </p:txBody>
      </p:sp>
      <p:sp>
        <p:nvSpPr>
          <p:cNvPr id="183" name="Legal &amp; Contracts KPI"/>
          <p:cNvSpPr txBox="1"/>
          <p:nvPr/>
        </p:nvSpPr>
        <p:spPr>
          <a:xfrm>
            <a:off x="8435340" y="2882616"/>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Automated contract cycle</a:t>
            </a:r>
          </a:p>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not live</a:t>
            </a:r>
            <a:r>
              <a:rPr lang="de-DE" sz="900" b="0" kern="0" dirty="0">
                <a:solidFill>
                  <a:srgbClr val="292D31"/>
                </a:solidFill>
                <a:latin typeface="Segoe UI" pitchFamily="34" charset="0"/>
                <a:ea typeface="Segoe UI" pitchFamily="34" charset="-122"/>
                <a:cs typeface="Segoe UI" pitchFamily="34" charset="-120"/>
              </a:rPr>
              <a:t> / live by 01 Jan 2028</a:t>
            </a:r>
          </a:p>
        </p:txBody>
      </p:sp>
      <p:sp>
        <p:nvSpPr>
          <p:cNvPr id="184" name="Architecture Row Divider Key KPI"/>
          <p:cNvSpPr/>
          <p:nvPr/>
        </p:nvSpPr>
        <p:spPr>
          <a:xfrm>
            <a:off x="10229850" y="2818608"/>
            <a:ext cx="1616202" cy="6401"/>
          </a:xfrm>
          <a:prstGeom prst="rect">
            <a:avLst/>
          </a:prstGeom>
          <a:solidFill>
            <a:srgbClr val="E2E8EC"/>
          </a:solidFill>
          <a:ln>
            <a:noFill/>
          </a:ln>
          <a:effectLst/>
        </p:spPr>
        <p:txBody>
          <a:bodyPr rtlCol="0" anchor="ctr"/>
          <a:lstStyle/>
          <a:p>
            <a:endParaRPr lang="de-DE"/>
          </a:p>
        </p:txBody>
      </p:sp>
      <p:sp>
        <p:nvSpPr>
          <p:cNvPr id="185" name="Architecture KPI"/>
          <p:cNvSpPr txBox="1"/>
          <p:nvPr/>
        </p:nvSpPr>
        <p:spPr>
          <a:xfrm>
            <a:off x="10229850" y="288261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  </a:t>
            </a:r>
            <a:r>
              <a:rPr lang="de-DE" sz="900" b="0" i="1" kern="0" dirty="0">
                <a:solidFill>
                  <a:srgbClr val="9AA6AD"/>
                </a:solidFill>
                <a:latin typeface="Segoe UI" pitchFamily="34" charset="0"/>
                <a:ea typeface="Segoe UI" pitchFamily="34" charset="-122"/>
                <a:cs typeface="Segoe UI" pitchFamily="34" charset="-120"/>
              </a:rPr>
              <a:t>not defined yet</a:t>
            </a:r>
          </a:p>
        </p:txBody>
      </p:sp>
      <p:sp>
        <p:nvSpPr>
          <p:cNvPr id="186" name="Row Label Suppliers enabled 2026"/>
          <p:cNvSpPr txBox="1"/>
          <p:nvPr/>
        </p:nvSpPr>
        <p:spPr>
          <a:xfrm>
            <a:off x="274320" y="3333511"/>
            <a:ext cx="868680" cy="38688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Suppliers enabled 2026</a:t>
            </a:r>
          </a:p>
        </p:txBody>
      </p:sp>
      <p:sp>
        <p:nvSpPr>
          <p:cNvPr id="187" name="Supplier Activation Row Divider Suppliers enabled 2026"/>
          <p:cNvSpPr/>
          <p:nvPr/>
        </p:nvSpPr>
        <p:spPr>
          <a:xfrm>
            <a:off x="1257300" y="3269503"/>
            <a:ext cx="1616202" cy="6401"/>
          </a:xfrm>
          <a:prstGeom prst="rect">
            <a:avLst/>
          </a:prstGeom>
          <a:solidFill>
            <a:srgbClr val="E2E8EC"/>
          </a:solidFill>
          <a:ln>
            <a:noFill/>
          </a:ln>
          <a:effectLst/>
        </p:spPr>
        <p:txBody>
          <a:bodyPr rtlCol="0" anchor="ctr"/>
          <a:lstStyle/>
          <a:p>
            <a:endParaRPr lang="de-DE"/>
          </a:p>
        </p:txBody>
      </p:sp>
      <p:sp>
        <p:nvSpPr>
          <p:cNvPr id="188" name="Supplier Activation Suppliers"/>
          <p:cNvSpPr txBox="1"/>
          <p:nvPr/>
        </p:nvSpPr>
        <p:spPr>
          <a:xfrm>
            <a:off x="1257300" y="3333511"/>
            <a:ext cx="1616202" cy="310388"/>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001E50"/>
                </a:solidFill>
                <a:latin typeface="Segoe UI" pitchFamily="34" charset="0"/>
                <a:ea typeface="Segoe UI" pitchFamily="34" charset="-122"/>
                <a:cs typeface="Segoe UI" pitchFamily="34" charset="-120"/>
              </a:rPr>
              <a:t>240 / 400</a:t>
            </a:r>
            <a:r>
              <a:rPr lang="de-DE" sz="900" b="0" kern="0" dirty="0">
                <a:solidFill>
                  <a:srgbClr val="63707A"/>
                </a:solidFill>
                <a:latin typeface="Segoe UI" pitchFamily="34" charset="0"/>
                <a:ea typeface="Segoe UI" pitchFamily="34" charset="-122"/>
                <a:cs typeface="Segoe UI" pitchFamily="34" charset="-120"/>
              </a:rPr>
              <a:t>  55%</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228 company groups</a:t>
            </a:r>
          </a:p>
        </p:txBody>
      </p:sp>
      <p:sp>
        <p:nvSpPr>
          <p:cNvPr id="189" name="Portfolio, AI+, C-X NEXT, DigiTrace Row Divider Suppliers enabled 2026"/>
          <p:cNvSpPr/>
          <p:nvPr/>
        </p:nvSpPr>
        <p:spPr>
          <a:xfrm>
            <a:off x="3051810" y="3269503"/>
            <a:ext cx="1616202" cy="6401"/>
          </a:xfrm>
          <a:prstGeom prst="rect">
            <a:avLst/>
          </a:prstGeom>
          <a:solidFill>
            <a:srgbClr val="E2E8EC"/>
          </a:solidFill>
          <a:ln>
            <a:noFill/>
          </a:ln>
          <a:effectLst/>
        </p:spPr>
        <p:txBody>
          <a:bodyPr rtlCol="0" anchor="ctr"/>
          <a:lstStyle/>
          <a:p>
            <a:endParaRPr lang="de-DE"/>
          </a:p>
        </p:txBody>
      </p:sp>
      <p:sp>
        <p:nvSpPr>
          <p:cNvPr id="190" name="Portfolio, AI+, C-X NEXT, DigiTrace Suppliers"/>
          <p:cNvSpPr txBox="1"/>
          <p:nvPr/>
        </p:nvSpPr>
        <p:spPr>
          <a:xfrm>
            <a:off x="305181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1" name="Data Provisioning Row Divider Suppliers enabled 2026"/>
          <p:cNvSpPr/>
          <p:nvPr/>
        </p:nvSpPr>
        <p:spPr>
          <a:xfrm>
            <a:off x="4846320" y="3269503"/>
            <a:ext cx="1616202" cy="6401"/>
          </a:xfrm>
          <a:prstGeom prst="rect">
            <a:avLst/>
          </a:prstGeom>
          <a:solidFill>
            <a:srgbClr val="E2E8EC"/>
          </a:solidFill>
          <a:ln>
            <a:noFill/>
          </a:ln>
          <a:effectLst/>
        </p:spPr>
        <p:txBody>
          <a:bodyPr rtlCol="0" anchor="ctr"/>
          <a:lstStyle/>
          <a:p>
            <a:endParaRPr lang="de-DE"/>
          </a:p>
        </p:txBody>
      </p:sp>
      <p:sp>
        <p:nvSpPr>
          <p:cNvPr id="192" name="Data Provisioning Suppliers"/>
          <p:cNvSpPr txBox="1"/>
          <p:nvPr/>
        </p:nvSpPr>
        <p:spPr>
          <a:xfrm>
            <a:off x="484632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3" name="Hub &amp; Spoke Row Divider Suppliers enabled 2026"/>
          <p:cNvSpPr/>
          <p:nvPr/>
        </p:nvSpPr>
        <p:spPr>
          <a:xfrm>
            <a:off x="6640830" y="3269503"/>
            <a:ext cx="1616202" cy="6401"/>
          </a:xfrm>
          <a:prstGeom prst="rect">
            <a:avLst/>
          </a:prstGeom>
          <a:solidFill>
            <a:srgbClr val="E2E8EC"/>
          </a:solidFill>
          <a:ln>
            <a:noFill/>
          </a:ln>
          <a:effectLst/>
        </p:spPr>
        <p:txBody>
          <a:bodyPr rtlCol="0" anchor="ctr"/>
          <a:lstStyle/>
          <a:p>
            <a:endParaRPr lang="de-DE"/>
          </a:p>
        </p:txBody>
      </p:sp>
      <p:sp>
        <p:nvSpPr>
          <p:cNvPr id="194" name="Hub &amp; Spoke Suppliers"/>
          <p:cNvSpPr txBox="1"/>
          <p:nvPr/>
        </p:nvSpPr>
        <p:spPr>
          <a:xfrm>
            <a:off x="664083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5" name="Legal &amp; Contracts Row Divider Suppliers enabled 2026"/>
          <p:cNvSpPr/>
          <p:nvPr/>
        </p:nvSpPr>
        <p:spPr>
          <a:xfrm>
            <a:off x="8435340" y="3269503"/>
            <a:ext cx="1616202" cy="6401"/>
          </a:xfrm>
          <a:prstGeom prst="rect">
            <a:avLst/>
          </a:prstGeom>
          <a:solidFill>
            <a:srgbClr val="E2E8EC"/>
          </a:solidFill>
          <a:ln>
            <a:noFill/>
          </a:ln>
          <a:effectLst/>
        </p:spPr>
        <p:txBody>
          <a:bodyPr rtlCol="0" anchor="ctr"/>
          <a:lstStyle/>
          <a:p>
            <a:endParaRPr lang="de-DE"/>
          </a:p>
        </p:txBody>
      </p:sp>
      <p:sp>
        <p:nvSpPr>
          <p:cNvPr id="196" name="Legal &amp; Contracts Suppliers"/>
          <p:cNvSpPr txBox="1"/>
          <p:nvPr/>
        </p:nvSpPr>
        <p:spPr>
          <a:xfrm>
            <a:off x="843534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7" name="Architecture Row Divider Suppliers enabled 2026"/>
          <p:cNvSpPr/>
          <p:nvPr/>
        </p:nvSpPr>
        <p:spPr>
          <a:xfrm>
            <a:off x="10229850" y="3269503"/>
            <a:ext cx="1616202" cy="6401"/>
          </a:xfrm>
          <a:prstGeom prst="rect">
            <a:avLst/>
          </a:prstGeom>
          <a:solidFill>
            <a:srgbClr val="E2E8EC"/>
          </a:solidFill>
          <a:ln>
            <a:noFill/>
          </a:ln>
          <a:effectLst/>
        </p:spPr>
        <p:txBody>
          <a:bodyPr rtlCol="0" anchor="ctr"/>
          <a:lstStyle/>
          <a:p>
            <a:endParaRPr lang="de-DE"/>
          </a:p>
        </p:txBody>
      </p:sp>
      <p:sp>
        <p:nvSpPr>
          <p:cNvPr id="198" name="Architecture Suppliers"/>
          <p:cNvSpPr txBox="1"/>
          <p:nvPr/>
        </p:nvSpPr>
        <p:spPr>
          <a:xfrm>
            <a:off x="10229850" y="3333511"/>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199" name="Row Label Next critical milestone"/>
          <p:cNvSpPr txBox="1"/>
          <p:nvPr/>
        </p:nvSpPr>
        <p:spPr>
          <a:xfrm>
            <a:off x="274320" y="3784406"/>
            <a:ext cx="868680" cy="532937"/>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Next critical milestone</a:t>
            </a:r>
          </a:p>
        </p:txBody>
      </p:sp>
      <p:sp>
        <p:nvSpPr>
          <p:cNvPr id="200" name="Supplier Activation Row Divider Next critical milestone"/>
          <p:cNvSpPr/>
          <p:nvPr/>
        </p:nvSpPr>
        <p:spPr>
          <a:xfrm>
            <a:off x="1257300" y="3720398"/>
            <a:ext cx="1616202" cy="6401"/>
          </a:xfrm>
          <a:prstGeom prst="rect">
            <a:avLst/>
          </a:prstGeom>
          <a:solidFill>
            <a:srgbClr val="E2E8EC"/>
          </a:solidFill>
          <a:ln>
            <a:noFill/>
          </a:ln>
          <a:effectLst/>
        </p:spPr>
        <p:txBody>
          <a:bodyPr rtlCol="0" anchor="ctr"/>
          <a:lstStyle/>
          <a:p>
            <a:endParaRPr lang="de-DE"/>
          </a:p>
        </p:txBody>
      </p:sp>
      <p:sp>
        <p:nvSpPr>
          <p:cNvPr id="201" name="Supplier Activation Milestone Dot"/>
          <p:cNvSpPr/>
          <p:nvPr/>
        </p:nvSpPr>
        <p:spPr>
          <a:xfrm>
            <a:off x="1257300" y="3820982"/>
            <a:ext cx="73152" cy="73152"/>
          </a:xfrm>
          <a:prstGeom prst="ellipse">
            <a:avLst/>
          </a:prstGeom>
          <a:solidFill>
            <a:srgbClr val="E64343"/>
          </a:solidFill>
          <a:ln>
            <a:noFill/>
          </a:ln>
          <a:effectLst/>
        </p:spPr>
        <p:txBody>
          <a:bodyPr rtlCol="0" anchor="ctr"/>
          <a:lstStyle/>
          <a:p>
            <a:endParaRPr lang="de-DE"/>
          </a:p>
        </p:txBody>
      </p:sp>
      <p:sp>
        <p:nvSpPr>
          <p:cNvPr id="202" name="Supplier Activation Milestone"/>
          <p:cNvSpPr txBox="1"/>
          <p:nvPr/>
        </p:nvSpPr>
        <p:spPr>
          <a:xfrm>
            <a:off x="1394460" y="378440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280 suppliers contracted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30 Sep 2026</a:t>
            </a:r>
          </a:p>
        </p:txBody>
      </p:sp>
      <p:sp>
        <p:nvSpPr>
          <p:cNvPr id="203" name="Portfolio, AI+, C-X NEXT, DigiTrace Row Divider Next critical milestone"/>
          <p:cNvSpPr/>
          <p:nvPr/>
        </p:nvSpPr>
        <p:spPr>
          <a:xfrm>
            <a:off x="3051810" y="3720398"/>
            <a:ext cx="1616202" cy="6401"/>
          </a:xfrm>
          <a:prstGeom prst="rect">
            <a:avLst/>
          </a:prstGeom>
          <a:solidFill>
            <a:srgbClr val="E2E8EC"/>
          </a:solidFill>
          <a:ln>
            <a:noFill/>
          </a:ln>
          <a:effectLst/>
        </p:spPr>
        <p:txBody>
          <a:bodyPr rtlCol="0" anchor="ctr"/>
          <a:lstStyle/>
          <a:p>
            <a:endParaRPr lang="de-DE"/>
          </a:p>
        </p:txBody>
      </p:sp>
      <p:sp>
        <p:nvSpPr>
          <p:cNvPr id="204" name="Portfolio, AI+, C-X NEXT, DigiTrace Milestone Dot"/>
          <p:cNvSpPr/>
          <p:nvPr/>
        </p:nvSpPr>
        <p:spPr>
          <a:xfrm>
            <a:off x="3051810" y="3820982"/>
            <a:ext cx="73152" cy="73152"/>
          </a:xfrm>
          <a:prstGeom prst="ellipse">
            <a:avLst/>
          </a:prstGeom>
          <a:solidFill>
            <a:srgbClr val="E64343"/>
          </a:solidFill>
          <a:ln>
            <a:noFill/>
          </a:ln>
          <a:effectLst/>
        </p:spPr>
        <p:txBody>
          <a:bodyPr rtlCol="0" anchor="ctr"/>
          <a:lstStyle/>
          <a:p>
            <a:endParaRPr lang="de-DE"/>
          </a:p>
        </p:txBody>
      </p:sp>
      <p:sp>
        <p:nvSpPr>
          <p:cNvPr id="205" name="Portfolio, AI+, C-X NEXT, DigiTrace Milestone"/>
          <p:cNvSpPr txBox="1"/>
          <p:nvPr/>
        </p:nvSpPr>
        <p:spPr>
          <a:xfrm>
            <a:off x="3188970" y="378440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Secure PR74</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Nov 2026</a:t>
            </a:r>
          </a:p>
        </p:txBody>
      </p:sp>
      <p:sp>
        <p:nvSpPr>
          <p:cNvPr id="206" name="Data Provisioning Row Divider Next critical milestone"/>
          <p:cNvSpPr/>
          <p:nvPr/>
        </p:nvSpPr>
        <p:spPr>
          <a:xfrm>
            <a:off x="4846320" y="3720398"/>
            <a:ext cx="1616202" cy="6401"/>
          </a:xfrm>
          <a:prstGeom prst="rect">
            <a:avLst/>
          </a:prstGeom>
          <a:solidFill>
            <a:srgbClr val="E2E8EC"/>
          </a:solidFill>
          <a:ln>
            <a:noFill/>
          </a:ln>
          <a:effectLst/>
        </p:spPr>
        <p:txBody>
          <a:bodyPr rtlCol="0" anchor="ctr"/>
          <a:lstStyle/>
          <a:p>
            <a:endParaRPr lang="de-DE"/>
          </a:p>
        </p:txBody>
      </p:sp>
      <p:sp>
        <p:nvSpPr>
          <p:cNvPr id="207" name="Data Provisioning Milestone"/>
          <p:cNvSpPr txBox="1"/>
          <p:nvPr/>
        </p:nvSpPr>
        <p:spPr>
          <a:xfrm>
            <a:off x="4846320" y="378440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08" name="Hub &amp; Spoke Row Divider Next critical milestone"/>
          <p:cNvSpPr/>
          <p:nvPr/>
        </p:nvSpPr>
        <p:spPr>
          <a:xfrm>
            <a:off x="6640830" y="3720398"/>
            <a:ext cx="1616202" cy="6401"/>
          </a:xfrm>
          <a:prstGeom prst="rect">
            <a:avLst/>
          </a:prstGeom>
          <a:solidFill>
            <a:srgbClr val="E2E8EC"/>
          </a:solidFill>
          <a:ln>
            <a:noFill/>
          </a:ln>
          <a:effectLst/>
        </p:spPr>
        <p:txBody>
          <a:bodyPr rtlCol="0" anchor="ctr"/>
          <a:lstStyle/>
          <a:p>
            <a:endParaRPr lang="de-DE"/>
          </a:p>
        </p:txBody>
      </p:sp>
      <p:sp>
        <p:nvSpPr>
          <p:cNvPr id="209" name="Hub &amp; Spoke Milestone Dot"/>
          <p:cNvSpPr/>
          <p:nvPr/>
        </p:nvSpPr>
        <p:spPr>
          <a:xfrm>
            <a:off x="6640830" y="3820982"/>
            <a:ext cx="73152" cy="73152"/>
          </a:xfrm>
          <a:prstGeom prst="ellipse">
            <a:avLst/>
          </a:prstGeom>
          <a:solidFill>
            <a:srgbClr val="F0B135"/>
          </a:solidFill>
          <a:ln>
            <a:noFill/>
          </a:ln>
          <a:effectLst/>
        </p:spPr>
        <p:txBody>
          <a:bodyPr rtlCol="0" anchor="ctr"/>
          <a:lstStyle/>
          <a:p>
            <a:endParaRPr lang="de-DE"/>
          </a:p>
        </p:txBody>
      </p:sp>
      <p:sp>
        <p:nvSpPr>
          <p:cNvPr id="210" name="Hub &amp; Spoke Milestone"/>
          <p:cNvSpPr txBox="1"/>
          <p:nvPr/>
        </p:nvSpPr>
        <p:spPr>
          <a:xfrm>
            <a:off x="6777990" y="3784406"/>
            <a:ext cx="1479042" cy="4564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Framework agreements signed</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31 Dec 2026</a:t>
            </a:r>
          </a:p>
        </p:txBody>
      </p:sp>
      <p:sp>
        <p:nvSpPr>
          <p:cNvPr id="211" name="Legal &amp; Contracts Row Divider Next critical milestone"/>
          <p:cNvSpPr/>
          <p:nvPr/>
        </p:nvSpPr>
        <p:spPr>
          <a:xfrm>
            <a:off x="8435340" y="3720398"/>
            <a:ext cx="1616202" cy="6401"/>
          </a:xfrm>
          <a:prstGeom prst="rect">
            <a:avLst/>
          </a:prstGeom>
          <a:solidFill>
            <a:srgbClr val="E2E8EC"/>
          </a:solidFill>
          <a:ln>
            <a:noFill/>
          </a:ln>
          <a:effectLst/>
        </p:spPr>
        <p:txBody>
          <a:bodyPr rtlCol="0" anchor="ctr"/>
          <a:lstStyle/>
          <a:p>
            <a:endParaRPr lang="de-DE"/>
          </a:p>
        </p:txBody>
      </p:sp>
      <p:sp>
        <p:nvSpPr>
          <p:cNvPr id="212" name="Legal &amp; Contracts Milestone Dot"/>
          <p:cNvSpPr/>
          <p:nvPr/>
        </p:nvSpPr>
        <p:spPr>
          <a:xfrm>
            <a:off x="8435340" y="3820982"/>
            <a:ext cx="73152" cy="73152"/>
          </a:xfrm>
          <a:prstGeom prst="ellipse">
            <a:avLst/>
          </a:prstGeom>
          <a:solidFill>
            <a:srgbClr val="F0B135"/>
          </a:solidFill>
          <a:ln>
            <a:noFill/>
          </a:ln>
          <a:effectLst/>
        </p:spPr>
        <p:txBody>
          <a:bodyPr rtlCol="0" anchor="ctr"/>
          <a:lstStyle/>
          <a:p>
            <a:endParaRPr lang="de-DE"/>
          </a:p>
        </p:txBody>
      </p:sp>
      <p:sp>
        <p:nvSpPr>
          <p:cNvPr id="213" name="Legal &amp; Contracts Milestone"/>
          <p:cNvSpPr txBox="1"/>
          <p:nvPr/>
        </p:nvSpPr>
        <p:spPr>
          <a:xfrm>
            <a:off x="8572500" y="3784406"/>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Managed by Cofinity-X</a:t>
            </a:r>
          </a:p>
          <a:p>
            <a:pPr marL="0" indent="0" algn="l">
              <a:lnSpc>
                <a:spcPts val="1150"/>
              </a:lnSpc>
              <a:buNone/>
            </a:pPr>
            <a:r>
              <a:rPr lang="de-DE" sz="900" b="0" kern="0" dirty="0">
                <a:solidFill>
                  <a:srgbClr val="63707A"/>
                </a:solidFill>
                <a:latin typeface="Segoe UI" pitchFamily="34" charset="0"/>
                <a:ea typeface="Segoe UI" pitchFamily="34" charset="-122"/>
                <a:cs typeface="Segoe UI" pitchFamily="34" charset="-120"/>
              </a:rPr>
              <a:t>Oct 2026</a:t>
            </a:r>
          </a:p>
        </p:txBody>
      </p:sp>
      <p:sp>
        <p:nvSpPr>
          <p:cNvPr id="214" name="Architecture Row Divider Next critical milestone"/>
          <p:cNvSpPr/>
          <p:nvPr/>
        </p:nvSpPr>
        <p:spPr>
          <a:xfrm>
            <a:off x="10229850" y="3720398"/>
            <a:ext cx="1616202" cy="6401"/>
          </a:xfrm>
          <a:prstGeom prst="rect">
            <a:avLst/>
          </a:prstGeom>
          <a:solidFill>
            <a:srgbClr val="E2E8EC"/>
          </a:solidFill>
          <a:ln>
            <a:noFill/>
          </a:ln>
          <a:effectLst/>
        </p:spPr>
        <p:txBody>
          <a:bodyPr rtlCol="0" anchor="ctr"/>
          <a:lstStyle/>
          <a:p>
            <a:endParaRPr lang="de-DE"/>
          </a:p>
        </p:txBody>
      </p:sp>
      <p:sp>
        <p:nvSpPr>
          <p:cNvPr id="215" name="Architecture Milestone"/>
          <p:cNvSpPr txBox="1"/>
          <p:nvPr/>
        </p:nvSpPr>
        <p:spPr>
          <a:xfrm>
            <a:off x="10229850" y="3784406"/>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i="1" kern="0" dirty="0">
                <a:solidFill>
                  <a:srgbClr val="9AA6AD"/>
                </a:solidFill>
                <a:latin typeface="Segoe UI" pitchFamily="34" charset="0"/>
                <a:ea typeface="Segoe UI" pitchFamily="34" charset="-122"/>
                <a:cs typeface="Segoe UI" pitchFamily="34" charset="-120"/>
              </a:rPr>
              <a:t>No critical milestone</a:t>
            </a:r>
          </a:p>
        </p:txBody>
      </p:sp>
      <p:sp>
        <p:nvSpPr>
          <p:cNvPr id="216" name="Row Label Dimensions"/>
          <p:cNvSpPr txBox="1"/>
          <p:nvPr/>
        </p:nvSpPr>
        <p:spPr>
          <a:xfrm>
            <a:off x="274320" y="4381351"/>
            <a:ext cx="868680" cy="1134005"/>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Dimensions</a:t>
            </a:r>
          </a:p>
        </p:txBody>
      </p:sp>
      <p:sp>
        <p:nvSpPr>
          <p:cNvPr id="217" name="Supplier Activation Row Divider Dimensions"/>
          <p:cNvSpPr/>
          <p:nvPr/>
        </p:nvSpPr>
        <p:spPr>
          <a:xfrm>
            <a:off x="1257300" y="4317343"/>
            <a:ext cx="1616202" cy="6401"/>
          </a:xfrm>
          <a:prstGeom prst="rect">
            <a:avLst/>
          </a:prstGeom>
          <a:solidFill>
            <a:srgbClr val="E2E8EC"/>
          </a:solidFill>
          <a:ln>
            <a:noFill/>
          </a:ln>
          <a:effectLst/>
        </p:spPr>
        <p:txBody>
          <a:bodyPr rtlCol="0" anchor="ctr"/>
          <a:lstStyle/>
          <a:p>
            <a:endParaRPr lang="de-DE"/>
          </a:p>
        </p:txBody>
      </p:sp>
      <p:sp>
        <p:nvSpPr>
          <p:cNvPr id="218" name="Supplier Activation Dim Dot External · CX Association"/>
          <p:cNvSpPr/>
          <p:nvPr/>
        </p:nvSpPr>
        <p:spPr>
          <a:xfrm>
            <a:off x="1257300" y="4417927"/>
            <a:ext cx="73152" cy="73152"/>
          </a:xfrm>
          <a:prstGeom prst="ellipse">
            <a:avLst/>
          </a:prstGeom>
          <a:solidFill>
            <a:srgbClr val="E64343"/>
          </a:solidFill>
          <a:ln>
            <a:noFill/>
          </a:ln>
          <a:effectLst/>
        </p:spPr>
        <p:txBody>
          <a:bodyPr rtlCol="0" anchor="ctr"/>
          <a:lstStyle/>
          <a:p>
            <a:endParaRPr lang="de-DE"/>
          </a:p>
        </p:txBody>
      </p:sp>
      <p:sp>
        <p:nvSpPr>
          <p:cNvPr id="219" name="Supplier Activation Dim External · CX Association"/>
          <p:cNvSpPr txBox="1"/>
          <p:nvPr/>
        </p:nvSpPr>
        <p:spPr>
          <a:xfrm>
            <a:off x="139446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0" name="Supplier Activation Dim Dot Business"/>
          <p:cNvSpPr/>
          <p:nvPr/>
        </p:nvSpPr>
        <p:spPr>
          <a:xfrm>
            <a:off x="1257300" y="4783179"/>
            <a:ext cx="73152" cy="73152"/>
          </a:xfrm>
          <a:prstGeom prst="ellipse">
            <a:avLst/>
          </a:prstGeom>
          <a:solidFill>
            <a:srgbClr val="F0B135"/>
          </a:solidFill>
          <a:ln>
            <a:noFill/>
          </a:ln>
          <a:effectLst/>
        </p:spPr>
        <p:txBody>
          <a:bodyPr rtlCol="0" anchor="ctr"/>
          <a:lstStyle/>
          <a:p>
            <a:endParaRPr lang="de-DE"/>
          </a:p>
        </p:txBody>
      </p:sp>
      <p:sp>
        <p:nvSpPr>
          <p:cNvPr id="221" name="Supplier Activation Dim Business"/>
          <p:cNvSpPr txBox="1"/>
          <p:nvPr/>
        </p:nvSpPr>
        <p:spPr>
          <a:xfrm>
            <a:off x="139446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22" name="Supplier Activation Dim Dot Use Cases"/>
          <p:cNvSpPr/>
          <p:nvPr/>
        </p:nvSpPr>
        <p:spPr>
          <a:xfrm>
            <a:off x="1257300" y="5002381"/>
            <a:ext cx="73152" cy="73152"/>
          </a:xfrm>
          <a:prstGeom prst="ellipse">
            <a:avLst/>
          </a:prstGeom>
          <a:solidFill>
            <a:srgbClr val="CFD6DB"/>
          </a:solidFill>
          <a:ln>
            <a:noFill/>
          </a:ln>
          <a:effectLst/>
        </p:spPr>
        <p:txBody>
          <a:bodyPr rtlCol="0" anchor="ctr"/>
          <a:lstStyle/>
          <a:p>
            <a:endParaRPr lang="de-DE"/>
          </a:p>
        </p:txBody>
      </p:sp>
      <p:sp>
        <p:nvSpPr>
          <p:cNvPr id="223" name="Supplier Activation Dim Use Cases"/>
          <p:cNvSpPr txBox="1"/>
          <p:nvPr/>
        </p:nvSpPr>
        <p:spPr>
          <a:xfrm>
            <a:off x="139446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24" name="Supplier Activation Dim Dot Technical"/>
          <p:cNvSpPr/>
          <p:nvPr/>
        </p:nvSpPr>
        <p:spPr>
          <a:xfrm>
            <a:off x="1257300" y="5221583"/>
            <a:ext cx="73152" cy="73152"/>
          </a:xfrm>
          <a:prstGeom prst="ellipse">
            <a:avLst/>
          </a:prstGeom>
          <a:solidFill>
            <a:srgbClr val="CFD6DB"/>
          </a:solidFill>
          <a:ln>
            <a:noFill/>
          </a:ln>
          <a:effectLst/>
        </p:spPr>
        <p:txBody>
          <a:bodyPr rtlCol="0" anchor="ctr"/>
          <a:lstStyle/>
          <a:p>
            <a:endParaRPr lang="de-DE"/>
          </a:p>
        </p:txBody>
      </p:sp>
      <p:sp>
        <p:nvSpPr>
          <p:cNvPr id="225" name="Supplier Activation Dim Technical"/>
          <p:cNvSpPr txBox="1"/>
          <p:nvPr/>
        </p:nvSpPr>
        <p:spPr>
          <a:xfrm>
            <a:off x="139446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26" name="Portfolio, AI+, C-X NEXT, DigiTrace Row Divider Dimensions"/>
          <p:cNvSpPr/>
          <p:nvPr/>
        </p:nvSpPr>
        <p:spPr>
          <a:xfrm>
            <a:off x="3051810" y="4317343"/>
            <a:ext cx="1616202" cy="6401"/>
          </a:xfrm>
          <a:prstGeom prst="rect">
            <a:avLst/>
          </a:prstGeom>
          <a:solidFill>
            <a:srgbClr val="E2E8EC"/>
          </a:solidFill>
          <a:ln>
            <a:noFill/>
          </a:ln>
          <a:effectLst/>
        </p:spPr>
        <p:txBody>
          <a:bodyPr rtlCol="0" anchor="ctr"/>
          <a:lstStyle/>
          <a:p>
            <a:endParaRPr lang="de-DE"/>
          </a:p>
        </p:txBody>
      </p:sp>
      <p:sp>
        <p:nvSpPr>
          <p:cNvPr id="227" name="Portfolio, AI+, C-X NEXT, DigiTrace Dim Dot External · CX Association"/>
          <p:cNvSpPr/>
          <p:nvPr/>
        </p:nvSpPr>
        <p:spPr>
          <a:xfrm>
            <a:off x="3051810" y="4417927"/>
            <a:ext cx="73152" cy="73152"/>
          </a:xfrm>
          <a:prstGeom prst="ellipse">
            <a:avLst/>
          </a:prstGeom>
          <a:solidFill>
            <a:srgbClr val="53BE70"/>
          </a:solidFill>
          <a:ln>
            <a:noFill/>
          </a:ln>
          <a:effectLst/>
        </p:spPr>
        <p:txBody>
          <a:bodyPr rtlCol="0" anchor="ctr"/>
          <a:lstStyle/>
          <a:p>
            <a:endParaRPr lang="de-DE"/>
          </a:p>
        </p:txBody>
      </p:sp>
      <p:sp>
        <p:nvSpPr>
          <p:cNvPr id="228" name="Portfolio, AI+, C-X NEXT, DigiTrace Dim External · CX Association"/>
          <p:cNvSpPr txBox="1"/>
          <p:nvPr/>
        </p:nvSpPr>
        <p:spPr>
          <a:xfrm>
            <a:off x="318897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29" name="Portfolio, AI+, C-X NEXT, DigiTrace Dim Dot Business"/>
          <p:cNvSpPr/>
          <p:nvPr/>
        </p:nvSpPr>
        <p:spPr>
          <a:xfrm>
            <a:off x="3051810" y="4783179"/>
            <a:ext cx="73152" cy="73152"/>
          </a:xfrm>
          <a:prstGeom prst="ellipse">
            <a:avLst/>
          </a:prstGeom>
          <a:solidFill>
            <a:srgbClr val="F0B135"/>
          </a:solidFill>
          <a:ln>
            <a:noFill/>
          </a:ln>
          <a:effectLst/>
        </p:spPr>
        <p:txBody>
          <a:bodyPr rtlCol="0" anchor="ctr"/>
          <a:lstStyle/>
          <a:p>
            <a:endParaRPr lang="de-DE"/>
          </a:p>
        </p:txBody>
      </p:sp>
      <p:sp>
        <p:nvSpPr>
          <p:cNvPr id="230" name="Portfolio, AI+, C-X NEXT, DigiTrace Dim Business"/>
          <p:cNvSpPr txBox="1"/>
          <p:nvPr/>
        </p:nvSpPr>
        <p:spPr>
          <a:xfrm>
            <a:off x="318897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31" name="Portfolio, AI+, C-X NEXT, DigiTrace Dim Dot Use Cases"/>
          <p:cNvSpPr/>
          <p:nvPr/>
        </p:nvSpPr>
        <p:spPr>
          <a:xfrm>
            <a:off x="3051810" y="5002381"/>
            <a:ext cx="73152" cy="73152"/>
          </a:xfrm>
          <a:prstGeom prst="ellipse">
            <a:avLst/>
          </a:prstGeom>
          <a:solidFill>
            <a:srgbClr val="F0B135"/>
          </a:solidFill>
          <a:ln>
            <a:noFill/>
          </a:ln>
          <a:effectLst/>
        </p:spPr>
        <p:txBody>
          <a:bodyPr rtlCol="0" anchor="ctr"/>
          <a:lstStyle/>
          <a:p>
            <a:endParaRPr lang="de-DE"/>
          </a:p>
        </p:txBody>
      </p:sp>
      <p:sp>
        <p:nvSpPr>
          <p:cNvPr id="232" name="Portfolio, AI+, C-X NEXT, DigiTrace Dim Use Cases"/>
          <p:cNvSpPr txBox="1"/>
          <p:nvPr/>
        </p:nvSpPr>
        <p:spPr>
          <a:xfrm>
            <a:off x="318897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33" name="Portfolio, AI+, C-X NEXT, DigiTrace Dim Dot Technical"/>
          <p:cNvSpPr/>
          <p:nvPr/>
        </p:nvSpPr>
        <p:spPr>
          <a:xfrm>
            <a:off x="3051810" y="5221583"/>
            <a:ext cx="73152" cy="73152"/>
          </a:xfrm>
          <a:prstGeom prst="ellipse">
            <a:avLst/>
          </a:prstGeom>
          <a:solidFill>
            <a:srgbClr val="53BE70"/>
          </a:solidFill>
          <a:ln>
            <a:noFill/>
          </a:ln>
          <a:effectLst/>
        </p:spPr>
        <p:txBody>
          <a:bodyPr rtlCol="0" anchor="ctr"/>
          <a:lstStyle/>
          <a:p>
            <a:endParaRPr lang="de-DE"/>
          </a:p>
        </p:txBody>
      </p:sp>
      <p:sp>
        <p:nvSpPr>
          <p:cNvPr id="234" name="Portfolio, AI+, C-X NEXT, DigiTrace Dim Technical"/>
          <p:cNvSpPr txBox="1"/>
          <p:nvPr/>
        </p:nvSpPr>
        <p:spPr>
          <a:xfrm>
            <a:off x="318897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35" name="Data Provisioning Row Divider Dimensions"/>
          <p:cNvSpPr/>
          <p:nvPr/>
        </p:nvSpPr>
        <p:spPr>
          <a:xfrm>
            <a:off x="4846320" y="4317343"/>
            <a:ext cx="1616202" cy="6401"/>
          </a:xfrm>
          <a:prstGeom prst="rect">
            <a:avLst/>
          </a:prstGeom>
          <a:solidFill>
            <a:srgbClr val="E2E8EC"/>
          </a:solidFill>
          <a:ln>
            <a:noFill/>
          </a:ln>
          <a:effectLst/>
        </p:spPr>
        <p:txBody>
          <a:bodyPr rtlCol="0" anchor="ctr"/>
          <a:lstStyle/>
          <a:p>
            <a:endParaRPr lang="de-DE"/>
          </a:p>
        </p:txBody>
      </p:sp>
      <p:sp>
        <p:nvSpPr>
          <p:cNvPr id="236" name="Data Provisioning Dim Dot External · CX Association"/>
          <p:cNvSpPr/>
          <p:nvPr/>
        </p:nvSpPr>
        <p:spPr>
          <a:xfrm>
            <a:off x="4846320" y="4417927"/>
            <a:ext cx="73152" cy="73152"/>
          </a:xfrm>
          <a:prstGeom prst="ellipse">
            <a:avLst/>
          </a:prstGeom>
          <a:solidFill>
            <a:srgbClr val="53BE70"/>
          </a:solidFill>
          <a:ln>
            <a:noFill/>
          </a:ln>
          <a:effectLst/>
        </p:spPr>
        <p:txBody>
          <a:bodyPr rtlCol="0" anchor="ctr"/>
          <a:lstStyle/>
          <a:p>
            <a:endParaRPr lang="de-DE"/>
          </a:p>
        </p:txBody>
      </p:sp>
      <p:sp>
        <p:nvSpPr>
          <p:cNvPr id="237" name="Data Provisioning Dim External · CX Association"/>
          <p:cNvSpPr txBox="1"/>
          <p:nvPr/>
        </p:nvSpPr>
        <p:spPr>
          <a:xfrm>
            <a:off x="498348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38" name="Data Provisioning Dim Dot Business"/>
          <p:cNvSpPr/>
          <p:nvPr/>
        </p:nvSpPr>
        <p:spPr>
          <a:xfrm>
            <a:off x="4846320" y="4783179"/>
            <a:ext cx="73152" cy="73152"/>
          </a:xfrm>
          <a:prstGeom prst="ellipse">
            <a:avLst/>
          </a:prstGeom>
          <a:solidFill>
            <a:srgbClr val="53BE70"/>
          </a:solidFill>
          <a:ln>
            <a:noFill/>
          </a:ln>
          <a:effectLst/>
        </p:spPr>
        <p:txBody>
          <a:bodyPr rtlCol="0" anchor="ctr"/>
          <a:lstStyle/>
          <a:p>
            <a:endParaRPr lang="de-DE"/>
          </a:p>
        </p:txBody>
      </p:sp>
      <p:sp>
        <p:nvSpPr>
          <p:cNvPr id="239" name="Data Provisioning Dim Business"/>
          <p:cNvSpPr txBox="1"/>
          <p:nvPr/>
        </p:nvSpPr>
        <p:spPr>
          <a:xfrm>
            <a:off x="498348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0" name="Data Provisioning Dim Dot Use Cases"/>
          <p:cNvSpPr/>
          <p:nvPr/>
        </p:nvSpPr>
        <p:spPr>
          <a:xfrm>
            <a:off x="4846320" y="5002381"/>
            <a:ext cx="73152" cy="73152"/>
          </a:xfrm>
          <a:prstGeom prst="ellipse">
            <a:avLst/>
          </a:prstGeom>
          <a:solidFill>
            <a:srgbClr val="F0B135"/>
          </a:solidFill>
          <a:ln>
            <a:noFill/>
          </a:ln>
          <a:effectLst/>
        </p:spPr>
        <p:txBody>
          <a:bodyPr rtlCol="0" anchor="ctr"/>
          <a:lstStyle/>
          <a:p>
            <a:endParaRPr lang="de-DE"/>
          </a:p>
        </p:txBody>
      </p:sp>
      <p:sp>
        <p:nvSpPr>
          <p:cNvPr id="241" name="Data Provisioning Dim Use Cases"/>
          <p:cNvSpPr txBox="1"/>
          <p:nvPr/>
        </p:nvSpPr>
        <p:spPr>
          <a:xfrm>
            <a:off x="498348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42" name="Data Provisioning Dim Dot Technical"/>
          <p:cNvSpPr/>
          <p:nvPr/>
        </p:nvSpPr>
        <p:spPr>
          <a:xfrm>
            <a:off x="4846320" y="5221583"/>
            <a:ext cx="73152" cy="73152"/>
          </a:xfrm>
          <a:prstGeom prst="ellipse">
            <a:avLst/>
          </a:prstGeom>
          <a:solidFill>
            <a:srgbClr val="CFD6DB"/>
          </a:solidFill>
          <a:ln>
            <a:noFill/>
          </a:ln>
          <a:effectLst/>
        </p:spPr>
        <p:txBody>
          <a:bodyPr rtlCol="0" anchor="ctr"/>
          <a:lstStyle/>
          <a:p>
            <a:endParaRPr lang="de-DE"/>
          </a:p>
        </p:txBody>
      </p:sp>
      <p:sp>
        <p:nvSpPr>
          <p:cNvPr id="243" name="Data Provisioning Dim Technical"/>
          <p:cNvSpPr txBox="1"/>
          <p:nvPr/>
        </p:nvSpPr>
        <p:spPr>
          <a:xfrm>
            <a:off x="498348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44" name="Hub &amp; Spoke Row Divider Dimensions"/>
          <p:cNvSpPr/>
          <p:nvPr/>
        </p:nvSpPr>
        <p:spPr>
          <a:xfrm>
            <a:off x="6640830" y="4317343"/>
            <a:ext cx="1616202" cy="6401"/>
          </a:xfrm>
          <a:prstGeom prst="rect">
            <a:avLst/>
          </a:prstGeom>
          <a:solidFill>
            <a:srgbClr val="E2E8EC"/>
          </a:solidFill>
          <a:ln>
            <a:noFill/>
          </a:ln>
          <a:effectLst/>
        </p:spPr>
        <p:txBody>
          <a:bodyPr rtlCol="0" anchor="ctr"/>
          <a:lstStyle/>
          <a:p>
            <a:endParaRPr lang="de-DE"/>
          </a:p>
        </p:txBody>
      </p:sp>
      <p:sp>
        <p:nvSpPr>
          <p:cNvPr id="245" name="Hub &amp; Spoke Dim Dot External · CX Association"/>
          <p:cNvSpPr/>
          <p:nvPr/>
        </p:nvSpPr>
        <p:spPr>
          <a:xfrm>
            <a:off x="6640830" y="4417927"/>
            <a:ext cx="73152" cy="73152"/>
          </a:xfrm>
          <a:prstGeom prst="ellipse">
            <a:avLst/>
          </a:prstGeom>
          <a:solidFill>
            <a:srgbClr val="53BE70"/>
          </a:solidFill>
          <a:ln>
            <a:noFill/>
          </a:ln>
          <a:effectLst/>
        </p:spPr>
        <p:txBody>
          <a:bodyPr rtlCol="0" anchor="ctr"/>
          <a:lstStyle/>
          <a:p>
            <a:endParaRPr lang="de-DE"/>
          </a:p>
        </p:txBody>
      </p:sp>
      <p:sp>
        <p:nvSpPr>
          <p:cNvPr id="246" name="Hub &amp; Spoke Dim External · CX Association"/>
          <p:cNvSpPr txBox="1"/>
          <p:nvPr/>
        </p:nvSpPr>
        <p:spPr>
          <a:xfrm>
            <a:off x="677799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47" name="Hub &amp; Spoke Dim Dot Business"/>
          <p:cNvSpPr/>
          <p:nvPr/>
        </p:nvSpPr>
        <p:spPr>
          <a:xfrm>
            <a:off x="6640830" y="4783179"/>
            <a:ext cx="73152" cy="73152"/>
          </a:xfrm>
          <a:prstGeom prst="ellipse">
            <a:avLst/>
          </a:prstGeom>
          <a:solidFill>
            <a:srgbClr val="F0B135"/>
          </a:solidFill>
          <a:ln>
            <a:noFill/>
          </a:ln>
          <a:effectLst/>
        </p:spPr>
        <p:txBody>
          <a:bodyPr rtlCol="0" anchor="ctr"/>
          <a:lstStyle/>
          <a:p>
            <a:endParaRPr lang="de-DE"/>
          </a:p>
        </p:txBody>
      </p:sp>
      <p:sp>
        <p:nvSpPr>
          <p:cNvPr id="248" name="Hub &amp; Spoke Dim Business"/>
          <p:cNvSpPr txBox="1"/>
          <p:nvPr/>
        </p:nvSpPr>
        <p:spPr>
          <a:xfrm>
            <a:off x="677799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49" name="Hub &amp; Spoke Dim Dot Use Cases"/>
          <p:cNvSpPr/>
          <p:nvPr/>
        </p:nvSpPr>
        <p:spPr>
          <a:xfrm>
            <a:off x="6640830" y="5002381"/>
            <a:ext cx="73152" cy="73152"/>
          </a:xfrm>
          <a:prstGeom prst="ellipse">
            <a:avLst/>
          </a:prstGeom>
          <a:solidFill>
            <a:srgbClr val="CFD6DB"/>
          </a:solidFill>
          <a:ln>
            <a:noFill/>
          </a:ln>
          <a:effectLst/>
        </p:spPr>
        <p:txBody>
          <a:bodyPr rtlCol="0" anchor="ctr"/>
          <a:lstStyle/>
          <a:p>
            <a:endParaRPr lang="de-DE"/>
          </a:p>
        </p:txBody>
      </p:sp>
      <p:sp>
        <p:nvSpPr>
          <p:cNvPr id="250" name="Hub &amp; Spoke Dim Use Cases"/>
          <p:cNvSpPr txBox="1"/>
          <p:nvPr/>
        </p:nvSpPr>
        <p:spPr>
          <a:xfrm>
            <a:off x="677799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51" name="Hub &amp; Spoke Dim Dot Technical"/>
          <p:cNvSpPr/>
          <p:nvPr/>
        </p:nvSpPr>
        <p:spPr>
          <a:xfrm>
            <a:off x="6640830" y="5221583"/>
            <a:ext cx="73152" cy="73152"/>
          </a:xfrm>
          <a:prstGeom prst="ellipse">
            <a:avLst/>
          </a:prstGeom>
          <a:solidFill>
            <a:srgbClr val="CFD6DB"/>
          </a:solidFill>
          <a:ln>
            <a:noFill/>
          </a:ln>
          <a:effectLst/>
        </p:spPr>
        <p:txBody>
          <a:bodyPr rtlCol="0" anchor="ctr"/>
          <a:lstStyle/>
          <a:p>
            <a:endParaRPr lang="de-DE"/>
          </a:p>
        </p:txBody>
      </p:sp>
      <p:sp>
        <p:nvSpPr>
          <p:cNvPr id="252" name="Hub &amp; Spoke Dim Technical"/>
          <p:cNvSpPr txBox="1"/>
          <p:nvPr/>
        </p:nvSpPr>
        <p:spPr>
          <a:xfrm>
            <a:off x="677799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53" name="Legal &amp; Contracts Row Divider Dimensions"/>
          <p:cNvSpPr/>
          <p:nvPr/>
        </p:nvSpPr>
        <p:spPr>
          <a:xfrm>
            <a:off x="8435340" y="4317343"/>
            <a:ext cx="1616202" cy="6401"/>
          </a:xfrm>
          <a:prstGeom prst="rect">
            <a:avLst/>
          </a:prstGeom>
          <a:solidFill>
            <a:srgbClr val="E2E8EC"/>
          </a:solidFill>
          <a:ln>
            <a:noFill/>
          </a:ln>
          <a:effectLst/>
        </p:spPr>
        <p:txBody>
          <a:bodyPr rtlCol="0" anchor="ctr"/>
          <a:lstStyle/>
          <a:p>
            <a:endParaRPr lang="de-DE"/>
          </a:p>
        </p:txBody>
      </p:sp>
      <p:sp>
        <p:nvSpPr>
          <p:cNvPr id="254" name="Legal &amp; Contracts Dim Dot External · CX Association"/>
          <p:cNvSpPr/>
          <p:nvPr/>
        </p:nvSpPr>
        <p:spPr>
          <a:xfrm>
            <a:off x="8435340" y="4417927"/>
            <a:ext cx="73152" cy="73152"/>
          </a:xfrm>
          <a:prstGeom prst="ellipse">
            <a:avLst/>
          </a:prstGeom>
          <a:solidFill>
            <a:srgbClr val="53BE70"/>
          </a:solidFill>
          <a:ln>
            <a:noFill/>
          </a:ln>
          <a:effectLst/>
        </p:spPr>
        <p:txBody>
          <a:bodyPr rtlCol="0" anchor="ctr"/>
          <a:lstStyle/>
          <a:p>
            <a:endParaRPr lang="de-DE"/>
          </a:p>
        </p:txBody>
      </p:sp>
      <p:sp>
        <p:nvSpPr>
          <p:cNvPr id="255" name="Legal &amp; Contracts Dim External · CX Association"/>
          <p:cNvSpPr txBox="1"/>
          <p:nvPr/>
        </p:nvSpPr>
        <p:spPr>
          <a:xfrm>
            <a:off x="857250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56" name="Legal &amp; Contracts Dim Dot Business"/>
          <p:cNvSpPr/>
          <p:nvPr/>
        </p:nvSpPr>
        <p:spPr>
          <a:xfrm>
            <a:off x="8435340" y="4783179"/>
            <a:ext cx="73152" cy="73152"/>
          </a:xfrm>
          <a:prstGeom prst="ellipse">
            <a:avLst/>
          </a:prstGeom>
          <a:solidFill>
            <a:srgbClr val="F0B135"/>
          </a:solidFill>
          <a:ln>
            <a:noFill/>
          </a:ln>
          <a:effectLst/>
        </p:spPr>
        <p:txBody>
          <a:bodyPr rtlCol="0" anchor="ctr"/>
          <a:lstStyle/>
          <a:p>
            <a:endParaRPr lang="de-DE"/>
          </a:p>
        </p:txBody>
      </p:sp>
      <p:sp>
        <p:nvSpPr>
          <p:cNvPr id="257" name="Legal &amp; Contracts Dim Business"/>
          <p:cNvSpPr txBox="1"/>
          <p:nvPr/>
        </p:nvSpPr>
        <p:spPr>
          <a:xfrm>
            <a:off x="857250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58" name="Legal &amp; Contracts Dim Dot Use Cases"/>
          <p:cNvSpPr/>
          <p:nvPr/>
        </p:nvSpPr>
        <p:spPr>
          <a:xfrm>
            <a:off x="8435340" y="5002381"/>
            <a:ext cx="73152" cy="73152"/>
          </a:xfrm>
          <a:prstGeom prst="ellipse">
            <a:avLst/>
          </a:prstGeom>
          <a:solidFill>
            <a:srgbClr val="53BE70"/>
          </a:solidFill>
          <a:ln>
            <a:noFill/>
          </a:ln>
          <a:effectLst/>
        </p:spPr>
        <p:txBody>
          <a:bodyPr rtlCol="0" anchor="ctr"/>
          <a:lstStyle/>
          <a:p>
            <a:endParaRPr lang="de-DE"/>
          </a:p>
        </p:txBody>
      </p:sp>
      <p:sp>
        <p:nvSpPr>
          <p:cNvPr id="259" name="Legal &amp; Contracts Dim Use Cases"/>
          <p:cNvSpPr txBox="1"/>
          <p:nvPr/>
        </p:nvSpPr>
        <p:spPr>
          <a:xfrm>
            <a:off x="857250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0" name="Legal &amp; Contracts Dim Dot Technical"/>
          <p:cNvSpPr/>
          <p:nvPr/>
        </p:nvSpPr>
        <p:spPr>
          <a:xfrm>
            <a:off x="8435340" y="5221583"/>
            <a:ext cx="73152" cy="73152"/>
          </a:xfrm>
          <a:prstGeom prst="ellipse">
            <a:avLst/>
          </a:prstGeom>
          <a:solidFill>
            <a:srgbClr val="F0B135"/>
          </a:solidFill>
          <a:ln>
            <a:noFill/>
          </a:ln>
          <a:effectLst/>
        </p:spPr>
        <p:txBody>
          <a:bodyPr rtlCol="0" anchor="ctr"/>
          <a:lstStyle/>
          <a:p>
            <a:endParaRPr lang="de-DE"/>
          </a:p>
        </p:txBody>
      </p:sp>
      <p:sp>
        <p:nvSpPr>
          <p:cNvPr id="261" name="Legal &amp; Contracts Dim Technical"/>
          <p:cNvSpPr txBox="1"/>
          <p:nvPr/>
        </p:nvSpPr>
        <p:spPr>
          <a:xfrm>
            <a:off x="857250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62" name="Architecture Row Divider Dimensions"/>
          <p:cNvSpPr/>
          <p:nvPr/>
        </p:nvSpPr>
        <p:spPr>
          <a:xfrm>
            <a:off x="10229850" y="4317343"/>
            <a:ext cx="1616202" cy="6401"/>
          </a:xfrm>
          <a:prstGeom prst="rect">
            <a:avLst/>
          </a:prstGeom>
          <a:solidFill>
            <a:srgbClr val="E2E8EC"/>
          </a:solidFill>
          <a:ln>
            <a:noFill/>
          </a:ln>
          <a:effectLst/>
        </p:spPr>
        <p:txBody>
          <a:bodyPr rtlCol="0" anchor="ctr"/>
          <a:lstStyle/>
          <a:p>
            <a:endParaRPr lang="de-DE"/>
          </a:p>
        </p:txBody>
      </p:sp>
      <p:sp>
        <p:nvSpPr>
          <p:cNvPr id="263" name="Architecture Dim Dot External · CX Association"/>
          <p:cNvSpPr/>
          <p:nvPr/>
        </p:nvSpPr>
        <p:spPr>
          <a:xfrm>
            <a:off x="10229850" y="4417927"/>
            <a:ext cx="73152" cy="73152"/>
          </a:xfrm>
          <a:prstGeom prst="ellipse">
            <a:avLst/>
          </a:prstGeom>
          <a:solidFill>
            <a:srgbClr val="53BE70"/>
          </a:solidFill>
          <a:ln>
            <a:noFill/>
          </a:ln>
          <a:effectLst/>
        </p:spPr>
        <p:txBody>
          <a:bodyPr rtlCol="0" anchor="ctr"/>
          <a:lstStyle/>
          <a:p>
            <a:endParaRPr lang="de-DE"/>
          </a:p>
        </p:txBody>
      </p:sp>
      <p:sp>
        <p:nvSpPr>
          <p:cNvPr id="264" name="Architecture Dim External · CX Association"/>
          <p:cNvSpPr txBox="1"/>
          <p:nvPr/>
        </p:nvSpPr>
        <p:spPr>
          <a:xfrm>
            <a:off x="10367010" y="4381351"/>
            <a:ext cx="1479042" cy="31038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External ·</a:t>
            </a:r>
          </a:p>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CX Association</a:t>
            </a:r>
          </a:p>
        </p:txBody>
      </p:sp>
      <p:sp>
        <p:nvSpPr>
          <p:cNvPr id="265" name="Architecture Dim Dot Business"/>
          <p:cNvSpPr/>
          <p:nvPr/>
        </p:nvSpPr>
        <p:spPr>
          <a:xfrm>
            <a:off x="10229850" y="4783179"/>
            <a:ext cx="73152" cy="73152"/>
          </a:xfrm>
          <a:prstGeom prst="ellipse">
            <a:avLst/>
          </a:prstGeom>
          <a:solidFill>
            <a:srgbClr val="53BE70"/>
          </a:solidFill>
          <a:ln>
            <a:noFill/>
          </a:ln>
          <a:effectLst/>
        </p:spPr>
        <p:txBody>
          <a:bodyPr rtlCol="0" anchor="ctr"/>
          <a:lstStyle/>
          <a:p>
            <a:endParaRPr lang="de-DE"/>
          </a:p>
        </p:txBody>
      </p:sp>
      <p:sp>
        <p:nvSpPr>
          <p:cNvPr id="266" name="Architecture Dim Business"/>
          <p:cNvSpPr txBox="1"/>
          <p:nvPr/>
        </p:nvSpPr>
        <p:spPr>
          <a:xfrm>
            <a:off x="10367010" y="4746603"/>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Business</a:t>
            </a:r>
          </a:p>
        </p:txBody>
      </p:sp>
      <p:sp>
        <p:nvSpPr>
          <p:cNvPr id="267" name="Architecture Dim Dot Use Cases"/>
          <p:cNvSpPr/>
          <p:nvPr/>
        </p:nvSpPr>
        <p:spPr>
          <a:xfrm>
            <a:off x="10229850" y="5002381"/>
            <a:ext cx="73152" cy="73152"/>
          </a:xfrm>
          <a:prstGeom prst="ellipse">
            <a:avLst/>
          </a:prstGeom>
          <a:solidFill>
            <a:srgbClr val="53BE70"/>
          </a:solidFill>
          <a:ln>
            <a:noFill/>
          </a:ln>
          <a:effectLst/>
        </p:spPr>
        <p:txBody>
          <a:bodyPr rtlCol="0" anchor="ctr"/>
          <a:lstStyle/>
          <a:p>
            <a:endParaRPr lang="de-DE"/>
          </a:p>
        </p:txBody>
      </p:sp>
      <p:sp>
        <p:nvSpPr>
          <p:cNvPr id="268" name="Architecture Dim Use Cases"/>
          <p:cNvSpPr txBox="1"/>
          <p:nvPr/>
        </p:nvSpPr>
        <p:spPr>
          <a:xfrm>
            <a:off x="10367010" y="4965805"/>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Use Cases</a:t>
            </a:r>
          </a:p>
        </p:txBody>
      </p:sp>
      <p:sp>
        <p:nvSpPr>
          <p:cNvPr id="269" name="Architecture Dim Dot Technical"/>
          <p:cNvSpPr/>
          <p:nvPr/>
        </p:nvSpPr>
        <p:spPr>
          <a:xfrm>
            <a:off x="10229850" y="5221583"/>
            <a:ext cx="73152" cy="73152"/>
          </a:xfrm>
          <a:prstGeom prst="ellipse">
            <a:avLst/>
          </a:prstGeom>
          <a:solidFill>
            <a:srgbClr val="F0B135"/>
          </a:solidFill>
          <a:ln>
            <a:noFill/>
          </a:ln>
          <a:effectLst/>
        </p:spPr>
        <p:txBody>
          <a:bodyPr rtlCol="0" anchor="ctr"/>
          <a:lstStyle/>
          <a:p>
            <a:endParaRPr lang="de-DE"/>
          </a:p>
        </p:txBody>
      </p:sp>
      <p:sp>
        <p:nvSpPr>
          <p:cNvPr id="270" name="Architecture Dim Technical"/>
          <p:cNvSpPr txBox="1"/>
          <p:nvPr/>
        </p:nvSpPr>
        <p:spPr>
          <a:xfrm>
            <a:off x="10367010" y="5185007"/>
            <a:ext cx="147904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292D31"/>
                </a:solidFill>
                <a:latin typeface="Segoe UI" pitchFamily="34" charset="0"/>
                <a:ea typeface="Segoe UI" pitchFamily="34" charset="-122"/>
                <a:cs typeface="Segoe UI" pitchFamily="34" charset="-120"/>
              </a:rPr>
              <a:t>Technical</a:t>
            </a:r>
          </a:p>
        </p:txBody>
      </p:sp>
      <p:sp>
        <p:nvSpPr>
          <p:cNvPr id="271" name="Row Label Decision required"/>
          <p:cNvSpPr txBox="1"/>
          <p:nvPr/>
        </p:nvSpPr>
        <p:spPr>
          <a:xfrm>
            <a:off x="274320" y="5579364"/>
            <a:ext cx="868680" cy="1040892"/>
          </a:xfrm>
          <a:prstGeom prst="rect">
            <a:avLst/>
          </a:prstGeom>
          <a:noFill/>
          <a:ln>
            <a:noFill/>
          </a:ln>
        </p:spPr>
        <p:txBody>
          <a:bodyPr wrap="square" lIns="0" tIns="0" rIns="0" bIns="0" rtlCol="0" anchor="t">
            <a:noAutofit/>
          </a:bodyPr>
          <a:lstStyle/>
          <a:p>
            <a:pPr marL="0" indent="0" algn="l">
              <a:lnSpc>
                <a:spcPts val="1150"/>
              </a:lnSpc>
              <a:buNone/>
            </a:pPr>
            <a:r>
              <a:rPr lang="de-DE" sz="900" b="1" kern="0" dirty="0">
                <a:solidFill>
                  <a:srgbClr val="99D1CD"/>
                </a:solidFill>
                <a:latin typeface="Segoe UI" pitchFamily="34" charset="0"/>
                <a:ea typeface="Segoe UI" pitchFamily="34" charset="-122"/>
                <a:cs typeface="Segoe UI" pitchFamily="34" charset="-120"/>
              </a:rPr>
              <a:t>Decision required</a:t>
            </a:r>
          </a:p>
        </p:txBody>
      </p:sp>
      <p:sp>
        <p:nvSpPr>
          <p:cNvPr id="272" name="Supplier Activation Row Divider Decision required"/>
          <p:cNvSpPr/>
          <p:nvPr/>
        </p:nvSpPr>
        <p:spPr>
          <a:xfrm>
            <a:off x="1257300" y="5515356"/>
            <a:ext cx="1616202" cy="6401"/>
          </a:xfrm>
          <a:prstGeom prst="rect">
            <a:avLst/>
          </a:prstGeom>
          <a:solidFill>
            <a:srgbClr val="E2E8EC"/>
          </a:solidFill>
          <a:ln>
            <a:noFill/>
          </a:ln>
          <a:effectLst/>
        </p:spPr>
        <p:txBody>
          <a:bodyPr rtlCol="0" anchor="ctr"/>
          <a:lstStyle/>
          <a:p>
            <a:endParaRPr lang="de-DE"/>
          </a:p>
        </p:txBody>
      </p:sp>
      <p:sp>
        <p:nvSpPr>
          <p:cNvPr id="273" name="Supplier Activation Decision 1 Flag"/>
          <p:cNvSpPr/>
          <p:nvPr/>
        </p:nvSpPr>
        <p:spPr>
          <a:xfrm>
            <a:off x="1257300" y="5579364"/>
            <a:ext cx="146304" cy="146304"/>
          </a:xfrm>
          <a:prstGeom prst="ellipse">
            <a:avLst/>
          </a:prstGeom>
          <a:solidFill>
            <a:srgbClr val="001E50"/>
          </a:solidFill>
          <a:ln>
            <a:noFill/>
          </a:ln>
          <a:effectLst/>
        </p:spPr>
        <p:txBody>
          <a:bodyPr rtlCol="0" anchor="ctr"/>
          <a:lstStyle/>
          <a:p>
            <a:endParaRPr lang="de-DE"/>
          </a:p>
        </p:txBody>
      </p:sp>
      <p:sp>
        <p:nvSpPr>
          <p:cNvPr id="274" name="Supplier Activation Decision 1 No"/>
          <p:cNvSpPr txBox="1"/>
          <p:nvPr/>
        </p:nvSpPr>
        <p:spPr>
          <a:xfrm>
            <a:off x="125730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1</a:t>
            </a:r>
          </a:p>
        </p:txBody>
      </p:sp>
      <p:sp>
        <p:nvSpPr>
          <p:cNvPr id="275" name="Supplier Activation Decision 1"/>
          <p:cNvSpPr txBox="1"/>
          <p:nvPr/>
        </p:nvSpPr>
        <p:spPr>
          <a:xfrm>
            <a:off x="1257300" y="5579364"/>
            <a:ext cx="1616202" cy="74853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How do we make Cofinity-X onboarding clear for suppliers, and who covers DSA confirmation costs per use case?</a:t>
            </a:r>
          </a:p>
        </p:txBody>
      </p:sp>
      <p:sp>
        <p:nvSpPr>
          <p:cNvPr id="276" name="Portfolio, AI+, C-X NEXT, DigiTrace Row Divider Decision required"/>
          <p:cNvSpPr/>
          <p:nvPr/>
        </p:nvSpPr>
        <p:spPr>
          <a:xfrm>
            <a:off x="3051810" y="5515356"/>
            <a:ext cx="1616202" cy="6401"/>
          </a:xfrm>
          <a:prstGeom prst="rect">
            <a:avLst/>
          </a:prstGeom>
          <a:solidFill>
            <a:srgbClr val="E2E8EC"/>
          </a:solidFill>
          <a:ln>
            <a:noFill/>
          </a:ln>
          <a:effectLst/>
        </p:spPr>
        <p:txBody>
          <a:bodyPr rtlCol="0" anchor="ctr"/>
          <a:lstStyle/>
          <a:p>
            <a:endParaRPr lang="de-DE"/>
          </a:p>
        </p:txBody>
      </p:sp>
      <p:sp>
        <p:nvSpPr>
          <p:cNvPr id="277" name="Portfolio, AI+, C-X NEXT, DigiTrace Decision 2 Flag"/>
          <p:cNvSpPr/>
          <p:nvPr/>
        </p:nvSpPr>
        <p:spPr>
          <a:xfrm>
            <a:off x="3051810" y="5579364"/>
            <a:ext cx="146304" cy="146304"/>
          </a:xfrm>
          <a:prstGeom prst="ellipse">
            <a:avLst/>
          </a:prstGeom>
          <a:solidFill>
            <a:srgbClr val="001E50"/>
          </a:solidFill>
          <a:ln>
            <a:noFill/>
          </a:ln>
          <a:effectLst/>
        </p:spPr>
        <p:txBody>
          <a:bodyPr rtlCol="0" anchor="ctr"/>
          <a:lstStyle/>
          <a:p>
            <a:endParaRPr lang="de-DE"/>
          </a:p>
        </p:txBody>
      </p:sp>
      <p:sp>
        <p:nvSpPr>
          <p:cNvPr id="278" name="Portfolio, AI+, C-X NEXT, DigiTrace Decision 2 No"/>
          <p:cNvSpPr txBox="1"/>
          <p:nvPr/>
        </p:nvSpPr>
        <p:spPr>
          <a:xfrm>
            <a:off x="3051810" y="5579364"/>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2</a:t>
            </a:r>
          </a:p>
        </p:txBody>
      </p:sp>
      <p:sp>
        <p:nvSpPr>
          <p:cNvPr id="279" name="Portfolio, AI+, C-X NEXT, DigiTrace Decision 2"/>
          <p:cNvSpPr txBox="1"/>
          <p:nvPr/>
        </p:nvSpPr>
        <p:spPr>
          <a:xfrm>
            <a:off x="3051810" y="5579364"/>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PR75: which costs are planned per use case?</a:t>
            </a:r>
          </a:p>
        </p:txBody>
      </p:sp>
      <p:sp>
        <p:nvSpPr>
          <p:cNvPr id="280" name="Portfolio, AI+, C-X NEXT, DigiTrace Decision 3 Flag"/>
          <p:cNvSpPr/>
          <p:nvPr/>
        </p:nvSpPr>
        <p:spPr>
          <a:xfrm>
            <a:off x="3051810" y="5926328"/>
            <a:ext cx="146304" cy="146304"/>
          </a:xfrm>
          <a:prstGeom prst="ellipse">
            <a:avLst/>
          </a:prstGeom>
          <a:solidFill>
            <a:srgbClr val="001E50"/>
          </a:solidFill>
          <a:ln>
            <a:noFill/>
          </a:ln>
          <a:effectLst/>
        </p:spPr>
        <p:txBody>
          <a:bodyPr rtlCol="0" anchor="ctr"/>
          <a:lstStyle/>
          <a:p>
            <a:endParaRPr lang="de-DE"/>
          </a:p>
        </p:txBody>
      </p:sp>
      <p:sp>
        <p:nvSpPr>
          <p:cNvPr id="281" name="Portfolio, AI+, C-X NEXT, DigiTrace Decision 3 No"/>
          <p:cNvSpPr txBox="1"/>
          <p:nvPr/>
        </p:nvSpPr>
        <p:spPr>
          <a:xfrm>
            <a:off x="3051810" y="5926328"/>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3</a:t>
            </a:r>
          </a:p>
        </p:txBody>
      </p:sp>
      <p:sp>
        <p:nvSpPr>
          <p:cNvPr id="282" name="Portfolio, AI+, C-X NEXT, DigiTrace Decision 3"/>
          <p:cNvSpPr txBox="1"/>
          <p:nvPr/>
        </p:nvSpPr>
        <p:spPr>
          <a:xfrm>
            <a:off x="3051810" y="5926328"/>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New PR75 process: capacity crunch &amp; high risks?</a:t>
            </a:r>
          </a:p>
        </p:txBody>
      </p:sp>
      <p:sp>
        <p:nvSpPr>
          <p:cNvPr id="283" name="Portfolio, AI+, C-X NEXT, DigiTrace Decision 4 Flag"/>
          <p:cNvSpPr/>
          <p:nvPr/>
        </p:nvSpPr>
        <p:spPr>
          <a:xfrm>
            <a:off x="3051810" y="6273292"/>
            <a:ext cx="146304" cy="146304"/>
          </a:xfrm>
          <a:prstGeom prst="ellipse">
            <a:avLst/>
          </a:prstGeom>
          <a:solidFill>
            <a:srgbClr val="001E50"/>
          </a:solidFill>
          <a:ln>
            <a:noFill/>
          </a:ln>
          <a:effectLst/>
        </p:spPr>
        <p:txBody>
          <a:bodyPr rtlCol="0" anchor="ctr"/>
          <a:lstStyle/>
          <a:p>
            <a:endParaRPr lang="de-DE"/>
          </a:p>
        </p:txBody>
      </p:sp>
      <p:sp>
        <p:nvSpPr>
          <p:cNvPr id="284" name="Portfolio, AI+, C-X NEXT, DigiTrace Decision 4 No"/>
          <p:cNvSpPr txBox="1"/>
          <p:nvPr/>
        </p:nvSpPr>
        <p:spPr>
          <a:xfrm>
            <a:off x="3051810" y="6273292"/>
            <a:ext cx="146304" cy="146304"/>
          </a:xfrm>
          <a:prstGeom prst="rect">
            <a:avLst/>
          </a:prstGeom>
          <a:noFill/>
          <a:ln>
            <a:noFill/>
          </a:ln>
        </p:spPr>
        <p:txBody>
          <a:bodyPr wrap="square" lIns="0" tIns="0" rIns="0" bIns="0" rtlCol="0" anchor="ctr">
            <a:noAutofit/>
          </a:bodyPr>
          <a:lstStyle/>
          <a:p>
            <a:pPr marL="0" indent="0" algn="ctr">
              <a:buNone/>
            </a:pPr>
            <a:r>
              <a:rPr lang="de-DE" sz="800" b="1" kern="0" dirty="0">
                <a:solidFill>
                  <a:srgbClr val="FFFFFF"/>
                </a:solidFill>
                <a:latin typeface="Segoe UI" pitchFamily="34" charset="0"/>
                <a:ea typeface="Segoe UI" pitchFamily="34" charset="-122"/>
                <a:cs typeface="Segoe UI" pitchFamily="34" charset="-120"/>
              </a:rPr>
              <a:t>4</a:t>
            </a:r>
          </a:p>
        </p:txBody>
      </p:sp>
      <p:sp>
        <p:nvSpPr>
          <p:cNvPr id="285" name="Portfolio, AI+, C-X NEXT, DigiTrace Decision 4"/>
          <p:cNvSpPr txBox="1"/>
          <p:nvPr/>
        </p:nvSpPr>
        <p:spPr>
          <a:xfrm>
            <a:off x="3051810" y="6273292"/>
            <a:ext cx="1616202" cy="310388"/>
          </a:xfrm>
          <a:prstGeom prst="rect">
            <a:avLst/>
          </a:prstGeom>
          <a:noFill/>
          <a:ln>
            <a:noFill/>
          </a:ln>
        </p:spPr>
        <p:txBody>
          <a:bodyPr wrap="square" lIns="0" tIns="0" rIns="0" bIns="0" rtlCol="0" anchor="t">
            <a:noAutofit/>
          </a:bodyPr>
          <a:lstStyle/>
          <a:p>
            <a:pPr marL="0" indent="201168" algn="l">
              <a:lnSpc>
                <a:spcPts val="1150"/>
              </a:lnSpc>
              <a:buNone/>
            </a:pPr>
            <a:r>
              <a:rPr lang="de-DE" sz="900" b="0" kern="0" dirty="0">
                <a:solidFill>
                  <a:srgbClr val="292D31"/>
                </a:solidFill>
                <a:latin typeface="Segoe UI" pitchFamily="34" charset="0"/>
                <a:ea typeface="Segoe UI" pitchFamily="34" charset="-122"/>
                <a:cs typeface="Segoe UI" pitchFamily="34" charset="-120"/>
              </a:rPr>
              <a:t>DigiTrace: stop, or fund for 2027?</a:t>
            </a:r>
          </a:p>
        </p:txBody>
      </p:sp>
      <p:sp>
        <p:nvSpPr>
          <p:cNvPr id="286" name="Data Provisioning Row Divider Decision required"/>
          <p:cNvSpPr/>
          <p:nvPr/>
        </p:nvSpPr>
        <p:spPr>
          <a:xfrm>
            <a:off x="4846320" y="5515356"/>
            <a:ext cx="1616202" cy="6401"/>
          </a:xfrm>
          <a:prstGeom prst="rect">
            <a:avLst/>
          </a:prstGeom>
          <a:solidFill>
            <a:srgbClr val="E2E8EC"/>
          </a:solidFill>
          <a:ln>
            <a:noFill/>
          </a:ln>
          <a:effectLst/>
        </p:spPr>
        <p:txBody>
          <a:bodyPr rtlCol="0" anchor="ctr"/>
          <a:lstStyle/>
          <a:p>
            <a:endParaRPr lang="de-DE"/>
          </a:p>
        </p:txBody>
      </p:sp>
      <p:sp>
        <p:nvSpPr>
          <p:cNvPr id="287" name="Data Provisioning Decision None"/>
          <p:cNvSpPr txBox="1"/>
          <p:nvPr/>
        </p:nvSpPr>
        <p:spPr>
          <a:xfrm>
            <a:off x="484632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88" name="Hub &amp; Spoke Row Divider Decision required"/>
          <p:cNvSpPr/>
          <p:nvPr/>
        </p:nvSpPr>
        <p:spPr>
          <a:xfrm>
            <a:off x="6640830" y="5515356"/>
            <a:ext cx="1616202" cy="6401"/>
          </a:xfrm>
          <a:prstGeom prst="rect">
            <a:avLst/>
          </a:prstGeom>
          <a:solidFill>
            <a:srgbClr val="E2E8EC"/>
          </a:solidFill>
          <a:ln>
            <a:noFill/>
          </a:ln>
          <a:effectLst/>
        </p:spPr>
        <p:txBody>
          <a:bodyPr rtlCol="0" anchor="ctr"/>
          <a:lstStyle/>
          <a:p>
            <a:endParaRPr lang="de-DE"/>
          </a:p>
        </p:txBody>
      </p:sp>
      <p:sp>
        <p:nvSpPr>
          <p:cNvPr id="289" name="Hub &amp; Spoke Decision None"/>
          <p:cNvSpPr txBox="1"/>
          <p:nvPr/>
        </p:nvSpPr>
        <p:spPr>
          <a:xfrm>
            <a:off x="664083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0" name="Legal &amp; Contracts Row Divider Decision required"/>
          <p:cNvSpPr/>
          <p:nvPr/>
        </p:nvSpPr>
        <p:spPr>
          <a:xfrm>
            <a:off x="8435340" y="5515356"/>
            <a:ext cx="1616202" cy="6401"/>
          </a:xfrm>
          <a:prstGeom prst="rect">
            <a:avLst/>
          </a:prstGeom>
          <a:solidFill>
            <a:srgbClr val="E2E8EC"/>
          </a:solidFill>
          <a:ln>
            <a:noFill/>
          </a:ln>
          <a:effectLst/>
        </p:spPr>
        <p:txBody>
          <a:bodyPr rtlCol="0" anchor="ctr"/>
          <a:lstStyle/>
          <a:p>
            <a:endParaRPr lang="de-DE"/>
          </a:p>
        </p:txBody>
      </p:sp>
      <p:sp>
        <p:nvSpPr>
          <p:cNvPr id="291" name="Legal &amp; Contracts Decision None"/>
          <p:cNvSpPr txBox="1"/>
          <p:nvPr/>
        </p:nvSpPr>
        <p:spPr>
          <a:xfrm>
            <a:off x="843534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
        <p:nvSpPr>
          <p:cNvPr id="292" name="Architecture Row Divider Decision required"/>
          <p:cNvSpPr/>
          <p:nvPr/>
        </p:nvSpPr>
        <p:spPr>
          <a:xfrm>
            <a:off x="10229850" y="5515356"/>
            <a:ext cx="1616202" cy="6401"/>
          </a:xfrm>
          <a:prstGeom prst="rect">
            <a:avLst/>
          </a:prstGeom>
          <a:solidFill>
            <a:srgbClr val="E2E8EC"/>
          </a:solidFill>
          <a:ln>
            <a:noFill/>
          </a:ln>
          <a:effectLst/>
        </p:spPr>
        <p:txBody>
          <a:bodyPr rtlCol="0" anchor="ctr"/>
          <a:lstStyle/>
          <a:p>
            <a:endParaRPr lang="de-DE"/>
          </a:p>
        </p:txBody>
      </p:sp>
      <p:sp>
        <p:nvSpPr>
          <p:cNvPr id="293" name="Architecture Decision None"/>
          <p:cNvSpPr txBox="1"/>
          <p:nvPr/>
        </p:nvSpPr>
        <p:spPr>
          <a:xfrm>
            <a:off x="10229850" y="5579364"/>
            <a:ext cx="1616202" cy="164338"/>
          </a:xfrm>
          <a:prstGeom prst="rect">
            <a:avLst/>
          </a:prstGeom>
          <a:noFill/>
          <a:ln>
            <a:noFill/>
          </a:ln>
        </p:spPr>
        <p:txBody>
          <a:bodyPr wrap="square" lIns="0" tIns="0" rIns="0" bIns="0" rtlCol="0" anchor="t">
            <a:noAutofit/>
          </a:bodyPr>
          <a:lstStyle/>
          <a:p>
            <a:pPr marL="0" indent="0" algn="l">
              <a:lnSpc>
                <a:spcPts val="1150"/>
              </a:lnSpc>
              <a:buNone/>
            </a:pPr>
            <a:r>
              <a:rPr lang="de-DE" sz="900" b="0" kern="0" dirty="0">
                <a:solidFill>
                  <a:srgbClr val="9AA6AD"/>
                </a:solidFill>
                <a:latin typeface="Segoe UI" pitchFamily="34" charset="0"/>
                <a:ea typeface="Segoe UI" pitchFamily="34" charset="-122"/>
                <a:cs typeface="Segoe UI" pitchFamily="34" charset="-120"/>
              </a:rPr>
              <a: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2</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